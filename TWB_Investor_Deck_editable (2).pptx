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460"/>
        </a:solidFill>
      </p:bgPr>
    </p:bg>
    <p:spTree>
      <p:nvGrpSpPr>
        <p:cNvPr id="1" name=""/>
        <p:cNvGrpSpPr/>
        <p:nvPr/>
      </p:nvGrpSpPr>
      <p:grpSpPr>
        <a:xfrm>
          <a:off x="0" y="0"/>
          <a:ext cx="0" cy="0"/>
          <a:chOff x="0" y="0"/>
          <a:chExt cx="0" cy="0"/>
        </a:xfrm>
      </p:grpSpPr>
      <p:sp>
        <p:nvSpPr>
          <p:cNvPr id="2" name="Text 0"/>
          <p:cNvSpPr/>
          <p:nvPr/>
        </p:nvSpPr>
        <p:spPr>
          <a:xfrm>
            <a:off x="548640" y="457200"/>
            <a:ext cx="11091672" cy="274320"/>
          </a:xfrm>
          <a:prstGeom prst="rect">
            <a:avLst/>
          </a:prstGeom>
          <a:noFill/>
          <a:ln/>
        </p:spPr>
        <p:txBody>
          <a:bodyPr wrap="square" lIns="0" tIns="0" rIns="0" bIns="0" rtlCol="0" anchor="ctr"/>
          <a:lstStyle/>
          <a:p>
            <a:pPr indent="0" marL="0">
              <a:buNone/>
            </a:pPr>
            <a:r>
              <a:rPr lang="en-US" sz="1100" b="1" spc="200" kern="0" dirty="0">
                <a:solidFill>
                  <a:srgbClr val="E4B33A"/>
                </a:solidFill>
                <a:latin typeface="Calibri" pitchFamily="34" charset="0"/>
                <a:ea typeface="Calibri" pitchFamily="34" charset="-122"/>
                <a:cs typeface="Calibri" pitchFamily="34" charset="-120"/>
              </a:rPr>
              <a:t>INVESTOR / BOARD PRESENTATION — AUGUST 2026</a:t>
            </a:r>
            <a:endParaRPr lang="en-US" sz="1100" dirty="0"/>
          </a:p>
        </p:txBody>
      </p:sp>
      <p:sp>
        <p:nvSpPr>
          <p:cNvPr id="3" name="Text 1"/>
          <p:cNvSpPr/>
          <p:nvPr/>
        </p:nvSpPr>
        <p:spPr>
          <a:xfrm>
            <a:off x="548640" y="2194560"/>
            <a:ext cx="11091672" cy="13716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TWB — Global Secure Destruction &amp; Demilitarization Platform</a:t>
            </a:r>
            <a:endParaRPr lang="en-US" sz="3800" dirty="0"/>
          </a:p>
        </p:txBody>
      </p:sp>
      <p:sp>
        <p:nvSpPr>
          <p:cNvPr id="4" name="Text 2"/>
          <p:cNvSpPr/>
          <p:nvPr/>
        </p:nvSpPr>
        <p:spPr>
          <a:xfrm>
            <a:off x="548640" y="3657600"/>
            <a:ext cx="11091672" cy="457200"/>
          </a:xfrm>
          <a:prstGeom prst="rect">
            <a:avLst/>
          </a:prstGeom>
          <a:noFill/>
          <a:ln/>
        </p:spPr>
        <p:txBody>
          <a:bodyPr wrap="square" lIns="0" tIns="0" rIns="0" bIns="0" rtlCol="0" anchor="ctr"/>
          <a:lstStyle/>
          <a:p>
            <a:pPr indent="0" marL="0">
              <a:buNone/>
            </a:pPr>
            <a:r>
              <a:rPr lang="en-US" sz="1700" i="1" dirty="0">
                <a:solidFill>
                  <a:srgbClr val="C7CEEA"/>
                </a:solidFill>
                <a:latin typeface="Calibri" pitchFamily="34" charset="0"/>
                <a:ea typeface="Calibri" pitchFamily="34" charset="-122"/>
                <a:cs typeface="Calibri" pitchFamily="34" charset="-120"/>
              </a:rPr>
              <a:t>Why the world needs mobile demil now — and why TWB is positioned to build the platform</a:t>
            </a:r>
            <a:endParaRPr lang="en-US" sz="1700" dirty="0"/>
          </a:p>
        </p:txBody>
      </p:sp>
      <p:sp>
        <p:nvSpPr>
          <p:cNvPr id="5" name="Text 3"/>
          <p:cNvSpPr/>
          <p:nvPr/>
        </p:nvSpPr>
        <p:spPr>
          <a:xfrm>
            <a:off x="548640" y="4114800"/>
            <a:ext cx="11091672" cy="365760"/>
          </a:xfrm>
          <a:prstGeom prst="rect">
            <a:avLst/>
          </a:prstGeom>
          <a:noFill/>
          <a:ln/>
        </p:spPr>
        <p:txBody>
          <a:bodyPr wrap="square" lIns="0" tIns="0" rIns="0" bIns="0" rtlCol="0" anchor="ctr"/>
          <a:lstStyle/>
          <a:p>
            <a:pPr indent="0" marL="0">
              <a:buNone/>
            </a:pPr>
            <a:r>
              <a:rPr lang="en-US" sz="1400" dirty="0">
                <a:solidFill>
                  <a:srgbClr val="C7CEEA"/>
                </a:solidFill>
                <a:latin typeface="Calibri" pitchFamily="34" charset="0"/>
                <a:ea typeface="Calibri" pitchFamily="34" charset="-122"/>
                <a:cs typeface="Calibri" pitchFamily="34" charset="-120"/>
              </a:rPr>
              <a:t>10-Year Growth Plan &amp; Illustrative Go-Public Valuation</a:t>
            </a:r>
            <a:endParaRPr lang="en-US" sz="1400" dirty="0"/>
          </a:p>
        </p:txBody>
      </p:sp>
      <p:sp>
        <p:nvSpPr>
          <p:cNvPr id="6" name="Text 4"/>
          <p:cNvSpPr/>
          <p:nvPr/>
        </p:nvSpPr>
        <p:spPr>
          <a:xfrm>
            <a:off x="548640" y="6309360"/>
            <a:ext cx="11091672" cy="274320"/>
          </a:xfrm>
          <a:prstGeom prst="rect">
            <a:avLst/>
          </a:prstGeom>
          <a:noFill/>
          <a:ln/>
        </p:spPr>
        <p:txBody>
          <a:bodyPr wrap="square" lIns="0" tIns="0" rIns="0" bIns="0" rtlCol="0" anchor="ctr"/>
          <a:lstStyle/>
          <a:p>
            <a:pPr indent="0" marL="0">
              <a:buNone/>
            </a:pPr>
            <a:r>
              <a:rPr lang="en-US" sz="900" i="1" dirty="0">
                <a:solidFill>
                  <a:srgbClr val="C7CEEA"/>
                </a:solidFill>
                <a:latin typeface="Calibri" pitchFamily="34" charset="0"/>
                <a:ea typeface="Calibri" pitchFamily="34" charset="-122"/>
                <a:cs typeface="Calibri" pitchFamily="34" charset="-120"/>
              </a:rPr>
              <a:t>Prepared for internal board discussion. Contains illustrative, modeled projections — not a solicitation of investment.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DISCLAIMER</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Forward-Looking Statements &amp; Use of Projections</a:t>
            </a:r>
            <a:endParaRPr lang="en-US" sz="2800" dirty="0"/>
          </a:p>
        </p:txBody>
      </p:sp>
      <p:sp>
        <p:nvSpPr>
          <p:cNvPr id="5" name="Text 3"/>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48640" y="1554480"/>
            <a:ext cx="11091672" cy="320040"/>
          </a:xfrm>
          <a:prstGeom prst="rect">
            <a:avLst/>
          </a:prstGeom>
          <a:noFill/>
          <a:ln/>
        </p:spPr>
        <p:txBody>
          <a:bodyPr wrap="square" lIns="0" tIns="0" rIns="0" bIns="0" rtlCol="0" anchor="ctr"/>
          <a:lstStyle/>
          <a:p>
            <a:pPr indent="0" marL="0">
              <a:buNone/>
            </a:pPr>
            <a:r>
              <a:rPr lang="en-US" sz="1300" b="1" dirty="0">
                <a:solidFill>
                  <a:srgbClr val="1E2460"/>
                </a:solidFill>
                <a:latin typeface="Cambria" pitchFamily="34" charset="0"/>
                <a:ea typeface="Cambria" pitchFamily="34" charset="-122"/>
                <a:cs typeface="Cambria" pitchFamily="34" charset="-120"/>
              </a:rPr>
              <a:t>FORWARD-LOOKING STATEMENTS</a:t>
            </a:r>
            <a:endParaRPr lang="en-US" sz="1300" dirty="0"/>
          </a:p>
        </p:txBody>
      </p:sp>
      <p:sp>
        <p:nvSpPr>
          <p:cNvPr id="7" name="Text 5"/>
          <p:cNvSpPr/>
          <p:nvPr/>
        </p:nvSpPr>
        <p:spPr>
          <a:xfrm>
            <a:off x="548640" y="1901952"/>
            <a:ext cx="11091672" cy="1005840"/>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This presentation includes forward-looking statements regarding estimates and forecasts of financial and performance metrics, projections of market opportunity, and expectations related to a potential future transaction. These statements are based on assumptions that are difficult or impossible to predict and will differ from actual results. Many events and circumstances are beyond TWB's control. Actual results could differ materially from the results implied by these statements.</a:t>
            </a:r>
            <a:endParaRPr lang="en-US" sz="1200" dirty="0"/>
          </a:p>
        </p:txBody>
      </p:sp>
      <p:sp>
        <p:nvSpPr>
          <p:cNvPr id="8" name="Text 6"/>
          <p:cNvSpPr/>
          <p:nvPr/>
        </p:nvSpPr>
        <p:spPr>
          <a:xfrm>
            <a:off x="548640" y="3017520"/>
            <a:ext cx="11091672" cy="320040"/>
          </a:xfrm>
          <a:prstGeom prst="rect">
            <a:avLst/>
          </a:prstGeom>
          <a:noFill/>
          <a:ln/>
        </p:spPr>
        <p:txBody>
          <a:bodyPr wrap="square" lIns="0" tIns="0" rIns="0" bIns="0" rtlCol="0" anchor="ctr"/>
          <a:lstStyle/>
          <a:p>
            <a:pPr indent="0" marL="0">
              <a:buNone/>
            </a:pPr>
            <a:r>
              <a:rPr lang="en-US" sz="1300" b="1" dirty="0">
                <a:solidFill>
                  <a:srgbClr val="1E2460"/>
                </a:solidFill>
                <a:latin typeface="Cambria" pitchFamily="34" charset="0"/>
                <a:ea typeface="Cambria" pitchFamily="34" charset="-122"/>
                <a:cs typeface="Cambria" pitchFamily="34" charset="-120"/>
              </a:rPr>
              <a:t>USE OF PROJECTIONS</a:t>
            </a:r>
            <a:endParaRPr lang="en-US" sz="1300" dirty="0"/>
          </a:p>
        </p:txBody>
      </p:sp>
      <p:sp>
        <p:nvSpPr>
          <p:cNvPr id="9" name="Text 7"/>
          <p:cNvSpPr/>
          <p:nvPr/>
        </p:nvSpPr>
        <p:spPr>
          <a:xfrm>
            <a:off x="548640" y="3364992"/>
            <a:ext cx="11091672" cy="1005840"/>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This presentation contains projected financial information with respect to TWB. Such projected information constitutes forward-looking information, is included for illustrative purposes only, and should not be relied upon as necessarily indicative of future results. The assumptions and estimates underlying the projections are inherently uncertain. No independent auditor has audited, reviewed, compiled, or performed procedures with respect to the projections, and no opinion or assurance is provided with respect to them.</a:t>
            </a:r>
            <a:endParaRPr lang="en-US" sz="1200" dirty="0"/>
          </a:p>
        </p:txBody>
      </p:sp>
      <p:sp>
        <p:nvSpPr>
          <p:cNvPr id="10" name="Text 8"/>
          <p:cNvSpPr/>
          <p:nvPr/>
        </p:nvSpPr>
        <p:spPr>
          <a:xfrm>
            <a:off x="548640" y="4480560"/>
            <a:ext cx="11091672" cy="320040"/>
          </a:xfrm>
          <a:prstGeom prst="rect">
            <a:avLst/>
          </a:prstGeom>
          <a:noFill/>
          <a:ln/>
        </p:spPr>
        <p:txBody>
          <a:bodyPr wrap="square" lIns="0" tIns="0" rIns="0" bIns="0" rtlCol="0" anchor="ctr"/>
          <a:lstStyle/>
          <a:p>
            <a:pPr indent="0" marL="0">
              <a:buNone/>
            </a:pPr>
            <a:r>
              <a:rPr lang="en-US" sz="1300" b="1" dirty="0">
                <a:solidFill>
                  <a:srgbClr val="1E2460"/>
                </a:solidFill>
                <a:latin typeface="Cambria" pitchFamily="34" charset="0"/>
                <a:ea typeface="Cambria" pitchFamily="34" charset="-122"/>
                <a:cs typeface="Cambria" pitchFamily="34" charset="-120"/>
              </a:rPr>
              <a:t>NO OFFER OR SOLICITATION</a:t>
            </a:r>
            <a:endParaRPr lang="en-US" sz="1300" dirty="0"/>
          </a:p>
        </p:txBody>
      </p:sp>
      <p:sp>
        <p:nvSpPr>
          <p:cNvPr id="11" name="Text 9"/>
          <p:cNvSpPr/>
          <p:nvPr/>
        </p:nvSpPr>
        <p:spPr>
          <a:xfrm>
            <a:off x="548640" y="4828032"/>
            <a:ext cx="11091672" cy="1005840"/>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This presentation does not constitute an offer to sell or the solicitation of an offer to buy any securities, or a solicitation of any vote or approval, in any jurisdiction.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460"/>
        </a:solidFill>
      </p:bgPr>
    </p:bg>
    <p:spTree>
      <p:nvGrpSpPr>
        <p:cNvPr id="1" name=""/>
        <p:cNvGrpSpPr/>
        <p:nvPr/>
      </p:nvGrpSpPr>
      <p:grpSpPr>
        <a:xfrm>
          <a:off x="0" y="0"/>
          <a:ext cx="0" cy="0"/>
          <a:chOff x="0" y="0"/>
          <a:chExt cx="0" cy="0"/>
        </a:xfrm>
      </p:grpSpPr>
      <p:sp>
        <p:nvSpPr>
          <p:cNvPr id="2" name="Text 0"/>
          <p:cNvSpPr/>
          <p:nvPr/>
        </p:nvSpPr>
        <p:spPr>
          <a:xfrm>
            <a:off x="548640" y="2377440"/>
            <a:ext cx="11091672"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Problem</a:t>
            </a:r>
            <a:endParaRPr lang="en-US" sz="3600" dirty="0"/>
          </a:p>
        </p:txBody>
      </p:sp>
      <p:sp>
        <p:nvSpPr>
          <p:cNvPr id="3" name="Text 1"/>
          <p:cNvSpPr/>
          <p:nvPr/>
        </p:nvSpPr>
        <p:spPr>
          <a:xfrm>
            <a:off x="548640" y="3200400"/>
            <a:ext cx="11091672" cy="548640"/>
          </a:xfrm>
          <a:prstGeom prst="rect">
            <a:avLst/>
          </a:prstGeom>
          <a:noFill/>
          <a:ln/>
        </p:spPr>
        <p:txBody>
          <a:bodyPr wrap="square" lIns="0" tIns="0" rIns="0" bIns="0" rtlCol="0" anchor="ctr"/>
          <a:lstStyle/>
          <a:p>
            <a:pPr indent="0" marL="0">
              <a:buNone/>
            </a:pPr>
            <a:r>
              <a:rPr lang="en-US" sz="1600" i="1" dirty="0">
                <a:solidFill>
                  <a:srgbClr val="C7CEEA"/>
                </a:solidFill>
                <a:latin typeface="Calibri" pitchFamily="34" charset="0"/>
                <a:ea typeface="Calibri" pitchFamily="34" charset="-122"/>
                <a:cs typeface="Calibri" pitchFamily="34" charset="-120"/>
              </a:rPr>
              <a:t>Why secure, mobile ammunition destruction is needed now — before the plan, the market, or the valuation</a:t>
            </a:r>
            <a:endParaRPr lang="en-US" sz="1600" dirty="0"/>
          </a:p>
        </p:txBody>
      </p:sp>
      <p:sp>
        <p:nvSpPr>
          <p:cNvPr id="4" name="Text 2"/>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PROBLEM</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Stockpiles Are Growing Faster Than the Capacity to Destroy Them</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Three forces are converging: more ordnance to dispose of, fewer places able to do it, and a disposal model that assumes the ordnance can travel.</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48640" y="2148840"/>
            <a:ext cx="3514344" cy="2926080"/>
          </a:xfrm>
          <a:prstGeom prst="roundRect">
            <a:avLst>
              <a:gd name="adj" fmla="val 2500"/>
            </a:avLst>
          </a:prstGeom>
          <a:solidFill>
            <a:srgbClr val="F5F6FA"/>
          </a:solidFill>
          <a:ln w="9525">
            <a:solidFill>
              <a:srgbClr val="E3E5EE"/>
            </a:solidFill>
            <a:prstDash val="solid"/>
          </a:ln>
        </p:spPr>
      </p:sp>
      <p:sp>
        <p:nvSpPr>
          <p:cNvPr id="8" name="Text 6"/>
          <p:cNvSpPr/>
          <p:nvPr/>
        </p:nvSpPr>
        <p:spPr>
          <a:xfrm>
            <a:off x="777240" y="2331720"/>
            <a:ext cx="3057144" cy="548640"/>
          </a:xfrm>
          <a:prstGeom prst="rect">
            <a:avLst/>
          </a:prstGeom>
          <a:noFill/>
          <a:ln/>
        </p:spPr>
        <p:txBody>
          <a:bodyPr wrap="square" lIns="0" tIns="0" rIns="0" bIns="0" rtlCol="0" anchor="ctr"/>
          <a:lstStyle/>
          <a:p>
            <a:pPr indent="0" marL="0">
              <a:buNone/>
            </a:pPr>
            <a:r>
              <a:rPr lang="en-US" sz="2800" b="1" dirty="0">
                <a:solidFill>
                  <a:srgbClr val="1E2460"/>
                </a:solidFill>
                <a:latin typeface="Cambria" pitchFamily="34" charset="0"/>
                <a:ea typeface="Cambria" pitchFamily="34" charset="-122"/>
                <a:cs typeface="Cambria" pitchFamily="34" charset="-120"/>
              </a:rPr>
              <a:t>Post-conflict</a:t>
            </a:r>
            <a:endParaRPr lang="en-US" sz="2800" dirty="0"/>
          </a:p>
        </p:txBody>
      </p:sp>
      <p:sp>
        <p:nvSpPr>
          <p:cNvPr id="9" name="Text 7"/>
          <p:cNvSpPr/>
          <p:nvPr/>
        </p:nvSpPr>
        <p:spPr>
          <a:xfrm>
            <a:off x="777240" y="2926080"/>
            <a:ext cx="3057144" cy="320040"/>
          </a:xfrm>
          <a:prstGeom prst="rect">
            <a:avLst/>
          </a:prstGeom>
          <a:noFill/>
          <a:ln/>
        </p:spPr>
        <p:txBody>
          <a:bodyPr wrap="square" lIns="0" tIns="0" rIns="0" bIns="0" rtlCol="0" anchor="ctr"/>
          <a:lstStyle/>
          <a:p>
            <a:pPr indent="0" marL="0">
              <a:buNone/>
            </a:pPr>
            <a:r>
              <a:rPr lang="en-US" sz="1400" b="1" dirty="0">
                <a:solidFill>
                  <a:srgbClr val="E4B33A"/>
                </a:solidFill>
                <a:latin typeface="Cambria" pitchFamily="34" charset="0"/>
                <a:ea typeface="Cambria" pitchFamily="34" charset="-122"/>
                <a:cs typeface="Cambria" pitchFamily="34" charset="-120"/>
              </a:rPr>
              <a:t>Clearance &amp; reconstruction</a:t>
            </a:r>
            <a:endParaRPr lang="en-US" sz="1400" dirty="0"/>
          </a:p>
        </p:txBody>
      </p:sp>
      <p:sp>
        <p:nvSpPr>
          <p:cNvPr id="10" name="Text 8"/>
          <p:cNvSpPr/>
          <p:nvPr/>
        </p:nvSpPr>
        <p:spPr>
          <a:xfrm>
            <a:off x="777240" y="3291840"/>
            <a:ext cx="3057144" cy="1645920"/>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Every conflict leaves contaminated land and abandoned stockpiles behind. Every cleared field produces ordnance that still has to be destroyed — safely, locally, at scale — and clearance budgets are now being written at a scale not seen in decades.</a:t>
            </a:r>
            <a:endParaRPr lang="en-US" sz="1200" dirty="0"/>
          </a:p>
        </p:txBody>
      </p:sp>
      <p:sp>
        <p:nvSpPr>
          <p:cNvPr id="11" name="Shape 9"/>
          <p:cNvSpPr/>
          <p:nvPr/>
        </p:nvSpPr>
        <p:spPr>
          <a:xfrm>
            <a:off x="4337304" y="2148840"/>
            <a:ext cx="3514344" cy="2926080"/>
          </a:xfrm>
          <a:prstGeom prst="roundRect">
            <a:avLst>
              <a:gd name="adj" fmla="val 2500"/>
            </a:avLst>
          </a:prstGeom>
          <a:solidFill>
            <a:srgbClr val="F5F6FA"/>
          </a:solidFill>
          <a:ln w="9525">
            <a:solidFill>
              <a:srgbClr val="E3E5EE"/>
            </a:solidFill>
            <a:prstDash val="solid"/>
          </a:ln>
        </p:spPr>
      </p:sp>
      <p:sp>
        <p:nvSpPr>
          <p:cNvPr id="12" name="Text 10"/>
          <p:cNvSpPr/>
          <p:nvPr/>
        </p:nvSpPr>
        <p:spPr>
          <a:xfrm>
            <a:off x="4565904" y="2331720"/>
            <a:ext cx="3057144" cy="548640"/>
          </a:xfrm>
          <a:prstGeom prst="rect">
            <a:avLst/>
          </a:prstGeom>
          <a:noFill/>
          <a:ln/>
        </p:spPr>
        <p:txBody>
          <a:bodyPr wrap="square" lIns="0" tIns="0" rIns="0" bIns="0" rtlCol="0" anchor="ctr"/>
          <a:lstStyle/>
          <a:p>
            <a:pPr indent="0" marL="0">
              <a:buNone/>
            </a:pPr>
            <a:r>
              <a:rPr lang="en-US" sz="2800" b="1" dirty="0">
                <a:solidFill>
                  <a:srgbClr val="1E2460"/>
                </a:solidFill>
                <a:latin typeface="Cambria" pitchFamily="34" charset="0"/>
                <a:ea typeface="Cambria" pitchFamily="34" charset="-122"/>
                <a:cs typeface="Cambria" pitchFamily="34" charset="-120"/>
              </a:rPr>
              <a:t>Multi-state</a:t>
            </a:r>
            <a:endParaRPr lang="en-US" sz="2800" dirty="0"/>
          </a:p>
        </p:txBody>
      </p:sp>
      <p:sp>
        <p:nvSpPr>
          <p:cNvPr id="13" name="Text 11"/>
          <p:cNvSpPr/>
          <p:nvPr/>
        </p:nvSpPr>
        <p:spPr>
          <a:xfrm>
            <a:off x="4565904" y="2926080"/>
            <a:ext cx="3057144" cy="320040"/>
          </a:xfrm>
          <a:prstGeom prst="rect">
            <a:avLst/>
          </a:prstGeom>
          <a:noFill/>
          <a:ln/>
        </p:spPr>
        <p:txBody>
          <a:bodyPr wrap="square" lIns="0" tIns="0" rIns="0" bIns="0" rtlCol="0" anchor="ctr"/>
          <a:lstStyle/>
          <a:p>
            <a:pPr indent="0" marL="0">
              <a:buNone/>
            </a:pPr>
            <a:r>
              <a:rPr lang="en-US" sz="1400" b="1" dirty="0">
                <a:solidFill>
                  <a:srgbClr val="E4B33A"/>
                </a:solidFill>
                <a:latin typeface="Cambria" pitchFamily="34" charset="0"/>
                <a:ea typeface="Cambria" pitchFamily="34" charset="-122"/>
                <a:cs typeface="Cambria" pitchFamily="34" charset="-120"/>
              </a:rPr>
              <a:t>NATO demil backlogs</a:t>
            </a:r>
            <a:endParaRPr lang="en-US" sz="1400" dirty="0"/>
          </a:p>
        </p:txBody>
      </p:sp>
      <p:sp>
        <p:nvSpPr>
          <p:cNvPr id="14" name="Text 12"/>
          <p:cNvSpPr/>
          <p:nvPr/>
        </p:nvSpPr>
        <p:spPr>
          <a:xfrm>
            <a:off x="4565904" y="3291840"/>
            <a:ext cx="3057144" cy="1645920"/>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Expiring, obsolete and surplus munitions accumulating across member states as rearmament turns over stockpiles. Storage is a cost and a hazard; destruction is deferred for lack of capacity.</a:t>
            </a:r>
            <a:endParaRPr lang="en-US" sz="1200" dirty="0"/>
          </a:p>
        </p:txBody>
      </p:sp>
      <p:sp>
        <p:nvSpPr>
          <p:cNvPr id="15" name="Shape 13"/>
          <p:cNvSpPr/>
          <p:nvPr/>
        </p:nvSpPr>
        <p:spPr>
          <a:xfrm>
            <a:off x="8125968" y="2148840"/>
            <a:ext cx="3514344" cy="2926080"/>
          </a:xfrm>
          <a:prstGeom prst="roundRect">
            <a:avLst>
              <a:gd name="adj" fmla="val 2500"/>
            </a:avLst>
          </a:prstGeom>
          <a:solidFill>
            <a:srgbClr val="F5F6FA"/>
          </a:solidFill>
          <a:ln w="9525">
            <a:solidFill>
              <a:srgbClr val="E3E5EE"/>
            </a:solidFill>
            <a:prstDash val="solid"/>
          </a:ln>
        </p:spPr>
      </p:sp>
      <p:sp>
        <p:nvSpPr>
          <p:cNvPr id="16" name="Text 14"/>
          <p:cNvSpPr/>
          <p:nvPr/>
        </p:nvSpPr>
        <p:spPr>
          <a:xfrm>
            <a:off x="8354568" y="2331720"/>
            <a:ext cx="3057144" cy="548640"/>
          </a:xfrm>
          <a:prstGeom prst="rect">
            <a:avLst/>
          </a:prstGeom>
          <a:noFill/>
          <a:ln/>
        </p:spPr>
        <p:txBody>
          <a:bodyPr wrap="square" lIns="0" tIns="0" rIns="0" bIns="0" rtlCol="0" anchor="ctr"/>
          <a:lstStyle/>
          <a:p>
            <a:pPr indent="0" marL="0">
              <a:buNone/>
            </a:pPr>
            <a:r>
              <a:rPr lang="en-US" sz="2800" b="1" dirty="0">
                <a:solidFill>
                  <a:srgbClr val="1E2460"/>
                </a:solidFill>
                <a:latin typeface="Cambria" pitchFamily="34" charset="0"/>
                <a:ea typeface="Cambria" pitchFamily="34" charset="-122"/>
                <a:cs typeface="Cambria" pitchFamily="34" charset="-120"/>
              </a:rPr>
              <a:t>Every agency</a:t>
            </a:r>
            <a:endParaRPr lang="en-US" sz="2800" dirty="0"/>
          </a:p>
        </p:txBody>
      </p:sp>
      <p:sp>
        <p:nvSpPr>
          <p:cNvPr id="17" name="Text 15"/>
          <p:cNvSpPr/>
          <p:nvPr/>
        </p:nvSpPr>
        <p:spPr>
          <a:xfrm>
            <a:off x="8354568" y="2926080"/>
            <a:ext cx="3057144" cy="320040"/>
          </a:xfrm>
          <a:prstGeom prst="rect">
            <a:avLst/>
          </a:prstGeom>
          <a:noFill/>
          <a:ln/>
        </p:spPr>
        <p:txBody>
          <a:bodyPr wrap="square" lIns="0" tIns="0" rIns="0" bIns="0" rtlCol="0" anchor="ctr"/>
          <a:lstStyle/>
          <a:p>
            <a:pPr indent="0" marL="0">
              <a:buNone/>
            </a:pPr>
            <a:r>
              <a:rPr lang="en-US" sz="1400" b="1" dirty="0">
                <a:solidFill>
                  <a:srgbClr val="E4B33A"/>
                </a:solidFill>
                <a:latin typeface="Cambria" pitchFamily="34" charset="0"/>
                <a:ea typeface="Cambria" pitchFamily="34" charset="-122"/>
                <a:cs typeface="Cambria" pitchFamily="34" charset="-120"/>
              </a:rPr>
              <a:t>Police &amp; seized ammunition</a:t>
            </a:r>
            <a:endParaRPr lang="en-US" sz="1400" dirty="0"/>
          </a:p>
        </p:txBody>
      </p:sp>
      <p:sp>
        <p:nvSpPr>
          <p:cNvPr id="18" name="Text 16"/>
          <p:cNvSpPr/>
          <p:nvPr/>
        </p:nvSpPr>
        <p:spPr>
          <a:xfrm>
            <a:off x="8354568" y="3291840"/>
            <a:ext cx="3057144" cy="1645920"/>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Law-enforcement seizures, take-back events and expired duty ammunition accumulate in evidence rooms with no compliant disposal path — a persistent backlog in every jurisdiction TWB has served.</a:t>
            </a:r>
            <a:endParaRPr lang="en-US" sz="1200" dirty="0"/>
          </a:p>
        </p:txBody>
      </p:sp>
      <p:sp>
        <p:nvSpPr>
          <p:cNvPr id="19" name="Shape 17"/>
          <p:cNvSpPr/>
          <p:nvPr/>
        </p:nvSpPr>
        <p:spPr>
          <a:xfrm>
            <a:off x="548640" y="5349240"/>
            <a:ext cx="11091672" cy="822960"/>
          </a:xfrm>
          <a:prstGeom prst="roundRect">
            <a:avLst>
              <a:gd name="adj" fmla="val 6667"/>
            </a:avLst>
          </a:prstGeom>
          <a:solidFill>
            <a:srgbClr val="1E2460"/>
          </a:solidFill>
          <a:ln w="12700">
            <a:solidFill>
              <a:srgbClr val="1E2460"/>
            </a:solidFill>
            <a:prstDash val="solid"/>
          </a:ln>
        </p:spPr>
      </p:sp>
      <p:sp>
        <p:nvSpPr>
          <p:cNvPr id="20" name="Text 18"/>
          <p:cNvSpPr/>
          <p:nvPr/>
        </p:nvSpPr>
        <p:spPr>
          <a:xfrm>
            <a:off x="822960" y="5349240"/>
            <a:ext cx="10543032" cy="822960"/>
          </a:xfrm>
          <a:prstGeom prst="rect">
            <a:avLst/>
          </a:prstGeom>
          <a:noFill/>
          <a:ln/>
        </p:spPr>
        <p:txBody>
          <a:bodyPr wrap="square" lIns="0" tIns="0" rIns="0" bIns="0" rtlCol="0" anchor="ctr"/>
          <a:lstStyle/>
          <a:p>
            <a:pPr indent="0" marL="0">
              <a:buNone/>
            </a:pPr>
            <a:r>
              <a:rPr lang="en-US" sz="1300" b="1" dirty="0">
                <a:solidFill>
                  <a:srgbClr val="E4B33A"/>
                </a:solidFill>
                <a:latin typeface="Calibri" pitchFamily="34" charset="0"/>
                <a:ea typeface="Calibri" pitchFamily="34" charset="-122"/>
                <a:cs typeface="Calibri" pitchFamily="34" charset="-120"/>
              </a:rPr>
              <a:t>The structural gap: </a:t>
            </a:r>
            <a:pPr indent="0" marL="0">
              <a:buNone/>
            </a:pPr>
            <a:r>
              <a:rPr lang="en-US" sz="1300" dirty="0">
                <a:solidFill>
                  <a:srgbClr val="FFFFFF"/>
                </a:solidFill>
                <a:latin typeface="Calibri" pitchFamily="34" charset="0"/>
                <a:ea typeface="Calibri" pitchFamily="34" charset="-122"/>
                <a:cs typeface="Calibri" pitchFamily="34" charset="-120"/>
              </a:rPr>
              <a:t>the world's demil capacity is fixed-plant, centralized and permitted over years. Ordnances are distributed, hazardous to move, and accumulating now. Nobody offers a total solution — detection, separation, destruction and reclamation — at the point of need.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GAP</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Fixed-Plant Demil Can't Reach Where Ordnances Are</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The incumbent model requires ordnances to be shipped to a permitted depot. For distributed bases, allied nations and post-conflict zones, that is the bottleneck.</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2926080"/>
                <a:gridCol w="4114800"/>
                <a:gridCol w="4050792"/>
              </a:tblGrid>
              <a:tr h="4114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1E246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MOBILE SYSTEM (TWB)</a:t>
                      </a:r>
                      <a:endParaRPr lang="en-US" sz="10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1E246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FIXED-PLANT DEMIL</a:t>
                      </a:r>
                      <a:endParaRPr lang="en-US" sz="10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1E2460"/>
                    </a:solidFill>
                  </a:tcPr>
                </a:tc>
              </a:tr>
              <a:tr h="566928">
                <a:tc>
                  <a:txBody>
                    <a:bodyPr/>
                    <a:lstStyle/>
                    <a:p>
                      <a:pPr indent="0" marL="0">
                        <a:buNone/>
                      </a:pPr>
                      <a:r>
                        <a:rPr lang="en-US" sz="1300" b="1" dirty="0">
                          <a:solidFill>
                            <a:srgbClr val="1E2460"/>
                          </a:solidFill>
                          <a:latin typeface="Cambria" pitchFamily="34" charset="0"/>
                          <a:ea typeface="Cambria" pitchFamily="34" charset="-122"/>
                          <a:cs typeface="Cambria" pitchFamily="34" charset="-120"/>
                        </a:rPr>
                        <a:t>Deployment</a:t>
                      </a:r>
                      <a:endParaRPr lang="en-US" sz="1300" dirty="0">
                        <a:latin typeface="Cambria" charset="0"/>
                        <a:ea typeface="Cambria" charset="0"/>
                        <a:cs typeface="Cambria"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5F6FA"/>
                    </a:solidFill>
                  </a:tcPr>
                </a:tc>
                <a:tc>
                  <a:txBody>
                    <a:bodyPr/>
                    <a:lstStyle/>
                    <a:p>
                      <a:pPr indent="0" marL="0">
                        <a:buNone/>
                      </a:pPr>
                      <a:r>
                        <a:rPr lang="en-US" sz="1200" b="1" dirty="0">
                          <a:solidFill>
                            <a:srgbClr val="1E7A3C"/>
                          </a:solidFill>
                          <a:latin typeface="Calibri" pitchFamily="34" charset="0"/>
                          <a:ea typeface="Calibri" pitchFamily="34" charset="-122"/>
                          <a:cs typeface="Calibri" pitchFamily="34" charset="-120"/>
                        </a:rPr>
                        <a:t>Mobile / on-site — the unit goes to the ordnance</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5F6FA"/>
                    </a:solidFill>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Fixed depot — ordnance shipped to plant</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5F6FA"/>
                    </a:solidFill>
                  </a:tcPr>
                </a:tc>
              </a:tr>
              <a:tr h="566928">
                <a:tc>
                  <a:txBody>
                    <a:bodyPr/>
                    <a:lstStyle/>
                    <a:p>
                      <a:pPr indent="0" marL="0">
                        <a:buNone/>
                      </a:pPr>
                      <a:r>
                        <a:rPr lang="en-US" sz="1300" b="1" dirty="0">
                          <a:solidFill>
                            <a:srgbClr val="1E2460"/>
                          </a:solidFill>
                          <a:latin typeface="Cambria" pitchFamily="34" charset="0"/>
                          <a:ea typeface="Cambria" pitchFamily="34" charset="-122"/>
                          <a:cs typeface="Cambria" pitchFamily="34" charset="-120"/>
                        </a:rPr>
                        <a:t>Time to operational</a:t>
                      </a:r>
                      <a:endParaRPr lang="en-US" sz="1300" dirty="0">
                        <a:latin typeface="Cambria" charset="0"/>
                        <a:ea typeface="Cambria" charset="0"/>
                        <a:cs typeface="Cambria"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00" b="1" dirty="0">
                          <a:solidFill>
                            <a:srgbClr val="1E7A3C"/>
                          </a:solidFill>
                          <a:latin typeface="Calibri" pitchFamily="34" charset="0"/>
                          <a:ea typeface="Calibri" pitchFamily="34" charset="-122"/>
                          <a:cs typeface="Calibri" pitchFamily="34" charset="-120"/>
                        </a:rPr>
                        <a:t>Days — trailer-deployable, minimal site prep</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Months to years — permitted infrastructure</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E2460"/>
                          </a:solidFill>
                          <a:latin typeface="Cambria" pitchFamily="34" charset="0"/>
                          <a:ea typeface="Cambria" pitchFamily="34" charset="-122"/>
                          <a:cs typeface="Cambria" pitchFamily="34" charset="-120"/>
                        </a:rPr>
                        <a:t>Capital intensity</a:t>
                      </a:r>
                      <a:endParaRPr lang="en-US" sz="1300" dirty="0">
                        <a:latin typeface="Cambria" charset="0"/>
                        <a:ea typeface="Cambria" charset="0"/>
                        <a:cs typeface="Cambria"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5F6FA"/>
                    </a:solidFill>
                  </a:tcPr>
                </a:tc>
                <a:tc>
                  <a:txBody>
                    <a:bodyPr/>
                    <a:lstStyle/>
                    <a:p>
                      <a:pPr indent="0" marL="0">
                        <a:buNone/>
                      </a:pPr>
                      <a:r>
                        <a:rPr lang="en-US" sz="1200" b="1" dirty="0">
                          <a:solidFill>
                            <a:srgbClr val="1E7A3C"/>
                          </a:solidFill>
                          <a:latin typeface="Calibri" pitchFamily="34" charset="0"/>
                          <a:ea typeface="Calibri" pitchFamily="34" charset="-122"/>
                          <a:cs typeface="Calibri" pitchFamily="34" charset="-120"/>
                        </a:rPr>
                        <a:t>Low — single-unit capital cost</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5F6FA"/>
                    </a:solidFill>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High — large-scale fixed plant investment</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5F6FA"/>
                    </a:solidFill>
                  </a:tcPr>
                </a:tc>
              </a:tr>
              <a:tr h="566928">
                <a:tc>
                  <a:txBody>
                    <a:bodyPr/>
                    <a:lstStyle/>
                    <a:p>
                      <a:pPr indent="0" marL="0">
                        <a:buNone/>
                      </a:pPr>
                      <a:r>
                        <a:rPr lang="en-US" sz="1300" b="1" dirty="0">
                          <a:solidFill>
                            <a:srgbClr val="1E2460"/>
                          </a:solidFill>
                          <a:latin typeface="Cambria" pitchFamily="34" charset="0"/>
                          <a:ea typeface="Cambria" pitchFamily="34" charset="-122"/>
                          <a:cs typeface="Cambria" pitchFamily="34" charset="-120"/>
                        </a:rPr>
                        <a:t>Ideal use case</a:t>
                      </a:r>
                      <a:endParaRPr lang="en-US" sz="1300" dirty="0">
                        <a:latin typeface="Cambria" charset="0"/>
                        <a:ea typeface="Cambria" charset="0"/>
                        <a:cs typeface="Cambria"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00" b="1" dirty="0">
                          <a:solidFill>
                            <a:srgbClr val="1E7A3C"/>
                          </a:solidFill>
                          <a:latin typeface="Calibri" pitchFamily="34" charset="0"/>
                          <a:ea typeface="Calibri" pitchFamily="34" charset="-122"/>
                          <a:cs typeface="Calibri" pitchFamily="34" charset="-120"/>
                        </a:rPr>
                        <a:t>Distributed bases, allied nations, surge capacity</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Centralized national stockpile reduction</a:t>
                      </a:r>
                      <a:endParaRPr lang="en-US" sz="1200" dirty="0">
                        <a:latin typeface="Calibri" charset="0"/>
                        <a:ea typeface="Calibri" charset="0"/>
                        <a:cs typeface="Calibri" charset="0"/>
                      </a:endParaRPr>
                    </a:p>
                  </a:txBody>
                  <a:tcPr marL="137160" marR="137160" marT="0" marB="0" anchor="ctr">
                    <a:lnL w="6350" cap="flat" cmpd="sng" algn="ctr">
                      <a:solidFill>
                        <a:srgbClr val="E3E5EE"/>
                      </a:solidFill>
                      <a:prstDash val="solid"/>
                      <a:round/>
                      <a:headEnd type="none" w="med" len="med"/>
                      <a:tailEnd type="none" w="med" len="med"/>
                    </a:lnL>
                    <a:lnR w="6350" cap="flat" cmpd="sng" algn="ctr">
                      <a:solidFill>
                        <a:srgbClr val="E3E5EE"/>
                      </a:solidFill>
                      <a:prstDash val="solid"/>
                      <a:round/>
                      <a:headEnd type="none" w="med" len="med"/>
                      <a:tailEnd type="none" w="med" len="med"/>
                    </a:lnR>
                    <a:lnT w="6350" cap="flat" cmpd="sng" algn="ctr">
                      <a:solidFill>
                        <a:srgbClr val="E3E5EE"/>
                      </a:solidFill>
                      <a:prstDash val="solid"/>
                      <a:round/>
                      <a:headEnd type="none" w="med" len="med"/>
                      <a:tailEnd type="none" w="med" len="med"/>
                    </a:lnT>
                    <a:lnB w="6350" cap="flat" cmpd="sng" algn="ctr">
                      <a:solidFill>
                        <a:srgbClr val="E3E5EE"/>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120640"/>
            <a:ext cx="11091672" cy="960120"/>
          </a:xfrm>
          <a:prstGeom prst="roundRect">
            <a:avLst>
              <a:gd name="adj" fmla="val 5714"/>
            </a:avLst>
          </a:prstGeom>
          <a:solidFill>
            <a:srgbClr val="F5F6FA"/>
          </a:solidFill>
          <a:ln w="9525">
            <a:solidFill>
              <a:srgbClr val="E3E5EE"/>
            </a:solidFill>
            <a:prstDash val="solid"/>
          </a:ln>
        </p:spPr>
      </p:sp>
      <p:sp>
        <p:nvSpPr>
          <p:cNvPr id="9" name="Text 6"/>
          <p:cNvSpPr/>
          <p:nvPr/>
        </p:nvSpPr>
        <p:spPr>
          <a:xfrm>
            <a:off x="822960" y="5120640"/>
            <a:ext cx="10543032" cy="960120"/>
          </a:xfrm>
          <a:prstGeom prst="rect">
            <a:avLst/>
          </a:prstGeom>
          <a:noFill/>
          <a:ln/>
        </p:spPr>
        <p:txBody>
          <a:bodyPr wrap="square" lIns="0" tIns="0" rIns="0" bIns="0" rtlCol="0" anchor="ctr"/>
          <a:lstStyle/>
          <a:p>
            <a:pPr indent="0" marL="0">
              <a:buNone/>
            </a:pPr>
            <a:r>
              <a:rPr lang="en-US" sz="1250" b="1" dirty="0">
                <a:solidFill>
                  <a:srgbClr val="1E2460"/>
                </a:solidFill>
                <a:latin typeface="Calibri" pitchFamily="34" charset="0"/>
                <a:ea typeface="Calibri" pitchFamily="34" charset="-122"/>
                <a:cs typeface="Calibri" pitchFamily="34" charset="-120"/>
              </a:rPr>
              <a:t>Why this matters for the venture: </a:t>
            </a:r>
            <a:pPr indent="0" marL="0">
              <a:buNone/>
            </a:pPr>
            <a:r>
              <a:rPr lang="en-US" sz="1250" dirty="0">
                <a:solidFill>
                  <a:srgbClr val="2B2F45"/>
                </a:solidFill>
                <a:latin typeface="Calibri" pitchFamily="34" charset="0"/>
                <a:ea typeface="Calibri" pitchFamily="34" charset="-122"/>
                <a:cs typeface="Calibri" pitchFamily="34" charset="-120"/>
              </a:rPr>
              <a:t>a mobile, low-CAPEX unit is the only form factor that can serve allied militaries, distributed U.S. bases, police forces and reconstruction zones without waiting years for a plant. The U.S. Army has explicitly reserved demil capacity for new entrants (small-business set-asides) — an opening built for exactly this capability.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MARKET OPPORTUNITY</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$15bn-a-Year Global Market, Growing Steadily Through Year 10</a:t>
            </a:r>
            <a:endParaRPr lang="en-US" sz="2800" dirty="0"/>
          </a:p>
        </p:txBody>
      </p:sp>
      <p:sp>
        <p:nvSpPr>
          <p:cNvPr id="5" name="Text 3"/>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508760"/>
            <a:ext cx="3514344" cy="1280160"/>
          </a:xfrm>
          <a:prstGeom prst="roundRect">
            <a:avLst>
              <a:gd name="adj" fmla="val 5714"/>
            </a:avLst>
          </a:prstGeom>
          <a:solidFill>
            <a:srgbClr val="F5F6FA"/>
          </a:solidFill>
          <a:ln w="9525">
            <a:solidFill>
              <a:srgbClr val="E3E5EE"/>
            </a:solidFill>
            <a:prstDash val="solid"/>
          </a:ln>
        </p:spPr>
      </p:sp>
      <p:sp>
        <p:nvSpPr>
          <p:cNvPr id="7" name="Text 5"/>
          <p:cNvSpPr/>
          <p:nvPr/>
        </p:nvSpPr>
        <p:spPr>
          <a:xfrm>
            <a:off x="713232" y="1618488"/>
            <a:ext cx="3185160" cy="502920"/>
          </a:xfrm>
          <a:prstGeom prst="rect">
            <a:avLst/>
          </a:prstGeom>
          <a:noFill/>
          <a:ln/>
        </p:spPr>
        <p:txBody>
          <a:bodyPr wrap="square" lIns="0" tIns="0" rIns="0" bIns="0" rtlCol="0" anchor="ctr"/>
          <a:lstStyle/>
          <a:p>
            <a:pPr indent="0" marL="0">
              <a:buNone/>
            </a:pPr>
            <a:r>
              <a:rPr lang="en-US" sz="2400" b="1" dirty="0">
                <a:solidFill>
                  <a:srgbClr val="1E2460"/>
                </a:solidFill>
                <a:latin typeface="Cambria" pitchFamily="34" charset="0"/>
                <a:ea typeface="Cambria" pitchFamily="34" charset="-122"/>
                <a:cs typeface="Cambria" pitchFamily="34" charset="-120"/>
              </a:rPr>
              <a:t>$15.0bn / yr</a:t>
            </a:r>
            <a:endParaRPr lang="en-US" sz="2400" dirty="0"/>
          </a:p>
        </p:txBody>
      </p:sp>
      <p:sp>
        <p:nvSpPr>
          <p:cNvPr id="8" name="Text 6"/>
          <p:cNvSpPr/>
          <p:nvPr/>
        </p:nvSpPr>
        <p:spPr>
          <a:xfrm>
            <a:off x="713232" y="2130552"/>
            <a:ext cx="3185160" cy="5669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2026 annual TAM — mine action, EOD, ammo demil, chem weapons, post-conflict clearance</a:t>
            </a:r>
            <a:endParaRPr lang="en-US" sz="1050" dirty="0"/>
          </a:p>
        </p:txBody>
      </p:sp>
      <p:sp>
        <p:nvSpPr>
          <p:cNvPr id="9" name="Shape 7"/>
          <p:cNvSpPr/>
          <p:nvPr/>
        </p:nvSpPr>
        <p:spPr>
          <a:xfrm>
            <a:off x="4337304" y="1508760"/>
            <a:ext cx="3514344" cy="1280160"/>
          </a:xfrm>
          <a:prstGeom prst="roundRect">
            <a:avLst>
              <a:gd name="adj" fmla="val 5714"/>
            </a:avLst>
          </a:prstGeom>
          <a:solidFill>
            <a:srgbClr val="F5F6FA"/>
          </a:solidFill>
          <a:ln w="9525">
            <a:solidFill>
              <a:srgbClr val="E3E5EE"/>
            </a:solidFill>
            <a:prstDash val="solid"/>
          </a:ln>
        </p:spPr>
      </p:sp>
      <p:sp>
        <p:nvSpPr>
          <p:cNvPr id="10" name="Text 8"/>
          <p:cNvSpPr/>
          <p:nvPr/>
        </p:nvSpPr>
        <p:spPr>
          <a:xfrm>
            <a:off x="4501896" y="1618488"/>
            <a:ext cx="3185160" cy="502920"/>
          </a:xfrm>
          <a:prstGeom prst="rect">
            <a:avLst/>
          </a:prstGeom>
          <a:noFill/>
          <a:ln/>
        </p:spPr>
        <p:txBody>
          <a:bodyPr wrap="square" lIns="0" tIns="0" rIns="0" bIns="0" rtlCol="0" anchor="ctr"/>
          <a:lstStyle/>
          <a:p>
            <a:pPr indent="0" marL="0">
              <a:buNone/>
            </a:pPr>
            <a:r>
              <a:rPr lang="en-US" sz="2400" b="1" dirty="0">
                <a:solidFill>
                  <a:srgbClr val="1E2460"/>
                </a:solidFill>
                <a:latin typeface="Cambria" pitchFamily="34" charset="0"/>
                <a:ea typeface="Cambria" pitchFamily="34" charset="-122"/>
                <a:cs typeface="Cambria" pitchFamily="34" charset="-120"/>
              </a:rPr>
              <a:t>$5.2bn / yr</a:t>
            </a:r>
            <a:endParaRPr lang="en-US" sz="2400" dirty="0"/>
          </a:p>
        </p:txBody>
      </p:sp>
      <p:sp>
        <p:nvSpPr>
          <p:cNvPr id="11" name="Text 9"/>
          <p:cNvSpPr/>
          <p:nvPr/>
        </p:nvSpPr>
        <p:spPr>
          <a:xfrm>
            <a:off x="4501896" y="2130552"/>
            <a:ext cx="3185160" cy="5669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2026 annual SAM — TWB's realistic serviceable slice</a:t>
            </a:r>
            <a:endParaRPr lang="en-US" sz="1050" dirty="0"/>
          </a:p>
        </p:txBody>
      </p:sp>
      <p:sp>
        <p:nvSpPr>
          <p:cNvPr id="12" name="Shape 10"/>
          <p:cNvSpPr/>
          <p:nvPr/>
        </p:nvSpPr>
        <p:spPr>
          <a:xfrm>
            <a:off x="8125968" y="1508760"/>
            <a:ext cx="3514344" cy="1280160"/>
          </a:xfrm>
          <a:prstGeom prst="roundRect">
            <a:avLst>
              <a:gd name="adj" fmla="val 5714"/>
            </a:avLst>
          </a:prstGeom>
          <a:solidFill>
            <a:srgbClr val="F5F6FA"/>
          </a:solidFill>
          <a:ln w="9525">
            <a:solidFill>
              <a:srgbClr val="E3E5EE"/>
            </a:solidFill>
            <a:prstDash val="solid"/>
          </a:ln>
        </p:spPr>
      </p:sp>
      <p:sp>
        <p:nvSpPr>
          <p:cNvPr id="13" name="Text 11"/>
          <p:cNvSpPr/>
          <p:nvPr/>
        </p:nvSpPr>
        <p:spPr>
          <a:xfrm>
            <a:off x="8290560" y="1618488"/>
            <a:ext cx="3185160" cy="502920"/>
          </a:xfrm>
          <a:prstGeom prst="rect">
            <a:avLst/>
          </a:prstGeom>
          <a:noFill/>
          <a:ln/>
        </p:spPr>
        <p:txBody>
          <a:bodyPr wrap="square" lIns="0" tIns="0" rIns="0" bIns="0" rtlCol="0" anchor="ctr"/>
          <a:lstStyle/>
          <a:p>
            <a:pPr indent="0" marL="0">
              <a:buNone/>
            </a:pPr>
            <a:r>
              <a:rPr lang="en-US" sz="2400" b="1" dirty="0">
                <a:solidFill>
                  <a:srgbClr val="1E2460"/>
                </a:solidFill>
                <a:latin typeface="Cambria" pitchFamily="34" charset="0"/>
                <a:ea typeface="Cambria" pitchFamily="34" charset="-122"/>
                <a:cs typeface="Cambria" pitchFamily="34" charset="-120"/>
              </a:rPr>
              <a:t>$8.47bn / yr</a:t>
            </a:r>
            <a:endParaRPr lang="en-US" sz="2400" dirty="0"/>
          </a:p>
        </p:txBody>
      </p:sp>
      <p:sp>
        <p:nvSpPr>
          <p:cNvPr id="14" name="Text 12"/>
          <p:cNvSpPr/>
          <p:nvPr/>
        </p:nvSpPr>
        <p:spPr>
          <a:xfrm>
            <a:off x="8290560" y="2130552"/>
            <a:ext cx="3185160" cy="56692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Year-10 annual SAM (grown — not static)</a:t>
            </a:r>
            <a:endParaRPr lang="en-US" sz="1050" dirty="0"/>
          </a:p>
        </p:txBody>
      </p:sp>
      <p:sp>
        <p:nvSpPr>
          <p:cNvPr id="15" name="Text 13"/>
          <p:cNvSpPr/>
          <p:nvPr/>
        </p:nvSpPr>
        <p:spPr>
          <a:xfrm>
            <a:off x="548640" y="2834640"/>
            <a:ext cx="11091672" cy="22860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All market figures are annual spend, in USD.</a:t>
            </a:r>
            <a:endParaRPr lang="en-US" sz="950" dirty="0"/>
          </a:p>
        </p:txBody>
      </p:sp>
      <p:sp>
        <p:nvSpPr>
          <p:cNvPr id="16" name="Text 14"/>
          <p:cNvSpPr/>
          <p:nvPr/>
        </p:nvSpPr>
        <p:spPr>
          <a:xfrm>
            <a:off x="548640" y="3108960"/>
            <a:ext cx="11091672"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What's driving growth</a:t>
            </a:r>
            <a:endParaRPr lang="en-US" sz="1500" dirty="0"/>
          </a:p>
        </p:txBody>
      </p:sp>
      <p:sp>
        <p:nvSpPr>
          <p:cNvPr id="17" name="Shape 15"/>
          <p:cNvSpPr/>
          <p:nvPr/>
        </p:nvSpPr>
        <p:spPr>
          <a:xfrm>
            <a:off x="548640" y="3657600"/>
            <a:ext cx="201168" cy="201168"/>
          </a:xfrm>
          <a:prstGeom prst="ellipse">
            <a:avLst/>
          </a:prstGeom>
          <a:solidFill>
            <a:srgbClr val="E4B33A"/>
          </a:solidFill>
          <a:ln w="12700">
            <a:solidFill>
              <a:srgbClr val="E4B33A"/>
            </a:solidFill>
            <a:prstDash val="solid"/>
          </a:ln>
        </p:spPr>
      </p:sp>
      <p:sp>
        <p:nvSpPr>
          <p:cNvPr id="18" name="Text 16"/>
          <p:cNvSpPr/>
          <p:nvPr/>
        </p:nvSpPr>
        <p:spPr>
          <a:xfrm>
            <a:off x="914400" y="3611880"/>
            <a:ext cx="10725912" cy="320040"/>
          </a:xfrm>
          <a:prstGeom prst="rect">
            <a:avLst/>
          </a:prstGeom>
          <a:noFill/>
          <a:ln/>
        </p:spPr>
        <p:txBody>
          <a:bodyPr wrap="square" lIns="0" tIns="0" rIns="0" bIns="0" rtlCol="0" anchor="ctr"/>
          <a:lstStyle/>
          <a:p>
            <a:pPr indent="0" marL="0">
              <a:buNone/>
            </a:pPr>
            <a:r>
              <a:rPr lang="en-US" sz="1300" b="1" dirty="0">
                <a:solidFill>
                  <a:srgbClr val="1E2460"/>
                </a:solidFill>
                <a:latin typeface="Calibri" pitchFamily="34" charset="0"/>
                <a:ea typeface="Calibri" pitchFamily="34" charset="-122"/>
                <a:cs typeface="Calibri" pitchFamily="34" charset="-120"/>
              </a:rPr>
              <a:t>Post-conflict reconstruction  </a:t>
            </a:r>
            <a:pPr indent="0" marL="0">
              <a:buNone/>
            </a:pPr>
            <a:r>
              <a:rPr lang="en-US" sz="1300" dirty="0">
                <a:solidFill>
                  <a:srgbClr val="2B2F45"/>
                </a:solidFill>
                <a:latin typeface="Calibri" pitchFamily="34" charset="0"/>
                <a:ea typeface="Calibri" pitchFamily="34" charset="-122"/>
                <a:cs typeface="Calibri" pitchFamily="34" charset="-120"/>
              </a:rPr>
              <a:t>Multi-decade clearance programs now being funded; annual disbursement ramping as financing scales</a:t>
            </a:r>
            <a:endParaRPr lang="en-US" sz="1300" dirty="0"/>
          </a:p>
        </p:txBody>
      </p:sp>
      <p:sp>
        <p:nvSpPr>
          <p:cNvPr id="19" name="Shape 17"/>
          <p:cNvSpPr/>
          <p:nvPr/>
        </p:nvSpPr>
        <p:spPr>
          <a:xfrm>
            <a:off x="548640" y="4297680"/>
            <a:ext cx="201168" cy="201168"/>
          </a:xfrm>
          <a:prstGeom prst="ellipse">
            <a:avLst/>
          </a:prstGeom>
          <a:solidFill>
            <a:srgbClr val="E4B33A"/>
          </a:solidFill>
          <a:ln w="12700">
            <a:solidFill>
              <a:srgbClr val="E4B33A"/>
            </a:solidFill>
            <a:prstDash val="solid"/>
          </a:ln>
        </p:spPr>
      </p:sp>
      <p:sp>
        <p:nvSpPr>
          <p:cNvPr id="20" name="Text 18"/>
          <p:cNvSpPr/>
          <p:nvPr/>
        </p:nvSpPr>
        <p:spPr>
          <a:xfrm>
            <a:off x="914400" y="4251960"/>
            <a:ext cx="10725912" cy="320040"/>
          </a:xfrm>
          <a:prstGeom prst="rect">
            <a:avLst/>
          </a:prstGeom>
          <a:noFill/>
          <a:ln/>
        </p:spPr>
        <p:txBody>
          <a:bodyPr wrap="square" lIns="0" tIns="0" rIns="0" bIns="0" rtlCol="0" anchor="ctr"/>
          <a:lstStyle/>
          <a:p>
            <a:pPr indent="0" marL="0">
              <a:buNone/>
            </a:pPr>
            <a:r>
              <a:rPr lang="en-US" sz="1300" b="1" dirty="0">
                <a:solidFill>
                  <a:srgbClr val="1E2460"/>
                </a:solidFill>
                <a:latin typeface="Calibri" pitchFamily="34" charset="0"/>
                <a:ea typeface="Calibri" pitchFamily="34" charset="-122"/>
                <a:cs typeface="Calibri" pitchFamily="34" charset="-120"/>
              </a:rPr>
              <a:t>European rearmament  </a:t>
            </a:r>
            <a:pPr indent="0" marL="0">
              <a:buNone/>
            </a:pPr>
            <a:r>
              <a:rPr lang="en-US" sz="1300" dirty="0">
                <a:solidFill>
                  <a:srgbClr val="2B2F45"/>
                </a:solidFill>
                <a:latin typeface="Calibri" pitchFamily="34" charset="0"/>
                <a:ea typeface="Calibri" pitchFamily="34" charset="-122"/>
                <a:cs typeface="Calibri" pitchFamily="34" charset="-120"/>
              </a:rPr>
              <a:t>Ammunition and EOD equipment spend growing off current conflict-driven cycle</a:t>
            </a:r>
            <a:endParaRPr lang="en-US" sz="1300" dirty="0"/>
          </a:p>
        </p:txBody>
      </p:sp>
      <p:sp>
        <p:nvSpPr>
          <p:cNvPr id="21" name="Shape 19"/>
          <p:cNvSpPr/>
          <p:nvPr/>
        </p:nvSpPr>
        <p:spPr>
          <a:xfrm>
            <a:off x="548640" y="4937760"/>
            <a:ext cx="201168" cy="201168"/>
          </a:xfrm>
          <a:prstGeom prst="ellipse">
            <a:avLst/>
          </a:prstGeom>
          <a:solidFill>
            <a:srgbClr val="E4B33A"/>
          </a:solidFill>
          <a:ln w="12700">
            <a:solidFill>
              <a:srgbClr val="E4B33A"/>
            </a:solidFill>
            <a:prstDash val="solid"/>
          </a:ln>
        </p:spPr>
      </p:sp>
      <p:sp>
        <p:nvSpPr>
          <p:cNvPr id="22" name="Text 20"/>
          <p:cNvSpPr/>
          <p:nvPr/>
        </p:nvSpPr>
        <p:spPr>
          <a:xfrm>
            <a:off x="914400" y="4892040"/>
            <a:ext cx="10725912" cy="320040"/>
          </a:xfrm>
          <a:prstGeom prst="rect">
            <a:avLst/>
          </a:prstGeom>
          <a:noFill/>
          <a:ln/>
        </p:spPr>
        <p:txBody>
          <a:bodyPr wrap="square" lIns="0" tIns="0" rIns="0" bIns="0" rtlCol="0" anchor="ctr"/>
          <a:lstStyle/>
          <a:p>
            <a:pPr indent="0" marL="0">
              <a:buNone/>
            </a:pPr>
            <a:r>
              <a:rPr lang="en-US" sz="1300" b="1" dirty="0">
                <a:solidFill>
                  <a:srgbClr val="1E2460"/>
                </a:solidFill>
                <a:latin typeface="Calibri" pitchFamily="34" charset="0"/>
                <a:ea typeface="Calibri" pitchFamily="34" charset="-122"/>
                <a:cs typeface="Calibri" pitchFamily="34" charset="-120"/>
              </a:rPr>
              <a:t>NATO stockpile turnover  </a:t>
            </a:r>
            <a:pPr indent="0" marL="0">
              <a:buNone/>
            </a:pPr>
            <a:r>
              <a:rPr lang="en-US" sz="1300" dirty="0">
                <a:solidFill>
                  <a:srgbClr val="2B2F45"/>
                </a:solidFill>
                <a:latin typeface="Calibri" pitchFamily="34" charset="0"/>
                <a:ea typeface="Calibri" pitchFamily="34" charset="-122"/>
                <a:cs typeface="Calibri" pitchFamily="34" charset="-120"/>
              </a:rPr>
              <a:t>Ammunition demilitarization backlogs building across multiple member states</a:t>
            </a:r>
            <a:endParaRPr lang="en-US" sz="1300" dirty="0"/>
          </a:p>
        </p:txBody>
      </p:sp>
      <p:sp>
        <p:nvSpPr>
          <p:cNvPr id="23" name="Shape 21"/>
          <p:cNvSpPr/>
          <p:nvPr/>
        </p:nvSpPr>
        <p:spPr>
          <a:xfrm>
            <a:off x="548640" y="5577840"/>
            <a:ext cx="201168" cy="201168"/>
          </a:xfrm>
          <a:prstGeom prst="ellipse">
            <a:avLst/>
          </a:prstGeom>
          <a:solidFill>
            <a:srgbClr val="E4B33A"/>
          </a:solidFill>
          <a:ln w="12700">
            <a:solidFill>
              <a:srgbClr val="E4B33A"/>
            </a:solidFill>
            <a:prstDash val="solid"/>
          </a:ln>
        </p:spPr>
      </p:sp>
      <p:sp>
        <p:nvSpPr>
          <p:cNvPr id="24" name="Text 22"/>
          <p:cNvSpPr/>
          <p:nvPr/>
        </p:nvSpPr>
        <p:spPr>
          <a:xfrm>
            <a:off x="914400" y="5532120"/>
            <a:ext cx="10725912" cy="320040"/>
          </a:xfrm>
          <a:prstGeom prst="rect">
            <a:avLst/>
          </a:prstGeom>
          <a:noFill/>
          <a:ln/>
        </p:spPr>
        <p:txBody>
          <a:bodyPr wrap="square" lIns="0" tIns="0" rIns="0" bIns="0" rtlCol="0" anchor="ctr"/>
          <a:lstStyle/>
          <a:p>
            <a:pPr indent="0" marL="0">
              <a:buNone/>
            </a:pPr>
            <a:r>
              <a:rPr lang="en-US" sz="1300" b="1" dirty="0">
                <a:solidFill>
                  <a:srgbClr val="1E2460"/>
                </a:solidFill>
                <a:latin typeface="Calibri" pitchFamily="34" charset="0"/>
                <a:ea typeface="Calibri" pitchFamily="34" charset="-122"/>
                <a:cs typeface="Calibri" pitchFamily="34" charset="-120"/>
              </a:rPr>
              <a:t>Mine action funding pressure  </a:t>
            </a:r>
            <a:pPr indent="0" marL="0">
              <a:buNone/>
            </a:pPr>
            <a:r>
              <a:rPr lang="en-US" sz="1300" dirty="0">
                <a:solidFill>
                  <a:srgbClr val="2B2F45"/>
                </a:solidFill>
                <a:latin typeface="Calibri" pitchFamily="34" charset="0"/>
                <a:ea typeface="Calibri" pitchFamily="34" charset="-122"/>
                <a:cs typeface="Calibri" pitchFamily="34" charset="-120"/>
              </a:rPr>
              <a:t>Near-flat to declining — a real headwind, priced conservatively into the model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PROOF POINT: THE BUYER IS SPENDING</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Largest Demil Market on Earth Is Recapitalizing</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Recent U.S. Army awards show sustained, multi-year demand for conventional ammunition demilitarization capacity — real evidence behind the modeled market slide.</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48640" y="2103120"/>
            <a:ext cx="5852160" cy="3931920"/>
          </a:xfrm>
          <a:prstGeom prst="roundRect">
            <a:avLst>
              <a:gd name="adj" fmla="val 1860"/>
            </a:avLst>
          </a:prstGeom>
          <a:solidFill>
            <a:srgbClr val="1E2460"/>
          </a:solidFill>
          <a:ln w="12700">
            <a:solidFill>
              <a:srgbClr val="1E2460"/>
            </a:solidFill>
            <a:prstDash val="solid"/>
          </a:ln>
        </p:spPr>
      </p:sp>
      <p:sp>
        <p:nvSpPr>
          <p:cNvPr id="8" name="Text 6"/>
          <p:cNvSpPr/>
          <p:nvPr/>
        </p:nvSpPr>
        <p:spPr>
          <a:xfrm>
            <a:off x="822960" y="2286000"/>
            <a:ext cx="5303520" cy="274320"/>
          </a:xfrm>
          <a:prstGeom prst="rect">
            <a:avLst/>
          </a:prstGeom>
          <a:noFill/>
          <a:ln/>
        </p:spPr>
        <p:txBody>
          <a:bodyPr wrap="square" lIns="0" tIns="0" rIns="0" bIns="0" rtlCol="0" anchor="ctr"/>
          <a:lstStyle/>
          <a:p>
            <a:pPr indent="0" marL="0">
              <a:buNone/>
            </a:pPr>
            <a:r>
              <a:rPr lang="en-US" sz="950" b="1" spc="150" kern="0" dirty="0">
                <a:solidFill>
                  <a:srgbClr val="E4B33A"/>
                </a:solidFill>
                <a:latin typeface="Calibri" pitchFamily="34" charset="0"/>
                <a:ea typeface="Calibri" pitchFamily="34" charset="-122"/>
                <a:cs typeface="Calibri" pitchFamily="34" charset="-120"/>
              </a:rPr>
              <a:t>MAJOR U.S. ARMY DEMIL / MUNITIONS DEPOTS (ILLUSTRATIVE)</a:t>
            </a:r>
            <a:endParaRPr lang="en-US" sz="950" dirty="0"/>
          </a:p>
        </p:txBody>
      </p:sp>
      <p:sp>
        <p:nvSpPr>
          <p:cNvPr id="9" name="Shape 7"/>
          <p:cNvSpPr/>
          <p:nvPr/>
        </p:nvSpPr>
        <p:spPr>
          <a:xfrm>
            <a:off x="868680" y="2788920"/>
            <a:ext cx="128016" cy="128016"/>
          </a:xfrm>
          <a:prstGeom prst="ellipse">
            <a:avLst/>
          </a:prstGeom>
          <a:solidFill>
            <a:srgbClr val="E4B33A"/>
          </a:solidFill>
          <a:ln w="12700">
            <a:solidFill>
              <a:srgbClr val="E4B33A"/>
            </a:solidFill>
            <a:prstDash val="solid"/>
          </a:ln>
        </p:spPr>
      </p:sp>
      <p:sp>
        <p:nvSpPr>
          <p:cNvPr id="10" name="Text 8"/>
          <p:cNvSpPr/>
          <p:nvPr/>
        </p:nvSpPr>
        <p:spPr>
          <a:xfrm>
            <a:off x="1143000" y="2697480"/>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Rock Island Arsenal</a:t>
            </a:r>
            <a:endParaRPr lang="en-US" sz="1300" dirty="0"/>
          </a:p>
        </p:txBody>
      </p:sp>
      <p:sp>
        <p:nvSpPr>
          <p:cNvPr id="11" name="Text 9"/>
          <p:cNvSpPr/>
          <p:nvPr/>
        </p:nvSpPr>
        <p:spPr>
          <a:xfrm>
            <a:off x="1143000" y="2953512"/>
            <a:ext cx="4937760" cy="256032"/>
          </a:xfrm>
          <a:prstGeom prst="rect">
            <a:avLst/>
          </a:prstGeom>
          <a:noFill/>
          <a:ln/>
        </p:spPr>
        <p:txBody>
          <a:bodyPr wrap="square" lIns="0" tIns="0" rIns="0" bIns="0" rtlCol="0" anchor="ctr"/>
          <a:lstStyle/>
          <a:p>
            <a:pPr indent="0" marL="0">
              <a:buNone/>
            </a:pPr>
            <a:r>
              <a:rPr lang="en-US" sz="1000" dirty="0">
                <a:solidFill>
                  <a:srgbClr val="C7CEEA"/>
                </a:solidFill>
                <a:latin typeface="Calibri" pitchFamily="34" charset="0"/>
                <a:ea typeface="Calibri" pitchFamily="34" charset="-122"/>
                <a:cs typeface="Calibri" pitchFamily="34" charset="-120"/>
              </a:rPr>
              <a:t>Illinois — contracting command for demil IDIQ</a:t>
            </a:r>
            <a:endParaRPr lang="en-US" sz="1000" dirty="0"/>
          </a:p>
        </p:txBody>
      </p:sp>
      <p:sp>
        <p:nvSpPr>
          <p:cNvPr id="12" name="Shape 10"/>
          <p:cNvSpPr/>
          <p:nvPr/>
        </p:nvSpPr>
        <p:spPr>
          <a:xfrm>
            <a:off x="868680" y="3355848"/>
            <a:ext cx="128016" cy="128016"/>
          </a:xfrm>
          <a:prstGeom prst="ellipse">
            <a:avLst/>
          </a:prstGeom>
          <a:solidFill>
            <a:srgbClr val="E4B33A"/>
          </a:solidFill>
          <a:ln w="12700">
            <a:solidFill>
              <a:srgbClr val="E4B33A"/>
            </a:solidFill>
            <a:prstDash val="solid"/>
          </a:ln>
        </p:spPr>
      </p:sp>
      <p:sp>
        <p:nvSpPr>
          <p:cNvPr id="13" name="Text 11"/>
          <p:cNvSpPr/>
          <p:nvPr/>
        </p:nvSpPr>
        <p:spPr>
          <a:xfrm>
            <a:off x="1143000" y="3264408"/>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Hawthorne Army Depot</a:t>
            </a:r>
            <a:endParaRPr lang="en-US" sz="1300" dirty="0"/>
          </a:p>
        </p:txBody>
      </p:sp>
      <p:sp>
        <p:nvSpPr>
          <p:cNvPr id="14" name="Text 12"/>
          <p:cNvSpPr/>
          <p:nvPr/>
        </p:nvSpPr>
        <p:spPr>
          <a:xfrm>
            <a:off x="1143000" y="3520440"/>
            <a:ext cx="4937760" cy="256032"/>
          </a:xfrm>
          <a:prstGeom prst="rect">
            <a:avLst/>
          </a:prstGeom>
          <a:noFill/>
          <a:ln/>
        </p:spPr>
        <p:txBody>
          <a:bodyPr wrap="square" lIns="0" tIns="0" rIns="0" bIns="0" rtlCol="0" anchor="ctr"/>
          <a:lstStyle/>
          <a:p>
            <a:pPr indent="0" marL="0">
              <a:buNone/>
            </a:pPr>
            <a:r>
              <a:rPr lang="en-US" sz="1000" dirty="0">
                <a:solidFill>
                  <a:srgbClr val="C7CEEA"/>
                </a:solidFill>
                <a:latin typeface="Calibri" pitchFamily="34" charset="0"/>
                <a:ea typeface="Calibri" pitchFamily="34" charset="-122"/>
                <a:cs typeface="Calibri" pitchFamily="34" charset="-120"/>
              </a:rPr>
              <a:t>Nevada — $2.30bn O&amp;M and modernization award</a:t>
            </a:r>
            <a:endParaRPr lang="en-US" sz="1000" dirty="0"/>
          </a:p>
        </p:txBody>
      </p:sp>
      <p:sp>
        <p:nvSpPr>
          <p:cNvPr id="15" name="Shape 13"/>
          <p:cNvSpPr/>
          <p:nvPr/>
        </p:nvSpPr>
        <p:spPr>
          <a:xfrm>
            <a:off x="868680" y="3922776"/>
            <a:ext cx="128016" cy="128016"/>
          </a:xfrm>
          <a:prstGeom prst="ellipse">
            <a:avLst/>
          </a:prstGeom>
          <a:solidFill>
            <a:srgbClr val="E4B33A"/>
          </a:solidFill>
          <a:ln w="12700">
            <a:solidFill>
              <a:srgbClr val="E4B33A"/>
            </a:solidFill>
            <a:prstDash val="solid"/>
          </a:ln>
        </p:spPr>
      </p:sp>
      <p:sp>
        <p:nvSpPr>
          <p:cNvPr id="16" name="Text 14"/>
          <p:cNvSpPr/>
          <p:nvPr/>
        </p:nvSpPr>
        <p:spPr>
          <a:xfrm>
            <a:off x="1143000" y="3831336"/>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McAlester Army Ammunition Plant</a:t>
            </a:r>
            <a:endParaRPr lang="en-US" sz="1300" dirty="0"/>
          </a:p>
        </p:txBody>
      </p:sp>
      <p:sp>
        <p:nvSpPr>
          <p:cNvPr id="17" name="Text 15"/>
          <p:cNvSpPr/>
          <p:nvPr/>
        </p:nvSpPr>
        <p:spPr>
          <a:xfrm>
            <a:off x="1143000" y="4087368"/>
            <a:ext cx="4937760" cy="256032"/>
          </a:xfrm>
          <a:prstGeom prst="rect">
            <a:avLst/>
          </a:prstGeom>
          <a:noFill/>
          <a:ln/>
        </p:spPr>
        <p:txBody>
          <a:bodyPr wrap="square" lIns="0" tIns="0" rIns="0" bIns="0" rtlCol="0" anchor="ctr"/>
          <a:lstStyle/>
          <a:p>
            <a:pPr indent="0" marL="0">
              <a:buNone/>
            </a:pPr>
            <a:r>
              <a:rPr lang="en-US" sz="1000" dirty="0">
                <a:solidFill>
                  <a:srgbClr val="C7CEEA"/>
                </a:solidFill>
                <a:latin typeface="Calibri" pitchFamily="34" charset="0"/>
                <a:ea typeface="Calibri" pitchFamily="34" charset="-122"/>
                <a:cs typeface="Calibri" pitchFamily="34" charset="-120"/>
              </a:rPr>
              <a:t>Oklahoma — conventional munitions demil</a:t>
            </a:r>
            <a:endParaRPr lang="en-US" sz="1000" dirty="0"/>
          </a:p>
        </p:txBody>
      </p:sp>
      <p:sp>
        <p:nvSpPr>
          <p:cNvPr id="18" name="Shape 16"/>
          <p:cNvSpPr/>
          <p:nvPr/>
        </p:nvSpPr>
        <p:spPr>
          <a:xfrm>
            <a:off x="868680" y="4489704"/>
            <a:ext cx="128016" cy="128016"/>
          </a:xfrm>
          <a:prstGeom prst="ellipse">
            <a:avLst/>
          </a:prstGeom>
          <a:solidFill>
            <a:srgbClr val="E4B33A"/>
          </a:solidFill>
          <a:ln w="12700">
            <a:solidFill>
              <a:srgbClr val="E4B33A"/>
            </a:solidFill>
            <a:prstDash val="solid"/>
          </a:ln>
        </p:spPr>
      </p:sp>
      <p:sp>
        <p:nvSpPr>
          <p:cNvPr id="19" name="Text 17"/>
          <p:cNvSpPr/>
          <p:nvPr/>
        </p:nvSpPr>
        <p:spPr>
          <a:xfrm>
            <a:off x="1143000" y="4398264"/>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Blue Grass Army Depot</a:t>
            </a:r>
            <a:endParaRPr lang="en-US" sz="1300" dirty="0"/>
          </a:p>
        </p:txBody>
      </p:sp>
      <p:sp>
        <p:nvSpPr>
          <p:cNvPr id="20" name="Text 18"/>
          <p:cNvSpPr/>
          <p:nvPr/>
        </p:nvSpPr>
        <p:spPr>
          <a:xfrm>
            <a:off x="1143000" y="4654296"/>
            <a:ext cx="4937760" cy="256032"/>
          </a:xfrm>
          <a:prstGeom prst="rect">
            <a:avLst/>
          </a:prstGeom>
          <a:noFill/>
          <a:ln/>
        </p:spPr>
        <p:txBody>
          <a:bodyPr wrap="square" lIns="0" tIns="0" rIns="0" bIns="0" rtlCol="0" anchor="ctr"/>
          <a:lstStyle/>
          <a:p>
            <a:pPr indent="0" marL="0">
              <a:buNone/>
            </a:pPr>
            <a:r>
              <a:rPr lang="en-US" sz="1000" dirty="0">
                <a:solidFill>
                  <a:srgbClr val="C7CEEA"/>
                </a:solidFill>
                <a:latin typeface="Calibri" pitchFamily="34" charset="0"/>
                <a:ea typeface="Calibri" pitchFamily="34" charset="-122"/>
                <a:cs typeface="Calibri" pitchFamily="34" charset="-120"/>
              </a:rPr>
              <a:t>Kentucky — chemical and conventional munitions</a:t>
            </a:r>
            <a:endParaRPr lang="en-US" sz="1000" dirty="0"/>
          </a:p>
        </p:txBody>
      </p:sp>
      <p:sp>
        <p:nvSpPr>
          <p:cNvPr id="21" name="Shape 19"/>
          <p:cNvSpPr/>
          <p:nvPr/>
        </p:nvSpPr>
        <p:spPr>
          <a:xfrm>
            <a:off x="868680" y="5056632"/>
            <a:ext cx="128016" cy="128016"/>
          </a:xfrm>
          <a:prstGeom prst="ellipse">
            <a:avLst/>
          </a:prstGeom>
          <a:solidFill>
            <a:srgbClr val="E4B33A"/>
          </a:solidFill>
          <a:ln w="12700">
            <a:solidFill>
              <a:srgbClr val="E4B33A"/>
            </a:solidFill>
            <a:prstDash val="solid"/>
          </a:ln>
        </p:spPr>
      </p:sp>
      <p:sp>
        <p:nvSpPr>
          <p:cNvPr id="22" name="Text 20"/>
          <p:cNvSpPr/>
          <p:nvPr/>
        </p:nvSpPr>
        <p:spPr>
          <a:xfrm>
            <a:off x="1143000" y="4965192"/>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Letterkenny Munitions Center</a:t>
            </a:r>
            <a:endParaRPr lang="en-US" sz="1300" dirty="0"/>
          </a:p>
        </p:txBody>
      </p:sp>
      <p:sp>
        <p:nvSpPr>
          <p:cNvPr id="23" name="Text 21"/>
          <p:cNvSpPr/>
          <p:nvPr/>
        </p:nvSpPr>
        <p:spPr>
          <a:xfrm>
            <a:off x="1143000" y="5221224"/>
            <a:ext cx="4937760" cy="256032"/>
          </a:xfrm>
          <a:prstGeom prst="rect">
            <a:avLst/>
          </a:prstGeom>
          <a:noFill/>
          <a:ln/>
        </p:spPr>
        <p:txBody>
          <a:bodyPr wrap="square" lIns="0" tIns="0" rIns="0" bIns="0" rtlCol="0" anchor="ctr"/>
          <a:lstStyle/>
          <a:p>
            <a:pPr indent="0" marL="0">
              <a:buNone/>
            </a:pPr>
            <a:r>
              <a:rPr lang="en-US" sz="1000" dirty="0">
                <a:solidFill>
                  <a:srgbClr val="C7CEEA"/>
                </a:solidFill>
                <a:latin typeface="Calibri" pitchFamily="34" charset="0"/>
                <a:ea typeface="Calibri" pitchFamily="34" charset="-122"/>
                <a:cs typeface="Calibri" pitchFamily="34" charset="-120"/>
              </a:rPr>
              <a:t>Pennsylvania — demil and disposal operations</a:t>
            </a:r>
            <a:endParaRPr lang="en-US" sz="1000" dirty="0"/>
          </a:p>
        </p:txBody>
      </p:sp>
      <p:sp>
        <p:nvSpPr>
          <p:cNvPr id="24" name="Text 22"/>
          <p:cNvSpPr/>
          <p:nvPr/>
        </p:nvSpPr>
        <p:spPr>
          <a:xfrm>
            <a:off x="822960" y="5623560"/>
            <a:ext cx="5303520" cy="320040"/>
          </a:xfrm>
          <a:prstGeom prst="rect">
            <a:avLst/>
          </a:prstGeom>
          <a:noFill/>
          <a:ln/>
        </p:spPr>
        <p:txBody>
          <a:bodyPr wrap="square" lIns="0" tIns="0" rIns="0" bIns="0" rtlCol="0" anchor="ctr"/>
          <a:lstStyle/>
          <a:p>
            <a:pPr indent="0" marL="0">
              <a:buNone/>
            </a:pPr>
            <a:r>
              <a:rPr lang="en-US" sz="850" i="1" dirty="0">
                <a:solidFill>
                  <a:srgbClr val="C7CEEA"/>
                </a:solidFill>
                <a:latin typeface="Calibri" pitchFamily="34" charset="0"/>
                <a:ea typeface="Calibri" pitchFamily="34" charset="-122"/>
                <a:cs typeface="Calibri" pitchFamily="34" charset="-120"/>
              </a:rPr>
              <a:t>Illustrative — major U.S. conventional munitions demil facilities generally; not a claim of TWB engagement at each site.</a:t>
            </a:r>
            <a:endParaRPr lang="en-US" sz="850" dirty="0"/>
          </a:p>
        </p:txBody>
      </p:sp>
      <p:sp>
        <p:nvSpPr>
          <p:cNvPr id="25" name="Shape 23"/>
          <p:cNvSpPr/>
          <p:nvPr/>
        </p:nvSpPr>
        <p:spPr>
          <a:xfrm>
            <a:off x="6720840" y="2103120"/>
            <a:ext cx="4919472" cy="1234440"/>
          </a:xfrm>
          <a:prstGeom prst="roundRect">
            <a:avLst>
              <a:gd name="adj" fmla="val 4444"/>
            </a:avLst>
          </a:prstGeom>
          <a:solidFill>
            <a:srgbClr val="F5F6FA"/>
          </a:solidFill>
          <a:ln w="9525">
            <a:solidFill>
              <a:srgbClr val="E3E5EE"/>
            </a:solidFill>
            <a:prstDash val="solid"/>
          </a:ln>
        </p:spPr>
      </p:sp>
      <p:sp>
        <p:nvSpPr>
          <p:cNvPr id="26" name="Text 24"/>
          <p:cNvSpPr/>
          <p:nvPr/>
        </p:nvSpPr>
        <p:spPr>
          <a:xfrm>
            <a:off x="6903720" y="2176272"/>
            <a:ext cx="4553712" cy="347472"/>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$808.8M</a:t>
            </a:r>
            <a:endParaRPr lang="en-US" sz="2000" dirty="0"/>
          </a:p>
        </p:txBody>
      </p:sp>
      <p:sp>
        <p:nvSpPr>
          <p:cNvPr id="27" name="Text 25"/>
          <p:cNvSpPr/>
          <p:nvPr/>
        </p:nvSpPr>
        <p:spPr>
          <a:xfrm>
            <a:off x="6903720" y="2523744"/>
            <a:ext cx="4553712" cy="566928"/>
          </a:xfrm>
          <a:prstGeom prst="rect">
            <a:avLst/>
          </a:prstGeom>
          <a:noFill/>
          <a:ln/>
        </p:spPr>
        <p:txBody>
          <a:bodyPr wrap="square" lIns="0" tIns="0" rIns="0" bIns="0" rtlCol="0" anchor="t"/>
          <a:lstStyle/>
          <a:p>
            <a:pPr indent="0" marL="0">
              <a:buNone/>
            </a:pPr>
            <a:r>
              <a:rPr lang="en-US" sz="950" dirty="0">
                <a:solidFill>
                  <a:srgbClr val="2B2F45"/>
                </a:solidFill>
                <a:latin typeface="Calibri" pitchFamily="34" charset="0"/>
                <a:ea typeface="Calibri" pitchFamily="34" charset="-122"/>
                <a:cs typeface="Calibri" pitchFamily="34" charset="-120"/>
              </a:rPr>
              <a:t>U.S. Army Conventional Ammunition Demilitarization IDIQ program value — multiple awards for demil of 20mm/40mm cartridges, fuzes, mortars, flares, rocket motors and cluster munitions, PoP through 2026–2027.</a:t>
            </a:r>
            <a:endParaRPr lang="en-US" sz="950" dirty="0"/>
          </a:p>
        </p:txBody>
      </p:sp>
      <p:sp>
        <p:nvSpPr>
          <p:cNvPr id="28" name="Text 26"/>
          <p:cNvSpPr/>
          <p:nvPr/>
        </p:nvSpPr>
        <p:spPr>
          <a:xfrm>
            <a:off x="6903720" y="3090672"/>
            <a:ext cx="4553712" cy="201168"/>
          </a:xfrm>
          <a:prstGeom prst="rect">
            <a:avLst/>
          </a:prstGeom>
          <a:noFill/>
          <a:ln/>
        </p:spPr>
        <p:txBody>
          <a:bodyPr wrap="square" lIns="0" tIns="0" rIns="0" bIns="0" rtlCol="0" anchor="ctr"/>
          <a:lstStyle/>
          <a:p>
            <a:pPr indent="0" marL="0">
              <a:buNone/>
            </a:pPr>
            <a:r>
              <a:rPr lang="en-US" sz="800" i="1" dirty="0">
                <a:solidFill>
                  <a:srgbClr val="6B7280"/>
                </a:solidFill>
                <a:latin typeface="Calibri" pitchFamily="34" charset="0"/>
                <a:ea typeface="Calibri" pitchFamily="34" charset="-122"/>
                <a:cs typeface="Calibri" pitchFamily="34" charset="-120"/>
              </a:rPr>
              <a:t>Source: U.S. Army Contracting Command — Rock Island</a:t>
            </a:r>
            <a:endParaRPr lang="en-US" sz="800" dirty="0"/>
          </a:p>
        </p:txBody>
      </p:sp>
      <p:sp>
        <p:nvSpPr>
          <p:cNvPr id="29" name="Shape 27"/>
          <p:cNvSpPr/>
          <p:nvPr/>
        </p:nvSpPr>
        <p:spPr>
          <a:xfrm>
            <a:off x="6720840" y="3447288"/>
            <a:ext cx="4919472" cy="1234440"/>
          </a:xfrm>
          <a:prstGeom prst="roundRect">
            <a:avLst>
              <a:gd name="adj" fmla="val 4444"/>
            </a:avLst>
          </a:prstGeom>
          <a:solidFill>
            <a:srgbClr val="F5F6FA"/>
          </a:solidFill>
          <a:ln w="9525">
            <a:solidFill>
              <a:srgbClr val="E3E5EE"/>
            </a:solidFill>
            <a:prstDash val="solid"/>
          </a:ln>
        </p:spPr>
      </p:sp>
      <p:sp>
        <p:nvSpPr>
          <p:cNvPr id="30" name="Text 28"/>
          <p:cNvSpPr/>
          <p:nvPr/>
        </p:nvSpPr>
        <p:spPr>
          <a:xfrm>
            <a:off x="6903720" y="3520440"/>
            <a:ext cx="4553712" cy="347472"/>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$2.30B</a:t>
            </a:r>
            <a:endParaRPr lang="en-US" sz="2000" dirty="0"/>
          </a:p>
        </p:txBody>
      </p:sp>
      <p:sp>
        <p:nvSpPr>
          <p:cNvPr id="31" name="Text 29"/>
          <p:cNvSpPr/>
          <p:nvPr/>
        </p:nvSpPr>
        <p:spPr>
          <a:xfrm>
            <a:off x="6903720" y="3867912"/>
            <a:ext cx="4553712" cy="566928"/>
          </a:xfrm>
          <a:prstGeom prst="rect">
            <a:avLst/>
          </a:prstGeom>
          <a:noFill/>
          <a:ln/>
        </p:spPr>
        <p:txBody>
          <a:bodyPr wrap="square" lIns="0" tIns="0" rIns="0" bIns="0" rtlCol="0" anchor="t"/>
          <a:lstStyle/>
          <a:p>
            <a:pPr indent="0" marL="0">
              <a:buNone/>
            </a:pPr>
            <a:r>
              <a:rPr lang="en-US" sz="950" dirty="0">
                <a:solidFill>
                  <a:srgbClr val="2B2F45"/>
                </a:solidFill>
                <a:latin typeface="Calibri" pitchFamily="34" charset="0"/>
                <a:ea typeface="Calibri" pitchFamily="34" charset="-122"/>
                <a:cs typeface="Calibri" pitchFamily="34" charset="-120"/>
              </a:rPr>
              <a:t>Firm-fixed-price award (June 2026) for operation, maintenance and modernization of Hawthorne Army Depot, including demilitarization of specified ammunition families.</a:t>
            </a:r>
            <a:endParaRPr lang="en-US" sz="950" dirty="0"/>
          </a:p>
        </p:txBody>
      </p:sp>
      <p:sp>
        <p:nvSpPr>
          <p:cNvPr id="32" name="Text 30"/>
          <p:cNvSpPr/>
          <p:nvPr/>
        </p:nvSpPr>
        <p:spPr>
          <a:xfrm>
            <a:off x="6903720" y="4434840"/>
            <a:ext cx="4553712" cy="201168"/>
          </a:xfrm>
          <a:prstGeom prst="rect">
            <a:avLst/>
          </a:prstGeom>
          <a:noFill/>
          <a:ln/>
        </p:spPr>
        <p:txBody>
          <a:bodyPr wrap="square" lIns="0" tIns="0" rIns="0" bIns="0" rtlCol="0" anchor="ctr"/>
          <a:lstStyle/>
          <a:p>
            <a:pPr indent="0" marL="0">
              <a:buNone/>
            </a:pPr>
            <a:r>
              <a:rPr lang="en-US" sz="800" i="1" dirty="0">
                <a:solidFill>
                  <a:srgbClr val="6B7280"/>
                </a:solidFill>
                <a:latin typeface="Calibri" pitchFamily="34" charset="0"/>
                <a:ea typeface="Calibri" pitchFamily="34" charset="-122"/>
                <a:cs typeface="Calibri" pitchFamily="34" charset="-120"/>
              </a:rPr>
              <a:t>Source: DoD Contracts, June 9, 2026</a:t>
            </a:r>
            <a:endParaRPr lang="en-US" sz="800" dirty="0"/>
          </a:p>
        </p:txBody>
      </p:sp>
      <p:sp>
        <p:nvSpPr>
          <p:cNvPr id="33" name="Shape 31"/>
          <p:cNvSpPr/>
          <p:nvPr/>
        </p:nvSpPr>
        <p:spPr>
          <a:xfrm>
            <a:off x="6720840" y="4791456"/>
            <a:ext cx="4919472" cy="1234440"/>
          </a:xfrm>
          <a:prstGeom prst="roundRect">
            <a:avLst>
              <a:gd name="adj" fmla="val 4444"/>
            </a:avLst>
          </a:prstGeom>
          <a:solidFill>
            <a:srgbClr val="F5F6FA"/>
          </a:solidFill>
          <a:ln w="9525">
            <a:solidFill>
              <a:srgbClr val="E3E5EE"/>
            </a:solidFill>
            <a:prstDash val="solid"/>
          </a:ln>
        </p:spPr>
      </p:sp>
      <p:sp>
        <p:nvSpPr>
          <p:cNvPr id="34" name="Text 32"/>
          <p:cNvSpPr/>
          <p:nvPr/>
        </p:nvSpPr>
        <p:spPr>
          <a:xfrm>
            <a:off x="6903720" y="4864608"/>
            <a:ext cx="4553712" cy="347472"/>
          </a:xfrm>
          <a:prstGeom prst="rect">
            <a:avLst/>
          </a:prstGeom>
          <a:noFill/>
          <a:ln/>
        </p:spPr>
        <p:txBody>
          <a:bodyPr wrap="square" lIns="0" tIns="0" rIns="0" bIns="0" rtlCol="0" anchor="ctr"/>
          <a:lstStyle/>
          <a:p>
            <a:pPr indent="0" marL="0">
              <a:buNone/>
            </a:pPr>
            <a:r>
              <a:rPr lang="en-US" sz="1400" b="1" dirty="0">
                <a:solidFill>
                  <a:srgbClr val="1E2460"/>
                </a:solidFill>
                <a:latin typeface="Cambria" pitchFamily="34" charset="0"/>
                <a:ea typeface="Cambria" pitchFamily="34" charset="-122"/>
                <a:cs typeface="Cambria" pitchFamily="34" charset="-120"/>
              </a:rPr>
              <a:t>Small-business set-asides</a:t>
            </a:r>
            <a:endParaRPr lang="en-US" sz="1400" dirty="0"/>
          </a:p>
        </p:txBody>
      </p:sp>
      <p:sp>
        <p:nvSpPr>
          <p:cNvPr id="35" name="Text 33"/>
          <p:cNvSpPr/>
          <p:nvPr/>
        </p:nvSpPr>
        <p:spPr>
          <a:xfrm>
            <a:off x="6903720" y="5212080"/>
            <a:ext cx="4553712" cy="566928"/>
          </a:xfrm>
          <a:prstGeom prst="rect">
            <a:avLst/>
          </a:prstGeom>
          <a:noFill/>
          <a:ln/>
        </p:spPr>
        <p:txBody>
          <a:bodyPr wrap="square" lIns="0" tIns="0" rIns="0" bIns="0" rtlCol="0" anchor="t"/>
          <a:lstStyle/>
          <a:p>
            <a:pPr indent="0" marL="0">
              <a:buNone/>
            </a:pPr>
            <a:r>
              <a:rPr lang="en-US" sz="950" dirty="0">
                <a:solidFill>
                  <a:srgbClr val="2B2F45"/>
                </a:solidFill>
                <a:latin typeface="Calibri" pitchFamily="34" charset="0"/>
                <a:ea typeface="Calibri" pitchFamily="34" charset="-122"/>
                <a:cs typeface="Calibri" pitchFamily="34" charset="-120"/>
              </a:rPr>
              <a:t>The Army has explicitly reserved IDIQ capacity to bring new entrants into the demil industrial base — the exact opening a mobile, low-CAPEX capability is designed to fill.</a:t>
            </a:r>
            <a:endParaRPr lang="en-US" sz="950" dirty="0"/>
          </a:p>
        </p:txBody>
      </p:sp>
      <p:sp>
        <p:nvSpPr>
          <p:cNvPr id="36" name="Text 34"/>
          <p:cNvSpPr/>
          <p:nvPr/>
        </p:nvSpPr>
        <p:spPr>
          <a:xfrm>
            <a:off x="6903720" y="5779008"/>
            <a:ext cx="4553712" cy="201168"/>
          </a:xfrm>
          <a:prstGeom prst="rect">
            <a:avLst/>
          </a:prstGeom>
          <a:noFill/>
          <a:ln/>
        </p:spPr>
        <p:txBody>
          <a:bodyPr wrap="square" lIns="0" tIns="0" rIns="0" bIns="0" rtlCol="0" anchor="ctr"/>
          <a:lstStyle/>
          <a:p>
            <a:pPr indent="0" marL="0">
              <a:buNone/>
            </a:pPr>
            <a:r>
              <a:rPr lang="en-US" sz="800" i="1" dirty="0">
                <a:solidFill>
                  <a:srgbClr val="6B7280"/>
                </a:solidFill>
                <a:latin typeface="Calibri" pitchFamily="34" charset="0"/>
                <a:ea typeface="Calibri" pitchFamily="34" charset="-122"/>
                <a:cs typeface="Calibri" pitchFamily="34" charset="-120"/>
              </a:rPr>
              <a:t>Source: U.S. Army Contracting Command — Rock Island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460"/>
        </a:solidFill>
      </p:bgPr>
    </p:bg>
    <p:spTree>
      <p:nvGrpSpPr>
        <p:cNvPr id="1" name=""/>
        <p:cNvGrpSpPr/>
        <p:nvPr/>
      </p:nvGrpSpPr>
      <p:grpSpPr>
        <a:xfrm>
          <a:off x="0" y="0"/>
          <a:ext cx="0" cy="0"/>
          <a:chOff x="0" y="0"/>
          <a:chExt cx="0" cy="0"/>
        </a:xfrm>
      </p:grpSpPr>
      <p:sp>
        <p:nvSpPr>
          <p:cNvPr id="2" name="Text 0"/>
          <p:cNvSpPr/>
          <p:nvPr/>
        </p:nvSpPr>
        <p:spPr>
          <a:xfrm>
            <a:off x="548640" y="2377440"/>
            <a:ext cx="11091672"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Why TWB</a:t>
            </a:r>
            <a:endParaRPr lang="en-US" sz="3600" dirty="0"/>
          </a:p>
        </p:txBody>
      </p:sp>
      <p:sp>
        <p:nvSpPr>
          <p:cNvPr id="3" name="Text 1"/>
          <p:cNvSpPr/>
          <p:nvPr/>
        </p:nvSpPr>
        <p:spPr>
          <a:xfrm>
            <a:off x="548640" y="3200400"/>
            <a:ext cx="11091672" cy="548640"/>
          </a:xfrm>
          <a:prstGeom prst="rect">
            <a:avLst/>
          </a:prstGeom>
          <a:noFill/>
          <a:ln/>
        </p:spPr>
        <p:txBody>
          <a:bodyPr wrap="square" lIns="0" tIns="0" rIns="0" bIns="0" rtlCol="0" anchor="ctr"/>
          <a:lstStyle/>
          <a:p>
            <a:pPr indent="0" marL="0">
              <a:buNone/>
            </a:pPr>
            <a:r>
              <a:rPr lang="en-US" sz="1600" i="1" dirty="0">
                <a:solidFill>
                  <a:srgbClr val="C7CEEA"/>
                </a:solidFill>
                <a:latin typeface="Calibri" pitchFamily="34" charset="0"/>
                <a:ea typeface="Calibri" pitchFamily="34" charset="-122"/>
                <a:cs typeface="Calibri" pitchFamily="34" charset="-120"/>
              </a:rPr>
              <a:t>The technology, relationships and field position already in place to build the platform on</a:t>
            </a:r>
            <a:endParaRPr lang="en-US" sz="1600" dirty="0"/>
          </a:p>
        </p:txBody>
      </p:sp>
      <p:sp>
        <p:nvSpPr>
          <p:cNvPr id="4" name="Text 2"/>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CAPABILITY</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eMACS / MACS — Mobile Combustion, Field-Proven Since 2001</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The deployed platform — not a concept. Co-developed with the Royal Canadian Mounted Police, in continuous service for over two decades.</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48640" y="2103120"/>
            <a:ext cx="5760720" cy="3566160"/>
          </a:xfrm>
          <a:prstGeom prst="roundRect">
            <a:avLst>
              <a:gd name="adj" fmla="val 2051"/>
            </a:avLst>
          </a:prstGeom>
          <a:solidFill>
            <a:srgbClr val="FFFFFF"/>
          </a:solidFill>
          <a:ln w="9525">
            <a:solidFill>
              <a:srgbClr val="E3E5EE"/>
            </a:solidFill>
            <a:prstDash val="solid"/>
          </a:ln>
        </p:spPr>
      </p:sp>
      <p:pic>
        <p:nvPicPr>
          <p:cNvPr id="8" name="Image 0" descr="img/trailer.png">    </p:cNvPr>
          <p:cNvPicPr>
            <a:picLocks noChangeAspect="1"/>
          </p:cNvPicPr>
          <p:nvPr/>
        </p:nvPicPr>
        <p:blipFill>
          <a:blip r:embed="rId1"/>
          <a:srcRect l="0" r="0" t="0" b="0"/>
          <a:stretch/>
        </p:blipFill>
        <p:spPr>
          <a:xfrm>
            <a:off x="731520" y="2240280"/>
            <a:ext cx="5394960" cy="3291840"/>
          </a:xfrm>
          <a:prstGeom prst="rect">
            <a:avLst/>
          </a:prstGeom>
        </p:spPr>
      </p:pic>
      <p:sp>
        <p:nvSpPr>
          <p:cNvPr id="9" name="Text 6"/>
          <p:cNvSpPr/>
          <p:nvPr/>
        </p:nvSpPr>
        <p:spPr>
          <a:xfrm>
            <a:off x="548640" y="5715000"/>
            <a:ext cx="5760720" cy="36576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Actual eMACS trailer — primary chamber, afterburner, filter cabinet, exhaust fan, filtered exhaust. Source: TWB Designs product documentation.</a:t>
            </a:r>
            <a:endParaRPr lang="en-US" sz="900" dirty="0"/>
          </a:p>
        </p:txBody>
      </p:sp>
      <p:sp>
        <p:nvSpPr>
          <p:cNvPr id="10" name="Text 7"/>
          <p:cNvSpPr/>
          <p:nvPr/>
        </p:nvSpPr>
        <p:spPr>
          <a:xfrm>
            <a:off x="6675120" y="2103120"/>
            <a:ext cx="4965192" cy="274320"/>
          </a:xfrm>
          <a:prstGeom prst="rect">
            <a:avLst/>
          </a:prstGeom>
          <a:noFill/>
          <a:ln/>
        </p:spPr>
        <p:txBody>
          <a:bodyPr wrap="square" lIns="0" tIns="0" rIns="0" bIns="0" rtlCol="0" anchor="ctr"/>
          <a:lstStyle/>
          <a:p>
            <a:pPr indent="0" marL="0">
              <a:buNone/>
            </a:pPr>
            <a:r>
              <a:rPr lang="en-US" sz="1350" b="1" dirty="0">
                <a:solidFill>
                  <a:srgbClr val="1E2460"/>
                </a:solidFill>
                <a:latin typeface="Cambria" pitchFamily="34" charset="0"/>
                <a:ea typeface="Cambria" pitchFamily="34" charset="-122"/>
                <a:cs typeface="Cambria" pitchFamily="34" charset="-120"/>
              </a:rPr>
              <a:t>Two-stage combustion</a:t>
            </a:r>
            <a:endParaRPr lang="en-US" sz="1350" dirty="0"/>
          </a:p>
        </p:txBody>
      </p:sp>
      <p:sp>
        <p:nvSpPr>
          <p:cNvPr id="11" name="Text 8"/>
          <p:cNvSpPr/>
          <p:nvPr/>
        </p:nvSpPr>
        <p:spPr>
          <a:xfrm>
            <a:off x="6675120" y="2377440"/>
            <a:ext cx="4965192" cy="438912"/>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~850°F primary chamber, ~1,750°F afterburner — clean, low-emission destruction engineered to California EPA and NATO air-handling standards.</a:t>
            </a:r>
            <a:endParaRPr lang="en-US" sz="1050" dirty="0"/>
          </a:p>
        </p:txBody>
      </p:sp>
      <p:sp>
        <p:nvSpPr>
          <p:cNvPr id="12" name="Text 9"/>
          <p:cNvSpPr/>
          <p:nvPr/>
        </p:nvSpPr>
        <p:spPr>
          <a:xfrm>
            <a:off x="6675120" y="2816352"/>
            <a:ext cx="4965192" cy="274320"/>
          </a:xfrm>
          <a:prstGeom prst="rect">
            <a:avLst/>
          </a:prstGeom>
          <a:noFill/>
          <a:ln/>
        </p:spPr>
        <p:txBody>
          <a:bodyPr wrap="square" lIns="0" tIns="0" rIns="0" bIns="0" rtlCol="0" anchor="ctr"/>
          <a:lstStyle/>
          <a:p>
            <a:pPr indent="0" marL="0">
              <a:buNone/>
            </a:pPr>
            <a:r>
              <a:rPr lang="en-US" sz="1350" b="1" dirty="0">
                <a:solidFill>
                  <a:srgbClr val="1E2460"/>
                </a:solidFill>
                <a:latin typeface="Cambria" pitchFamily="34" charset="0"/>
                <a:ea typeface="Cambria" pitchFamily="34" charset="-122"/>
                <a:cs typeface="Cambria" pitchFamily="34" charset="-120"/>
              </a:rPr>
              <a:t>Trailer-deployable</a:t>
            </a:r>
            <a:endParaRPr lang="en-US" sz="1350" dirty="0"/>
          </a:p>
        </p:txBody>
      </p:sp>
      <p:sp>
        <p:nvSpPr>
          <p:cNvPr id="13" name="Text 10"/>
          <p:cNvSpPr/>
          <p:nvPr/>
        </p:nvSpPr>
        <p:spPr>
          <a:xfrm>
            <a:off x="6675120" y="3090672"/>
            <a:ext cx="4965192" cy="438912"/>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11,500 lb towing weight, Class V hitch — on-site in days, not months, versus a fixed-plant build-out.</a:t>
            </a:r>
            <a:endParaRPr lang="en-US" sz="1050" dirty="0"/>
          </a:p>
        </p:txBody>
      </p:sp>
      <p:sp>
        <p:nvSpPr>
          <p:cNvPr id="14" name="Text 11"/>
          <p:cNvSpPr/>
          <p:nvPr/>
        </p:nvSpPr>
        <p:spPr>
          <a:xfrm>
            <a:off x="6675120" y="3529584"/>
            <a:ext cx="4965192" cy="274320"/>
          </a:xfrm>
          <a:prstGeom prst="rect">
            <a:avLst/>
          </a:prstGeom>
          <a:noFill/>
          <a:ln/>
        </p:spPr>
        <p:txBody>
          <a:bodyPr wrap="square" lIns="0" tIns="0" rIns="0" bIns="0" rtlCol="0" anchor="ctr"/>
          <a:lstStyle/>
          <a:p>
            <a:pPr indent="0" marL="0">
              <a:buNone/>
            </a:pPr>
            <a:r>
              <a:rPr lang="en-US" sz="1350" b="1" dirty="0">
                <a:solidFill>
                  <a:srgbClr val="1E2460"/>
                </a:solidFill>
                <a:latin typeface="Cambria" pitchFamily="34" charset="0"/>
                <a:ea typeface="Cambria" pitchFamily="34" charset="-122"/>
                <a:cs typeface="Cambria" pitchFamily="34" charset="-120"/>
              </a:rPr>
              <a:t>Armored &amp; interlocked</a:t>
            </a:r>
            <a:endParaRPr lang="en-US" sz="1350" dirty="0"/>
          </a:p>
        </p:txBody>
      </p:sp>
      <p:sp>
        <p:nvSpPr>
          <p:cNvPr id="15" name="Text 12"/>
          <p:cNvSpPr/>
          <p:nvPr/>
        </p:nvSpPr>
        <p:spPr>
          <a:xfrm>
            <a:off x="6675120" y="3803904"/>
            <a:ext cx="4965192" cy="438912"/>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3/8" plate-steel shell, over-pressure relief, remote start/stop — designed for unattended, field-safe operation.</a:t>
            </a:r>
            <a:endParaRPr lang="en-US" sz="1050" dirty="0"/>
          </a:p>
        </p:txBody>
      </p:sp>
      <p:sp>
        <p:nvSpPr>
          <p:cNvPr id="16" name="Shape 13"/>
          <p:cNvSpPr/>
          <p:nvPr/>
        </p:nvSpPr>
        <p:spPr>
          <a:xfrm>
            <a:off x="6675120" y="4343400"/>
            <a:ext cx="2368296" cy="804672"/>
          </a:xfrm>
          <a:prstGeom prst="roundRect">
            <a:avLst>
              <a:gd name="adj" fmla="val 9091"/>
            </a:avLst>
          </a:prstGeom>
          <a:solidFill>
            <a:srgbClr val="F5F6FA"/>
          </a:solidFill>
          <a:ln w="9525">
            <a:solidFill>
              <a:srgbClr val="E3E5EE"/>
            </a:solidFill>
            <a:prstDash val="solid"/>
          </a:ln>
        </p:spPr>
      </p:sp>
      <p:sp>
        <p:nvSpPr>
          <p:cNvPr id="17" name="Text 14"/>
          <p:cNvSpPr/>
          <p:nvPr/>
        </p:nvSpPr>
        <p:spPr>
          <a:xfrm>
            <a:off x="6839712" y="4453128"/>
            <a:ext cx="2039112" cy="502920"/>
          </a:xfrm>
          <a:prstGeom prst="rect">
            <a:avLst/>
          </a:prstGeom>
          <a:noFill/>
          <a:ln/>
        </p:spPr>
        <p:txBody>
          <a:bodyPr wrap="square" lIns="0" tIns="0" rIns="0" bIns="0" rtlCol="0" anchor="ctr"/>
          <a:lstStyle/>
          <a:p>
            <a:pPr indent="0" marL="0">
              <a:buNone/>
            </a:pPr>
            <a:r>
              <a:rPr lang="en-US" sz="1800" b="1" dirty="0">
                <a:solidFill>
                  <a:srgbClr val="1E2460"/>
                </a:solidFill>
                <a:latin typeface="Cambria" pitchFamily="34" charset="0"/>
                <a:ea typeface="Cambria" pitchFamily="34" charset="-122"/>
                <a:cs typeface="Cambria" pitchFamily="34" charset="-120"/>
              </a:rPr>
              <a:t>60 lbs/hr</a:t>
            </a:r>
            <a:endParaRPr lang="en-US" sz="1800" dirty="0"/>
          </a:p>
        </p:txBody>
      </p:sp>
      <p:sp>
        <p:nvSpPr>
          <p:cNvPr id="18" name="Text 15"/>
          <p:cNvSpPr/>
          <p:nvPr/>
        </p:nvSpPr>
        <p:spPr>
          <a:xfrm>
            <a:off x="6839712" y="4965192"/>
            <a:ext cx="2039112" cy="914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MACS throughput</a:t>
            </a:r>
            <a:endParaRPr lang="en-US" sz="1050" dirty="0"/>
          </a:p>
        </p:txBody>
      </p:sp>
      <p:sp>
        <p:nvSpPr>
          <p:cNvPr id="19" name="Shape 16"/>
          <p:cNvSpPr/>
          <p:nvPr/>
        </p:nvSpPr>
        <p:spPr>
          <a:xfrm>
            <a:off x="9272016" y="4343400"/>
            <a:ext cx="2368296" cy="804672"/>
          </a:xfrm>
          <a:prstGeom prst="roundRect">
            <a:avLst>
              <a:gd name="adj" fmla="val 9091"/>
            </a:avLst>
          </a:prstGeom>
          <a:solidFill>
            <a:srgbClr val="F5F6FA"/>
          </a:solidFill>
          <a:ln w="9525">
            <a:solidFill>
              <a:srgbClr val="E3E5EE"/>
            </a:solidFill>
            <a:prstDash val="solid"/>
          </a:ln>
        </p:spPr>
      </p:sp>
      <p:sp>
        <p:nvSpPr>
          <p:cNvPr id="20" name="Text 17"/>
          <p:cNvSpPr/>
          <p:nvPr/>
        </p:nvSpPr>
        <p:spPr>
          <a:xfrm>
            <a:off x="9436608" y="4453128"/>
            <a:ext cx="2039112" cy="502920"/>
          </a:xfrm>
          <a:prstGeom prst="rect">
            <a:avLst/>
          </a:prstGeom>
          <a:noFill/>
          <a:ln/>
        </p:spPr>
        <p:txBody>
          <a:bodyPr wrap="square" lIns="0" tIns="0" rIns="0" bIns="0" rtlCol="0" anchor="ctr"/>
          <a:lstStyle/>
          <a:p>
            <a:pPr indent="0" marL="0">
              <a:buNone/>
            </a:pPr>
            <a:r>
              <a:rPr lang="en-US" sz="1800" b="1" dirty="0">
                <a:solidFill>
                  <a:srgbClr val="1E2460"/>
                </a:solidFill>
                <a:latin typeface="Cambria" pitchFamily="34" charset="0"/>
                <a:ea typeface="Cambria" pitchFamily="34" charset="-122"/>
                <a:cs typeface="Cambria" pitchFamily="34" charset="-120"/>
              </a:rPr>
              <a:t>~1,000 lbs/day</a:t>
            </a:r>
            <a:endParaRPr lang="en-US" sz="1800" dirty="0"/>
          </a:p>
        </p:txBody>
      </p:sp>
      <p:sp>
        <p:nvSpPr>
          <p:cNvPr id="21" name="Text 18"/>
          <p:cNvSpPr/>
          <p:nvPr/>
        </p:nvSpPr>
        <p:spPr>
          <a:xfrm>
            <a:off x="9436608" y="4965192"/>
            <a:ext cx="2039112" cy="914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eMACS capacity</a:t>
            </a:r>
            <a:endParaRPr lang="en-US" sz="1050" dirty="0"/>
          </a:p>
        </p:txBody>
      </p:sp>
      <p:sp>
        <p:nvSpPr>
          <p:cNvPr id="22" name="Shape 19"/>
          <p:cNvSpPr/>
          <p:nvPr/>
        </p:nvSpPr>
        <p:spPr>
          <a:xfrm>
            <a:off x="6675120" y="5239512"/>
            <a:ext cx="2368296" cy="804672"/>
          </a:xfrm>
          <a:prstGeom prst="roundRect">
            <a:avLst>
              <a:gd name="adj" fmla="val 9091"/>
            </a:avLst>
          </a:prstGeom>
          <a:solidFill>
            <a:srgbClr val="F5F6FA"/>
          </a:solidFill>
          <a:ln w="9525">
            <a:solidFill>
              <a:srgbClr val="E3E5EE"/>
            </a:solidFill>
            <a:prstDash val="solid"/>
          </a:ln>
        </p:spPr>
      </p:sp>
      <p:sp>
        <p:nvSpPr>
          <p:cNvPr id="23" name="Text 20"/>
          <p:cNvSpPr/>
          <p:nvPr/>
        </p:nvSpPr>
        <p:spPr>
          <a:xfrm>
            <a:off x="6839712" y="5349240"/>
            <a:ext cx="2039112" cy="502920"/>
          </a:xfrm>
          <a:prstGeom prst="rect">
            <a:avLst/>
          </a:prstGeom>
          <a:noFill/>
          <a:ln/>
        </p:spPr>
        <p:txBody>
          <a:bodyPr wrap="square" lIns="0" tIns="0" rIns="0" bIns="0" rtlCol="0" anchor="ctr"/>
          <a:lstStyle/>
          <a:p>
            <a:pPr indent="0" marL="0">
              <a:buNone/>
            </a:pPr>
            <a:r>
              <a:rPr lang="en-US" sz="1800" b="1" dirty="0">
                <a:solidFill>
                  <a:srgbClr val="1E2460"/>
                </a:solidFill>
                <a:latin typeface="Cambria" pitchFamily="34" charset="0"/>
                <a:ea typeface="Cambria" pitchFamily="34" charset="-122"/>
                <a:cs typeface="Cambria" pitchFamily="34" charset="-120"/>
              </a:rPr>
              <a:t>50 CAL</a:t>
            </a:r>
            <a:endParaRPr lang="en-US" sz="1800" dirty="0"/>
          </a:p>
        </p:txBody>
      </p:sp>
      <p:sp>
        <p:nvSpPr>
          <p:cNvPr id="24" name="Text 21"/>
          <p:cNvSpPr/>
          <p:nvPr/>
        </p:nvSpPr>
        <p:spPr>
          <a:xfrm>
            <a:off x="6839712" y="5861304"/>
            <a:ext cx="2039112" cy="914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Max ordnance handled</a:t>
            </a:r>
            <a:endParaRPr lang="en-US" sz="1050" dirty="0"/>
          </a:p>
        </p:txBody>
      </p:sp>
      <p:sp>
        <p:nvSpPr>
          <p:cNvPr id="25" name="Shape 22"/>
          <p:cNvSpPr/>
          <p:nvPr/>
        </p:nvSpPr>
        <p:spPr>
          <a:xfrm>
            <a:off x="9272016" y="5239512"/>
            <a:ext cx="2368296" cy="804672"/>
          </a:xfrm>
          <a:prstGeom prst="roundRect">
            <a:avLst>
              <a:gd name="adj" fmla="val 9091"/>
            </a:avLst>
          </a:prstGeom>
          <a:solidFill>
            <a:srgbClr val="F5F6FA"/>
          </a:solidFill>
          <a:ln w="9525">
            <a:solidFill>
              <a:srgbClr val="E3E5EE"/>
            </a:solidFill>
            <a:prstDash val="solid"/>
          </a:ln>
        </p:spPr>
      </p:sp>
      <p:sp>
        <p:nvSpPr>
          <p:cNvPr id="26" name="Text 23"/>
          <p:cNvSpPr/>
          <p:nvPr/>
        </p:nvSpPr>
        <p:spPr>
          <a:xfrm>
            <a:off x="9436608" y="5349240"/>
            <a:ext cx="2039112" cy="502920"/>
          </a:xfrm>
          <a:prstGeom prst="rect">
            <a:avLst/>
          </a:prstGeom>
          <a:noFill/>
          <a:ln/>
        </p:spPr>
        <p:txBody>
          <a:bodyPr wrap="square" lIns="0" tIns="0" rIns="0" bIns="0" rtlCol="0" anchor="ctr"/>
          <a:lstStyle/>
          <a:p>
            <a:pPr indent="0" marL="0">
              <a:buNone/>
            </a:pPr>
            <a:r>
              <a:rPr lang="en-US" sz="1800" b="1" dirty="0">
                <a:solidFill>
                  <a:srgbClr val="1E2460"/>
                </a:solidFill>
                <a:latin typeface="Cambria" pitchFamily="34" charset="0"/>
                <a:ea typeface="Cambria" pitchFamily="34" charset="-122"/>
                <a:cs typeface="Cambria" pitchFamily="34" charset="-120"/>
              </a:rPr>
              <a:t>EPA · NATO</a:t>
            </a:r>
            <a:endParaRPr lang="en-US" sz="1800" dirty="0"/>
          </a:p>
        </p:txBody>
      </p:sp>
      <p:sp>
        <p:nvSpPr>
          <p:cNvPr id="27" name="Text 24"/>
          <p:cNvSpPr/>
          <p:nvPr/>
        </p:nvSpPr>
        <p:spPr>
          <a:xfrm>
            <a:off x="9436608" y="5861304"/>
            <a:ext cx="2039112" cy="914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Emissions standards met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UNIT ECONOMICS</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Every Round Becomes Saleable Metal</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Combustion separates ammunition into clean, graded metal streams — turning a disposal cost into a recovery revenue line. Metals recovery is already a proven process, not a modeled hope.</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48640" y="2103120"/>
            <a:ext cx="7406640" cy="3977640"/>
          </a:xfrm>
          <a:prstGeom prst="roundRect">
            <a:avLst>
              <a:gd name="adj" fmla="val 1839"/>
            </a:avLst>
          </a:prstGeom>
          <a:solidFill>
            <a:srgbClr val="16213E"/>
          </a:solidFill>
          <a:ln w="12700">
            <a:solidFill>
              <a:srgbClr val="16213E"/>
            </a:solidFill>
            <a:prstDash val="solid"/>
          </a:ln>
        </p:spPr>
      </p:sp>
      <p:sp>
        <p:nvSpPr>
          <p:cNvPr id="8" name="Shape 6"/>
          <p:cNvSpPr/>
          <p:nvPr/>
        </p:nvSpPr>
        <p:spPr>
          <a:xfrm>
            <a:off x="822960" y="3566160"/>
            <a:ext cx="1371600" cy="1005840"/>
          </a:xfrm>
          <a:prstGeom prst="roundRect">
            <a:avLst>
              <a:gd name="adj" fmla="val 7273"/>
            </a:avLst>
          </a:prstGeom>
          <a:solidFill>
            <a:srgbClr val="1F2E52"/>
          </a:solidFill>
          <a:ln w="12700">
            <a:solidFill>
              <a:srgbClr val="8A93B0"/>
            </a:solidFill>
            <a:prstDash val="solid"/>
          </a:ln>
        </p:spPr>
      </p:sp>
      <p:sp>
        <p:nvSpPr>
          <p:cNvPr id="9" name="Text 7"/>
          <p:cNvSpPr/>
          <p:nvPr/>
        </p:nvSpPr>
        <p:spPr>
          <a:xfrm>
            <a:off x="822960" y="3566160"/>
            <a:ext cx="1371600" cy="100584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SMALL-ARMS AMMUNITION</a:t>
            </a:r>
            <a:endParaRPr lang="en-US" sz="1000" dirty="0"/>
          </a:p>
          <a:p>
            <a:pPr algn="ctr" indent="0" marL="0">
              <a:buNone/>
            </a:pPr>
            <a:r>
              <a:rPr lang="en-US" sz="800" dirty="0">
                <a:solidFill>
                  <a:srgbClr val="C7CEEA"/>
                </a:solidFill>
                <a:latin typeface="Calibri" pitchFamily="34" charset="0"/>
                <a:ea typeface="Calibri" pitchFamily="34" charset="-122"/>
                <a:cs typeface="Calibri" pitchFamily="34" charset="-120"/>
              </a:rPr>
              <a:t>live / expired / seized</a:t>
            </a:r>
            <a:endParaRPr lang="en-US" sz="1000" dirty="0"/>
          </a:p>
        </p:txBody>
      </p:sp>
      <p:sp>
        <p:nvSpPr>
          <p:cNvPr id="10" name="Shape 8"/>
          <p:cNvSpPr/>
          <p:nvPr/>
        </p:nvSpPr>
        <p:spPr>
          <a:xfrm>
            <a:off x="2240280" y="3931920"/>
            <a:ext cx="365760" cy="274320"/>
          </a:xfrm>
          <a:prstGeom prst="rightArrow">
            <a:avLst/>
          </a:prstGeom>
          <a:solidFill>
            <a:srgbClr val="8A93B0"/>
          </a:solidFill>
          <a:ln w="12700">
            <a:solidFill>
              <a:srgbClr val="8A93B0"/>
            </a:solidFill>
            <a:prstDash val="solid"/>
          </a:ln>
        </p:spPr>
      </p:sp>
      <p:sp>
        <p:nvSpPr>
          <p:cNvPr id="11" name="Shape 9"/>
          <p:cNvSpPr/>
          <p:nvPr/>
        </p:nvSpPr>
        <p:spPr>
          <a:xfrm>
            <a:off x="2651760" y="3429000"/>
            <a:ext cx="1554480" cy="1280160"/>
          </a:xfrm>
          <a:prstGeom prst="roundRect">
            <a:avLst>
              <a:gd name="adj" fmla="val 5714"/>
            </a:avLst>
          </a:prstGeom>
          <a:solidFill>
            <a:srgbClr val="C0392B"/>
          </a:solidFill>
          <a:ln w="12700">
            <a:solidFill>
              <a:srgbClr val="C0392B"/>
            </a:solidFill>
            <a:prstDash val="solid"/>
          </a:ln>
        </p:spPr>
      </p:sp>
      <p:sp>
        <p:nvSpPr>
          <p:cNvPr id="12" name="Text 10"/>
          <p:cNvSpPr/>
          <p:nvPr/>
        </p:nvSpPr>
        <p:spPr>
          <a:xfrm>
            <a:off x="2651760" y="3429000"/>
            <a:ext cx="1554480" cy="128016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TWO-STAGE COMBUSTION</a:t>
            </a:r>
            <a:endParaRPr lang="en-US" sz="1100" dirty="0"/>
          </a:p>
          <a:p>
            <a:pPr algn="ctr" indent="0" marL="0">
              <a:buNone/>
            </a:pPr>
            <a:r>
              <a:rPr lang="en-US" sz="800" dirty="0">
                <a:solidFill>
                  <a:srgbClr val="F8D7D0"/>
                </a:solidFill>
                <a:latin typeface="Calibri" pitchFamily="34" charset="0"/>
                <a:ea typeface="Calibri" pitchFamily="34" charset="-122"/>
                <a:cs typeface="Calibri" pitchFamily="34" charset="-120"/>
              </a:rPr>
              <a:t>~850°F primary  ·  ~1,750°F afterburner</a:t>
            </a:r>
            <a:endParaRPr lang="en-US" sz="1100" dirty="0"/>
          </a:p>
        </p:txBody>
      </p:sp>
      <p:sp>
        <p:nvSpPr>
          <p:cNvPr id="13" name="Shape 11"/>
          <p:cNvSpPr/>
          <p:nvPr/>
        </p:nvSpPr>
        <p:spPr>
          <a:xfrm>
            <a:off x="4709160" y="2331720"/>
            <a:ext cx="2971800" cy="640080"/>
          </a:xfrm>
          <a:prstGeom prst="roundRect">
            <a:avLst>
              <a:gd name="adj" fmla="val 8571"/>
            </a:avLst>
          </a:prstGeom>
          <a:solidFill>
            <a:srgbClr val="1F2E52"/>
          </a:solidFill>
          <a:ln w="9525">
            <a:solidFill>
              <a:srgbClr val="8A93B0"/>
            </a:solidFill>
            <a:prstDash val="solid"/>
          </a:ln>
        </p:spPr>
      </p:sp>
      <p:sp>
        <p:nvSpPr>
          <p:cNvPr id="14" name="Text 12"/>
          <p:cNvSpPr/>
          <p:nvPr/>
        </p:nvSpPr>
        <p:spPr>
          <a:xfrm>
            <a:off x="4846320" y="2377440"/>
            <a:ext cx="269748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LEAD–ANTIMONY ALLOY</a:t>
            </a:r>
            <a:endParaRPr lang="en-US" sz="1050" dirty="0"/>
          </a:p>
        </p:txBody>
      </p:sp>
      <p:sp>
        <p:nvSpPr>
          <p:cNvPr id="15" name="Text 13"/>
          <p:cNvSpPr/>
          <p:nvPr/>
        </p:nvSpPr>
        <p:spPr>
          <a:xfrm>
            <a:off x="4846320" y="2606040"/>
            <a:ext cx="2697480" cy="338328"/>
          </a:xfrm>
          <a:prstGeom prst="rect">
            <a:avLst/>
          </a:prstGeom>
          <a:noFill/>
          <a:ln/>
        </p:spPr>
        <p:txBody>
          <a:bodyPr wrap="square" lIns="0" tIns="0" rIns="0" bIns="0" rtlCol="0" anchor="t"/>
          <a:lstStyle/>
          <a:p>
            <a:pPr indent="0" marL="0">
              <a:buNone/>
            </a:pPr>
            <a:r>
              <a:rPr lang="en-US" sz="800" dirty="0">
                <a:solidFill>
                  <a:srgbClr val="C7CEEA"/>
                </a:solidFill>
                <a:latin typeface="Calibri" pitchFamily="34" charset="0"/>
                <a:ea typeface="Calibri" pitchFamily="34" charset="-122"/>
                <a:cs typeface="Calibri" pitchFamily="34" charset="-120"/>
              </a:rPr>
              <a:t>Bullet cores (Pb with ~1–6% Sb) melt at ~620°F and flow to the collection container below the primary chamber.</a:t>
            </a:r>
            <a:endParaRPr lang="en-US" sz="800" dirty="0"/>
          </a:p>
        </p:txBody>
      </p:sp>
      <p:sp>
        <p:nvSpPr>
          <p:cNvPr id="16" name="Shape 14"/>
          <p:cNvSpPr/>
          <p:nvPr/>
        </p:nvSpPr>
        <p:spPr>
          <a:xfrm flipV="1">
            <a:off x="4206240" y="2651760"/>
            <a:ext cx="502920" cy="1417320"/>
          </a:xfrm>
          <a:prstGeom prst="line">
            <a:avLst/>
          </a:prstGeom>
          <a:noFill/>
          <a:ln w="12700">
            <a:solidFill>
              <a:srgbClr val="8A93B0"/>
            </a:solidFill>
            <a:prstDash val="solid"/>
            <a:tailEnd type="triangle"/>
          </a:ln>
        </p:spPr>
      </p:sp>
      <p:sp>
        <p:nvSpPr>
          <p:cNvPr id="17" name="Shape 15"/>
          <p:cNvSpPr/>
          <p:nvPr/>
        </p:nvSpPr>
        <p:spPr>
          <a:xfrm>
            <a:off x="4709160" y="3044952"/>
            <a:ext cx="2971800" cy="640080"/>
          </a:xfrm>
          <a:prstGeom prst="roundRect">
            <a:avLst>
              <a:gd name="adj" fmla="val 8571"/>
            </a:avLst>
          </a:prstGeom>
          <a:solidFill>
            <a:srgbClr val="1F2E52"/>
          </a:solidFill>
          <a:ln w="9525">
            <a:solidFill>
              <a:srgbClr val="8A93B0"/>
            </a:solidFill>
            <a:prstDash val="solid"/>
          </a:ln>
        </p:spPr>
      </p:sp>
      <p:sp>
        <p:nvSpPr>
          <p:cNvPr id="18" name="Text 16"/>
          <p:cNvSpPr/>
          <p:nvPr/>
        </p:nvSpPr>
        <p:spPr>
          <a:xfrm>
            <a:off x="4846320" y="3090672"/>
            <a:ext cx="269748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CARTRIDGE BRASS</a:t>
            </a:r>
            <a:endParaRPr lang="en-US" sz="1050" dirty="0"/>
          </a:p>
        </p:txBody>
      </p:sp>
      <p:sp>
        <p:nvSpPr>
          <p:cNvPr id="19" name="Text 17"/>
          <p:cNvSpPr/>
          <p:nvPr/>
        </p:nvSpPr>
        <p:spPr>
          <a:xfrm>
            <a:off x="4846320" y="3319272"/>
            <a:ext cx="2697480" cy="338328"/>
          </a:xfrm>
          <a:prstGeom prst="rect">
            <a:avLst/>
          </a:prstGeom>
          <a:noFill/>
          <a:ln/>
        </p:spPr>
        <p:txBody>
          <a:bodyPr wrap="square" lIns="0" tIns="0" rIns="0" bIns="0" rtlCol="0" anchor="t"/>
          <a:lstStyle/>
          <a:p>
            <a:pPr indent="0" marL="0">
              <a:buNone/>
            </a:pPr>
            <a:r>
              <a:rPr lang="en-US" sz="800" dirty="0">
                <a:solidFill>
                  <a:srgbClr val="C7CEEA"/>
                </a:solidFill>
                <a:latin typeface="Calibri" pitchFamily="34" charset="0"/>
                <a:ea typeface="Calibri" pitchFamily="34" charset="-122"/>
                <a:cs typeface="Calibri" pitchFamily="34" charset="-120"/>
              </a:rPr>
              <a:t>Cases (≈70% Cu / 30% Zn) remain intact in the loading trays — clean, high-value non-ferrous scrap.</a:t>
            </a:r>
            <a:endParaRPr lang="en-US" sz="800" dirty="0"/>
          </a:p>
        </p:txBody>
      </p:sp>
      <p:sp>
        <p:nvSpPr>
          <p:cNvPr id="20" name="Shape 18"/>
          <p:cNvSpPr/>
          <p:nvPr/>
        </p:nvSpPr>
        <p:spPr>
          <a:xfrm flipV="1">
            <a:off x="4206240" y="3364992"/>
            <a:ext cx="502920" cy="704088"/>
          </a:xfrm>
          <a:prstGeom prst="line">
            <a:avLst/>
          </a:prstGeom>
          <a:noFill/>
          <a:ln w="12700">
            <a:solidFill>
              <a:srgbClr val="8A93B0"/>
            </a:solidFill>
            <a:prstDash val="solid"/>
            <a:tailEnd type="triangle"/>
          </a:ln>
        </p:spPr>
      </p:sp>
      <p:sp>
        <p:nvSpPr>
          <p:cNvPr id="21" name="Shape 19"/>
          <p:cNvSpPr/>
          <p:nvPr/>
        </p:nvSpPr>
        <p:spPr>
          <a:xfrm>
            <a:off x="4709160" y="3758184"/>
            <a:ext cx="2971800" cy="640080"/>
          </a:xfrm>
          <a:prstGeom prst="roundRect">
            <a:avLst>
              <a:gd name="adj" fmla="val 8571"/>
            </a:avLst>
          </a:prstGeom>
          <a:solidFill>
            <a:srgbClr val="1F2E52"/>
          </a:solidFill>
          <a:ln w="9525">
            <a:solidFill>
              <a:srgbClr val="8A93B0"/>
            </a:solidFill>
            <a:prstDash val="solid"/>
          </a:ln>
        </p:spPr>
      </p:sp>
      <p:sp>
        <p:nvSpPr>
          <p:cNvPr id="22" name="Text 20"/>
          <p:cNvSpPr/>
          <p:nvPr/>
        </p:nvSpPr>
        <p:spPr>
          <a:xfrm>
            <a:off x="4846320" y="3803904"/>
            <a:ext cx="269748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COPPER / GILDING-METAL JACKETS</a:t>
            </a:r>
            <a:endParaRPr lang="en-US" sz="1050" dirty="0"/>
          </a:p>
        </p:txBody>
      </p:sp>
      <p:sp>
        <p:nvSpPr>
          <p:cNvPr id="23" name="Text 21"/>
          <p:cNvSpPr/>
          <p:nvPr/>
        </p:nvSpPr>
        <p:spPr>
          <a:xfrm>
            <a:off x="4846320" y="4032504"/>
            <a:ext cx="2697480" cy="338328"/>
          </a:xfrm>
          <a:prstGeom prst="rect">
            <a:avLst/>
          </a:prstGeom>
          <a:noFill/>
          <a:ln/>
        </p:spPr>
        <p:txBody>
          <a:bodyPr wrap="square" lIns="0" tIns="0" rIns="0" bIns="0" rtlCol="0" anchor="t"/>
          <a:lstStyle/>
          <a:p>
            <a:pPr indent="0" marL="0">
              <a:buNone/>
            </a:pPr>
            <a:r>
              <a:rPr lang="en-US" sz="800" dirty="0">
                <a:solidFill>
                  <a:srgbClr val="C7CEEA"/>
                </a:solidFill>
                <a:latin typeface="Calibri" pitchFamily="34" charset="0"/>
                <a:ea typeface="Calibri" pitchFamily="34" charset="-122"/>
                <a:cs typeface="Calibri" pitchFamily="34" charset="-120"/>
              </a:rPr>
              <a:t>Bullet jackets (≈90–95% Cu) separate from cores during combustion and are recovered with the case fraction.</a:t>
            </a:r>
            <a:endParaRPr lang="en-US" sz="800" dirty="0"/>
          </a:p>
        </p:txBody>
      </p:sp>
      <p:sp>
        <p:nvSpPr>
          <p:cNvPr id="24" name="Shape 22"/>
          <p:cNvSpPr/>
          <p:nvPr/>
        </p:nvSpPr>
        <p:spPr>
          <a:xfrm>
            <a:off x="4206240" y="4069080"/>
            <a:ext cx="502920" cy="9144"/>
          </a:xfrm>
          <a:prstGeom prst="line">
            <a:avLst/>
          </a:prstGeom>
          <a:noFill/>
          <a:ln w="12700">
            <a:solidFill>
              <a:srgbClr val="8A93B0"/>
            </a:solidFill>
            <a:prstDash val="solid"/>
            <a:tailEnd type="triangle"/>
          </a:ln>
        </p:spPr>
      </p:sp>
      <p:sp>
        <p:nvSpPr>
          <p:cNvPr id="25" name="Shape 23"/>
          <p:cNvSpPr/>
          <p:nvPr/>
        </p:nvSpPr>
        <p:spPr>
          <a:xfrm>
            <a:off x="4709160" y="4471416"/>
            <a:ext cx="2971800" cy="640080"/>
          </a:xfrm>
          <a:prstGeom prst="roundRect">
            <a:avLst>
              <a:gd name="adj" fmla="val 8571"/>
            </a:avLst>
          </a:prstGeom>
          <a:solidFill>
            <a:srgbClr val="1F2E52"/>
          </a:solidFill>
          <a:ln w="9525">
            <a:solidFill>
              <a:srgbClr val="8A93B0"/>
            </a:solidFill>
            <a:prstDash val="solid"/>
          </a:ln>
        </p:spPr>
      </p:sp>
      <p:sp>
        <p:nvSpPr>
          <p:cNvPr id="26" name="Text 24"/>
          <p:cNvSpPr/>
          <p:nvPr/>
        </p:nvSpPr>
        <p:spPr>
          <a:xfrm>
            <a:off x="4846320" y="4517136"/>
            <a:ext cx="269748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STEEL &amp; FERROUS</a:t>
            </a:r>
            <a:endParaRPr lang="en-US" sz="1050" dirty="0"/>
          </a:p>
        </p:txBody>
      </p:sp>
      <p:sp>
        <p:nvSpPr>
          <p:cNvPr id="27" name="Text 25"/>
          <p:cNvSpPr/>
          <p:nvPr/>
        </p:nvSpPr>
        <p:spPr>
          <a:xfrm>
            <a:off x="4846320" y="4745736"/>
            <a:ext cx="2697480" cy="338328"/>
          </a:xfrm>
          <a:prstGeom prst="rect">
            <a:avLst/>
          </a:prstGeom>
          <a:noFill/>
          <a:ln/>
        </p:spPr>
        <p:txBody>
          <a:bodyPr wrap="square" lIns="0" tIns="0" rIns="0" bIns="0" rtlCol="0" anchor="t"/>
          <a:lstStyle/>
          <a:p>
            <a:pPr indent="0" marL="0">
              <a:buNone/>
            </a:pPr>
            <a:r>
              <a:rPr lang="en-US" sz="800" dirty="0">
                <a:solidFill>
                  <a:srgbClr val="C7CEEA"/>
                </a:solidFill>
                <a:latin typeface="Calibri" pitchFamily="34" charset="0"/>
                <a:ea typeface="Calibri" pitchFamily="34" charset="-122"/>
                <a:cs typeface="Calibri" pitchFamily="34" charset="-120"/>
              </a:rPr>
              <a:t>Steel-cased rounds, links and clips separated magnetically from the non-ferrous stream.</a:t>
            </a:r>
            <a:endParaRPr lang="en-US" sz="800" dirty="0"/>
          </a:p>
        </p:txBody>
      </p:sp>
      <p:sp>
        <p:nvSpPr>
          <p:cNvPr id="28" name="Shape 26"/>
          <p:cNvSpPr/>
          <p:nvPr/>
        </p:nvSpPr>
        <p:spPr>
          <a:xfrm>
            <a:off x="4206240" y="4069080"/>
            <a:ext cx="502920" cy="722376"/>
          </a:xfrm>
          <a:prstGeom prst="line">
            <a:avLst/>
          </a:prstGeom>
          <a:noFill/>
          <a:ln w="12700">
            <a:solidFill>
              <a:srgbClr val="8A93B0"/>
            </a:solidFill>
            <a:prstDash val="solid"/>
            <a:tailEnd type="triangle"/>
          </a:ln>
        </p:spPr>
      </p:sp>
      <p:sp>
        <p:nvSpPr>
          <p:cNvPr id="29" name="Shape 27"/>
          <p:cNvSpPr/>
          <p:nvPr/>
        </p:nvSpPr>
        <p:spPr>
          <a:xfrm>
            <a:off x="4709160" y="5184648"/>
            <a:ext cx="2971800" cy="640080"/>
          </a:xfrm>
          <a:prstGeom prst="roundRect">
            <a:avLst>
              <a:gd name="adj" fmla="val 8571"/>
            </a:avLst>
          </a:prstGeom>
          <a:solidFill>
            <a:srgbClr val="1F2E52"/>
          </a:solidFill>
          <a:ln w="9525">
            <a:solidFill>
              <a:srgbClr val="8A93B0"/>
            </a:solidFill>
            <a:prstDash val="solid"/>
          </a:ln>
        </p:spPr>
      </p:sp>
      <p:sp>
        <p:nvSpPr>
          <p:cNvPr id="30" name="Text 28"/>
          <p:cNvSpPr/>
          <p:nvPr/>
        </p:nvSpPr>
        <p:spPr>
          <a:xfrm>
            <a:off x="4846320" y="5230368"/>
            <a:ext cx="269748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PRIMER RESIDUE &amp; ASH</a:t>
            </a:r>
            <a:endParaRPr lang="en-US" sz="1050" dirty="0"/>
          </a:p>
        </p:txBody>
      </p:sp>
      <p:sp>
        <p:nvSpPr>
          <p:cNvPr id="31" name="Text 29"/>
          <p:cNvSpPr/>
          <p:nvPr/>
        </p:nvSpPr>
        <p:spPr>
          <a:xfrm>
            <a:off x="4846320" y="5458968"/>
            <a:ext cx="2697480" cy="338328"/>
          </a:xfrm>
          <a:prstGeom prst="rect">
            <a:avLst/>
          </a:prstGeom>
          <a:noFill/>
          <a:ln/>
        </p:spPr>
        <p:txBody>
          <a:bodyPr wrap="square" lIns="0" tIns="0" rIns="0" bIns="0" rtlCol="0" anchor="t"/>
          <a:lstStyle/>
          <a:p>
            <a:pPr indent="0" marL="0">
              <a:buNone/>
            </a:pPr>
            <a:r>
              <a:rPr lang="en-US" sz="800" dirty="0">
                <a:solidFill>
                  <a:srgbClr val="C7CEEA"/>
                </a:solidFill>
                <a:latin typeface="Calibri" pitchFamily="34" charset="0"/>
                <a:ea typeface="Calibri" pitchFamily="34" charset="-122"/>
                <a:cs typeface="Calibri" pitchFamily="34" charset="-120"/>
              </a:rPr>
              <a:t>Captured and contained; off-gas treated through the ~1,750°F afterburner and stack.</a:t>
            </a:r>
            <a:endParaRPr lang="en-US" sz="800" dirty="0"/>
          </a:p>
        </p:txBody>
      </p:sp>
      <p:sp>
        <p:nvSpPr>
          <p:cNvPr id="32" name="Shape 30"/>
          <p:cNvSpPr/>
          <p:nvPr/>
        </p:nvSpPr>
        <p:spPr>
          <a:xfrm>
            <a:off x="4206240" y="4069080"/>
            <a:ext cx="502920" cy="1435608"/>
          </a:xfrm>
          <a:prstGeom prst="line">
            <a:avLst/>
          </a:prstGeom>
          <a:noFill/>
          <a:ln w="12700">
            <a:solidFill>
              <a:srgbClr val="8A93B0"/>
            </a:solidFill>
            <a:prstDash val="solid"/>
            <a:tailEnd type="triangle"/>
          </a:ln>
        </p:spPr>
      </p:sp>
      <p:sp>
        <p:nvSpPr>
          <p:cNvPr id="33" name="Text 31"/>
          <p:cNvSpPr/>
          <p:nvPr/>
        </p:nvSpPr>
        <p:spPr>
          <a:xfrm>
            <a:off x="8229600" y="2103120"/>
            <a:ext cx="3410712" cy="274320"/>
          </a:xfrm>
          <a:prstGeom prst="rect">
            <a:avLst/>
          </a:prstGeom>
          <a:noFill/>
          <a:ln/>
        </p:spPr>
        <p:txBody>
          <a:bodyPr wrap="square" lIns="0" tIns="0" rIns="0" bIns="0" rtlCol="0" anchor="ctr"/>
          <a:lstStyle/>
          <a:p>
            <a:pPr indent="0" marL="0">
              <a:buNone/>
            </a:pPr>
            <a:r>
              <a:rPr lang="en-US" sz="1300" b="1" dirty="0">
                <a:solidFill>
                  <a:srgbClr val="1E2460"/>
                </a:solidFill>
                <a:latin typeface="Cambria" pitchFamily="34" charset="0"/>
                <a:ea typeface="Cambria" pitchFamily="34" charset="-122"/>
                <a:cs typeface="Cambria" pitchFamily="34" charset="-120"/>
              </a:rPr>
              <a:t>Operator economics</a:t>
            </a:r>
            <a:endParaRPr lang="en-US" sz="1300" dirty="0"/>
          </a:p>
        </p:txBody>
      </p:sp>
      <p:sp>
        <p:nvSpPr>
          <p:cNvPr id="34" name="Text 32"/>
          <p:cNvSpPr/>
          <p:nvPr/>
        </p:nvSpPr>
        <p:spPr>
          <a:xfrm>
            <a:off x="8229600" y="2377440"/>
            <a:ext cx="3410712" cy="685800"/>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TWB reference: ~1,000 lb of small-arms ammunition per day yields roughly $1,000 of clean reclaimed metal.*</a:t>
            </a:r>
            <a:endParaRPr lang="en-US" sz="1050" dirty="0"/>
          </a:p>
        </p:txBody>
      </p:sp>
      <p:sp>
        <p:nvSpPr>
          <p:cNvPr id="35" name="Text 33"/>
          <p:cNvSpPr/>
          <p:nvPr/>
        </p:nvSpPr>
        <p:spPr>
          <a:xfrm>
            <a:off x="8229600" y="3090672"/>
            <a:ext cx="3410712" cy="274320"/>
          </a:xfrm>
          <a:prstGeom prst="rect">
            <a:avLst/>
          </a:prstGeom>
          <a:noFill/>
          <a:ln/>
        </p:spPr>
        <p:txBody>
          <a:bodyPr wrap="square" lIns="0" tIns="0" rIns="0" bIns="0" rtlCol="0" anchor="ctr"/>
          <a:lstStyle/>
          <a:p>
            <a:pPr indent="0" marL="0">
              <a:buNone/>
            </a:pPr>
            <a:r>
              <a:rPr lang="en-US" sz="1300" b="1" dirty="0">
                <a:solidFill>
                  <a:srgbClr val="1E2460"/>
                </a:solidFill>
                <a:latin typeface="Cambria" pitchFamily="34" charset="0"/>
                <a:ea typeface="Cambria" pitchFamily="34" charset="-122"/>
                <a:cs typeface="Cambria" pitchFamily="34" charset="-120"/>
              </a:rPr>
              <a:t>Lead + antimony</a:t>
            </a:r>
            <a:endParaRPr lang="en-US" sz="1300" dirty="0"/>
          </a:p>
        </p:txBody>
      </p:sp>
      <p:sp>
        <p:nvSpPr>
          <p:cNvPr id="36" name="Text 34"/>
          <p:cNvSpPr/>
          <p:nvPr/>
        </p:nvSpPr>
        <p:spPr>
          <a:xfrm>
            <a:off x="8229600" y="3364992"/>
            <a:ext cx="3410712" cy="685800"/>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Recovered ingot is sought by secondary lead smelters as battery-grade feedstock.</a:t>
            </a:r>
            <a:endParaRPr lang="en-US" sz="1050" dirty="0"/>
          </a:p>
        </p:txBody>
      </p:sp>
      <p:sp>
        <p:nvSpPr>
          <p:cNvPr id="37" name="Text 35"/>
          <p:cNvSpPr/>
          <p:nvPr/>
        </p:nvSpPr>
        <p:spPr>
          <a:xfrm>
            <a:off x="8229600" y="4078224"/>
            <a:ext cx="3410712" cy="274320"/>
          </a:xfrm>
          <a:prstGeom prst="rect">
            <a:avLst/>
          </a:prstGeom>
          <a:noFill/>
          <a:ln/>
        </p:spPr>
        <p:txBody>
          <a:bodyPr wrap="square" lIns="0" tIns="0" rIns="0" bIns="0" rtlCol="0" anchor="ctr"/>
          <a:lstStyle/>
          <a:p>
            <a:pPr indent="0" marL="0">
              <a:buNone/>
            </a:pPr>
            <a:r>
              <a:rPr lang="en-US" sz="1300" b="1" dirty="0">
                <a:solidFill>
                  <a:srgbClr val="1E2460"/>
                </a:solidFill>
                <a:latin typeface="Cambria" pitchFamily="34" charset="0"/>
                <a:ea typeface="Cambria" pitchFamily="34" charset="-122"/>
                <a:cs typeface="Cambria" pitchFamily="34" charset="-120"/>
              </a:rPr>
              <a:t>Brass &amp; copper</a:t>
            </a:r>
            <a:endParaRPr lang="en-US" sz="1300" dirty="0"/>
          </a:p>
        </p:txBody>
      </p:sp>
      <p:sp>
        <p:nvSpPr>
          <p:cNvPr id="38" name="Text 36"/>
          <p:cNvSpPr/>
          <p:nvPr/>
        </p:nvSpPr>
        <p:spPr>
          <a:xfrm>
            <a:off x="8229600" y="4352544"/>
            <a:ext cx="3410712" cy="685800"/>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Cartridge brass and copper jackets are among the highest-value non-ferrous scrap grades.</a:t>
            </a:r>
            <a:endParaRPr lang="en-US" sz="1050" dirty="0"/>
          </a:p>
        </p:txBody>
      </p:sp>
      <p:sp>
        <p:nvSpPr>
          <p:cNvPr id="39" name="Text 37"/>
          <p:cNvSpPr/>
          <p:nvPr/>
        </p:nvSpPr>
        <p:spPr>
          <a:xfrm>
            <a:off x="8229600" y="5065776"/>
            <a:ext cx="3410712" cy="274320"/>
          </a:xfrm>
          <a:prstGeom prst="rect">
            <a:avLst/>
          </a:prstGeom>
          <a:noFill/>
          <a:ln/>
        </p:spPr>
        <p:txBody>
          <a:bodyPr wrap="square" lIns="0" tIns="0" rIns="0" bIns="0" rtlCol="0" anchor="ctr"/>
          <a:lstStyle/>
          <a:p>
            <a:pPr indent="0" marL="0">
              <a:buNone/>
            </a:pPr>
            <a:r>
              <a:rPr lang="en-US" sz="1300" b="1" dirty="0">
                <a:solidFill>
                  <a:srgbClr val="1E2460"/>
                </a:solidFill>
                <a:latin typeface="Cambria" pitchFamily="34" charset="0"/>
                <a:ea typeface="Cambria" pitchFamily="34" charset="-122"/>
                <a:cs typeface="Cambria" pitchFamily="34" charset="-120"/>
              </a:rPr>
              <a:t>Environmental</a:t>
            </a:r>
            <a:endParaRPr lang="en-US" sz="1300" dirty="0"/>
          </a:p>
        </p:txBody>
      </p:sp>
      <p:sp>
        <p:nvSpPr>
          <p:cNvPr id="40" name="Text 38"/>
          <p:cNvSpPr/>
          <p:nvPr/>
        </p:nvSpPr>
        <p:spPr>
          <a:xfrm>
            <a:off x="8229600" y="5340096"/>
            <a:ext cx="3410712" cy="685800"/>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Off-gas treated through the ~1,750°F afterburner; process meets California EPA and NATO air-handling standards.</a:t>
            </a:r>
            <a:endParaRPr lang="en-US" sz="1050" dirty="0"/>
          </a:p>
        </p:txBody>
      </p:sp>
      <p:sp>
        <p:nvSpPr>
          <p:cNvPr id="41" name="Text 39"/>
          <p:cNvSpPr/>
          <p:nvPr/>
        </p:nvSpPr>
        <p:spPr>
          <a:xfrm>
            <a:off x="548640" y="6217920"/>
            <a:ext cx="11091672" cy="22860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*TWB Designs press release, 2013 — metal prices vary; figure is indicative only.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POSITION</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Two Decades of Deployments and Relationships to Build On</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U.S. and Canadian law enforcement, allied and partner-nation military, and government relationships — the platform launches from an existing customer base, not a cold start.</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548640" y="2103120"/>
            <a:ext cx="3566160" cy="1810512"/>
          </a:xfrm>
          <a:prstGeom prst="roundRect">
            <a:avLst>
              <a:gd name="adj" fmla="val 3030"/>
            </a:avLst>
          </a:prstGeom>
          <a:solidFill>
            <a:srgbClr val="F5F6FA"/>
          </a:solidFill>
          <a:ln w="9525">
            <a:solidFill>
              <a:srgbClr val="E3E5EE"/>
            </a:solidFill>
            <a:prstDash val="solid"/>
          </a:ln>
        </p:spPr>
      </p:sp>
      <p:pic>
        <p:nvPicPr>
          <p:cNvPr id="8" name="Image 0" descr="img/photo1.png">    </p:cNvPr>
          <p:cNvPicPr>
            <a:picLocks noChangeAspect="1"/>
          </p:cNvPicPr>
          <p:nvPr/>
        </p:nvPicPr>
        <p:blipFill>
          <a:blip r:embed="rId1"/>
          <a:stretch>
            <a:fillRect/>
          </a:stretch>
        </p:blipFill>
        <p:spPr>
          <a:xfrm>
            <a:off x="548640" y="2103120"/>
            <a:ext cx="3566160" cy="1444752"/>
          </a:xfrm>
          <a:prstGeom prst="rect">
            <a:avLst/>
          </a:prstGeom>
        </p:spPr>
      </p:pic>
      <p:sp>
        <p:nvSpPr>
          <p:cNvPr id="9" name="Text 6"/>
          <p:cNvSpPr/>
          <p:nvPr/>
        </p:nvSpPr>
        <p:spPr>
          <a:xfrm>
            <a:off x="658368" y="3593592"/>
            <a:ext cx="3346704" cy="27432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Franklin County (OH) Sheriff / Hilliard PD take-back day</a:t>
            </a:r>
            <a:endParaRPr lang="en-US" sz="850" dirty="0"/>
          </a:p>
        </p:txBody>
      </p:sp>
      <p:sp>
        <p:nvSpPr>
          <p:cNvPr id="10" name="Shape 7"/>
          <p:cNvSpPr/>
          <p:nvPr/>
        </p:nvSpPr>
        <p:spPr>
          <a:xfrm>
            <a:off x="4297680" y="2103120"/>
            <a:ext cx="3566160" cy="1810512"/>
          </a:xfrm>
          <a:prstGeom prst="roundRect">
            <a:avLst>
              <a:gd name="adj" fmla="val 3030"/>
            </a:avLst>
          </a:prstGeom>
          <a:solidFill>
            <a:srgbClr val="F5F6FA"/>
          </a:solidFill>
          <a:ln w="9525">
            <a:solidFill>
              <a:srgbClr val="E3E5EE"/>
            </a:solidFill>
            <a:prstDash val="solid"/>
          </a:ln>
        </p:spPr>
      </p:sp>
      <p:pic>
        <p:nvPicPr>
          <p:cNvPr id="11" name="Image 1" descr="img/photo2.png">    </p:cNvPr>
          <p:cNvPicPr>
            <a:picLocks noChangeAspect="1"/>
          </p:cNvPicPr>
          <p:nvPr/>
        </p:nvPicPr>
        <p:blipFill>
          <a:blip r:embed="rId2"/>
          <a:stretch>
            <a:fillRect/>
          </a:stretch>
        </p:blipFill>
        <p:spPr>
          <a:xfrm>
            <a:off x="4297680" y="2103120"/>
            <a:ext cx="3566160" cy="1444752"/>
          </a:xfrm>
          <a:prstGeom prst="rect">
            <a:avLst/>
          </a:prstGeom>
        </p:spPr>
      </p:pic>
      <p:sp>
        <p:nvSpPr>
          <p:cNvPr id="12" name="Text 8"/>
          <p:cNvSpPr/>
          <p:nvPr/>
        </p:nvSpPr>
        <p:spPr>
          <a:xfrm>
            <a:off x="4407408" y="3593592"/>
            <a:ext cx="3346704" cy="27432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TWB operator with remote start/stop unit</a:t>
            </a:r>
            <a:endParaRPr lang="en-US" sz="850" dirty="0"/>
          </a:p>
        </p:txBody>
      </p:sp>
      <p:sp>
        <p:nvSpPr>
          <p:cNvPr id="13" name="Shape 9"/>
          <p:cNvSpPr/>
          <p:nvPr/>
        </p:nvSpPr>
        <p:spPr>
          <a:xfrm>
            <a:off x="8046720" y="2103120"/>
            <a:ext cx="3593592" cy="1810512"/>
          </a:xfrm>
          <a:prstGeom prst="roundRect">
            <a:avLst>
              <a:gd name="adj" fmla="val 3030"/>
            </a:avLst>
          </a:prstGeom>
          <a:solidFill>
            <a:srgbClr val="F5F6FA"/>
          </a:solidFill>
          <a:ln w="9525">
            <a:solidFill>
              <a:srgbClr val="E3E5EE"/>
            </a:solidFill>
            <a:prstDash val="solid"/>
          </a:ln>
        </p:spPr>
      </p:sp>
      <p:sp>
        <p:nvSpPr>
          <p:cNvPr id="14" name="Text 10"/>
          <p:cNvSpPr/>
          <p:nvPr/>
        </p:nvSpPr>
        <p:spPr>
          <a:xfrm>
            <a:off x="8229600" y="2176272"/>
            <a:ext cx="3227832" cy="228600"/>
          </a:xfrm>
          <a:prstGeom prst="rect">
            <a:avLst/>
          </a:prstGeom>
          <a:noFill/>
          <a:ln/>
        </p:spPr>
        <p:txBody>
          <a:bodyPr wrap="square" lIns="0" tIns="0" rIns="0" bIns="0" rtlCol="0" anchor="ctr"/>
          <a:lstStyle/>
          <a:p>
            <a:pPr indent="0" marL="0">
              <a:buNone/>
            </a:pPr>
            <a:r>
              <a:rPr lang="en-US" sz="850" b="1" spc="150" kern="0" dirty="0">
                <a:solidFill>
                  <a:srgbClr val="1E7A3C"/>
                </a:solidFill>
                <a:latin typeface="Calibri" pitchFamily="34" charset="0"/>
                <a:ea typeface="Calibri" pitchFamily="34" charset="-122"/>
                <a:cs typeface="Calibri" pitchFamily="34" charset="-120"/>
              </a:rPr>
              <a:t>PUBLICLY REFERENCEABLE</a:t>
            </a:r>
            <a:endParaRPr lang="en-US" sz="850" dirty="0"/>
          </a:p>
        </p:txBody>
      </p:sp>
      <p:sp>
        <p:nvSpPr>
          <p:cNvPr id="15" name="Text 11"/>
          <p:cNvSpPr/>
          <p:nvPr/>
        </p:nvSpPr>
        <p:spPr>
          <a:xfrm>
            <a:off x="8229600" y="2432304"/>
            <a:ext cx="3227832" cy="365760"/>
          </a:xfrm>
          <a:prstGeom prst="rect">
            <a:avLst/>
          </a:prstGeom>
          <a:noFill/>
          <a:ln/>
        </p:spPr>
        <p:txBody>
          <a:bodyPr wrap="square" lIns="0" tIns="0" rIns="0" bIns="0" rtlCol="0" anchor="t"/>
          <a:lstStyle/>
          <a:p>
            <a:pPr indent="0" marL="0">
              <a:buNone/>
            </a:pPr>
            <a:r>
              <a:rPr lang="en-US" sz="950" b="1" dirty="0">
                <a:solidFill>
                  <a:srgbClr val="1E2460"/>
                </a:solidFill>
                <a:latin typeface="Calibri" pitchFamily="34" charset="0"/>
                <a:ea typeface="Calibri" pitchFamily="34" charset="-122"/>
                <a:cs typeface="Calibri" pitchFamily="34" charset="-120"/>
              </a:rPr>
              <a:t>Franklin County (OH) Sheriff &amp; Hilliard PD</a:t>
            </a:r>
            <a:endParaRPr lang="en-US" sz="950" dirty="0"/>
          </a:p>
          <a:p>
            <a:pPr indent="0" marL="0">
              <a:buNone/>
            </a:pPr>
            <a:r>
              <a:rPr lang="en-US" sz="800" i="1" dirty="0">
                <a:solidFill>
                  <a:srgbClr val="6B7280"/>
                </a:solidFill>
                <a:latin typeface="Calibri" pitchFamily="34" charset="0"/>
                <a:ea typeface="Calibri" pitchFamily="34" charset="-122"/>
                <a:cs typeface="Calibri" pitchFamily="34" charset="-120"/>
              </a:rPr>
              <a:t>U.S. law enforcement — take-back events</a:t>
            </a:r>
            <a:endParaRPr lang="en-US" sz="950" dirty="0"/>
          </a:p>
        </p:txBody>
      </p:sp>
      <p:sp>
        <p:nvSpPr>
          <p:cNvPr id="16" name="Text 12"/>
          <p:cNvSpPr/>
          <p:nvPr/>
        </p:nvSpPr>
        <p:spPr>
          <a:xfrm>
            <a:off x="8229600" y="2798064"/>
            <a:ext cx="3227832" cy="365760"/>
          </a:xfrm>
          <a:prstGeom prst="rect">
            <a:avLst/>
          </a:prstGeom>
          <a:noFill/>
          <a:ln/>
        </p:spPr>
        <p:txBody>
          <a:bodyPr wrap="square" lIns="0" tIns="0" rIns="0" bIns="0" rtlCol="0" anchor="t"/>
          <a:lstStyle/>
          <a:p>
            <a:pPr indent="0" marL="0">
              <a:buNone/>
            </a:pPr>
            <a:r>
              <a:rPr lang="en-US" sz="950" b="1" dirty="0">
                <a:solidFill>
                  <a:srgbClr val="1E2460"/>
                </a:solidFill>
                <a:latin typeface="Calibri" pitchFamily="34" charset="0"/>
                <a:ea typeface="Calibri" pitchFamily="34" charset="-122"/>
                <a:cs typeface="Calibri" pitchFamily="34" charset="-120"/>
              </a:rPr>
              <a:t>Royal Canadian Mounted Police (RCMP)</a:t>
            </a:r>
            <a:endParaRPr lang="en-US" sz="950" dirty="0"/>
          </a:p>
          <a:p>
            <a:pPr indent="0" marL="0">
              <a:buNone/>
            </a:pPr>
            <a:r>
              <a:rPr lang="en-US" sz="800" i="1" dirty="0">
                <a:solidFill>
                  <a:srgbClr val="6B7280"/>
                </a:solidFill>
                <a:latin typeface="Calibri" pitchFamily="34" charset="0"/>
                <a:ea typeface="Calibri" pitchFamily="34" charset="-122"/>
                <a:cs typeface="Calibri" pitchFamily="34" charset="-120"/>
              </a:rPr>
              <a:t>Co-development partner; in service since 2001</a:t>
            </a:r>
            <a:endParaRPr lang="en-US" sz="950" dirty="0"/>
          </a:p>
        </p:txBody>
      </p:sp>
      <p:sp>
        <p:nvSpPr>
          <p:cNvPr id="17" name="Text 13"/>
          <p:cNvSpPr/>
          <p:nvPr/>
        </p:nvSpPr>
        <p:spPr>
          <a:xfrm>
            <a:off x="8229600" y="3163824"/>
            <a:ext cx="3227832" cy="365760"/>
          </a:xfrm>
          <a:prstGeom prst="rect">
            <a:avLst/>
          </a:prstGeom>
          <a:noFill/>
          <a:ln/>
        </p:spPr>
        <p:txBody>
          <a:bodyPr wrap="square" lIns="0" tIns="0" rIns="0" bIns="0" rtlCol="0" anchor="t"/>
          <a:lstStyle/>
          <a:p>
            <a:pPr indent="0" marL="0">
              <a:buNone/>
            </a:pPr>
            <a:r>
              <a:rPr lang="en-US" sz="950" b="1" dirty="0">
                <a:solidFill>
                  <a:srgbClr val="1E2460"/>
                </a:solidFill>
                <a:latin typeface="Calibri" pitchFamily="34" charset="0"/>
                <a:ea typeface="Calibri" pitchFamily="34" charset="-122"/>
                <a:cs typeface="Calibri" pitchFamily="34" charset="-120"/>
              </a:rPr>
              <a:t>Canadian municipal &amp; provincial police</a:t>
            </a:r>
            <a:endParaRPr lang="en-US" sz="950" dirty="0"/>
          </a:p>
          <a:p>
            <a:pPr indent="0" marL="0">
              <a:buNone/>
            </a:pPr>
            <a:r>
              <a:rPr lang="en-US" sz="800" i="1" dirty="0">
                <a:solidFill>
                  <a:srgbClr val="6B7280"/>
                </a:solidFill>
                <a:latin typeface="Calibri" pitchFamily="34" charset="0"/>
                <a:ea typeface="Calibri" pitchFamily="34" charset="-122"/>
                <a:cs typeface="Calibri" pitchFamily="34" charset="-120"/>
              </a:rPr>
              <a:t>Multiple forces; ongoing disposal programs</a:t>
            </a:r>
            <a:endParaRPr lang="en-US" sz="950" dirty="0"/>
          </a:p>
        </p:txBody>
      </p:sp>
      <p:sp>
        <p:nvSpPr>
          <p:cNvPr id="18" name="Text 14"/>
          <p:cNvSpPr/>
          <p:nvPr/>
        </p:nvSpPr>
        <p:spPr>
          <a:xfrm>
            <a:off x="8229600" y="3529584"/>
            <a:ext cx="3227832" cy="365760"/>
          </a:xfrm>
          <a:prstGeom prst="rect">
            <a:avLst/>
          </a:prstGeom>
          <a:noFill/>
          <a:ln/>
        </p:spPr>
        <p:txBody>
          <a:bodyPr wrap="square" lIns="0" tIns="0" rIns="0" bIns="0" rtlCol="0" anchor="t"/>
          <a:lstStyle/>
          <a:p>
            <a:pPr indent="0" marL="0">
              <a:buNone/>
            </a:pPr>
            <a:r>
              <a:rPr lang="en-US" sz="950" b="1" dirty="0">
                <a:solidFill>
                  <a:srgbClr val="1E2460"/>
                </a:solidFill>
                <a:latin typeface="Calibri" pitchFamily="34" charset="0"/>
                <a:ea typeface="Calibri" pitchFamily="34" charset="-122"/>
                <a:cs typeface="Calibri" pitchFamily="34" charset="-120"/>
              </a:rPr>
              <a:t>Military Equipment Denmark A/S</a:t>
            </a:r>
            <a:endParaRPr lang="en-US" sz="950" dirty="0"/>
          </a:p>
          <a:p>
            <a:pPr indent="0" marL="0">
              <a:buNone/>
            </a:pPr>
            <a:r>
              <a:rPr lang="en-US" sz="800" i="1" dirty="0">
                <a:solidFill>
                  <a:srgbClr val="6B7280"/>
                </a:solidFill>
                <a:latin typeface="Calibri" pitchFamily="34" charset="0"/>
                <a:ea typeface="Calibri" pitchFamily="34" charset="-122"/>
                <a:cs typeface="Calibri" pitchFamily="34" charset="-120"/>
              </a:rPr>
              <a:t>Exclusive agent — Nordic &amp; Baltic (7 countries)</a:t>
            </a:r>
            <a:endParaRPr lang="en-US" sz="950" dirty="0"/>
          </a:p>
        </p:txBody>
      </p:sp>
      <p:sp>
        <p:nvSpPr>
          <p:cNvPr id="19" name="Shape 15"/>
          <p:cNvSpPr/>
          <p:nvPr/>
        </p:nvSpPr>
        <p:spPr>
          <a:xfrm>
            <a:off x="548640" y="4160520"/>
            <a:ext cx="11091672" cy="1417320"/>
          </a:xfrm>
          <a:prstGeom prst="roundRect">
            <a:avLst>
              <a:gd name="adj" fmla="val 5161"/>
            </a:avLst>
          </a:prstGeom>
          <a:solidFill>
            <a:srgbClr val="8B1E1E"/>
          </a:solidFill>
          <a:ln w="12700">
            <a:solidFill>
              <a:srgbClr val="8B1E1E"/>
            </a:solidFill>
            <a:prstDash val="solid"/>
          </a:ln>
        </p:spPr>
      </p:sp>
      <p:sp>
        <p:nvSpPr>
          <p:cNvPr id="20" name="Text 16"/>
          <p:cNvSpPr/>
          <p:nvPr/>
        </p:nvSpPr>
        <p:spPr>
          <a:xfrm>
            <a:off x="777240" y="4279392"/>
            <a:ext cx="10634472" cy="228600"/>
          </a:xfrm>
          <a:prstGeom prst="rect">
            <a:avLst/>
          </a:prstGeom>
          <a:noFill/>
          <a:ln/>
        </p:spPr>
        <p:txBody>
          <a:bodyPr wrap="square" lIns="0" tIns="0" rIns="0" bIns="0" rtlCol="0" anchor="ctr"/>
          <a:lstStyle/>
          <a:p>
            <a:pPr indent="0" marL="0">
              <a:buNone/>
            </a:pPr>
            <a:r>
              <a:rPr lang="en-US" sz="900" b="1" spc="150" kern="0" dirty="0">
                <a:solidFill>
                  <a:srgbClr val="F3D6D6"/>
                </a:solidFill>
                <a:latin typeface="Calibri" pitchFamily="34" charset="0"/>
                <a:ea typeface="Calibri" pitchFamily="34" charset="-122"/>
                <a:cs typeface="Calibri" pitchFamily="34" charset="-120"/>
              </a:rPr>
              <a:t>ALLIED &amp; PARTNER MILITARY</a:t>
            </a:r>
            <a:endParaRPr lang="en-US" sz="900" dirty="0"/>
          </a:p>
        </p:txBody>
      </p:sp>
      <p:sp>
        <p:nvSpPr>
          <p:cNvPr id="21" name="Text 17"/>
          <p:cNvSpPr/>
          <p:nvPr/>
        </p:nvSpPr>
        <p:spPr>
          <a:xfrm>
            <a:off x="777240" y="4553712"/>
            <a:ext cx="3361944"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Australian Army</a:t>
            </a:r>
            <a:endParaRPr lang="en-US" sz="1350" dirty="0"/>
          </a:p>
        </p:txBody>
      </p:sp>
      <p:sp>
        <p:nvSpPr>
          <p:cNvPr id="22" name="Text 18"/>
          <p:cNvSpPr/>
          <p:nvPr/>
        </p:nvSpPr>
        <p:spPr>
          <a:xfrm>
            <a:off x="777240" y="4828032"/>
            <a:ext cx="3361944" cy="228600"/>
          </a:xfrm>
          <a:prstGeom prst="rect">
            <a:avLst/>
          </a:prstGeom>
          <a:noFill/>
          <a:ln/>
        </p:spPr>
        <p:txBody>
          <a:bodyPr wrap="square" lIns="0" tIns="0" rIns="0" bIns="0" rtlCol="0" anchor="ctr"/>
          <a:lstStyle/>
          <a:p>
            <a:pPr indent="0" marL="0">
              <a:buNone/>
            </a:pPr>
            <a:r>
              <a:rPr lang="en-US" sz="900" i="1" dirty="0">
                <a:solidFill>
                  <a:srgbClr val="F3D6D6"/>
                </a:solidFill>
                <a:latin typeface="Calibri" pitchFamily="34" charset="0"/>
                <a:ea typeface="Calibri" pitchFamily="34" charset="-122"/>
                <a:cs typeface="Calibri" pitchFamily="34" charset="-120"/>
              </a:rPr>
              <a:t>Australian Defence Force — U.S. treaty ally (ANZUS)</a:t>
            </a:r>
            <a:endParaRPr lang="en-US" sz="900" dirty="0"/>
          </a:p>
        </p:txBody>
      </p:sp>
      <p:sp>
        <p:nvSpPr>
          <p:cNvPr id="23" name="Text 19"/>
          <p:cNvSpPr/>
          <p:nvPr/>
        </p:nvSpPr>
        <p:spPr>
          <a:xfrm>
            <a:off x="4322064" y="4553712"/>
            <a:ext cx="3361944"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New Zealand Army</a:t>
            </a:r>
            <a:endParaRPr lang="en-US" sz="1350" dirty="0"/>
          </a:p>
        </p:txBody>
      </p:sp>
      <p:sp>
        <p:nvSpPr>
          <p:cNvPr id="24" name="Text 20"/>
          <p:cNvSpPr/>
          <p:nvPr/>
        </p:nvSpPr>
        <p:spPr>
          <a:xfrm>
            <a:off x="4322064" y="4828032"/>
            <a:ext cx="3361944" cy="228600"/>
          </a:xfrm>
          <a:prstGeom prst="rect">
            <a:avLst/>
          </a:prstGeom>
          <a:noFill/>
          <a:ln/>
        </p:spPr>
        <p:txBody>
          <a:bodyPr wrap="square" lIns="0" tIns="0" rIns="0" bIns="0" rtlCol="0" anchor="ctr"/>
          <a:lstStyle/>
          <a:p>
            <a:pPr indent="0" marL="0">
              <a:buNone/>
            </a:pPr>
            <a:r>
              <a:rPr lang="en-US" sz="900" i="1" dirty="0">
                <a:solidFill>
                  <a:srgbClr val="F3D6D6"/>
                </a:solidFill>
                <a:latin typeface="Calibri" pitchFamily="34" charset="0"/>
                <a:ea typeface="Calibri" pitchFamily="34" charset="-122"/>
                <a:cs typeface="Calibri" pitchFamily="34" charset="-120"/>
              </a:rPr>
              <a:t>New Zealand Defence Force — U.S. treaty ally (ANZUS)</a:t>
            </a:r>
            <a:endParaRPr lang="en-US" sz="900" dirty="0"/>
          </a:p>
        </p:txBody>
      </p:sp>
      <p:sp>
        <p:nvSpPr>
          <p:cNvPr id="25" name="Text 21"/>
          <p:cNvSpPr/>
          <p:nvPr/>
        </p:nvSpPr>
        <p:spPr>
          <a:xfrm>
            <a:off x="7866888" y="4553712"/>
            <a:ext cx="3361944"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Royal Saudi Land Forces</a:t>
            </a:r>
            <a:endParaRPr lang="en-US" sz="1350" dirty="0"/>
          </a:p>
        </p:txBody>
      </p:sp>
      <p:sp>
        <p:nvSpPr>
          <p:cNvPr id="26" name="Text 22"/>
          <p:cNvSpPr/>
          <p:nvPr/>
        </p:nvSpPr>
        <p:spPr>
          <a:xfrm>
            <a:off x="7866888" y="4828032"/>
            <a:ext cx="3361944" cy="228600"/>
          </a:xfrm>
          <a:prstGeom prst="rect">
            <a:avLst/>
          </a:prstGeom>
          <a:noFill/>
          <a:ln/>
        </p:spPr>
        <p:txBody>
          <a:bodyPr wrap="square" lIns="0" tIns="0" rIns="0" bIns="0" rtlCol="0" anchor="ctr"/>
          <a:lstStyle/>
          <a:p>
            <a:pPr indent="0" marL="0">
              <a:buNone/>
            </a:pPr>
            <a:r>
              <a:rPr lang="en-US" sz="900" i="1" dirty="0">
                <a:solidFill>
                  <a:srgbClr val="F3D6D6"/>
                </a:solidFill>
                <a:latin typeface="Calibri" pitchFamily="34" charset="0"/>
                <a:ea typeface="Calibri" pitchFamily="34" charset="-122"/>
                <a:cs typeface="Calibri" pitchFamily="34" charset="-120"/>
              </a:rPr>
              <a:t>Saudi Arabian Armed Forces — U.S. strategic partner</a:t>
            </a:r>
            <a:endParaRPr lang="en-US" sz="900" dirty="0"/>
          </a:p>
        </p:txBody>
      </p:sp>
      <p:sp>
        <p:nvSpPr>
          <p:cNvPr id="27" name="Text 23"/>
          <p:cNvSpPr/>
          <p:nvPr/>
        </p:nvSpPr>
        <p:spPr>
          <a:xfrm>
            <a:off x="777240" y="5138928"/>
            <a:ext cx="10634472" cy="36576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Deployments with allied and partner-nation forces demonstrate operation to military standards outside Canada. Contract references, scope, and dates available on request.</a:t>
            </a:r>
            <a:endParaRPr lang="en-US" sz="950" dirty="0"/>
          </a:p>
        </p:txBody>
      </p:sp>
      <p:sp>
        <p:nvSpPr>
          <p:cNvPr id="28" name="Shape 24"/>
          <p:cNvSpPr/>
          <p:nvPr/>
        </p:nvSpPr>
        <p:spPr>
          <a:xfrm>
            <a:off x="548640" y="5715000"/>
            <a:ext cx="11091672" cy="457200"/>
          </a:xfrm>
          <a:prstGeom prst="roundRect">
            <a:avLst>
              <a:gd name="adj" fmla="val 10000"/>
            </a:avLst>
          </a:prstGeom>
          <a:solidFill>
            <a:srgbClr val="F5F6FA"/>
          </a:solidFill>
          <a:ln w="9525">
            <a:solidFill>
              <a:srgbClr val="E3E5EE"/>
            </a:solidFill>
            <a:prstDash val="solid"/>
          </a:ln>
        </p:spPr>
      </p:sp>
      <p:sp>
        <p:nvSpPr>
          <p:cNvPr id="29" name="Text 25"/>
          <p:cNvSpPr/>
          <p:nvPr/>
        </p:nvSpPr>
        <p:spPr>
          <a:xfrm>
            <a:off x="777240" y="5715000"/>
            <a:ext cx="10634472" cy="457200"/>
          </a:xfrm>
          <a:prstGeom prst="rect">
            <a:avLst/>
          </a:prstGeom>
          <a:noFill/>
          <a:ln/>
        </p:spPr>
        <p:txBody>
          <a:bodyPr wrap="square" lIns="0" tIns="0" rIns="0" bIns="0" rtlCol="0" anchor="ctr"/>
          <a:lstStyle/>
          <a:p>
            <a:pPr indent="0" marL="0">
              <a:buNone/>
            </a:pPr>
            <a:r>
              <a:rPr lang="en-US" sz="1050" i="1" dirty="0">
                <a:solidFill>
                  <a:srgbClr val="1E2460"/>
                </a:solidFill>
                <a:latin typeface="Calibri" pitchFamily="34" charset="0"/>
                <a:ea typeface="Calibri" pitchFamily="34" charset="-122"/>
                <a:cs typeface="Calibri" pitchFamily="34" charset="-120"/>
              </a:rPr>
              <a:t>Recognized by the International Association of Chiefs of Police (IACP) with a Competitive Innovation Award for the eMACS platform.</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460"/>
        </a:solidFill>
      </p:bgPr>
    </p:bg>
    <p:spTree>
      <p:nvGrpSpPr>
        <p:cNvPr id="1" name=""/>
        <p:cNvGrpSpPr/>
        <p:nvPr/>
      </p:nvGrpSpPr>
      <p:grpSpPr>
        <a:xfrm>
          <a:off x="0" y="0"/>
          <a:ext cx="0" cy="0"/>
          <a:chOff x="0" y="0"/>
          <a:chExt cx="0" cy="0"/>
        </a:xfrm>
      </p:grpSpPr>
      <p:sp>
        <p:nvSpPr>
          <p:cNvPr id="2" name="Text 0"/>
          <p:cNvSpPr/>
          <p:nvPr/>
        </p:nvSpPr>
        <p:spPr>
          <a:xfrm>
            <a:off x="548640" y="2377440"/>
            <a:ext cx="11091672"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Venture</a:t>
            </a:r>
            <a:endParaRPr lang="en-US" sz="3600" dirty="0"/>
          </a:p>
        </p:txBody>
      </p:sp>
      <p:sp>
        <p:nvSpPr>
          <p:cNvPr id="3" name="Text 1"/>
          <p:cNvSpPr/>
          <p:nvPr/>
        </p:nvSpPr>
        <p:spPr>
          <a:xfrm>
            <a:off x="548640" y="3200400"/>
            <a:ext cx="11091672" cy="548640"/>
          </a:xfrm>
          <a:prstGeom prst="rect">
            <a:avLst/>
          </a:prstGeom>
          <a:noFill/>
          <a:ln/>
        </p:spPr>
        <p:txBody>
          <a:bodyPr wrap="square" lIns="0" tIns="0" rIns="0" bIns="0" rtlCol="0" anchor="ctr"/>
          <a:lstStyle/>
          <a:p>
            <a:pPr indent="0" marL="0">
              <a:buNone/>
            </a:pPr>
            <a:r>
              <a:rPr lang="en-US" sz="1600" i="1" dirty="0">
                <a:solidFill>
                  <a:srgbClr val="C7CEEA"/>
                </a:solidFill>
                <a:latin typeface="Calibri" pitchFamily="34" charset="0"/>
                <a:ea typeface="Calibri" pitchFamily="34" charset="-122"/>
                <a:cs typeface="Calibri" pitchFamily="34" charset="-120"/>
              </a:rPr>
              <a:t>Turning a proven mobile capability and an existing partner network into a global secure-destruction platform</a:t>
            </a:r>
            <a:endParaRPr lang="en-US" sz="1600" dirty="0"/>
          </a:p>
        </p:txBody>
      </p:sp>
      <p:sp>
        <p:nvSpPr>
          <p:cNvPr id="4" name="Text 2"/>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PLAN</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Technology Roadmap: From Small Arms to Full-Spectrum Demil</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Each stage bolts onto the existing mobile thermal platform rather than replacing it. Enabling tracks run continuously underneath.</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1602943" y="2487168"/>
            <a:ext cx="8983066" cy="0"/>
          </a:xfrm>
          <a:prstGeom prst="line">
            <a:avLst/>
          </a:prstGeom>
          <a:noFill/>
          <a:ln w="25400">
            <a:solidFill>
              <a:srgbClr val="E4B33A"/>
            </a:solidFill>
            <a:prstDash val="solid"/>
          </a:ln>
        </p:spPr>
      </p:sp>
      <p:sp>
        <p:nvSpPr>
          <p:cNvPr id="8" name="Shape 6"/>
          <p:cNvSpPr/>
          <p:nvPr/>
        </p:nvSpPr>
        <p:spPr>
          <a:xfrm>
            <a:off x="1493215" y="2377440"/>
            <a:ext cx="219456" cy="219456"/>
          </a:xfrm>
          <a:prstGeom prst="ellipse">
            <a:avLst/>
          </a:prstGeom>
          <a:solidFill>
            <a:srgbClr val="1E2460"/>
          </a:solidFill>
          <a:ln w="19050">
            <a:solidFill>
              <a:srgbClr val="E4B33A"/>
            </a:solidFill>
            <a:prstDash val="solid"/>
          </a:ln>
        </p:spPr>
      </p:sp>
      <p:sp>
        <p:nvSpPr>
          <p:cNvPr id="9" name="Text 7"/>
          <p:cNvSpPr/>
          <p:nvPr/>
        </p:nvSpPr>
        <p:spPr>
          <a:xfrm>
            <a:off x="548640" y="2057400"/>
            <a:ext cx="2108606" cy="274320"/>
          </a:xfrm>
          <a:prstGeom prst="rect">
            <a:avLst/>
          </a:prstGeom>
          <a:noFill/>
          <a:ln/>
        </p:spPr>
        <p:txBody>
          <a:bodyPr wrap="square" lIns="0" tIns="0" rIns="0" bIns="0" rtlCol="0" anchor="ctr"/>
          <a:lstStyle/>
          <a:p>
            <a:pPr algn="ctr" indent="0" marL="0">
              <a:buNone/>
            </a:pPr>
            <a:r>
              <a:rPr lang="en-US" sz="1200" b="1" dirty="0">
                <a:solidFill>
                  <a:srgbClr val="E4B33A"/>
                </a:solidFill>
                <a:latin typeface="Calibri" pitchFamily="34" charset="0"/>
                <a:ea typeface="Calibri" pitchFamily="34" charset="-122"/>
                <a:cs typeface="Calibri" pitchFamily="34" charset="-120"/>
              </a:rPr>
              <a:t>Today</a:t>
            </a:r>
            <a:pPr algn="ctr" indent="0" marL="0">
              <a:buNone/>
            </a:pPr>
            <a:r>
              <a:rPr lang="en-US" sz="1000" dirty="0">
                <a:solidFill>
                  <a:srgbClr val="6B7280"/>
                </a:solidFill>
                <a:latin typeface="Calibri" pitchFamily="34" charset="0"/>
                <a:ea typeface="Calibri" pitchFamily="34" charset="-122"/>
                <a:cs typeface="Calibri" pitchFamily="34" charset="-120"/>
              </a:rPr>
              <a:t>  2026</a:t>
            </a:r>
            <a:endParaRPr lang="en-US" sz="1200" dirty="0"/>
          </a:p>
        </p:txBody>
      </p:sp>
      <p:sp>
        <p:nvSpPr>
          <p:cNvPr id="10" name="Shape 8"/>
          <p:cNvSpPr/>
          <p:nvPr/>
        </p:nvSpPr>
        <p:spPr>
          <a:xfrm>
            <a:off x="548640" y="2743200"/>
            <a:ext cx="2108606" cy="2606040"/>
          </a:xfrm>
          <a:prstGeom prst="roundRect">
            <a:avLst>
              <a:gd name="adj" fmla="val 3469"/>
            </a:avLst>
          </a:prstGeom>
          <a:solidFill>
            <a:srgbClr val="1E2460"/>
          </a:solidFill>
          <a:ln w="9525">
            <a:solidFill>
              <a:srgbClr val="1E2460"/>
            </a:solidFill>
            <a:prstDash val="solid"/>
          </a:ln>
        </p:spPr>
      </p:sp>
      <p:sp>
        <p:nvSpPr>
          <p:cNvPr id="11" name="Text 9"/>
          <p:cNvSpPr/>
          <p:nvPr/>
        </p:nvSpPr>
        <p:spPr>
          <a:xfrm>
            <a:off x="685800" y="2852928"/>
            <a:ext cx="1834286" cy="502920"/>
          </a:xfrm>
          <a:prstGeom prst="rect">
            <a:avLst/>
          </a:prstGeom>
          <a:noFill/>
          <a:ln/>
        </p:spPr>
        <p:txBody>
          <a:bodyPr wrap="square" lIns="0" tIns="0" rIns="0" bIns="0" rtlCol="0" anchor="t"/>
          <a:lstStyle/>
          <a:p>
            <a:pPr indent="0" marL="0">
              <a:buNone/>
            </a:pPr>
            <a:r>
              <a:rPr lang="en-US" sz="1350" b="1" dirty="0">
                <a:solidFill>
                  <a:srgbClr val="FFFFFF"/>
                </a:solidFill>
                <a:latin typeface="Cambria" pitchFamily="34" charset="0"/>
                <a:ea typeface="Cambria" pitchFamily="34" charset="-122"/>
                <a:cs typeface="Cambria" pitchFamily="34" charset="-120"/>
              </a:rPr>
              <a:t>Small arms through 50 cal</a:t>
            </a:r>
            <a:endParaRPr lang="en-US" sz="1350" dirty="0"/>
          </a:p>
        </p:txBody>
      </p:sp>
      <p:sp>
        <p:nvSpPr>
          <p:cNvPr id="12" name="Text 10"/>
          <p:cNvSpPr/>
          <p:nvPr/>
        </p:nvSpPr>
        <p:spPr>
          <a:xfrm>
            <a:off x="658368" y="3383280"/>
            <a:ext cx="1889150" cy="12344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C7CEEA"/>
                </a:solidFill>
                <a:latin typeface="Calibri" pitchFamily="34" charset="0"/>
                <a:ea typeface="Calibri" pitchFamily="34" charset="-122"/>
                <a:cs typeface="Calibri" pitchFamily="34" charset="-120"/>
              </a:rPr>
              <a:t>Mobile two-stage thermal (eMACS/MACS)</a:t>
            </a:r>
            <a:endParaRPr lang="en-US" sz="950" dirty="0"/>
          </a:p>
          <a:p>
            <a:pPr marL="342900" indent="-342900">
              <a:spcAft>
                <a:spcPts val="500"/>
              </a:spcAft>
              <a:buSzPct val="100000"/>
              <a:buChar char="•"/>
            </a:pPr>
            <a:r>
              <a:rPr lang="en-US" sz="950" dirty="0">
                <a:solidFill>
                  <a:srgbClr val="C7CEEA"/>
                </a:solidFill>
                <a:latin typeface="Calibri" pitchFamily="34" charset="0"/>
                <a:ea typeface="Calibri" pitchFamily="34" charset="-122"/>
                <a:cs typeface="Calibri" pitchFamily="34" charset="-120"/>
              </a:rPr>
              <a:t>Metals recovery: lead, brass, copper, steel</a:t>
            </a:r>
            <a:endParaRPr lang="en-US" sz="950" dirty="0"/>
          </a:p>
          <a:p>
            <a:pPr marL="342900" indent="-342900">
              <a:spcAft>
                <a:spcPts val="500"/>
              </a:spcAft>
              <a:buSzPct val="100000"/>
              <a:buChar char="•"/>
            </a:pPr>
            <a:r>
              <a:rPr lang="en-US" sz="950" dirty="0">
                <a:solidFill>
                  <a:srgbClr val="C7CEEA"/>
                </a:solidFill>
                <a:latin typeface="Calibri" pitchFamily="34" charset="0"/>
                <a:ea typeface="Calibri" pitchFamily="34" charset="-122"/>
                <a:cs typeface="Calibri" pitchFamily="34" charset="-120"/>
              </a:rPr>
              <a:t>Police &amp; military customers, 3 continents</a:t>
            </a:r>
            <a:endParaRPr lang="en-US" sz="950" dirty="0"/>
          </a:p>
        </p:txBody>
      </p:sp>
      <p:sp>
        <p:nvSpPr>
          <p:cNvPr id="13" name="Shape 11"/>
          <p:cNvSpPr/>
          <p:nvPr/>
        </p:nvSpPr>
        <p:spPr>
          <a:xfrm>
            <a:off x="3738982" y="2377440"/>
            <a:ext cx="219456" cy="219456"/>
          </a:xfrm>
          <a:prstGeom prst="ellipse">
            <a:avLst/>
          </a:prstGeom>
          <a:solidFill>
            <a:srgbClr val="E4B33A"/>
          </a:solidFill>
          <a:ln w="19050">
            <a:solidFill>
              <a:srgbClr val="E4B33A"/>
            </a:solidFill>
            <a:prstDash val="solid"/>
          </a:ln>
        </p:spPr>
      </p:sp>
      <p:sp>
        <p:nvSpPr>
          <p:cNvPr id="14" name="Text 12"/>
          <p:cNvSpPr/>
          <p:nvPr/>
        </p:nvSpPr>
        <p:spPr>
          <a:xfrm>
            <a:off x="2794406" y="2057400"/>
            <a:ext cx="2108606" cy="274320"/>
          </a:xfrm>
          <a:prstGeom prst="rect">
            <a:avLst/>
          </a:prstGeom>
          <a:noFill/>
          <a:ln/>
        </p:spPr>
        <p:txBody>
          <a:bodyPr wrap="square" lIns="0" tIns="0" rIns="0" bIns="0" rtlCol="0" anchor="ctr"/>
          <a:lstStyle/>
          <a:p>
            <a:pPr algn="ctr" indent="0" marL="0">
              <a:buNone/>
            </a:pPr>
            <a:r>
              <a:rPr lang="en-US" sz="1200" b="1" dirty="0">
                <a:solidFill>
                  <a:srgbClr val="1E2460"/>
                </a:solidFill>
                <a:latin typeface="Calibri" pitchFamily="34" charset="0"/>
                <a:ea typeface="Calibri" pitchFamily="34" charset="-122"/>
                <a:cs typeface="Calibri" pitchFamily="34" charset="-120"/>
              </a:rPr>
              <a:t>Year 1</a:t>
            </a:r>
            <a:pPr algn="ctr" indent="0" marL="0">
              <a:buNone/>
            </a:pPr>
            <a:r>
              <a:rPr lang="en-US" sz="1000" dirty="0">
                <a:solidFill>
                  <a:srgbClr val="6B7280"/>
                </a:solidFill>
                <a:latin typeface="Calibri" pitchFamily="34" charset="0"/>
                <a:ea typeface="Calibri" pitchFamily="34" charset="-122"/>
                <a:cs typeface="Calibri" pitchFamily="34" charset="-120"/>
              </a:rPr>
              <a:t>  2027</a:t>
            </a:r>
            <a:endParaRPr lang="en-US" sz="1200" dirty="0"/>
          </a:p>
        </p:txBody>
      </p:sp>
      <p:sp>
        <p:nvSpPr>
          <p:cNvPr id="15" name="Shape 13"/>
          <p:cNvSpPr/>
          <p:nvPr/>
        </p:nvSpPr>
        <p:spPr>
          <a:xfrm>
            <a:off x="2794406" y="2743200"/>
            <a:ext cx="2108606" cy="2606040"/>
          </a:xfrm>
          <a:prstGeom prst="roundRect">
            <a:avLst>
              <a:gd name="adj" fmla="val 3469"/>
            </a:avLst>
          </a:prstGeom>
          <a:solidFill>
            <a:srgbClr val="F5F6FA"/>
          </a:solidFill>
          <a:ln w="9525">
            <a:solidFill>
              <a:srgbClr val="E3E5EE"/>
            </a:solidFill>
            <a:prstDash val="solid"/>
          </a:ln>
        </p:spPr>
      </p:sp>
      <p:sp>
        <p:nvSpPr>
          <p:cNvPr id="16" name="Text 14"/>
          <p:cNvSpPr/>
          <p:nvPr/>
        </p:nvSpPr>
        <p:spPr>
          <a:xfrm>
            <a:off x="2931566" y="2852928"/>
            <a:ext cx="1834286" cy="502920"/>
          </a:xfrm>
          <a:prstGeom prst="rect">
            <a:avLst/>
          </a:prstGeom>
          <a:noFill/>
          <a:ln/>
        </p:spPr>
        <p:txBody>
          <a:bodyPr wrap="square" lIns="0" tIns="0" rIns="0" bIns="0" rtlCol="0" anchor="t"/>
          <a:lstStyle/>
          <a:p>
            <a:pPr indent="0" marL="0">
              <a:buNone/>
            </a:pPr>
            <a:r>
              <a:rPr lang="en-US" sz="1350" b="1" dirty="0">
                <a:solidFill>
                  <a:srgbClr val="1E2460"/>
                </a:solidFill>
                <a:latin typeface="Cambria" pitchFamily="34" charset="0"/>
                <a:ea typeface="Cambria" pitchFamily="34" charset="-122"/>
                <a:cs typeface="Cambria" pitchFamily="34" charset="-120"/>
              </a:rPr>
              <a:t>Large-calibre &amp; bombs</a:t>
            </a:r>
            <a:endParaRPr lang="en-US" sz="1350" dirty="0"/>
          </a:p>
        </p:txBody>
      </p:sp>
      <p:sp>
        <p:nvSpPr>
          <p:cNvPr id="17" name="Text 15"/>
          <p:cNvSpPr/>
          <p:nvPr/>
        </p:nvSpPr>
        <p:spPr>
          <a:xfrm>
            <a:off x="2904134" y="3383280"/>
            <a:ext cx="1889150" cy="12344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Energetics dissolution front end — licensed from a U.S. university (name TBC)</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Separates explosive fill from casing; existing thermal unit treats residues</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Opens U.S. Army conventional demil scope</a:t>
            </a:r>
            <a:endParaRPr lang="en-US" sz="950" dirty="0"/>
          </a:p>
        </p:txBody>
      </p:sp>
      <p:sp>
        <p:nvSpPr>
          <p:cNvPr id="18" name="Shape 16"/>
          <p:cNvSpPr/>
          <p:nvPr/>
        </p:nvSpPr>
        <p:spPr>
          <a:xfrm>
            <a:off x="5984748" y="2377440"/>
            <a:ext cx="219456" cy="219456"/>
          </a:xfrm>
          <a:prstGeom prst="ellipse">
            <a:avLst/>
          </a:prstGeom>
          <a:solidFill>
            <a:srgbClr val="E4B33A"/>
          </a:solidFill>
          <a:ln w="19050">
            <a:solidFill>
              <a:srgbClr val="E4B33A"/>
            </a:solidFill>
            <a:prstDash val="solid"/>
          </a:ln>
        </p:spPr>
      </p:sp>
      <p:sp>
        <p:nvSpPr>
          <p:cNvPr id="19" name="Text 17"/>
          <p:cNvSpPr/>
          <p:nvPr/>
        </p:nvSpPr>
        <p:spPr>
          <a:xfrm>
            <a:off x="5040173" y="2057400"/>
            <a:ext cx="2108606" cy="274320"/>
          </a:xfrm>
          <a:prstGeom prst="rect">
            <a:avLst/>
          </a:prstGeom>
          <a:noFill/>
          <a:ln/>
        </p:spPr>
        <p:txBody>
          <a:bodyPr wrap="square" lIns="0" tIns="0" rIns="0" bIns="0" rtlCol="0" anchor="ctr"/>
          <a:lstStyle/>
          <a:p>
            <a:pPr algn="ctr" indent="0" marL="0">
              <a:buNone/>
            </a:pPr>
            <a:r>
              <a:rPr lang="en-US" sz="1200" b="1" dirty="0">
                <a:solidFill>
                  <a:srgbClr val="1E2460"/>
                </a:solidFill>
                <a:latin typeface="Calibri" pitchFamily="34" charset="0"/>
                <a:ea typeface="Calibri" pitchFamily="34" charset="-122"/>
                <a:cs typeface="Calibri" pitchFamily="34" charset="-120"/>
              </a:rPr>
              <a:t>Year 2</a:t>
            </a:r>
            <a:pPr algn="ctr" indent="0" marL="0">
              <a:buNone/>
            </a:pPr>
            <a:r>
              <a:rPr lang="en-US" sz="1000" dirty="0">
                <a:solidFill>
                  <a:srgbClr val="6B7280"/>
                </a:solidFill>
                <a:latin typeface="Calibri" pitchFamily="34" charset="0"/>
                <a:ea typeface="Calibri" pitchFamily="34" charset="-122"/>
                <a:cs typeface="Calibri" pitchFamily="34" charset="-120"/>
              </a:rPr>
              <a:t>  2028</a:t>
            </a:r>
            <a:endParaRPr lang="en-US" sz="1200" dirty="0"/>
          </a:p>
        </p:txBody>
      </p:sp>
      <p:sp>
        <p:nvSpPr>
          <p:cNvPr id="20" name="Shape 18"/>
          <p:cNvSpPr/>
          <p:nvPr/>
        </p:nvSpPr>
        <p:spPr>
          <a:xfrm>
            <a:off x="5040173" y="2743200"/>
            <a:ext cx="2108606" cy="2606040"/>
          </a:xfrm>
          <a:prstGeom prst="roundRect">
            <a:avLst>
              <a:gd name="adj" fmla="val 3469"/>
            </a:avLst>
          </a:prstGeom>
          <a:solidFill>
            <a:srgbClr val="F5F6FA"/>
          </a:solidFill>
          <a:ln w="9525">
            <a:solidFill>
              <a:srgbClr val="E3E5EE"/>
            </a:solidFill>
            <a:prstDash val="solid"/>
          </a:ln>
        </p:spPr>
      </p:sp>
      <p:sp>
        <p:nvSpPr>
          <p:cNvPr id="21" name="Text 19"/>
          <p:cNvSpPr/>
          <p:nvPr/>
        </p:nvSpPr>
        <p:spPr>
          <a:xfrm>
            <a:off x="5177333" y="2852928"/>
            <a:ext cx="1834286" cy="502920"/>
          </a:xfrm>
          <a:prstGeom prst="rect">
            <a:avLst/>
          </a:prstGeom>
          <a:noFill/>
          <a:ln/>
        </p:spPr>
        <p:txBody>
          <a:bodyPr wrap="square" lIns="0" tIns="0" rIns="0" bIns="0" rtlCol="0" anchor="t"/>
          <a:lstStyle/>
          <a:p>
            <a:pPr indent="0" marL="0">
              <a:buNone/>
            </a:pPr>
            <a:r>
              <a:rPr lang="en-US" sz="1350" b="1" dirty="0">
                <a:solidFill>
                  <a:srgbClr val="1E2460"/>
                </a:solidFill>
                <a:latin typeface="Cambria" pitchFamily="34" charset="0"/>
                <a:ea typeface="Cambria" pitchFamily="34" charset="-122"/>
                <a:cs typeface="Cambria" pitchFamily="34" charset="-120"/>
              </a:rPr>
              <a:t>Mines, propellants &amp; tactical kit</a:t>
            </a:r>
            <a:endParaRPr lang="en-US" sz="1350" dirty="0"/>
          </a:p>
        </p:txBody>
      </p:sp>
      <p:sp>
        <p:nvSpPr>
          <p:cNvPr id="22" name="Text 20"/>
          <p:cNvSpPr/>
          <p:nvPr/>
        </p:nvSpPr>
        <p:spPr>
          <a:xfrm>
            <a:off x="5149901" y="3383280"/>
            <a:ext cx="1889150" cy="12344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Propellant &amp; rocket-motor demil — different chemistry from HE fill</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MIT partnership: metals-discrimination sensing to separate tramp steel from mines/UXO</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Tactical equipment product line for EOD &amp; mine-action teams</a:t>
            </a:r>
            <a:endParaRPr lang="en-US" sz="950" dirty="0"/>
          </a:p>
        </p:txBody>
      </p:sp>
      <p:sp>
        <p:nvSpPr>
          <p:cNvPr id="23" name="Shape 21"/>
          <p:cNvSpPr/>
          <p:nvPr/>
        </p:nvSpPr>
        <p:spPr>
          <a:xfrm>
            <a:off x="8230514" y="2377440"/>
            <a:ext cx="219456" cy="219456"/>
          </a:xfrm>
          <a:prstGeom prst="ellipse">
            <a:avLst/>
          </a:prstGeom>
          <a:solidFill>
            <a:srgbClr val="E4B33A"/>
          </a:solidFill>
          <a:ln w="19050">
            <a:solidFill>
              <a:srgbClr val="E4B33A"/>
            </a:solidFill>
            <a:prstDash val="solid"/>
          </a:ln>
        </p:spPr>
      </p:sp>
      <p:sp>
        <p:nvSpPr>
          <p:cNvPr id="24" name="Text 22"/>
          <p:cNvSpPr/>
          <p:nvPr/>
        </p:nvSpPr>
        <p:spPr>
          <a:xfrm>
            <a:off x="7285939" y="2057400"/>
            <a:ext cx="2108606" cy="274320"/>
          </a:xfrm>
          <a:prstGeom prst="rect">
            <a:avLst/>
          </a:prstGeom>
          <a:noFill/>
          <a:ln/>
        </p:spPr>
        <p:txBody>
          <a:bodyPr wrap="square" lIns="0" tIns="0" rIns="0" bIns="0" rtlCol="0" anchor="ctr"/>
          <a:lstStyle/>
          <a:p>
            <a:pPr algn="ctr" indent="0" marL="0">
              <a:buNone/>
            </a:pPr>
            <a:r>
              <a:rPr lang="en-US" sz="1200" b="1" dirty="0">
                <a:solidFill>
                  <a:srgbClr val="1E2460"/>
                </a:solidFill>
                <a:latin typeface="Calibri" pitchFamily="34" charset="0"/>
                <a:ea typeface="Calibri" pitchFamily="34" charset="-122"/>
                <a:cs typeface="Calibri" pitchFamily="34" charset="-120"/>
              </a:rPr>
              <a:t>Year 3</a:t>
            </a:r>
            <a:pPr algn="ctr" indent="0" marL="0">
              <a:buNone/>
            </a:pPr>
            <a:r>
              <a:rPr lang="en-US" sz="1000" dirty="0">
                <a:solidFill>
                  <a:srgbClr val="6B7280"/>
                </a:solidFill>
                <a:latin typeface="Calibri" pitchFamily="34" charset="0"/>
                <a:ea typeface="Calibri" pitchFamily="34" charset="-122"/>
                <a:cs typeface="Calibri" pitchFamily="34" charset="-120"/>
              </a:rPr>
              <a:t>  2029</a:t>
            </a:r>
            <a:endParaRPr lang="en-US" sz="1200" dirty="0"/>
          </a:p>
        </p:txBody>
      </p:sp>
      <p:sp>
        <p:nvSpPr>
          <p:cNvPr id="25" name="Shape 23"/>
          <p:cNvSpPr/>
          <p:nvPr/>
        </p:nvSpPr>
        <p:spPr>
          <a:xfrm>
            <a:off x="7285939" y="2743200"/>
            <a:ext cx="2108606" cy="2606040"/>
          </a:xfrm>
          <a:prstGeom prst="roundRect">
            <a:avLst>
              <a:gd name="adj" fmla="val 3469"/>
            </a:avLst>
          </a:prstGeom>
          <a:solidFill>
            <a:srgbClr val="F5F6FA"/>
          </a:solidFill>
          <a:ln w="9525">
            <a:solidFill>
              <a:srgbClr val="E3E5EE"/>
            </a:solidFill>
            <a:prstDash val="solid"/>
          </a:ln>
        </p:spPr>
      </p:sp>
      <p:sp>
        <p:nvSpPr>
          <p:cNvPr id="26" name="Text 24"/>
          <p:cNvSpPr/>
          <p:nvPr/>
        </p:nvSpPr>
        <p:spPr>
          <a:xfrm>
            <a:off x="7423099" y="2852928"/>
            <a:ext cx="1834286" cy="502920"/>
          </a:xfrm>
          <a:prstGeom prst="rect">
            <a:avLst/>
          </a:prstGeom>
          <a:noFill/>
          <a:ln/>
        </p:spPr>
        <p:txBody>
          <a:bodyPr wrap="square" lIns="0" tIns="0" rIns="0" bIns="0" rtlCol="0" anchor="t"/>
          <a:lstStyle/>
          <a:p>
            <a:pPr indent="0" marL="0">
              <a:buNone/>
            </a:pPr>
            <a:r>
              <a:rPr lang="en-US" sz="1350" b="1" dirty="0">
                <a:solidFill>
                  <a:srgbClr val="1E2460"/>
                </a:solidFill>
                <a:latin typeface="Cambria" pitchFamily="34" charset="0"/>
                <a:ea typeface="Cambria" pitchFamily="34" charset="-122"/>
                <a:cs typeface="Cambria" pitchFamily="34" charset="-120"/>
              </a:rPr>
              <a:t>Remote handling</a:t>
            </a:r>
            <a:endParaRPr lang="en-US" sz="1350" dirty="0"/>
          </a:p>
        </p:txBody>
      </p:sp>
      <p:sp>
        <p:nvSpPr>
          <p:cNvPr id="27" name="Text 25"/>
          <p:cNvSpPr/>
          <p:nvPr/>
        </p:nvSpPr>
        <p:spPr>
          <a:xfrm>
            <a:off x="7395667" y="3383280"/>
            <a:ext cx="1889150" cy="12344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Robotic feed &amp; cutting for large-calibre and UXO</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Enables unattended, field-safe operation at volume</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Supports post-conflict clearance tenders</a:t>
            </a:r>
            <a:endParaRPr lang="en-US" sz="950" dirty="0"/>
          </a:p>
        </p:txBody>
      </p:sp>
      <p:sp>
        <p:nvSpPr>
          <p:cNvPr id="28" name="Shape 26"/>
          <p:cNvSpPr/>
          <p:nvPr/>
        </p:nvSpPr>
        <p:spPr>
          <a:xfrm>
            <a:off x="10476281" y="2377440"/>
            <a:ext cx="219456" cy="219456"/>
          </a:xfrm>
          <a:prstGeom prst="ellipse">
            <a:avLst/>
          </a:prstGeom>
          <a:solidFill>
            <a:srgbClr val="E4B33A"/>
          </a:solidFill>
          <a:ln w="19050">
            <a:solidFill>
              <a:srgbClr val="E4B33A"/>
            </a:solidFill>
            <a:prstDash val="solid"/>
          </a:ln>
        </p:spPr>
      </p:sp>
      <p:sp>
        <p:nvSpPr>
          <p:cNvPr id="29" name="Text 27"/>
          <p:cNvSpPr/>
          <p:nvPr/>
        </p:nvSpPr>
        <p:spPr>
          <a:xfrm>
            <a:off x="9531706" y="2057400"/>
            <a:ext cx="2108606" cy="274320"/>
          </a:xfrm>
          <a:prstGeom prst="rect">
            <a:avLst/>
          </a:prstGeom>
          <a:noFill/>
          <a:ln/>
        </p:spPr>
        <p:txBody>
          <a:bodyPr wrap="square" lIns="0" tIns="0" rIns="0" bIns="0" rtlCol="0" anchor="ctr"/>
          <a:lstStyle/>
          <a:p>
            <a:pPr algn="ctr" indent="0" marL="0">
              <a:buNone/>
            </a:pPr>
            <a:r>
              <a:rPr lang="en-US" sz="1200" b="1" dirty="0">
                <a:solidFill>
                  <a:srgbClr val="1E2460"/>
                </a:solidFill>
                <a:latin typeface="Calibri" pitchFamily="34" charset="0"/>
                <a:ea typeface="Calibri" pitchFamily="34" charset="-122"/>
                <a:cs typeface="Calibri" pitchFamily="34" charset="-120"/>
              </a:rPr>
              <a:t>Year 10</a:t>
            </a:r>
            <a:pPr algn="ctr" indent="0" marL="0">
              <a:buNone/>
            </a:pPr>
            <a:r>
              <a:rPr lang="en-US" sz="1000" dirty="0">
                <a:solidFill>
                  <a:srgbClr val="6B7280"/>
                </a:solidFill>
                <a:latin typeface="Calibri" pitchFamily="34" charset="0"/>
                <a:ea typeface="Calibri" pitchFamily="34" charset="-122"/>
                <a:cs typeface="Calibri" pitchFamily="34" charset="-120"/>
              </a:rPr>
              <a:t>  2036</a:t>
            </a:r>
            <a:endParaRPr lang="en-US" sz="1200" dirty="0"/>
          </a:p>
        </p:txBody>
      </p:sp>
      <p:sp>
        <p:nvSpPr>
          <p:cNvPr id="30" name="Shape 28"/>
          <p:cNvSpPr/>
          <p:nvPr/>
        </p:nvSpPr>
        <p:spPr>
          <a:xfrm>
            <a:off x="9531706" y="2743200"/>
            <a:ext cx="2108606" cy="2606040"/>
          </a:xfrm>
          <a:prstGeom prst="roundRect">
            <a:avLst>
              <a:gd name="adj" fmla="val 3469"/>
            </a:avLst>
          </a:prstGeom>
          <a:solidFill>
            <a:srgbClr val="F5F6FA"/>
          </a:solidFill>
          <a:ln w="9525">
            <a:solidFill>
              <a:srgbClr val="E3E5EE"/>
            </a:solidFill>
            <a:prstDash val="solid"/>
          </a:ln>
        </p:spPr>
      </p:sp>
      <p:sp>
        <p:nvSpPr>
          <p:cNvPr id="31" name="Text 29"/>
          <p:cNvSpPr/>
          <p:nvPr/>
        </p:nvSpPr>
        <p:spPr>
          <a:xfrm>
            <a:off x="9668866" y="2852928"/>
            <a:ext cx="1834286" cy="502920"/>
          </a:xfrm>
          <a:prstGeom prst="rect">
            <a:avLst/>
          </a:prstGeom>
          <a:noFill/>
          <a:ln/>
        </p:spPr>
        <p:txBody>
          <a:bodyPr wrap="square" lIns="0" tIns="0" rIns="0" bIns="0" rtlCol="0" anchor="t"/>
          <a:lstStyle/>
          <a:p>
            <a:pPr indent="0" marL="0">
              <a:buNone/>
            </a:pPr>
            <a:r>
              <a:rPr lang="en-US" sz="1350" b="1" dirty="0">
                <a:solidFill>
                  <a:srgbClr val="1E2460"/>
                </a:solidFill>
                <a:latin typeface="Cambria" pitchFamily="34" charset="0"/>
                <a:ea typeface="Cambria" pitchFamily="34" charset="-122"/>
                <a:cs typeface="Cambria" pitchFamily="34" charset="-120"/>
              </a:rPr>
              <a:t>Chemical weapons</a:t>
            </a:r>
            <a:endParaRPr lang="en-US" sz="1350" dirty="0"/>
          </a:p>
        </p:txBody>
      </p:sp>
      <p:sp>
        <p:nvSpPr>
          <p:cNvPr id="32" name="Text 30"/>
          <p:cNvSpPr/>
          <p:nvPr/>
        </p:nvSpPr>
        <p:spPr>
          <a:xfrm>
            <a:off x="9641434" y="3383280"/>
            <a:ext cx="1889150" cy="12344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Thermal treatment of chemical agents &amp; munitions</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Licensed, OPCW-verified niche</a:t>
            </a:r>
            <a:endParaRPr lang="en-US" sz="950" dirty="0"/>
          </a:p>
          <a:p>
            <a:pPr marL="342900" indent="-342900">
              <a:spcAft>
                <a:spcPts val="500"/>
              </a:spcAft>
              <a:buSzPct val="100000"/>
              <a:buChar char="•"/>
            </a:pPr>
            <a:r>
              <a:rPr lang="en-US" sz="950" dirty="0">
                <a:solidFill>
                  <a:srgbClr val="2B2F45"/>
                </a:solidFill>
                <a:latin typeface="Calibri" pitchFamily="34" charset="0"/>
                <a:ea typeface="Calibri" pitchFamily="34" charset="-122"/>
                <a:cs typeface="Calibri" pitchFamily="34" charset="-120"/>
              </a:rPr>
              <a:t>Optionality — not a core pillar</a:t>
            </a:r>
            <a:endParaRPr lang="en-US" sz="950" dirty="0"/>
          </a:p>
        </p:txBody>
      </p:sp>
      <p:sp>
        <p:nvSpPr>
          <p:cNvPr id="33" name="Text 31"/>
          <p:cNvSpPr/>
          <p:nvPr/>
        </p:nvSpPr>
        <p:spPr>
          <a:xfrm>
            <a:off x="548640" y="5486400"/>
            <a:ext cx="11091672" cy="228600"/>
          </a:xfrm>
          <a:prstGeom prst="rect">
            <a:avLst/>
          </a:prstGeom>
          <a:noFill/>
          <a:ln/>
        </p:spPr>
        <p:txBody>
          <a:bodyPr wrap="square" lIns="0" tIns="0" rIns="0" bIns="0" rtlCol="0" anchor="ctr"/>
          <a:lstStyle/>
          <a:p>
            <a:pPr indent="0" marL="0">
              <a:buNone/>
            </a:pPr>
            <a:r>
              <a:rPr lang="en-US" sz="900" b="1" spc="150" kern="0" dirty="0">
                <a:solidFill>
                  <a:srgbClr val="E4B33A"/>
                </a:solidFill>
                <a:latin typeface="Calibri" pitchFamily="34" charset="0"/>
                <a:ea typeface="Calibri" pitchFamily="34" charset="-122"/>
                <a:cs typeface="Calibri" pitchFamily="34" charset="-120"/>
              </a:rPr>
              <a:t>ENABLING TRACKS — CONTINUOUS</a:t>
            </a:r>
            <a:endParaRPr lang="en-US" sz="900" dirty="0"/>
          </a:p>
        </p:txBody>
      </p:sp>
      <p:sp>
        <p:nvSpPr>
          <p:cNvPr id="34" name="Shape 32"/>
          <p:cNvSpPr/>
          <p:nvPr/>
        </p:nvSpPr>
        <p:spPr>
          <a:xfrm>
            <a:off x="548640" y="5760720"/>
            <a:ext cx="45720" cy="594360"/>
          </a:xfrm>
          <a:prstGeom prst="rect">
            <a:avLst/>
          </a:prstGeom>
          <a:solidFill>
            <a:srgbClr val="E4B33A"/>
          </a:solidFill>
          <a:ln w="12700">
            <a:solidFill>
              <a:srgbClr val="E4B33A"/>
            </a:solidFill>
            <a:prstDash val="solid"/>
          </a:ln>
        </p:spPr>
      </p:sp>
      <p:sp>
        <p:nvSpPr>
          <p:cNvPr id="35" name="Text 33"/>
          <p:cNvSpPr/>
          <p:nvPr/>
        </p:nvSpPr>
        <p:spPr>
          <a:xfrm>
            <a:off x="685800" y="5742432"/>
            <a:ext cx="1993392" cy="228600"/>
          </a:xfrm>
          <a:prstGeom prst="rect">
            <a:avLst/>
          </a:prstGeom>
          <a:noFill/>
          <a:ln/>
        </p:spPr>
        <p:txBody>
          <a:bodyPr wrap="square" lIns="0" tIns="0" rIns="0" bIns="0" rtlCol="0" anchor="ctr"/>
          <a:lstStyle/>
          <a:p>
            <a:pPr indent="0" marL="0">
              <a:buNone/>
            </a:pPr>
            <a:r>
              <a:rPr lang="en-US" sz="1000" b="1" dirty="0">
                <a:solidFill>
                  <a:srgbClr val="1E2460"/>
                </a:solidFill>
                <a:latin typeface="Calibri" pitchFamily="34" charset="0"/>
                <a:ea typeface="Calibri" pitchFamily="34" charset="-122"/>
                <a:cs typeface="Calibri" pitchFamily="34" charset="-120"/>
              </a:rPr>
              <a:t>Certification &amp; permitting</a:t>
            </a:r>
            <a:endParaRPr lang="en-US" sz="1000" dirty="0"/>
          </a:p>
        </p:txBody>
      </p:sp>
      <p:sp>
        <p:nvSpPr>
          <p:cNvPr id="36" name="Text 34"/>
          <p:cNvSpPr/>
          <p:nvPr/>
        </p:nvSpPr>
        <p:spPr>
          <a:xfrm>
            <a:off x="685800" y="5961888"/>
            <a:ext cx="1993392" cy="45720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EPA/MoE effluent approvals · NATO STANAG · ITAR classification · OPCW</a:t>
            </a:r>
            <a:endParaRPr lang="en-US" sz="850" dirty="0"/>
          </a:p>
        </p:txBody>
      </p:sp>
      <p:sp>
        <p:nvSpPr>
          <p:cNvPr id="37" name="Shape 35"/>
          <p:cNvSpPr/>
          <p:nvPr/>
        </p:nvSpPr>
        <p:spPr>
          <a:xfrm>
            <a:off x="2788920" y="5760720"/>
            <a:ext cx="45720" cy="594360"/>
          </a:xfrm>
          <a:prstGeom prst="rect">
            <a:avLst/>
          </a:prstGeom>
          <a:solidFill>
            <a:srgbClr val="E4B33A"/>
          </a:solidFill>
          <a:ln w="12700">
            <a:solidFill>
              <a:srgbClr val="E4B33A"/>
            </a:solidFill>
            <a:prstDash val="solid"/>
          </a:ln>
        </p:spPr>
      </p:sp>
      <p:sp>
        <p:nvSpPr>
          <p:cNvPr id="38" name="Text 36"/>
          <p:cNvSpPr/>
          <p:nvPr/>
        </p:nvSpPr>
        <p:spPr>
          <a:xfrm>
            <a:off x="2926080" y="5742432"/>
            <a:ext cx="1993392" cy="228600"/>
          </a:xfrm>
          <a:prstGeom prst="rect">
            <a:avLst/>
          </a:prstGeom>
          <a:noFill/>
          <a:ln/>
        </p:spPr>
        <p:txBody>
          <a:bodyPr wrap="square" lIns="0" tIns="0" rIns="0" bIns="0" rtlCol="0" anchor="ctr"/>
          <a:lstStyle/>
          <a:p>
            <a:pPr indent="0" marL="0">
              <a:buNone/>
            </a:pPr>
            <a:r>
              <a:rPr lang="en-US" sz="1000" b="1" dirty="0">
                <a:solidFill>
                  <a:srgbClr val="1E2460"/>
                </a:solidFill>
                <a:latin typeface="Calibri" pitchFamily="34" charset="0"/>
                <a:ea typeface="Calibri" pitchFamily="34" charset="-122"/>
                <a:cs typeface="Calibri" pitchFamily="34" charset="-120"/>
              </a:rPr>
              <a:t>Metals recovery scale-up</a:t>
            </a:r>
            <a:endParaRPr lang="en-US" sz="1000" dirty="0"/>
          </a:p>
        </p:txBody>
      </p:sp>
      <p:sp>
        <p:nvSpPr>
          <p:cNvPr id="39" name="Text 37"/>
          <p:cNvSpPr/>
          <p:nvPr/>
        </p:nvSpPr>
        <p:spPr>
          <a:xfrm>
            <a:off x="2926080" y="5961888"/>
            <a:ext cx="1993392" cy="45720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Sorting &amp; grading capacity grows with calibre; MIT sensing dual-use for scrap grading</a:t>
            </a:r>
            <a:endParaRPr lang="en-US" sz="850" dirty="0"/>
          </a:p>
        </p:txBody>
      </p:sp>
      <p:sp>
        <p:nvSpPr>
          <p:cNvPr id="40" name="Shape 38"/>
          <p:cNvSpPr/>
          <p:nvPr/>
        </p:nvSpPr>
        <p:spPr>
          <a:xfrm>
            <a:off x="5029200" y="5760720"/>
            <a:ext cx="45720" cy="594360"/>
          </a:xfrm>
          <a:prstGeom prst="rect">
            <a:avLst/>
          </a:prstGeom>
          <a:solidFill>
            <a:srgbClr val="E4B33A"/>
          </a:solidFill>
          <a:ln w="12700">
            <a:solidFill>
              <a:srgbClr val="E4B33A"/>
            </a:solidFill>
            <a:prstDash val="solid"/>
          </a:ln>
        </p:spPr>
      </p:sp>
      <p:sp>
        <p:nvSpPr>
          <p:cNvPr id="41" name="Text 39"/>
          <p:cNvSpPr/>
          <p:nvPr/>
        </p:nvSpPr>
        <p:spPr>
          <a:xfrm>
            <a:off x="5166360" y="5742432"/>
            <a:ext cx="1993392" cy="228600"/>
          </a:xfrm>
          <a:prstGeom prst="rect">
            <a:avLst/>
          </a:prstGeom>
          <a:noFill/>
          <a:ln/>
        </p:spPr>
        <p:txBody>
          <a:bodyPr wrap="square" lIns="0" tIns="0" rIns="0" bIns="0" rtlCol="0" anchor="ctr"/>
          <a:lstStyle/>
          <a:p>
            <a:pPr indent="0" marL="0">
              <a:buNone/>
            </a:pPr>
            <a:r>
              <a:rPr lang="en-US" sz="1000" b="1" dirty="0">
                <a:solidFill>
                  <a:srgbClr val="1E2460"/>
                </a:solidFill>
                <a:latin typeface="Calibri" pitchFamily="34" charset="0"/>
                <a:ea typeface="Calibri" pitchFamily="34" charset="-122"/>
                <a:cs typeface="Calibri" pitchFamily="34" charset="-120"/>
              </a:rPr>
              <a:t>Residuals pathway</a:t>
            </a:r>
            <a:endParaRPr lang="en-US" sz="1000" dirty="0"/>
          </a:p>
        </p:txBody>
      </p:sp>
      <p:sp>
        <p:nvSpPr>
          <p:cNvPr id="42" name="Text 40"/>
          <p:cNvSpPr/>
          <p:nvPr/>
        </p:nvSpPr>
        <p:spPr>
          <a:xfrm>
            <a:off x="5166360" y="5961888"/>
            <a:ext cx="1993392" cy="45720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Dissolution effluent, ash and off-gas treatment closes the environmental loop</a:t>
            </a:r>
            <a:endParaRPr lang="en-US" sz="850" dirty="0"/>
          </a:p>
        </p:txBody>
      </p:sp>
      <p:sp>
        <p:nvSpPr>
          <p:cNvPr id="43" name="Shape 41"/>
          <p:cNvSpPr/>
          <p:nvPr/>
        </p:nvSpPr>
        <p:spPr>
          <a:xfrm>
            <a:off x="7269480" y="5760720"/>
            <a:ext cx="45720" cy="594360"/>
          </a:xfrm>
          <a:prstGeom prst="rect">
            <a:avLst/>
          </a:prstGeom>
          <a:solidFill>
            <a:srgbClr val="E4B33A"/>
          </a:solidFill>
          <a:ln w="12700">
            <a:solidFill>
              <a:srgbClr val="E4B33A"/>
            </a:solidFill>
            <a:prstDash val="solid"/>
          </a:ln>
        </p:spPr>
      </p:sp>
      <p:sp>
        <p:nvSpPr>
          <p:cNvPr id="44" name="Text 42"/>
          <p:cNvSpPr/>
          <p:nvPr/>
        </p:nvSpPr>
        <p:spPr>
          <a:xfrm>
            <a:off x="7406640" y="5742432"/>
            <a:ext cx="1993392" cy="228600"/>
          </a:xfrm>
          <a:prstGeom prst="rect">
            <a:avLst/>
          </a:prstGeom>
          <a:noFill/>
          <a:ln/>
        </p:spPr>
        <p:txBody>
          <a:bodyPr wrap="square" lIns="0" tIns="0" rIns="0" bIns="0" rtlCol="0" anchor="ctr"/>
          <a:lstStyle/>
          <a:p>
            <a:pPr indent="0" marL="0">
              <a:buNone/>
            </a:pPr>
            <a:r>
              <a:rPr lang="en-US" sz="1000" b="1" dirty="0">
                <a:solidFill>
                  <a:srgbClr val="1E2460"/>
                </a:solidFill>
                <a:latin typeface="Calibri" pitchFamily="34" charset="0"/>
                <a:ea typeface="Calibri" pitchFamily="34" charset="-122"/>
                <a:cs typeface="Calibri" pitchFamily="34" charset="-120"/>
              </a:rPr>
              <a:t>Data &amp; traceability</a:t>
            </a:r>
            <a:endParaRPr lang="en-US" sz="1000" dirty="0"/>
          </a:p>
        </p:txBody>
      </p:sp>
      <p:sp>
        <p:nvSpPr>
          <p:cNvPr id="45" name="Text 43"/>
          <p:cNvSpPr/>
          <p:nvPr/>
        </p:nvSpPr>
        <p:spPr>
          <a:xfrm>
            <a:off x="7406640" y="5961888"/>
            <a:ext cx="1993392" cy="45720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Chain of custody, weight-in/out, emissions log, destruction certificates</a:t>
            </a:r>
            <a:endParaRPr lang="en-US" sz="850" dirty="0"/>
          </a:p>
        </p:txBody>
      </p:sp>
      <p:sp>
        <p:nvSpPr>
          <p:cNvPr id="46" name="Shape 44"/>
          <p:cNvSpPr/>
          <p:nvPr/>
        </p:nvSpPr>
        <p:spPr>
          <a:xfrm>
            <a:off x="9509760" y="5760720"/>
            <a:ext cx="45720" cy="594360"/>
          </a:xfrm>
          <a:prstGeom prst="rect">
            <a:avLst/>
          </a:prstGeom>
          <a:solidFill>
            <a:srgbClr val="E4B33A"/>
          </a:solidFill>
          <a:ln w="12700">
            <a:solidFill>
              <a:srgbClr val="E4B33A"/>
            </a:solidFill>
            <a:prstDash val="solid"/>
          </a:ln>
        </p:spPr>
      </p:sp>
      <p:sp>
        <p:nvSpPr>
          <p:cNvPr id="47" name="Text 45"/>
          <p:cNvSpPr/>
          <p:nvPr/>
        </p:nvSpPr>
        <p:spPr>
          <a:xfrm>
            <a:off x="9646920" y="5742432"/>
            <a:ext cx="1993392" cy="228600"/>
          </a:xfrm>
          <a:prstGeom prst="rect">
            <a:avLst/>
          </a:prstGeom>
          <a:noFill/>
          <a:ln/>
        </p:spPr>
        <p:txBody>
          <a:bodyPr wrap="square" lIns="0" tIns="0" rIns="0" bIns="0" rtlCol="0" anchor="ctr"/>
          <a:lstStyle/>
          <a:p>
            <a:pPr indent="0" marL="0">
              <a:buNone/>
            </a:pPr>
            <a:r>
              <a:rPr lang="en-US" sz="1000" b="1" dirty="0">
                <a:solidFill>
                  <a:srgbClr val="1E2460"/>
                </a:solidFill>
                <a:latin typeface="Calibri" pitchFamily="34" charset="0"/>
                <a:ea typeface="Calibri" pitchFamily="34" charset="-122"/>
                <a:cs typeface="Calibri" pitchFamily="34" charset="-120"/>
              </a:rPr>
              <a:t>Training &amp; services</a:t>
            </a:r>
            <a:endParaRPr lang="en-US" sz="1000" dirty="0"/>
          </a:p>
        </p:txBody>
      </p:sp>
      <p:sp>
        <p:nvSpPr>
          <p:cNvPr id="48" name="Text 46"/>
          <p:cNvSpPr/>
          <p:nvPr/>
        </p:nvSpPr>
        <p:spPr>
          <a:xfrm>
            <a:off x="9646920" y="5961888"/>
            <a:ext cx="1993392" cy="45720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Operator certification · destruction-as-a-service · equipment sales via agents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PLAN</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One Platform, Four Stages — How the Pieces Fit</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Dissolution becomes the front end, the proven thermal unit becomes the back end, and metals recovery closes the loop. Sensing and robotics feed the front; certification and data wrap the whole chain.</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48640" y="2240280"/>
            <a:ext cx="2464308" cy="2743200"/>
          </a:xfrm>
          <a:prstGeom prst="roundRect">
            <a:avLst>
              <a:gd name="adj" fmla="val 2968"/>
            </a:avLst>
          </a:prstGeom>
          <a:solidFill>
            <a:srgbClr val="F5F6FA"/>
          </a:solidFill>
          <a:ln w="9525">
            <a:solidFill>
              <a:srgbClr val="E3E5EE"/>
            </a:solidFill>
            <a:prstDash val="solid"/>
          </a:ln>
        </p:spPr>
      </p:sp>
      <p:sp>
        <p:nvSpPr>
          <p:cNvPr id="8" name="Text 6"/>
          <p:cNvSpPr/>
          <p:nvPr/>
        </p:nvSpPr>
        <p:spPr>
          <a:xfrm>
            <a:off x="731520" y="2404872"/>
            <a:ext cx="2098548" cy="292608"/>
          </a:xfrm>
          <a:prstGeom prst="rect">
            <a:avLst/>
          </a:prstGeom>
          <a:noFill/>
          <a:ln/>
        </p:spPr>
        <p:txBody>
          <a:bodyPr wrap="square" lIns="0" tIns="0" rIns="0" bIns="0" rtlCol="0" anchor="ctr"/>
          <a:lstStyle/>
          <a:p>
            <a:pPr indent="0" marL="0">
              <a:buNone/>
            </a:pPr>
            <a:r>
              <a:rPr lang="en-US" sz="1100" b="1" spc="150" kern="0" dirty="0">
                <a:solidFill>
                  <a:srgbClr val="E4B33A"/>
                </a:solidFill>
                <a:latin typeface="Calibri" pitchFamily="34" charset="0"/>
                <a:ea typeface="Calibri" pitchFamily="34" charset="-122"/>
                <a:cs typeface="Calibri" pitchFamily="34" charset="-120"/>
              </a:rPr>
              <a:t>SENSE &amp; RECOVER</a:t>
            </a:r>
            <a:endParaRPr lang="en-US" sz="1100" dirty="0"/>
          </a:p>
        </p:txBody>
      </p:sp>
      <p:sp>
        <p:nvSpPr>
          <p:cNvPr id="9" name="Text 7"/>
          <p:cNvSpPr/>
          <p:nvPr/>
        </p:nvSpPr>
        <p:spPr>
          <a:xfrm>
            <a:off x="731520" y="2697480"/>
            <a:ext cx="2098548" cy="27432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Year 2–3</a:t>
            </a:r>
            <a:endParaRPr lang="en-US" sz="1500" dirty="0"/>
          </a:p>
        </p:txBody>
      </p:sp>
      <p:sp>
        <p:nvSpPr>
          <p:cNvPr id="10" name="Text 8"/>
          <p:cNvSpPr/>
          <p:nvPr/>
        </p:nvSpPr>
        <p:spPr>
          <a:xfrm>
            <a:off x="731520" y="3063240"/>
            <a:ext cx="2098548" cy="1463040"/>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MIT metals-discrimination sensing separates tramp steel from mines and UXO in the field; remote handling and robotic feed move ordnance safely into the process.</a:t>
            </a:r>
            <a:endParaRPr lang="en-US" sz="1050" dirty="0"/>
          </a:p>
        </p:txBody>
      </p:sp>
      <p:sp>
        <p:nvSpPr>
          <p:cNvPr id="11" name="Text 9"/>
          <p:cNvSpPr/>
          <p:nvPr/>
        </p:nvSpPr>
        <p:spPr>
          <a:xfrm>
            <a:off x="731520" y="4572000"/>
            <a:ext cx="2098548"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Mine action · EOD · tactical equipment</a:t>
            </a:r>
            <a:endParaRPr lang="en-US" sz="900" dirty="0"/>
          </a:p>
        </p:txBody>
      </p:sp>
      <p:sp>
        <p:nvSpPr>
          <p:cNvPr id="12" name="Shape 10"/>
          <p:cNvSpPr/>
          <p:nvPr/>
        </p:nvSpPr>
        <p:spPr>
          <a:xfrm>
            <a:off x="3086100" y="3474720"/>
            <a:ext cx="274320" cy="274320"/>
          </a:xfrm>
          <a:prstGeom prst="rightArrow">
            <a:avLst/>
          </a:prstGeom>
          <a:solidFill>
            <a:srgbClr val="E4B33A"/>
          </a:solidFill>
          <a:ln w="12700">
            <a:solidFill>
              <a:srgbClr val="E4B33A"/>
            </a:solidFill>
            <a:prstDash val="solid"/>
          </a:ln>
        </p:spPr>
      </p:sp>
      <p:sp>
        <p:nvSpPr>
          <p:cNvPr id="13" name="Shape 11"/>
          <p:cNvSpPr/>
          <p:nvPr/>
        </p:nvSpPr>
        <p:spPr>
          <a:xfrm>
            <a:off x="3424428" y="2240280"/>
            <a:ext cx="2464308" cy="2743200"/>
          </a:xfrm>
          <a:prstGeom prst="roundRect">
            <a:avLst>
              <a:gd name="adj" fmla="val 2968"/>
            </a:avLst>
          </a:prstGeom>
          <a:solidFill>
            <a:srgbClr val="F5F6FA"/>
          </a:solidFill>
          <a:ln w="9525">
            <a:solidFill>
              <a:srgbClr val="E3E5EE"/>
            </a:solidFill>
            <a:prstDash val="solid"/>
          </a:ln>
        </p:spPr>
      </p:sp>
      <p:sp>
        <p:nvSpPr>
          <p:cNvPr id="14" name="Text 12"/>
          <p:cNvSpPr/>
          <p:nvPr/>
        </p:nvSpPr>
        <p:spPr>
          <a:xfrm>
            <a:off x="3607308" y="2404872"/>
            <a:ext cx="2098548" cy="292608"/>
          </a:xfrm>
          <a:prstGeom prst="rect">
            <a:avLst/>
          </a:prstGeom>
          <a:noFill/>
          <a:ln/>
        </p:spPr>
        <p:txBody>
          <a:bodyPr wrap="square" lIns="0" tIns="0" rIns="0" bIns="0" rtlCol="0" anchor="ctr"/>
          <a:lstStyle/>
          <a:p>
            <a:pPr indent="0" marL="0">
              <a:buNone/>
            </a:pPr>
            <a:r>
              <a:rPr lang="en-US" sz="1100" b="1" spc="150" kern="0" dirty="0">
                <a:solidFill>
                  <a:srgbClr val="E4B33A"/>
                </a:solidFill>
                <a:latin typeface="Calibri" pitchFamily="34" charset="0"/>
                <a:ea typeface="Calibri" pitchFamily="34" charset="-122"/>
                <a:cs typeface="Calibri" pitchFamily="34" charset="-120"/>
              </a:rPr>
              <a:t>SEPARATE</a:t>
            </a:r>
            <a:endParaRPr lang="en-US" sz="1100" dirty="0"/>
          </a:p>
        </p:txBody>
      </p:sp>
      <p:sp>
        <p:nvSpPr>
          <p:cNvPr id="15" name="Text 13"/>
          <p:cNvSpPr/>
          <p:nvPr/>
        </p:nvSpPr>
        <p:spPr>
          <a:xfrm>
            <a:off x="3607308" y="2697480"/>
            <a:ext cx="2098548" cy="27432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Year 1–2</a:t>
            </a:r>
            <a:endParaRPr lang="en-US" sz="1500" dirty="0"/>
          </a:p>
        </p:txBody>
      </p:sp>
      <p:sp>
        <p:nvSpPr>
          <p:cNvPr id="16" name="Text 14"/>
          <p:cNvSpPr/>
          <p:nvPr/>
        </p:nvSpPr>
        <p:spPr>
          <a:xfrm>
            <a:off x="3607308" y="3063240"/>
            <a:ext cx="2098548" cy="1463040"/>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Energetics dissolution (U.S. university licence, TBC) removes explosive fill from large-calibre shells and bombs. Propellant and rocket-motor chemistry added Year 2.</a:t>
            </a:r>
            <a:endParaRPr lang="en-US" sz="1050" dirty="0"/>
          </a:p>
        </p:txBody>
      </p:sp>
      <p:sp>
        <p:nvSpPr>
          <p:cNvPr id="17" name="Text 15"/>
          <p:cNvSpPr/>
          <p:nvPr/>
        </p:nvSpPr>
        <p:spPr>
          <a:xfrm>
            <a:off x="3607308" y="4572000"/>
            <a:ext cx="2098548"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Conventional demil · Army IDIQ scope</a:t>
            </a:r>
            <a:endParaRPr lang="en-US" sz="900" dirty="0"/>
          </a:p>
        </p:txBody>
      </p:sp>
      <p:sp>
        <p:nvSpPr>
          <p:cNvPr id="18" name="Shape 16"/>
          <p:cNvSpPr/>
          <p:nvPr/>
        </p:nvSpPr>
        <p:spPr>
          <a:xfrm>
            <a:off x="5961888" y="3474720"/>
            <a:ext cx="274320" cy="274320"/>
          </a:xfrm>
          <a:prstGeom prst="rightArrow">
            <a:avLst/>
          </a:prstGeom>
          <a:solidFill>
            <a:srgbClr val="E4B33A"/>
          </a:solidFill>
          <a:ln w="12700">
            <a:solidFill>
              <a:srgbClr val="E4B33A"/>
            </a:solidFill>
            <a:prstDash val="solid"/>
          </a:ln>
        </p:spPr>
      </p:sp>
      <p:sp>
        <p:nvSpPr>
          <p:cNvPr id="19" name="Shape 17"/>
          <p:cNvSpPr/>
          <p:nvPr/>
        </p:nvSpPr>
        <p:spPr>
          <a:xfrm>
            <a:off x="6300216" y="2240280"/>
            <a:ext cx="2464308" cy="2743200"/>
          </a:xfrm>
          <a:prstGeom prst="roundRect">
            <a:avLst>
              <a:gd name="adj" fmla="val 2968"/>
            </a:avLst>
          </a:prstGeom>
          <a:solidFill>
            <a:srgbClr val="1E2460"/>
          </a:solidFill>
          <a:ln w="9525">
            <a:solidFill>
              <a:srgbClr val="1E2460"/>
            </a:solidFill>
            <a:prstDash val="solid"/>
          </a:ln>
        </p:spPr>
      </p:sp>
      <p:sp>
        <p:nvSpPr>
          <p:cNvPr id="20" name="Text 18"/>
          <p:cNvSpPr/>
          <p:nvPr/>
        </p:nvSpPr>
        <p:spPr>
          <a:xfrm>
            <a:off x="6483096" y="2404872"/>
            <a:ext cx="2098548" cy="292608"/>
          </a:xfrm>
          <a:prstGeom prst="rect">
            <a:avLst/>
          </a:prstGeom>
          <a:noFill/>
          <a:ln/>
        </p:spPr>
        <p:txBody>
          <a:bodyPr wrap="square" lIns="0" tIns="0" rIns="0" bIns="0" rtlCol="0" anchor="ctr"/>
          <a:lstStyle/>
          <a:p>
            <a:pPr indent="0" marL="0">
              <a:buNone/>
            </a:pPr>
            <a:r>
              <a:rPr lang="en-US" sz="1100" b="1" spc="150" kern="0" dirty="0">
                <a:solidFill>
                  <a:srgbClr val="E4B33A"/>
                </a:solidFill>
                <a:latin typeface="Calibri" pitchFamily="34" charset="0"/>
                <a:ea typeface="Calibri" pitchFamily="34" charset="-122"/>
                <a:cs typeface="Calibri" pitchFamily="34" charset="-120"/>
              </a:rPr>
              <a:t>DESTROY</a:t>
            </a:r>
            <a:endParaRPr lang="en-US" sz="1100" dirty="0"/>
          </a:p>
        </p:txBody>
      </p:sp>
      <p:sp>
        <p:nvSpPr>
          <p:cNvPr id="21" name="Text 19"/>
          <p:cNvSpPr/>
          <p:nvPr/>
        </p:nvSpPr>
        <p:spPr>
          <a:xfrm>
            <a:off x="6483096" y="2697480"/>
            <a:ext cx="2098548"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Today</a:t>
            </a:r>
            <a:endParaRPr lang="en-US" sz="1500" dirty="0"/>
          </a:p>
        </p:txBody>
      </p:sp>
      <p:sp>
        <p:nvSpPr>
          <p:cNvPr id="22" name="Text 20"/>
          <p:cNvSpPr/>
          <p:nvPr/>
        </p:nvSpPr>
        <p:spPr>
          <a:xfrm>
            <a:off x="6483096" y="3063240"/>
            <a:ext cx="2098548" cy="1463040"/>
          </a:xfrm>
          <a:prstGeom prst="rect">
            <a:avLst/>
          </a:prstGeom>
          <a:noFill/>
          <a:ln/>
        </p:spPr>
        <p:txBody>
          <a:bodyPr wrap="square" lIns="0" tIns="0" rIns="0" bIns="0" rtlCol="0" anchor="t"/>
          <a:lstStyle/>
          <a:p>
            <a:pPr indent="0" marL="0">
              <a:buNone/>
            </a:pPr>
            <a:r>
              <a:rPr lang="en-US" sz="1050" dirty="0">
                <a:solidFill>
                  <a:srgbClr val="C7CEEA"/>
                </a:solidFill>
                <a:latin typeface="Calibri" pitchFamily="34" charset="0"/>
                <a:ea typeface="Calibri" pitchFamily="34" charset="-122"/>
                <a:cs typeface="Calibri" pitchFamily="34" charset="-120"/>
              </a:rPr>
              <a:t>Two-stage mobile thermal (eMACS/MACS) — in service since 2001 — treats small arms directly and energetic residues from dissolution. Thermal chem-agent treatment at Year 10.</a:t>
            </a:r>
            <a:endParaRPr lang="en-US" sz="1050" dirty="0"/>
          </a:p>
        </p:txBody>
      </p:sp>
      <p:sp>
        <p:nvSpPr>
          <p:cNvPr id="23" name="Text 21"/>
          <p:cNvSpPr/>
          <p:nvPr/>
        </p:nvSpPr>
        <p:spPr>
          <a:xfrm>
            <a:off x="6483096" y="4572000"/>
            <a:ext cx="2098548" cy="274320"/>
          </a:xfrm>
          <a:prstGeom prst="rect">
            <a:avLst/>
          </a:prstGeom>
          <a:noFill/>
          <a:ln/>
        </p:spPr>
        <p:txBody>
          <a:bodyPr wrap="square" lIns="0" tIns="0" rIns="0" bIns="0" rtlCol="0" anchor="ctr"/>
          <a:lstStyle/>
          <a:p>
            <a:pPr indent="0" marL="0">
              <a:buNone/>
            </a:pPr>
            <a:r>
              <a:rPr lang="en-US" sz="900" i="1" dirty="0">
                <a:solidFill>
                  <a:srgbClr val="C7CEEA"/>
                </a:solidFill>
                <a:latin typeface="Calibri" pitchFamily="34" charset="0"/>
                <a:ea typeface="Calibri" pitchFamily="34" charset="-122"/>
                <a:cs typeface="Calibri" pitchFamily="34" charset="-120"/>
              </a:rPr>
              <a:t>Small arms · residues · chem (Y10)</a:t>
            </a:r>
            <a:endParaRPr lang="en-US" sz="900" dirty="0"/>
          </a:p>
        </p:txBody>
      </p:sp>
      <p:sp>
        <p:nvSpPr>
          <p:cNvPr id="24" name="Shape 22"/>
          <p:cNvSpPr/>
          <p:nvPr/>
        </p:nvSpPr>
        <p:spPr>
          <a:xfrm>
            <a:off x="8837676" y="3474720"/>
            <a:ext cx="274320" cy="274320"/>
          </a:xfrm>
          <a:prstGeom prst="rightArrow">
            <a:avLst/>
          </a:prstGeom>
          <a:solidFill>
            <a:srgbClr val="E4B33A"/>
          </a:solidFill>
          <a:ln w="12700">
            <a:solidFill>
              <a:srgbClr val="E4B33A"/>
            </a:solidFill>
            <a:prstDash val="solid"/>
          </a:ln>
        </p:spPr>
      </p:sp>
      <p:sp>
        <p:nvSpPr>
          <p:cNvPr id="25" name="Shape 23"/>
          <p:cNvSpPr/>
          <p:nvPr/>
        </p:nvSpPr>
        <p:spPr>
          <a:xfrm>
            <a:off x="9176004" y="2240280"/>
            <a:ext cx="2464308" cy="2743200"/>
          </a:xfrm>
          <a:prstGeom prst="roundRect">
            <a:avLst>
              <a:gd name="adj" fmla="val 2968"/>
            </a:avLst>
          </a:prstGeom>
          <a:solidFill>
            <a:srgbClr val="F5F6FA"/>
          </a:solidFill>
          <a:ln w="9525">
            <a:solidFill>
              <a:srgbClr val="E3E5EE"/>
            </a:solidFill>
            <a:prstDash val="solid"/>
          </a:ln>
        </p:spPr>
      </p:sp>
      <p:sp>
        <p:nvSpPr>
          <p:cNvPr id="26" name="Text 24"/>
          <p:cNvSpPr/>
          <p:nvPr/>
        </p:nvSpPr>
        <p:spPr>
          <a:xfrm>
            <a:off x="9358884" y="2404872"/>
            <a:ext cx="2098548" cy="292608"/>
          </a:xfrm>
          <a:prstGeom prst="rect">
            <a:avLst/>
          </a:prstGeom>
          <a:noFill/>
          <a:ln/>
        </p:spPr>
        <p:txBody>
          <a:bodyPr wrap="square" lIns="0" tIns="0" rIns="0" bIns="0" rtlCol="0" anchor="ctr"/>
          <a:lstStyle/>
          <a:p>
            <a:pPr indent="0" marL="0">
              <a:buNone/>
            </a:pPr>
            <a:r>
              <a:rPr lang="en-US" sz="1100" b="1" spc="150" kern="0" dirty="0">
                <a:solidFill>
                  <a:srgbClr val="E4B33A"/>
                </a:solidFill>
                <a:latin typeface="Calibri" pitchFamily="34" charset="0"/>
                <a:ea typeface="Calibri" pitchFamily="34" charset="-122"/>
                <a:cs typeface="Calibri" pitchFamily="34" charset="-120"/>
              </a:rPr>
              <a:t>RECLAIM</a:t>
            </a:r>
            <a:endParaRPr lang="en-US" sz="1100" dirty="0"/>
          </a:p>
        </p:txBody>
      </p:sp>
      <p:sp>
        <p:nvSpPr>
          <p:cNvPr id="27" name="Text 25"/>
          <p:cNvSpPr/>
          <p:nvPr/>
        </p:nvSpPr>
        <p:spPr>
          <a:xfrm>
            <a:off x="9358884" y="2697480"/>
            <a:ext cx="2098548" cy="27432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Today, scaled</a:t>
            </a:r>
            <a:endParaRPr lang="en-US" sz="1500" dirty="0"/>
          </a:p>
        </p:txBody>
      </p:sp>
      <p:sp>
        <p:nvSpPr>
          <p:cNvPr id="28" name="Text 26"/>
          <p:cNvSpPr/>
          <p:nvPr/>
        </p:nvSpPr>
        <p:spPr>
          <a:xfrm>
            <a:off x="9358884" y="3063240"/>
            <a:ext cx="2098548" cy="1463040"/>
          </a:xfrm>
          <a:prstGeom prst="rect">
            <a:avLst/>
          </a:prstGeom>
          <a:noFill/>
          <a:ln/>
        </p:spPr>
        <p:txBody>
          <a:bodyPr wrap="square" lIns="0" tIns="0" rIns="0" bIns="0" rtlCol="0" anchor="t"/>
          <a:lstStyle/>
          <a:p>
            <a:pPr indent="0" marL="0">
              <a:buNone/>
            </a:pPr>
            <a:r>
              <a:rPr lang="en-US" sz="1050" dirty="0">
                <a:solidFill>
                  <a:srgbClr val="2B2F45"/>
                </a:solidFill>
                <a:latin typeface="Calibri" pitchFamily="34" charset="0"/>
                <a:ea typeface="Calibri" pitchFamily="34" charset="-122"/>
                <a:cs typeface="Calibri" pitchFamily="34" charset="-120"/>
              </a:rPr>
              <a:t>Lead, brass, copper and steel graded and sold into domestic supply chains. Sorting capacity scales with calibre; sensing tech is dual-use for scrap grading.</a:t>
            </a:r>
            <a:endParaRPr lang="en-US" sz="1050" dirty="0"/>
          </a:p>
        </p:txBody>
      </p:sp>
      <p:sp>
        <p:nvSpPr>
          <p:cNvPr id="29" name="Text 27"/>
          <p:cNvSpPr/>
          <p:nvPr/>
        </p:nvSpPr>
        <p:spPr>
          <a:xfrm>
            <a:off x="9358884" y="4572000"/>
            <a:ext cx="2098548"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Recovery revenue in every geography</a:t>
            </a:r>
            <a:endParaRPr lang="en-US" sz="900" dirty="0"/>
          </a:p>
        </p:txBody>
      </p:sp>
      <p:sp>
        <p:nvSpPr>
          <p:cNvPr id="30" name="Shape 28"/>
          <p:cNvSpPr/>
          <p:nvPr/>
        </p:nvSpPr>
        <p:spPr>
          <a:xfrm>
            <a:off x="548640" y="5212080"/>
            <a:ext cx="11091672" cy="868680"/>
          </a:xfrm>
          <a:prstGeom prst="roundRect">
            <a:avLst>
              <a:gd name="adj" fmla="val 6316"/>
            </a:avLst>
          </a:prstGeom>
          <a:solidFill>
            <a:srgbClr val="FFFFFF"/>
          </a:solidFill>
          <a:ln w="15875">
            <a:solidFill>
              <a:srgbClr val="E4B33A"/>
            </a:solidFill>
            <a:prstDash val="solid"/>
          </a:ln>
        </p:spPr>
      </p:sp>
      <p:sp>
        <p:nvSpPr>
          <p:cNvPr id="31" name="Text 29"/>
          <p:cNvSpPr/>
          <p:nvPr/>
        </p:nvSpPr>
        <p:spPr>
          <a:xfrm>
            <a:off x="822960" y="5212080"/>
            <a:ext cx="10543032" cy="868680"/>
          </a:xfrm>
          <a:prstGeom prst="rect">
            <a:avLst/>
          </a:prstGeom>
          <a:noFill/>
          <a:ln/>
        </p:spPr>
        <p:txBody>
          <a:bodyPr wrap="square" lIns="0" tIns="0" rIns="0" bIns="0" rtlCol="0" anchor="ctr"/>
          <a:lstStyle/>
          <a:p>
            <a:pPr indent="0" marL="0">
              <a:buNone/>
            </a:pPr>
            <a:r>
              <a:rPr lang="en-US" sz="1100" b="1" dirty="0">
                <a:solidFill>
                  <a:srgbClr val="1E2460"/>
                </a:solidFill>
                <a:latin typeface="Calibri" pitchFamily="34" charset="0"/>
                <a:ea typeface="Calibri" pitchFamily="34" charset="-122"/>
                <a:cs typeface="Calibri" pitchFamily="34" charset="-120"/>
              </a:rPr>
              <a:t>Wrapping the chain: </a:t>
            </a:r>
            <a:pPr indent="0" marL="0">
              <a:buNone/>
            </a:pPr>
            <a:r>
              <a:rPr lang="en-US" sz="1100" dirty="0">
                <a:solidFill>
                  <a:srgbClr val="2B2F45"/>
                </a:solidFill>
                <a:latin typeface="Calibri" pitchFamily="34" charset="0"/>
                <a:ea typeface="Calibri" pitchFamily="34" charset="-122"/>
                <a:cs typeface="Calibri" pitchFamily="34" charset="-120"/>
              </a:rPr>
              <a:t>certification gates at every stage (EPA/MoE, NATO STANAG, ITAR, OPCW), a residuals pathway for effluent, ash and off-gas, and a traceability layer — chain of custody, weight-in/out, emissions logging, destruction certificates — that makes multi-country operation auditable. Delivered through three commercial models: destruction-as-a-service, equipment sales via agents, and operator training.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PLAN</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North American Base to Global Platform</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Canada and the United States today; global expansion from 2028, sequenced against the technology roadmap and led by existing partners and relationships.</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48640" y="2240280"/>
            <a:ext cx="3514344" cy="3017520"/>
          </a:xfrm>
          <a:prstGeom prst="roundRect">
            <a:avLst>
              <a:gd name="adj" fmla="val 2424"/>
            </a:avLst>
          </a:prstGeom>
          <a:solidFill>
            <a:srgbClr val="1E2460"/>
          </a:solidFill>
          <a:ln w="9525">
            <a:solidFill>
              <a:srgbClr val="1E2460"/>
            </a:solidFill>
            <a:prstDash val="solid"/>
          </a:ln>
        </p:spPr>
      </p:sp>
      <p:sp>
        <p:nvSpPr>
          <p:cNvPr id="8" name="Text 6"/>
          <p:cNvSpPr/>
          <p:nvPr/>
        </p:nvSpPr>
        <p:spPr>
          <a:xfrm>
            <a:off x="777240" y="2423160"/>
            <a:ext cx="3057144"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Canada &amp; USA</a:t>
            </a:r>
            <a:endParaRPr lang="en-US" sz="1700" dirty="0"/>
          </a:p>
        </p:txBody>
      </p:sp>
      <p:sp>
        <p:nvSpPr>
          <p:cNvPr id="9" name="Text 7"/>
          <p:cNvSpPr/>
          <p:nvPr/>
        </p:nvSpPr>
        <p:spPr>
          <a:xfrm>
            <a:off x="777240" y="2807208"/>
            <a:ext cx="3057144" cy="274320"/>
          </a:xfrm>
          <a:prstGeom prst="rect">
            <a:avLst/>
          </a:prstGeom>
          <a:noFill/>
          <a:ln/>
        </p:spPr>
        <p:txBody>
          <a:bodyPr wrap="square" lIns="0" tIns="0" rIns="0" bIns="0" rtlCol="0" anchor="ctr"/>
          <a:lstStyle/>
          <a:p>
            <a:pPr indent="0" marL="0">
              <a:buNone/>
            </a:pPr>
            <a:r>
              <a:rPr lang="en-US" sz="1200" b="1" dirty="0">
                <a:solidFill>
                  <a:srgbClr val="E4B33A"/>
                </a:solidFill>
                <a:latin typeface="Calibri" pitchFamily="34" charset="0"/>
                <a:ea typeface="Calibri" pitchFamily="34" charset="-122"/>
                <a:cs typeface="Calibri" pitchFamily="34" charset="-120"/>
              </a:rPr>
              <a:t>Today</a:t>
            </a:r>
            <a:endParaRPr lang="en-US" sz="1200" dirty="0"/>
          </a:p>
        </p:txBody>
      </p:sp>
      <p:sp>
        <p:nvSpPr>
          <p:cNvPr id="10" name="Text 8"/>
          <p:cNvSpPr/>
          <p:nvPr/>
        </p:nvSpPr>
        <p:spPr>
          <a:xfrm>
            <a:off x="731520" y="3200400"/>
            <a:ext cx="3148584" cy="19202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C7CEEA"/>
                </a:solidFill>
                <a:latin typeface="Calibri" pitchFamily="34" charset="0"/>
                <a:ea typeface="Calibri" pitchFamily="34" charset="-122"/>
                <a:cs typeface="Calibri" pitchFamily="34" charset="-120"/>
              </a:rPr>
              <a:t>RCMP co-development partner; Canadian police disposal programs</a:t>
            </a:r>
            <a:endParaRPr lang="en-US" sz="1150" dirty="0"/>
          </a:p>
          <a:p>
            <a:pPr marL="342900" indent="-342900">
              <a:spcAft>
                <a:spcPts val="800"/>
              </a:spcAft>
              <a:buSzPct val="100000"/>
              <a:buChar char="•"/>
            </a:pPr>
            <a:r>
              <a:rPr lang="en-US" sz="1150" dirty="0">
                <a:solidFill>
                  <a:srgbClr val="C7CEEA"/>
                </a:solidFill>
                <a:latin typeface="Calibri" pitchFamily="34" charset="0"/>
                <a:ea typeface="Calibri" pitchFamily="34" charset="-122"/>
                <a:cs typeface="Calibri" pitchFamily="34" charset="-120"/>
              </a:rPr>
              <a:t>U.S. law-enforcement deployments; no ITAR barrier for a Canadian operator</a:t>
            </a:r>
            <a:endParaRPr lang="en-US" sz="1150" dirty="0"/>
          </a:p>
          <a:p>
            <a:pPr marL="342900" indent="-342900">
              <a:spcAft>
                <a:spcPts val="800"/>
              </a:spcAft>
              <a:buSzPct val="100000"/>
              <a:buChar char="•"/>
            </a:pPr>
            <a:r>
              <a:rPr lang="en-US" sz="1150" dirty="0">
                <a:solidFill>
                  <a:srgbClr val="C7CEEA"/>
                </a:solidFill>
                <a:latin typeface="Calibri" pitchFamily="34" charset="0"/>
                <a:ea typeface="Calibri" pitchFamily="34" charset="-122"/>
                <a:cs typeface="Calibri" pitchFamily="34" charset="-120"/>
              </a:rPr>
              <a:t>eMACS already CA-EPA aligned; Army small-business set-asides open to new entrants</a:t>
            </a:r>
            <a:endParaRPr lang="en-US" sz="1150" dirty="0"/>
          </a:p>
        </p:txBody>
      </p:sp>
      <p:sp>
        <p:nvSpPr>
          <p:cNvPr id="11" name="Shape 9"/>
          <p:cNvSpPr/>
          <p:nvPr/>
        </p:nvSpPr>
        <p:spPr>
          <a:xfrm>
            <a:off x="4337304" y="2240280"/>
            <a:ext cx="3514344" cy="3017520"/>
          </a:xfrm>
          <a:prstGeom prst="roundRect">
            <a:avLst>
              <a:gd name="adj" fmla="val 2424"/>
            </a:avLst>
          </a:prstGeom>
          <a:solidFill>
            <a:srgbClr val="F5F6FA"/>
          </a:solidFill>
          <a:ln w="9525">
            <a:solidFill>
              <a:srgbClr val="E3E5EE"/>
            </a:solidFill>
            <a:prstDash val="solid"/>
          </a:ln>
        </p:spPr>
      </p:sp>
      <p:sp>
        <p:nvSpPr>
          <p:cNvPr id="12" name="Text 10"/>
          <p:cNvSpPr/>
          <p:nvPr/>
        </p:nvSpPr>
        <p:spPr>
          <a:xfrm>
            <a:off x="4565904" y="2423160"/>
            <a:ext cx="3057144" cy="365760"/>
          </a:xfrm>
          <a:prstGeom prst="rect">
            <a:avLst/>
          </a:prstGeom>
          <a:noFill/>
          <a:ln/>
        </p:spPr>
        <p:txBody>
          <a:bodyPr wrap="square" lIns="0" tIns="0" rIns="0" bIns="0" rtlCol="0" anchor="ctr"/>
          <a:lstStyle/>
          <a:p>
            <a:pPr indent="0" marL="0">
              <a:buNone/>
            </a:pPr>
            <a:r>
              <a:rPr lang="en-US" sz="1700" b="1" dirty="0">
                <a:solidFill>
                  <a:srgbClr val="1E2460"/>
                </a:solidFill>
                <a:latin typeface="Cambria" pitchFamily="34" charset="0"/>
                <a:ea typeface="Cambria" pitchFamily="34" charset="-122"/>
                <a:cs typeface="Cambria" pitchFamily="34" charset="-120"/>
              </a:rPr>
              <a:t>Global expansion</a:t>
            </a:r>
            <a:endParaRPr lang="en-US" sz="1700" dirty="0"/>
          </a:p>
        </p:txBody>
      </p:sp>
      <p:sp>
        <p:nvSpPr>
          <p:cNvPr id="13" name="Text 11"/>
          <p:cNvSpPr/>
          <p:nvPr/>
        </p:nvSpPr>
        <p:spPr>
          <a:xfrm>
            <a:off x="4565904" y="2807208"/>
            <a:ext cx="3057144"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From 2028</a:t>
            </a:r>
            <a:endParaRPr lang="en-US" sz="1200" dirty="0"/>
          </a:p>
        </p:txBody>
      </p:sp>
      <p:sp>
        <p:nvSpPr>
          <p:cNvPr id="14" name="Text 12"/>
          <p:cNvSpPr/>
          <p:nvPr/>
        </p:nvSpPr>
        <p:spPr>
          <a:xfrm>
            <a:off x="4520184" y="3200400"/>
            <a:ext cx="3148584" cy="19202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2F45"/>
                </a:solidFill>
                <a:latin typeface="Calibri" pitchFamily="34" charset="0"/>
                <a:ea typeface="Calibri" pitchFamily="34" charset="-122"/>
                <a:cs typeface="Calibri" pitchFamily="34" charset="-120"/>
              </a:rPr>
              <a:t>Europe / NATO — Nordic &amp; Baltic agent already in place; ammunition demil + EOD services as certification base builds</a:t>
            </a:r>
            <a:endParaRPr lang="en-US" sz="1150" dirty="0"/>
          </a:p>
          <a:p>
            <a:pPr marL="342900" indent="-342900">
              <a:spcAft>
                <a:spcPts val="800"/>
              </a:spcAft>
              <a:buSzPct val="100000"/>
              <a:buChar char="•"/>
            </a:pPr>
            <a:r>
              <a:rPr lang="en-US" sz="1150" dirty="0">
                <a:solidFill>
                  <a:srgbClr val="2B2F45"/>
                </a:solidFill>
                <a:latin typeface="Calibri" pitchFamily="34" charset="0"/>
                <a:ea typeface="Calibri" pitchFamily="34" charset="-122"/>
                <a:cs typeface="Calibri" pitchFamily="34" charset="-120"/>
              </a:rPr>
              <a:t>Post-conflict clearance markets — competitive tenders as sensing and remote-handling capability comes online</a:t>
            </a:r>
            <a:endParaRPr lang="en-US" sz="1150" dirty="0"/>
          </a:p>
          <a:p>
            <a:pPr marL="342900" indent="-342900">
              <a:spcAft>
                <a:spcPts val="800"/>
              </a:spcAft>
              <a:buSzPct val="100000"/>
              <a:buChar char="•"/>
            </a:pPr>
            <a:r>
              <a:rPr lang="en-US" sz="1150" dirty="0">
                <a:solidFill>
                  <a:srgbClr val="2B2F45"/>
                </a:solidFill>
                <a:latin typeface="Calibri" pitchFamily="34" charset="0"/>
                <a:ea typeface="Calibri" pitchFamily="34" charset="-122"/>
                <a:cs typeface="Calibri" pitchFamily="34" charset="-120"/>
              </a:rPr>
              <a:t>Middle East and allied partners — building on existing Australian, New Zealand and Saudi deployments</a:t>
            </a:r>
            <a:endParaRPr lang="en-US" sz="1150" dirty="0"/>
          </a:p>
        </p:txBody>
      </p:sp>
      <p:sp>
        <p:nvSpPr>
          <p:cNvPr id="15" name="Shape 13"/>
          <p:cNvSpPr/>
          <p:nvPr/>
        </p:nvSpPr>
        <p:spPr>
          <a:xfrm>
            <a:off x="8125968" y="2240280"/>
            <a:ext cx="3514344" cy="3017520"/>
          </a:xfrm>
          <a:prstGeom prst="roundRect">
            <a:avLst>
              <a:gd name="adj" fmla="val 2424"/>
            </a:avLst>
          </a:prstGeom>
          <a:solidFill>
            <a:srgbClr val="F5F6FA"/>
          </a:solidFill>
          <a:ln w="9525">
            <a:solidFill>
              <a:srgbClr val="E3E5EE"/>
            </a:solidFill>
            <a:prstDash val="solid"/>
          </a:ln>
        </p:spPr>
      </p:sp>
      <p:sp>
        <p:nvSpPr>
          <p:cNvPr id="16" name="Text 14"/>
          <p:cNvSpPr/>
          <p:nvPr/>
        </p:nvSpPr>
        <p:spPr>
          <a:xfrm>
            <a:off x="8354568" y="2423160"/>
            <a:ext cx="3057144" cy="365760"/>
          </a:xfrm>
          <a:prstGeom prst="rect">
            <a:avLst/>
          </a:prstGeom>
          <a:noFill/>
          <a:ln/>
        </p:spPr>
        <p:txBody>
          <a:bodyPr wrap="square" lIns="0" tIns="0" rIns="0" bIns="0" rtlCol="0" anchor="ctr"/>
          <a:lstStyle/>
          <a:p>
            <a:pPr indent="0" marL="0">
              <a:buNone/>
            </a:pPr>
            <a:r>
              <a:rPr lang="en-US" sz="1700" b="1" dirty="0">
                <a:solidFill>
                  <a:srgbClr val="1E2460"/>
                </a:solidFill>
                <a:latin typeface="Cambria" pitchFamily="34" charset="0"/>
                <a:ea typeface="Cambria" pitchFamily="34" charset="-122"/>
                <a:cs typeface="Cambria" pitchFamily="34" charset="-120"/>
              </a:rPr>
              <a:t>Specialist niches</a:t>
            </a:r>
            <a:endParaRPr lang="en-US" sz="1700" dirty="0"/>
          </a:p>
        </p:txBody>
      </p:sp>
      <p:sp>
        <p:nvSpPr>
          <p:cNvPr id="17" name="Text 15"/>
          <p:cNvSpPr/>
          <p:nvPr/>
        </p:nvSpPr>
        <p:spPr>
          <a:xfrm>
            <a:off x="8354568" y="2807208"/>
            <a:ext cx="3057144"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Later years</a:t>
            </a:r>
            <a:endParaRPr lang="en-US" sz="1200" dirty="0"/>
          </a:p>
        </p:txBody>
      </p:sp>
      <p:sp>
        <p:nvSpPr>
          <p:cNvPr id="18" name="Text 16"/>
          <p:cNvSpPr/>
          <p:nvPr/>
        </p:nvSpPr>
        <p:spPr>
          <a:xfrm>
            <a:off x="8308848" y="3200400"/>
            <a:ext cx="3148584" cy="19202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2F45"/>
                </a:solidFill>
                <a:latin typeface="Calibri" pitchFamily="34" charset="0"/>
                <a:ea typeface="Calibri" pitchFamily="34" charset="-122"/>
                <a:cs typeface="Calibri" pitchFamily="34" charset="-120"/>
              </a:rPr>
              <a:t>Chemical weapons demilitarization — licensed, OPCW-verified thermal treatment</a:t>
            </a:r>
            <a:endParaRPr lang="en-US" sz="1150" dirty="0"/>
          </a:p>
          <a:p>
            <a:pPr marL="342900" indent="-342900">
              <a:spcAft>
                <a:spcPts val="800"/>
              </a:spcAft>
              <a:buSzPct val="100000"/>
              <a:buChar char="•"/>
            </a:pPr>
            <a:r>
              <a:rPr lang="en-US" sz="1150" dirty="0">
                <a:solidFill>
                  <a:srgbClr val="2B2F45"/>
                </a:solidFill>
                <a:latin typeface="Calibri" pitchFamily="34" charset="0"/>
                <a:ea typeface="Calibri" pitchFamily="34" charset="-122"/>
                <a:cs typeface="Calibri" pitchFamily="34" charset="-120"/>
              </a:rPr>
              <a:t>Optionality on the platform, not a core pillar</a:t>
            </a:r>
            <a:endParaRPr lang="en-US" sz="1150" dirty="0"/>
          </a:p>
          <a:p>
            <a:pPr marL="342900" indent="-342900">
              <a:spcAft>
                <a:spcPts val="800"/>
              </a:spcAft>
              <a:buSzPct val="100000"/>
              <a:buChar char="•"/>
            </a:pPr>
            <a:r>
              <a:rPr lang="en-US" sz="1150" dirty="0">
                <a:solidFill>
                  <a:srgbClr val="2B2F45"/>
                </a:solidFill>
                <a:latin typeface="Calibri" pitchFamily="34" charset="0"/>
                <a:ea typeface="Calibri" pitchFamily="34" charset="-122"/>
                <a:cs typeface="Calibri" pitchFamily="34" charset="-120"/>
              </a:rPr>
              <a:t>Entered only once core geographies are established</a:t>
            </a:r>
            <a:endParaRPr lang="en-US" sz="1150" dirty="0"/>
          </a:p>
        </p:txBody>
      </p:sp>
      <p:sp>
        <p:nvSpPr>
          <p:cNvPr id="19" name="Text 17"/>
          <p:cNvSpPr/>
          <p:nvPr/>
        </p:nvSpPr>
        <p:spPr>
          <a:xfrm>
            <a:off x="548640" y="5486400"/>
            <a:ext cx="11091672" cy="548640"/>
          </a:xfrm>
          <a:prstGeom prst="rect">
            <a:avLst/>
          </a:prstGeom>
          <a:noFill/>
          <a:ln/>
        </p:spPr>
        <p:txBody>
          <a:bodyPr wrap="square" lIns="0" tIns="0" rIns="0" bIns="0" rtlCol="0" anchor="t"/>
          <a:lstStyle/>
          <a:p>
            <a:pPr indent="0" marL="0">
              <a:buNone/>
            </a:pPr>
            <a:r>
              <a:rPr lang="en-US" sz="1200" i="1" dirty="0">
                <a:solidFill>
                  <a:srgbClr val="2B2F45"/>
                </a:solidFill>
                <a:latin typeface="Calibri" pitchFamily="34" charset="0"/>
                <a:ea typeface="Calibri" pitchFamily="34" charset="-122"/>
                <a:cs typeface="Calibri" pitchFamily="34" charset="-120"/>
              </a:rPr>
              <a:t>Plus: metals recovery — post-mission material (brass, steel) reclaimed and sold into domestic metals supply chains, converting a disposal cost into a recovery revenue line across every geography.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10-YEAR PLAN</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Revenue Build: Organic Growth + Acquisition Program</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Organic contract-win growth reaches a meaningful base by Year 10. A funded acquisition program adds substantially on top.</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548640" y="2148840"/>
            <a:ext cx="1734312" cy="1188720"/>
          </a:xfrm>
          <a:prstGeom prst="roundRect">
            <a:avLst>
              <a:gd name="adj" fmla="val 6154"/>
            </a:avLst>
          </a:prstGeom>
          <a:solidFill>
            <a:srgbClr val="F5F6FA"/>
          </a:solidFill>
          <a:ln w="9525">
            <a:solidFill>
              <a:srgbClr val="E3E5EE"/>
            </a:solidFill>
            <a:prstDash val="solid"/>
          </a:ln>
        </p:spPr>
      </p:sp>
      <p:sp>
        <p:nvSpPr>
          <p:cNvPr id="8" name="Text 6"/>
          <p:cNvSpPr/>
          <p:nvPr/>
        </p:nvSpPr>
        <p:spPr>
          <a:xfrm>
            <a:off x="548640" y="2240280"/>
            <a:ext cx="1734312" cy="457200"/>
          </a:xfrm>
          <a:prstGeom prst="rect">
            <a:avLst/>
          </a:prstGeom>
          <a:noFill/>
          <a:ln/>
        </p:spPr>
        <p:txBody>
          <a:bodyPr wrap="square" lIns="0" tIns="0" rIns="0" bIns="0" rtlCol="0" anchor="ctr"/>
          <a:lstStyle/>
          <a:p>
            <a:pPr algn="ctr" indent="0" marL="0">
              <a:buNone/>
            </a:pPr>
            <a:r>
              <a:rPr lang="en-US" sz="1700" b="1" dirty="0">
                <a:solidFill>
                  <a:srgbClr val="1E2460"/>
                </a:solidFill>
                <a:latin typeface="Cambria" pitchFamily="34" charset="0"/>
                <a:ea typeface="Cambria" pitchFamily="34" charset="-122"/>
                <a:cs typeface="Cambria" pitchFamily="34" charset="-120"/>
              </a:rPr>
              <a:t>~$3–4M</a:t>
            </a:r>
            <a:endParaRPr lang="en-US" sz="1700" dirty="0"/>
          </a:p>
        </p:txBody>
      </p:sp>
      <p:sp>
        <p:nvSpPr>
          <p:cNvPr id="9" name="Text 7"/>
          <p:cNvSpPr/>
          <p:nvPr/>
        </p:nvSpPr>
        <p:spPr>
          <a:xfrm>
            <a:off x="548640" y="2697480"/>
            <a:ext cx="1734312" cy="5486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Y0</a:t>
            </a:r>
            <a:endParaRPr lang="en-US" sz="1000" dirty="0"/>
          </a:p>
          <a:p>
            <a:pPr algn="ctr" indent="0" marL="0">
              <a:buNone/>
            </a:pPr>
            <a:r>
              <a:rPr lang="en-US" sz="1000" dirty="0">
                <a:solidFill>
                  <a:srgbClr val="6B7280"/>
                </a:solidFill>
                <a:latin typeface="Calibri" pitchFamily="34" charset="0"/>
                <a:ea typeface="Calibri" pitchFamily="34" charset="-122"/>
                <a:cs typeface="Calibri" pitchFamily="34" charset="-120"/>
              </a:rPr>
              <a:t>2026</a:t>
            </a:r>
            <a:endParaRPr lang="en-US" sz="1000" dirty="0"/>
          </a:p>
        </p:txBody>
      </p:sp>
      <p:sp>
        <p:nvSpPr>
          <p:cNvPr id="10" name="Shape 8"/>
          <p:cNvSpPr/>
          <p:nvPr/>
        </p:nvSpPr>
        <p:spPr>
          <a:xfrm>
            <a:off x="2420112" y="2148840"/>
            <a:ext cx="1734312" cy="1188720"/>
          </a:xfrm>
          <a:prstGeom prst="roundRect">
            <a:avLst>
              <a:gd name="adj" fmla="val 6154"/>
            </a:avLst>
          </a:prstGeom>
          <a:solidFill>
            <a:srgbClr val="F5F6FA"/>
          </a:solidFill>
          <a:ln w="9525">
            <a:solidFill>
              <a:srgbClr val="E3E5EE"/>
            </a:solidFill>
            <a:prstDash val="solid"/>
          </a:ln>
        </p:spPr>
      </p:sp>
      <p:sp>
        <p:nvSpPr>
          <p:cNvPr id="11" name="Text 9"/>
          <p:cNvSpPr/>
          <p:nvPr/>
        </p:nvSpPr>
        <p:spPr>
          <a:xfrm>
            <a:off x="2420112" y="2240280"/>
            <a:ext cx="1734312" cy="457200"/>
          </a:xfrm>
          <a:prstGeom prst="rect">
            <a:avLst/>
          </a:prstGeom>
          <a:noFill/>
          <a:ln/>
        </p:spPr>
        <p:txBody>
          <a:bodyPr wrap="square" lIns="0" tIns="0" rIns="0" bIns="0" rtlCol="0" anchor="ctr"/>
          <a:lstStyle/>
          <a:p>
            <a:pPr algn="ctr" indent="0" marL="0">
              <a:buNone/>
            </a:pPr>
            <a:r>
              <a:rPr lang="en-US" sz="1700" b="1" dirty="0">
                <a:solidFill>
                  <a:srgbClr val="1E2460"/>
                </a:solidFill>
                <a:latin typeface="Cambria" pitchFamily="34" charset="0"/>
                <a:ea typeface="Cambria" pitchFamily="34" charset="-122"/>
                <a:cs typeface="Cambria" pitchFamily="34" charset="-120"/>
              </a:rPr>
              <a:t>~$30M</a:t>
            </a:r>
            <a:endParaRPr lang="en-US" sz="1700" dirty="0"/>
          </a:p>
        </p:txBody>
      </p:sp>
      <p:sp>
        <p:nvSpPr>
          <p:cNvPr id="12" name="Text 10"/>
          <p:cNvSpPr/>
          <p:nvPr/>
        </p:nvSpPr>
        <p:spPr>
          <a:xfrm>
            <a:off x="2420112" y="2697480"/>
            <a:ext cx="1734312" cy="5486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Y2</a:t>
            </a:r>
            <a:endParaRPr lang="en-US" sz="1000" dirty="0"/>
          </a:p>
          <a:p>
            <a:pPr algn="ctr" indent="0" marL="0">
              <a:buNone/>
            </a:pPr>
            <a:r>
              <a:rPr lang="en-US" sz="1000" dirty="0">
                <a:solidFill>
                  <a:srgbClr val="6B7280"/>
                </a:solidFill>
                <a:latin typeface="Calibri" pitchFamily="34" charset="0"/>
                <a:ea typeface="Calibri" pitchFamily="34" charset="-122"/>
                <a:cs typeface="Calibri" pitchFamily="34" charset="-120"/>
              </a:rPr>
              <a:t>2028</a:t>
            </a:r>
            <a:endParaRPr lang="en-US" sz="1000" dirty="0"/>
          </a:p>
        </p:txBody>
      </p:sp>
      <p:sp>
        <p:nvSpPr>
          <p:cNvPr id="13" name="Shape 11"/>
          <p:cNvSpPr/>
          <p:nvPr/>
        </p:nvSpPr>
        <p:spPr>
          <a:xfrm>
            <a:off x="4291584" y="2148840"/>
            <a:ext cx="1734312" cy="1188720"/>
          </a:xfrm>
          <a:prstGeom prst="roundRect">
            <a:avLst>
              <a:gd name="adj" fmla="val 6154"/>
            </a:avLst>
          </a:prstGeom>
          <a:solidFill>
            <a:srgbClr val="F5F6FA"/>
          </a:solidFill>
          <a:ln w="9525">
            <a:solidFill>
              <a:srgbClr val="E3E5EE"/>
            </a:solidFill>
            <a:prstDash val="solid"/>
          </a:ln>
        </p:spPr>
      </p:sp>
      <p:sp>
        <p:nvSpPr>
          <p:cNvPr id="14" name="Text 12"/>
          <p:cNvSpPr/>
          <p:nvPr/>
        </p:nvSpPr>
        <p:spPr>
          <a:xfrm>
            <a:off x="4291584" y="2240280"/>
            <a:ext cx="1734312" cy="457200"/>
          </a:xfrm>
          <a:prstGeom prst="rect">
            <a:avLst/>
          </a:prstGeom>
          <a:noFill/>
          <a:ln/>
        </p:spPr>
        <p:txBody>
          <a:bodyPr wrap="square" lIns="0" tIns="0" rIns="0" bIns="0" rtlCol="0" anchor="ctr"/>
          <a:lstStyle/>
          <a:p>
            <a:pPr algn="ctr" indent="0" marL="0">
              <a:buNone/>
            </a:pPr>
            <a:r>
              <a:rPr lang="en-US" sz="1700" b="1" dirty="0">
                <a:solidFill>
                  <a:srgbClr val="1E2460"/>
                </a:solidFill>
                <a:latin typeface="Cambria" pitchFamily="34" charset="0"/>
                <a:ea typeface="Cambria" pitchFamily="34" charset="-122"/>
                <a:cs typeface="Cambria" pitchFamily="34" charset="-120"/>
              </a:rPr>
              <a:t>~$120–130M</a:t>
            </a:r>
            <a:endParaRPr lang="en-US" sz="1700" dirty="0"/>
          </a:p>
        </p:txBody>
      </p:sp>
      <p:sp>
        <p:nvSpPr>
          <p:cNvPr id="15" name="Text 13"/>
          <p:cNvSpPr/>
          <p:nvPr/>
        </p:nvSpPr>
        <p:spPr>
          <a:xfrm>
            <a:off x="4291584" y="2697480"/>
            <a:ext cx="1734312" cy="5486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Y4</a:t>
            </a:r>
            <a:endParaRPr lang="en-US" sz="1000" dirty="0"/>
          </a:p>
          <a:p>
            <a:pPr algn="ctr" indent="0" marL="0">
              <a:buNone/>
            </a:pPr>
            <a:r>
              <a:rPr lang="en-US" sz="1000" dirty="0">
                <a:solidFill>
                  <a:srgbClr val="6B7280"/>
                </a:solidFill>
                <a:latin typeface="Calibri" pitchFamily="34" charset="0"/>
                <a:ea typeface="Calibri" pitchFamily="34" charset="-122"/>
                <a:cs typeface="Calibri" pitchFamily="34" charset="-120"/>
              </a:rPr>
              <a:t>2030</a:t>
            </a:r>
            <a:endParaRPr lang="en-US" sz="1000" dirty="0"/>
          </a:p>
        </p:txBody>
      </p:sp>
      <p:sp>
        <p:nvSpPr>
          <p:cNvPr id="16" name="Shape 14"/>
          <p:cNvSpPr/>
          <p:nvPr/>
        </p:nvSpPr>
        <p:spPr>
          <a:xfrm>
            <a:off x="6163056" y="2148840"/>
            <a:ext cx="1734312" cy="1188720"/>
          </a:xfrm>
          <a:prstGeom prst="roundRect">
            <a:avLst>
              <a:gd name="adj" fmla="val 6154"/>
            </a:avLst>
          </a:prstGeom>
          <a:solidFill>
            <a:srgbClr val="F5F6FA"/>
          </a:solidFill>
          <a:ln w="9525">
            <a:solidFill>
              <a:srgbClr val="E3E5EE"/>
            </a:solidFill>
            <a:prstDash val="solid"/>
          </a:ln>
        </p:spPr>
      </p:sp>
      <p:sp>
        <p:nvSpPr>
          <p:cNvPr id="17" name="Text 15"/>
          <p:cNvSpPr/>
          <p:nvPr/>
        </p:nvSpPr>
        <p:spPr>
          <a:xfrm>
            <a:off x="6163056" y="2240280"/>
            <a:ext cx="1734312" cy="457200"/>
          </a:xfrm>
          <a:prstGeom prst="rect">
            <a:avLst/>
          </a:prstGeom>
          <a:noFill/>
          <a:ln/>
        </p:spPr>
        <p:txBody>
          <a:bodyPr wrap="square" lIns="0" tIns="0" rIns="0" bIns="0" rtlCol="0" anchor="ctr"/>
          <a:lstStyle/>
          <a:p>
            <a:pPr algn="ctr" indent="0" marL="0">
              <a:buNone/>
            </a:pPr>
            <a:r>
              <a:rPr lang="en-US" sz="1700" b="1" dirty="0">
                <a:solidFill>
                  <a:srgbClr val="1E2460"/>
                </a:solidFill>
                <a:latin typeface="Cambria" pitchFamily="34" charset="0"/>
                <a:ea typeface="Cambria" pitchFamily="34" charset="-122"/>
                <a:cs typeface="Cambria" pitchFamily="34" charset="-120"/>
              </a:rPr>
              <a:t>~$220–230M</a:t>
            </a:r>
            <a:endParaRPr lang="en-US" sz="1700" dirty="0"/>
          </a:p>
        </p:txBody>
      </p:sp>
      <p:sp>
        <p:nvSpPr>
          <p:cNvPr id="18" name="Text 16"/>
          <p:cNvSpPr/>
          <p:nvPr/>
        </p:nvSpPr>
        <p:spPr>
          <a:xfrm>
            <a:off x="6163056" y="2697480"/>
            <a:ext cx="1734312" cy="5486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Y6</a:t>
            </a:r>
            <a:endParaRPr lang="en-US" sz="1000" dirty="0"/>
          </a:p>
          <a:p>
            <a:pPr algn="ctr" indent="0" marL="0">
              <a:buNone/>
            </a:pPr>
            <a:r>
              <a:rPr lang="en-US" sz="1000" dirty="0">
                <a:solidFill>
                  <a:srgbClr val="6B7280"/>
                </a:solidFill>
                <a:latin typeface="Calibri" pitchFamily="34" charset="0"/>
                <a:ea typeface="Calibri" pitchFamily="34" charset="-122"/>
                <a:cs typeface="Calibri" pitchFamily="34" charset="-120"/>
              </a:rPr>
              <a:t>2032</a:t>
            </a:r>
            <a:endParaRPr lang="en-US" sz="1000" dirty="0"/>
          </a:p>
        </p:txBody>
      </p:sp>
      <p:sp>
        <p:nvSpPr>
          <p:cNvPr id="19" name="Shape 17"/>
          <p:cNvSpPr/>
          <p:nvPr/>
        </p:nvSpPr>
        <p:spPr>
          <a:xfrm>
            <a:off x="8034528" y="2148840"/>
            <a:ext cx="1734312" cy="1188720"/>
          </a:xfrm>
          <a:prstGeom prst="roundRect">
            <a:avLst>
              <a:gd name="adj" fmla="val 6154"/>
            </a:avLst>
          </a:prstGeom>
          <a:solidFill>
            <a:srgbClr val="F5F6FA"/>
          </a:solidFill>
          <a:ln w="9525">
            <a:solidFill>
              <a:srgbClr val="E3E5EE"/>
            </a:solidFill>
            <a:prstDash val="solid"/>
          </a:ln>
        </p:spPr>
      </p:sp>
      <p:sp>
        <p:nvSpPr>
          <p:cNvPr id="20" name="Text 18"/>
          <p:cNvSpPr/>
          <p:nvPr/>
        </p:nvSpPr>
        <p:spPr>
          <a:xfrm>
            <a:off x="8034528" y="2240280"/>
            <a:ext cx="1734312" cy="457200"/>
          </a:xfrm>
          <a:prstGeom prst="rect">
            <a:avLst/>
          </a:prstGeom>
          <a:noFill/>
          <a:ln/>
        </p:spPr>
        <p:txBody>
          <a:bodyPr wrap="square" lIns="0" tIns="0" rIns="0" bIns="0" rtlCol="0" anchor="ctr"/>
          <a:lstStyle/>
          <a:p>
            <a:pPr algn="ctr" indent="0" marL="0">
              <a:buNone/>
            </a:pPr>
            <a:r>
              <a:rPr lang="en-US" sz="1700" b="1" dirty="0">
                <a:solidFill>
                  <a:srgbClr val="1E2460"/>
                </a:solidFill>
                <a:latin typeface="Cambria" pitchFamily="34" charset="0"/>
                <a:ea typeface="Cambria" pitchFamily="34" charset="-122"/>
                <a:cs typeface="Cambria" pitchFamily="34" charset="-120"/>
              </a:rPr>
              <a:t>~$320–340M</a:t>
            </a:r>
            <a:endParaRPr lang="en-US" sz="1700" dirty="0"/>
          </a:p>
        </p:txBody>
      </p:sp>
      <p:sp>
        <p:nvSpPr>
          <p:cNvPr id="21" name="Text 19"/>
          <p:cNvSpPr/>
          <p:nvPr/>
        </p:nvSpPr>
        <p:spPr>
          <a:xfrm>
            <a:off x="8034528" y="2697480"/>
            <a:ext cx="1734312" cy="5486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Y8</a:t>
            </a:r>
            <a:endParaRPr lang="en-US" sz="1000" dirty="0"/>
          </a:p>
          <a:p>
            <a:pPr algn="ctr" indent="0" marL="0">
              <a:buNone/>
            </a:pPr>
            <a:r>
              <a:rPr lang="en-US" sz="1000" dirty="0">
                <a:solidFill>
                  <a:srgbClr val="6B7280"/>
                </a:solidFill>
                <a:latin typeface="Calibri" pitchFamily="34" charset="0"/>
                <a:ea typeface="Calibri" pitchFamily="34" charset="-122"/>
                <a:cs typeface="Calibri" pitchFamily="34" charset="-120"/>
              </a:rPr>
              <a:t>2034</a:t>
            </a:r>
            <a:endParaRPr lang="en-US" sz="1000" dirty="0"/>
          </a:p>
        </p:txBody>
      </p:sp>
      <p:sp>
        <p:nvSpPr>
          <p:cNvPr id="22" name="Shape 20"/>
          <p:cNvSpPr/>
          <p:nvPr/>
        </p:nvSpPr>
        <p:spPr>
          <a:xfrm>
            <a:off x="9906000" y="2148840"/>
            <a:ext cx="1734312" cy="1188720"/>
          </a:xfrm>
          <a:prstGeom prst="roundRect">
            <a:avLst>
              <a:gd name="adj" fmla="val 6154"/>
            </a:avLst>
          </a:prstGeom>
          <a:solidFill>
            <a:srgbClr val="1E2460"/>
          </a:solidFill>
          <a:ln w="9525">
            <a:solidFill>
              <a:srgbClr val="1E2460"/>
            </a:solidFill>
            <a:prstDash val="solid"/>
          </a:ln>
        </p:spPr>
      </p:sp>
      <p:sp>
        <p:nvSpPr>
          <p:cNvPr id="23" name="Text 21"/>
          <p:cNvSpPr/>
          <p:nvPr/>
        </p:nvSpPr>
        <p:spPr>
          <a:xfrm>
            <a:off x="9906000" y="2240280"/>
            <a:ext cx="1734312"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~$450–500M</a:t>
            </a:r>
            <a:endParaRPr lang="en-US" sz="1700" dirty="0"/>
          </a:p>
        </p:txBody>
      </p:sp>
      <p:sp>
        <p:nvSpPr>
          <p:cNvPr id="24" name="Text 22"/>
          <p:cNvSpPr/>
          <p:nvPr/>
        </p:nvSpPr>
        <p:spPr>
          <a:xfrm>
            <a:off x="9906000" y="2697480"/>
            <a:ext cx="1734312" cy="548640"/>
          </a:xfrm>
          <a:prstGeom prst="rect">
            <a:avLst/>
          </a:prstGeom>
          <a:noFill/>
          <a:ln/>
        </p:spPr>
        <p:txBody>
          <a:bodyPr wrap="square" lIns="0" tIns="0" rIns="0" bIns="0" rtlCol="0" anchor="ctr"/>
          <a:lstStyle/>
          <a:p>
            <a:pPr algn="ctr" indent="0" marL="0">
              <a:buNone/>
            </a:pPr>
            <a:r>
              <a:rPr lang="en-US" sz="1000" dirty="0">
                <a:solidFill>
                  <a:srgbClr val="C7CEEA"/>
                </a:solidFill>
                <a:latin typeface="Calibri" pitchFamily="34" charset="0"/>
                <a:ea typeface="Calibri" pitchFamily="34" charset="-122"/>
                <a:cs typeface="Calibri" pitchFamily="34" charset="-120"/>
              </a:rPr>
              <a:t>Y10</a:t>
            </a:r>
            <a:endParaRPr lang="en-US" sz="1000" dirty="0"/>
          </a:p>
          <a:p>
            <a:pPr algn="ctr" indent="0" marL="0">
              <a:buNone/>
            </a:pPr>
            <a:r>
              <a:rPr lang="en-US" sz="1000" dirty="0">
                <a:solidFill>
                  <a:srgbClr val="C7CEEA"/>
                </a:solidFill>
                <a:latin typeface="Calibri" pitchFamily="34" charset="0"/>
                <a:ea typeface="Calibri" pitchFamily="34" charset="-122"/>
                <a:cs typeface="Calibri" pitchFamily="34" charset="-120"/>
              </a:rPr>
              <a:t>2036</a:t>
            </a:r>
            <a:endParaRPr lang="en-US" sz="1000" dirty="0"/>
          </a:p>
        </p:txBody>
      </p:sp>
      <p:sp>
        <p:nvSpPr>
          <p:cNvPr id="25" name="Text 23"/>
          <p:cNvSpPr/>
          <p:nvPr/>
        </p:nvSpPr>
        <p:spPr>
          <a:xfrm>
            <a:off x="548640" y="3611880"/>
            <a:ext cx="5029200"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Acquisition program</a:t>
            </a:r>
            <a:endParaRPr lang="en-US" sz="1500" dirty="0"/>
          </a:p>
        </p:txBody>
      </p:sp>
      <p:sp>
        <p:nvSpPr>
          <p:cNvPr id="26" name="Text 24"/>
          <p:cNvSpPr/>
          <p:nvPr/>
        </p:nvSpPr>
        <p:spPr>
          <a:xfrm>
            <a:off x="548640" y="4023360"/>
            <a:ext cx="512064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F45"/>
                </a:solidFill>
                <a:latin typeface="Calibri" pitchFamily="34" charset="0"/>
                <a:ea typeface="Calibri" pitchFamily="34" charset="-122"/>
                <a:cs typeface="Calibri" pitchFamily="34" charset="-120"/>
              </a:rPr>
              <a:t>Acquisitions front-loaded Years 2–8, continuing through Year 12</a:t>
            </a:r>
            <a:endParaRPr lang="en-US" sz="1300" dirty="0"/>
          </a:p>
          <a:p>
            <a:pPr marL="342900" indent="-342900">
              <a:spcAft>
                <a:spcPts val="800"/>
              </a:spcAft>
              <a:buSzPct val="100000"/>
              <a:buChar char="•"/>
            </a:pPr>
            <a:r>
              <a:rPr lang="en-US" sz="1300" dirty="0">
                <a:solidFill>
                  <a:srgbClr val="2B2F45"/>
                </a:solidFill>
                <a:latin typeface="Calibri" pitchFamily="34" charset="0"/>
                <a:ea typeface="Calibri" pitchFamily="34" charset="-122"/>
                <a:cs typeface="Calibri" pitchFamily="34" charset="-120"/>
              </a:rPr>
              <a:t>Average acquired revenue at entry: ~$15–20M</a:t>
            </a:r>
            <a:endParaRPr lang="en-US" sz="1300" dirty="0"/>
          </a:p>
          <a:p>
            <a:pPr marL="342900" indent="-342900">
              <a:spcAft>
                <a:spcPts val="800"/>
              </a:spcAft>
              <a:buSzPct val="100000"/>
              <a:buChar char="•"/>
            </a:pPr>
            <a:r>
              <a:rPr lang="en-US" sz="1300" dirty="0">
                <a:solidFill>
                  <a:srgbClr val="2B2F45"/>
                </a:solidFill>
                <a:latin typeface="Calibri" pitchFamily="34" charset="0"/>
                <a:ea typeface="Calibri" pitchFamily="34" charset="-122"/>
                <a:cs typeface="Calibri" pitchFamily="34" charset="-120"/>
              </a:rPr>
              <a:t>Post-acquisition growth rate: 15%/year</a:t>
            </a:r>
            <a:endParaRPr lang="en-US" sz="1300" dirty="0"/>
          </a:p>
          <a:p>
            <a:pPr marL="342900" indent="-342900">
              <a:spcAft>
                <a:spcPts val="800"/>
              </a:spcAft>
              <a:buSzPct val="100000"/>
              <a:buChar char="•"/>
            </a:pPr>
            <a:r>
              <a:rPr lang="en-US" sz="1300" dirty="0">
                <a:solidFill>
                  <a:srgbClr val="2B2F45"/>
                </a:solidFill>
                <a:latin typeface="Calibri" pitchFamily="34" charset="0"/>
                <a:ea typeface="Calibri" pitchFamily="34" charset="-122"/>
                <a:cs typeface="Calibri" pitchFamily="34" charset="-120"/>
              </a:rPr>
              <a:t>A majority of Year-10 revenue comes from acquired businesses</a:t>
            </a:r>
            <a:endParaRPr lang="en-US" sz="1300" dirty="0"/>
          </a:p>
        </p:txBody>
      </p:sp>
      <p:sp>
        <p:nvSpPr>
          <p:cNvPr id="27" name="Text 25"/>
          <p:cNvSpPr/>
          <p:nvPr/>
        </p:nvSpPr>
        <p:spPr>
          <a:xfrm>
            <a:off x="6309360" y="3611880"/>
            <a:ext cx="5330952"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Year-10 team</a:t>
            </a:r>
            <a:endParaRPr lang="en-US" sz="1500" dirty="0"/>
          </a:p>
        </p:txBody>
      </p:sp>
      <p:sp>
        <p:nvSpPr>
          <p:cNvPr id="28" name="Shape 26"/>
          <p:cNvSpPr/>
          <p:nvPr/>
        </p:nvSpPr>
        <p:spPr>
          <a:xfrm>
            <a:off x="6309360" y="4023360"/>
            <a:ext cx="2551176" cy="914400"/>
          </a:xfrm>
          <a:prstGeom prst="roundRect">
            <a:avLst>
              <a:gd name="adj" fmla="val 8000"/>
            </a:avLst>
          </a:prstGeom>
          <a:solidFill>
            <a:srgbClr val="F5F6FA"/>
          </a:solidFill>
          <a:ln w="9525">
            <a:solidFill>
              <a:srgbClr val="E3E5EE"/>
            </a:solidFill>
            <a:prstDash val="solid"/>
          </a:ln>
        </p:spPr>
      </p:sp>
      <p:sp>
        <p:nvSpPr>
          <p:cNvPr id="29" name="Text 27"/>
          <p:cNvSpPr/>
          <p:nvPr/>
        </p:nvSpPr>
        <p:spPr>
          <a:xfrm>
            <a:off x="6473952" y="4133088"/>
            <a:ext cx="2221992" cy="502920"/>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~2,300</a:t>
            </a:r>
            <a:endParaRPr lang="en-US" sz="2000" dirty="0"/>
          </a:p>
        </p:txBody>
      </p:sp>
      <p:sp>
        <p:nvSpPr>
          <p:cNvPr id="30" name="Text 28"/>
          <p:cNvSpPr/>
          <p:nvPr/>
        </p:nvSpPr>
        <p:spPr>
          <a:xfrm>
            <a:off x="6473952" y="4645152"/>
            <a:ext cx="2221992" cy="20116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Approx. total FTE at Year 10</a:t>
            </a:r>
            <a:endParaRPr lang="en-US" sz="1050" dirty="0"/>
          </a:p>
        </p:txBody>
      </p:sp>
      <p:sp>
        <p:nvSpPr>
          <p:cNvPr id="31" name="Shape 29"/>
          <p:cNvSpPr/>
          <p:nvPr/>
        </p:nvSpPr>
        <p:spPr>
          <a:xfrm>
            <a:off x="9089136" y="4023360"/>
            <a:ext cx="2551176" cy="914400"/>
          </a:xfrm>
          <a:prstGeom prst="roundRect">
            <a:avLst>
              <a:gd name="adj" fmla="val 8000"/>
            </a:avLst>
          </a:prstGeom>
          <a:solidFill>
            <a:srgbClr val="F5F6FA"/>
          </a:solidFill>
          <a:ln w="9525">
            <a:solidFill>
              <a:srgbClr val="E3E5EE"/>
            </a:solidFill>
            <a:prstDash val="solid"/>
          </a:ln>
        </p:spPr>
      </p:sp>
      <p:sp>
        <p:nvSpPr>
          <p:cNvPr id="32" name="Text 30"/>
          <p:cNvSpPr/>
          <p:nvPr/>
        </p:nvSpPr>
        <p:spPr>
          <a:xfrm>
            <a:off x="9253728" y="4133088"/>
            <a:ext cx="2221992" cy="502920"/>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~5–6%</a:t>
            </a:r>
            <a:endParaRPr lang="en-US" sz="2000" dirty="0"/>
          </a:p>
        </p:txBody>
      </p:sp>
      <p:sp>
        <p:nvSpPr>
          <p:cNvPr id="33" name="Text 31"/>
          <p:cNvSpPr/>
          <p:nvPr/>
        </p:nvSpPr>
        <p:spPr>
          <a:xfrm>
            <a:off x="9253728" y="4645152"/>
            <a:ext cx="2221992" cy="20116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Implied Year-10 SAM share</a:t>
            </a:r>
            <a:endParaRPr lang="en-US" sz="1050" dirty="0"/>
          </a:p>
        </p:txBody>
      </p:sp>
      <p:sp>
        <p:nvSpPr>
          <p:cNvPr id="34" name="Text 32"/>
          <p:cNvSpPr/>
          <p:nvPr/>
        </p:nvSpPr>
        <p:spPr>
          <a:xfrm>
            <a:off x="6309360" y="5074920"/>
            <a:ext cx="5330952" cy="7315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Pace matters as much as volume: deals made early compound for years; deals made late barely contribute. Real execution running even 1–2 years behind this schedule falls well short of the target.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460"/>
        </a:solidFill>
      </p:bgPr>
    </p:bg>
    <p:spTree>
      <p:nvGrpSpPr>
        <p:cNvPr id="1" name=""/>
        <p:cNvGrpSpPr/>
        <p:nvPr/>
      </p:nvGrpSpPr>
      <p:grpSpPr>
        <a:xfrm>
          <a:off x="0" y="0"/>
          <a:ext cx="0" cy="0"/>
          <a:chOff x="0" y="0"/>
          <a:chExt cx="0" cy="0"/>
        </a:xfrm>
      </p:grpSpPr>
      <p:sp>
        <p:nvSpPr>
          <p:cNvPr id="2" name="Text 0"/>
          <p:cNvSpPr/>
          <p:nvPr/>
        </p:nvSpPr>
        <p:spPr>
          <a:xfrm>
            <a:off x="548640" y="2377440"/>
            <a:ext cx="11091672"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Valuation Lens</a:t>
            </a:r>
            <a:endParaRPr lang="en-US" sz="3600" dirty="0"/>
          </a:p>
        </p:txBody>
      </p:sp>
      <p:sp>
        <p:nvSpPr>
          <p:cNvPr id="3" name="Text 1"/>
          <p:cNvSpPr/>
          <p:nvPr/>
        </p:nvSpPr>
        <p:spPr>
          <a:xfrm>
            <a:off x="548640" y="3200400"/>
            <a:ext cx="11091672" cy="548640"/>
          </a:xfrm>
          <a:prstGeom prst="rect">
            <a:avLst/>
          </a:prstGeom>
          <a:noFill/>
          <a:ln/>
        </p:spPr>
        <p:txBody>
          <a:bodyPr wrap="square" lIns="0" tIns="0" rIns="0" bIns="0" rtlCol="0" anchor="ctr"/>
          <a:lstStyle/>
          <a:p>
            <a:pPr indent="0" marL="0">
              <a:buNone/>
            </a:pPr>
            <a:r>
              <a:rPr lang="en-US" sz="1600" i="1" dirty="0">
                <a:solidFill>
                  <a:srgbClr val="C7CEEA"/>
                </a:solidFill>
                <a:latin typeface="Calibri" pitchFamily="34" charset="0"/>
                <a:ea typeface="Calibri" pitchFamily="34" charset="-122"/>
                <a:cs typeface="Calibri" pitchFamily="34" charset="-120"/>
              </a:rPr>
              <a:t>Valuation methodology and the discounted future value bridge</a:t>
            </a:r>
            <a:endParaRPr lang="en-US" sz="1600" dirty="0"/>
          </a:p>
        </p:txBody>
      </p:sp>
      <p:sp>
        <p:nvSpPr>
          <p:cNvPr id="4" name="Text 2"/>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VALUATION FRAMEWORK</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We're Sizing a Future Valuation</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A standard growth-stage go-public valuation approach, applied to TWB on a 10-year basis.</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7" name="Shape 5"/>
          <p:cNvSpPr/>
          <p:nvPr/>
        </p:nvSpPr>
        <p:spPr>
          <a:xfrm>
            <a:off x="548640" y="2103120"/>
            <a:ext cx="502920" cy="502920"/>
          </a:xfrm>
          <a:prstGeom prst="ellipse">
            <a:avLst/>
          </a:prstGeom>
          <a:solidFill>
            <a:srgbClr val="1E2460"/>
          </a:solidFill>
          <a:ln w="12700">
            <a:solidFill>
              <a:srgbClr val="1E2460"/>
            </a:solidFill>
            <a:prstDash val="solid"/>
          </a:ln>
        </p:spPr>
      </p:sp>
      <p:sp>
        <p:nvSpPr>
          <p:cNvPr id="8" name="Text 6"/>
          <p:cNvSpPr/>
          <p:nvPr/>
        </p:nvSpPr>
        <p:spPr>
          <a:xfrm>
            <a:off x="548640"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280160" y="2084832"/>
            <a:ext cx="10360152"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Build a comp universe</a:t>
            </a:r>
            <a:endParaRPr lang="en-US" sz="1500" dirty="0"/>
          </a:p>
        </p:txBody>
      </p:sp>
      <p:sp>
        <p:nvSpPr>
          <p:cNvPr id="10" name="Text 8"/>
          <p:cNvSpPr/>
          <p:nvPr/>
        </p:nvSpPr>
        <p:spPr>
          <a:xfrm>
            <a:off x="1280160" y="2404872"/>
            <a:ext cx="10360152" cy="347472"/>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Named public companies in TWB's own sector — aerospace &amp; defense services</a:t>
            </a:r>
            <a:endParaRPr lang="en-US" sz="1200" dirty="0"/>
          </a:p>
        </p:txBody>
      </p:sp>
      <p:sp>
        <p:nvSpPr>
          <p:cNvPr id="11" name="Shape 9"/>
          <p:cNvSpPr/>
          <p:nvPr/>
        </p:nvSpPr>
        <p:spPr>
          <a:xfrm>
            <a:off x="548640" y="2816352"/>
            <a:ext cx="502920" cy="502920"/>
          </a:xfrm>
          <a:prstGeom prst="ellipse">
            <a:avLst/>
          </a:prstGeom>
          <a:solidFill>
            <a:srgbClr val="1E2460"/>
          </a:solidFill>
          <a:ln w="12700">
            <a:solidFill>
              <a:srgbClr val="1E2460"/>
            </a:solidFill>
            <a:prstDash val="solid"/>
          </a:ln>
        </p:spPr>
      </p:sp>
      <p:sp>
        <p:nvSpPr>
          <p:cNvPr id="12" name="Text 10"/>
          <p:cNvSpPr/>
          <p:nvPr/>
        </p:nvSpPr>
        <p:spPr>
          <a:xfrm>
            <a:off x="548640" y="2816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1280160" y="2798064"/>
            <a:ext cx="10360152"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Take the comp EV/EBITDA multiple</a:t>
            </a:r>
            <a:endParaRPr lang="en-US" sz="1500" dirty="0"/>
          </a:p>
        </p:txBody>
      </p:sp>
      <p:sp>
        <p:nvSpPr>
          <p:cNvPr id="14" name="Text 12"/>
          <p:cNvSpPr/>
          <p:nvPr/>
        </p:nvSpPr>
        <p:spPr>
          <a:xfrm>
            <a:off x="1280160" y="3118104"/>
            <a:ext cx="10360152" cy="347472"/>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Public comps: 11.4x. Private/strategic deals: 19.0x</a:t>
            </a:r>
            <a:endParaRPr lang="en-US" sz="1200" dirty="0"/>
          </a:p>
        </p:txBody>
      </p:sp>
      <p:sp>
        <p:nvSpPr>
          <p:cNvPr id="15" name="Shape 13"/>
          <p:cNvSpPr/>
          <p:nvPr/>
        </p:nvSpPr>
        <p:spPr>
          <a:xfrm>
            <a:off x="548640" y="3529584"/>
            <a:ext cx="502920" cy="502920"/>
          </a:xfrm>
          <a:prstGeom prst="ellipse">
            <a:avLst/>
          </a:prstGeom>
          <a:solidFill>
            <a:srgbClr val="1E2460"/>
          </a:solidFill>
          <a:ln w="12700">
            <a:solidFill>
              <a:srgbClr val="1E2460"/>
            </a:solidFill>
            <a:prstDash val="solid"/>
          </a:ln>
        </p:spPr>
      </p:sp>
      <p:sp>
        <p:nvSpPr>
          <p:cNvPr id="16" name="Text 14"/>
          <p:cNvSpPr/>
          <p:nvPr/>
        </p:nvSpPr>
        <p:spPr>
          <a:xfrm>
            <a:off x="548640" y="352958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280160" y="3511296"/>
            <a:ext cx="10360152"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Apply it to future EBITDA</a:t>
            </a:r>
            <a:endParaRPr lang="en-US" sz="1500" dirty="0"/>
          </a:p>
        </p:txBody>
      </p:sp>
      <p:sp>
        <p:nvSpPr>
          <p:cNvPr id="18" name="Text 16"/>
          <p:cNvSpPr/>
          <p:nvPr/>
        </p:nvSpPr>
        <p:spPr>
          <a:xfrm>
            <a:off x="1280160" y="3831336"/>
            <a:ext cx="10360152" cy="347472"/>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Multiply the comp multiple by TWB's OWN Year-10 EBITDA estimate from the operating model</a:t>
            </a:r>
            <a:endParaRPr lang="en-US" sz="1200" dirty="0"/>
          </a:p>
        </p:txBody>
      </p:sp>
      <p:sp>
        <p:nvSpPr>
          <p:cNvPr id="19" name="Shape 17"/>
          <p:cNvSpPr/>
          <p:nvPr/>
        </p:nvSpPr>
        <p:spPr>
          <a:xfrm>
            <a:off x="548640" y="4242816"/>
            <a:ext cx="502920" cy="502920"/>
          </a:xfrm>
          <a:prstGeom prst="ellipse">
            <a:avLst/>
          </a:prstGeom>
          <a:solidFill>
            <a:srgbClr val="1E2460"/>
          </a:solidFill>
          <a:ln w="12700">
            <a:solidFill>
              <a:srgbClr val="1E2460"/>
            </a:solidFill>
            <a:prstDash val="solid"/>
          </a:ln>
        </p:spPr>
      </p:sp>
      <p:sp>
        <p:nvSpPr>
          <p:cNvPr id="20" name="Text 18"/>
          <p:cNvSpPr/>
          <p:nvPr/>
        </p:nvSpPr>
        <p:spPr>
          <a:xfrm>
            <a:off x="548640" y="424281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1280160" y="4224528"/>
            <a:ext cx="10360152"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Discount back to today</a:t>
            </a:r>
            <a:endParaRPr lang="en-US" sz="1500" dirty="0"/>
          </a:p>
        </p:txBody>
      </p:sp>
      <p:sp>
        <p:nvSpPr>
          <p:cNvPr id="22" name="Text 20"/>
          <p:cNvSpPr/>
          <p:nvPr/>
        </p:nvSpPr>
        <p:spPr>
          <a:xfrm>
            <a:off x="1280160" y="4544568"/>
            <a:ext cx="10360152" cy="347472"/>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Discount the future firm value back 10 periods — matching the 10-year projection horizon</a:t>
            </a:r>
            <a:endParaRPr lang="en-US" sz="1200" dirty="0"/>
          </a:p>
        </p:txBody>
      </p:sp>
      <p:sp>
        <p:nvSpPr>
          <p:cNvPr id="23" name="Shape 21"/>
          <p:cNvSpPr/>
          <p:nvPr/>
        </p:nvSpPr>
        <p:spPr>
          <a:xfrm>
            <a:off x="548640" y="4956048"/>
            <a:ext cx="502920" cy="502920"/>
          </a:xfrm>
          <a:prstGeom prst="ellipse">
            <a:avLst/>
          </a:prstGeom>
          <a:solidFill>
            <a:srgbClr val="1E2460"/>
          </a:solidFill>
          <a:ln w="12700">
            <a:solidFill>
              <a:srgbClr val="1E2460"/>
            </a:solidFill>
            <a:prstDash val="solid"/>
          </a:ln>
        </p:spPr>
      </p:sp>
      <p:sp>
        <p:nvSpPr>
          <p:cNvPr id="24" name="Text 22"/>
          <p:cNvSpPr/>
          <p:nvPr/>
        </p:nvSpPr>
        <p:spPr>
          <a:xfrm>
            <a:off x="548640" y="495604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5" name="Text 23"/>
          <p:cNvSpPr/>
          <p:nvPr/>
        </p:nvSpPr>
        <p:spPr>
          <a:xfrm>
            <a:off x="1280160" y="4937760"/>
            <a:ext cx="10360152"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Use as the reference point</a:t>
            </a:r>
            <a:endParaRPr lang="en-US" sz="1500" dirty="0"/>
          </a:p>
        </p:txBody>
      </p:sp>
      <p:sp>
        <p:nvSpPr>
          <p:cNvPr id="26" name="Text 24"/>
          <p:cNvSpPr/>
          <p:nvPr/>
        </p:nvSpPr>
        <p:spPr>
          <a:xfrm>
            <a:off x="1280160" y="5257800"/>
            <a:ext cx="10360152" cy="347472"/>
          </a:xfrm>
          <a:prstGeom prst="rect">
            <a:avLst/>
          </a:prstGeom>
          <a:noFill/>
          <a:ln/>
        </p:spPr>
        <p:txBody>
          <a:bodyPr wrap="square" lIns="0" tIns="0" rIns="0" bIns="0" rtlCol="0" anchor="t"/>
          <a:lstStyle/>
          <a:p>
            <a:pPr indent="0" marL="0">
              <a:buNone/>
            </a:pPr>
            <a:r>
              <a:rPr lang="en-US" sz="1200" dirty="0">
                <a:solidFill>
                  <a:srgbClr val="2B2F45"/>
                </a:solidFill>
                <a:latin typeface="Calibri" pitchFamily="34" charset="0"/>
                <a:ea typeface="Calibri" pitchFamily="34" charset="-122"/>
                <a:cs typeface="Calibri" pitchFamily="34" charset="-120"/>
              </a:rPr>
              <a:t>The resulting fair value is the anchor against which any future deal price is assessed</a:t>
            </a:r>
            <a:endParaRPr lang="en-US" sz="1200" dirty="0"/>
          </a:p>
        </p:txBody>
      </p:sp>
      <p:sp>
        <p:nvSpPr>
          <p:cNvPr id="27" name="Text 25"/>
          <p:cNvSpPr/>
          <p:nvPr/>
        </p:nvSpPr>
        <p:spPr>
          <a:xfrm>
            <a:off x="548640" y="5715000"/>
            <a:ext cx="11091672" cy="59436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Why 10 years, and not fewer: discounting a distant future estimate back FEWER periods than the years actually being projected mechanically inflates the implied fair value. Matching the discount window to the projection horizon avoids manufacturing an artificially large "discount to fair value" headline.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APPLYING THE FRAMEWORK</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TWB's Comp Universe</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TWB has no direct, liquid public comp set for small-arms/ammunition destruction specifically — this uses the closest genuine proxy rather than fabricating a broad universe that doesn't exist.</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48640" y="2194560"/>
            <a:ext cx="5362956" cy="3657600"/>
          </a:xfrm>
          <a:prstGeom prst="roundRect">
            <a:avLst>
              <a:gd name="adj" fmla="val 2000"/>
            </a:avLst>
          </a:prstGeom>
          <a:solidFill>
            <a:srgbClr val="F5F6FA"/>
          </a:solidFill>
          <a:ln w="9525">
            <a:solidFill>
              <a:srgbClr val="E3E5EE"/>
            </a:solidFill>
            <a:prstDash val="solid"/>
          </a:ln>
        </p:spPr>
      </p:sp>
      <p:sp>
        <p:nvSpPr>
          <p:cNvPr id="8" name="Text 6"/>
          <p:cNvSpPr/>
          <p:nvPr/>
        </p:nvSpPr>
        <p:spPr>
          <a:xfrm>
            <a:off x="777240" y="2377440"/>
            <a:ext cx="4905756"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Cadre Holdings (NYSE: CDRE)</a:t>
            </a:r>
            <a:endParaRPr lang="en-US" sz="1500" dirty="0"/>
          </a:p>
        </p:txBody>
      </p:sp>
      <p:sp>
        <p:nvSpPr>
          <p:cNvPr id="9" name="Text 7"/>
          <p:cNvSpPr/>
          <p:nvPr/>
        </p:nvSpPr>
        <p:spPr>
          <a:xfrm>
            <a:off x="777240" y="2697480"/>
            <a:ext cx="4905756" cy="256032"/>
          </a:xfrm>
          <a:prstGeom prst="rect">
            <a:avLst/>
          </a:prstGeom>
          <a:noFill/>
          <a:ln/>
        </p:spPr>
        <p:txBody>
          <a:bodyPr wrap="square" lIns="0" tIns="0" rIns="0" bIns="0" rtlCol="0" anchor="ctr"/>
          <a:lstStyle/>
          <a:p>
            <a:pPr indent="0" marL="0">
              <a:buNone/>
            </a:pPr>
            <a:r>
              <a:rPr lang="en-US" sz="1100" i="1" dirty="0">
                <a:solidFill>
                  <a:srgbClr val="E4B33A"/>
                </a:solidFill>
                <a:latin typeface="Calibri" pitchFamily="34" charset="0"/>
                <a:ea typeface="Calibri" pitchFamily="34" charset="-122"/>
                <a:cs typeface="Calibri" pitchFamily="34" charset="-120"/>
              </a:rPr>
              <a:t>The fundamentals anchor</a:t>
            </a:r>
            <a:endParaRPr lang="en-US" sz="1100" dirty="0"/>
          </a:p>
        </p:txBody>
      </p:sp>
      <p:sp>
        <p:nvSpPr>
          <p:cNvPr id="10" name="Shape 8"/>
          <p:cNvSpPr/>
          <p:nvPr/>
        </p:nvSpPr>
        <p:spPr>
          <a:xfrm>
            <a:off x="777240" y="3063240"/>
            <a:ext cx="2338578" cy="914400"/>
          </a:xfrm>
          <a:prstGeom prst="roundRect">
            <a:avLst>
              <a:gd name="adj" fmla="val 6000"/>
            </a:avLst>
          </a:prstGeom>
          <a:solidFill>
            <a:srgbClr val="FFFFFF"/>
          </a:solidFill>
          <a:ln w="9525">
            <a:solidFill>
              <a:srgbClr val="E3E5EE"/>
            </a:solidFill>
            <a:prstDash val="solid"/>
          </a:ln>
        </p:spPr>
      </p:sp>
      <p:sp>
        <p:nvSpPr>
          <p:cNvPr id="11" name="Text 9"/>
          <p:cNvSpPr/>
          <p:nvPr/>
        </p:nvSpPr>
        <p:spPr>
          <a:xfrm>
            <a:off x="941832" y="3108960"/>
            <a:ext cx="2009394" cy="457200"/>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$685.7M</a:t>
            </a:r>
            <a:endParaRPr lang="en-US" sz="2000" dirty="0"/>
          </a:p>
        </p:txBody>
      </p:sp>
      <p:sp>
        <p:nvSpPr>
          <p:cNvPr id="12" name="Text 10"/>
          <p:cNvSpPr/>
          <p:nvPr/>
        </p:nvSpPr>
        <p:spPr>
          <a:xfrm>
            <a:off x="941832" y="3584448"/>
            <a:ext cx="200939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TTM Revenue</a:t>
            </a:r>
            <a:endParaRPr lang="en-US" sz="1000" dirty="0"/>
          </a:p>
        </p:txBody>
      </p:sp>
      <p:sp>
        <p:nvSpPr>
          <p:cNvPr id="13" name="Shape 11"/>
          <p:cNvSpPr/>
          <p:nvPr/>
        </p:nvSpPr>
        <p:spPr>
          <a:xfrm>
            <a:off x="3344418" y="3063240"/>
            <a:ext cx="2338578" cy="914400"/>
          </a:xfrm>
          <a:prstGeom prst="roundRect">
            <a:avLst>
              <a:gd name="adj" fmla="val 6000"/>
            </a:avLst>
          </a:prstGeom>
          <a:solidFill>
            <a:srgbClr val="FFFFFF"/>
          </a:solidFill>
          <a:ln w="9525">
            <a:solidFill>
              <a:srgbClr val="E3E5EE"/>
            </a:solidFill>
            <a:prstDash val="solid"/>
          </a:ln>
        </p:spPr>
      </p:sp>
      <p:sp>
        <p:nvSpPr>
          <p:cNvPr id="14" name="Text 12"/>
          <p:cNvSpPr/>
          <p:nvPr/>
        </p:nvSpPr>
        <p:spPr>
          <a:xfrm>
            <a:off x="3509010" y="3108960"/>
            <a:ext cx="2009394" cy="457200"/>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~2.1x</a:t>
            </a:r>
            <a:endParaRPr lang="en-US" sz="2000" dirty="0"/>
          </a:p>
        </p:txBody>
      </p:sp>
      <p:sp>
        <p:nvSpPr>
          <p:cNvPr id="15" name="Text 13"/>
          <p:cNvSpPr/>
          <p:nvPr/>
        </p:nvSpPr>
        <p:spPr>
          <a:xfrm>
            <a:off x="3509010" y="3584448"/>
            <a:ext cx="200939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EV / Revenue</a:t>
            </a:r>
            <a:endParaRPr lang="en-US" sz="1000" dirty="0"/>
          </a:p>
        </p:txBody>
      </p:sp>
      <p:sp>
        <p:nvSpPr>
          <p:cNvPr id="16" name="Text 14"/>
          <p:cNvSpPr/>
          <p:nvPr/>
        </p:nvSpPr>
        <p:spPr>
          <a:xfrm>
            <a:off x="777240" y="4160520"/>
            <a:ext cx="4905756" cy="1554480"/>
          </a:xfrm>
          <a:prstGeom prst="rect">
            <a:avLst/>
          </a:prstGeom>
          <a:noFill/>
          <a:ln/>
        </p:spPr>
        <p:txBody>
          <a:bodyPr wrap="square" lIns="0" tIns="0" rIns="0" bIns="0" rtlCol="0" anchor="t"/>
          <a:lstStyle/>
          <a:p>
            <a:pPr indent="0" marL="0">
              <a:buNone/>
            </a:pPr>
            <a:r>
              <a:rPr lang="en-US" sz="1150" dirty="0">
                <a:solidFill>
                  <a:srgbClr val="2B2F45"/>
                </a:solidFill>
                <a:latin typeface="Calibri" pitchFamily="34" charset="0"/>
                <a:ea typeface="Calibri" pitchFamily="34" charset="-122"/>
                <a:cs typeface="Calibri" pitchFamily="34" charset="-120"/>
              </a:rPr>
              <a:t>EOD equipment, body armor, law enforcement/first-responder markets, active buy-and-build M&amp;A strategy. Mature, profitable, trades on real fundamentals (P/E ~42x). This is what TWB might look like AFTER the growth story plays out.</a:t>
            </a:r>
            <a:endParaRPr lang="en-US" sz="1150" dirty="0"/>
          </a:p>
        </p:txBody>
      </p:sp>
      <p:sp>
        <p:nvSpPr>
          <p:cNvPr id="17" name="Shape 15"/>
          <p:cNvSpPr/>
          <p:nvPr/>
        </p:nvSpPr>
        <p:spPr>
          <a:xfrm>
            <a:off x="6277356" y="2194560"/>
            <a:ext cx="5362956" cy="3657600"/>
          </a:xfrm>
          <a:prstGeom prst="roundRect">
            <a:avLst>
              <a:gd name="adj" fmla="val 2000"/>
            </a:avLst>
          </a:prstGeom>
          <a:solidFill>
            <a:srgbClr val="F5F6FA"/>
          </a:solidFill>
          <a:ln w="9525">
            <a:solidFill>
              <a:srgbClr val="E3E5EE"/>
            </a:solidFill>
            <a:prstDash val="solid"/>
          </a:ln>
        </p:spPr>
      </p:sp>
      <p:sp>
        <p:nvSpPr>
          <p:cNvPr id="18" name="Text 16"/>
          <p:cNvSpPr/>
          <p:nvPr/>
        </p:nvSpPr>
        <p:spPr>
          <a:xfrm>
            <a:off x="6505956" y="2377440"/>
            <a:ext cx="4905756" cy="320040"/>
          </a:xfrm>
          <a:prstGeom prst="rect">
            <a:avLst/>
          </a:prstGeom>
          <a:noFill/>
          <a:ln/>
        </p:spPr>
        <p:txBody>
          <a:bodyPr wrap="square" lIns="0" tIns="0" rIns="0" bIns="0" rtlCol="0" anchor="ctr"/>
          <a:lstStyle/>
          <a:p>
            <a:pPr indent="0" marL="0">
              <a:buNone/>
            </a:pPr>
            <a:r>
              <a:rPr lang="en-US" sz="1500" b="1" dirty="0">
                <a:solidFill>
                  <a:srgbClr val="1E2460"/>
                </a:solidFill>
                <a:latin typeface="Cambria" pitchFamily="34" charset="0"/>
                <a:ea typeface="Cambria" pitchFamily="34" charset="-122"/>
                <a:cs typeface="Cambria" pitchFamily="34" charset="-120"/>
              </a:rPr>
              <a:t>American Battery Technology Co. (NASDAQ: ABAT)</a:t>
            </a:r>
            <a:endParaRPr lang="en-US" sz="1500" dirty="0"/>
          </a:p>
        </p:txBody>
      </p:sp>
      <p:sp>
        <p:nvSpPr>
          <p:cNvPr id="19" name="Text 17"/>
          <p:cNvSpPr/>
          <p:nvPr/>
        </p:nvSpPr>
        <p:spPr>
          <a:xfrm>
            <a:off x="6505956" y="2697480"/>
            <a:ext cx="4905756" cy="256032"/>
          </a:xfrm>
          <a:prstGeom prst="rect">
            <a:avLst/>
          </a:prstGeom>
          <a:noFill/>
          <a:ln/>
        </p:spPr>
        <p:txBody>
          <a:bodyPr wrap="square" lIns="0" tIns="0" rIns="0" bIns="0" rtlCol="0" anchor="ctr"/>
          <a:lstStyle/>
          <a:p>
            <a:pPr indent="0" marL="0">
              <a:buNone/>
            </a:pPr>
            <a:r>
              <a:rPr lang="en-US" sz="1100" i="1" dirty="0">
                <a:solidFill>
                  <a:srgbClr val="E4B33A"/>
                </a:solidFill>
                <a:latin typeface="Calibri" pitchFamily="34" charset="0"/>
                <a:ea typeface="Calibri" pitchFamily="34" charset="-122"/>
                <a:cs typeface="Calibri" pitchFamily="34" charset="-120"/>
              </a:rPr>
              <a:t>The story-premium anchor</a:t>
            </a:r>
            <a:endParaRPr lang="en-US" sz="1100" dirty="0"/>
          </a:p>
        </p:txBody>
      </p:sp>
      <p:sp>
        <p:nvSpPr>
          <p:cNvPr id="20" name="Shape 18"/>
          <p:cNvSpPr/>
          <p:nvPr/>
        </p:nvSpPr>
        <p:spPr>
          <a:xfrm>
            <a:off x="6505956" y="3063240"/>
            <a:ext cx="2338578" cy="914400"/>
          </a:xfrm>
          <a:prstGeom prst="roundRect">
            <a:avLst>
              <a:gd name="adj" fmla="val 6000"/>
            </a:avLst>
          </a:prstGeom>
          <a:solidFill>
            <a:srgbClr val="FFFFFF"/>
          </a:solidFill>
          <a:ln w="9525">
            <a:solidFill>
              <a:srgbClr val="E3E5EE"/>
            </a:solidFill>
            <a:prstDash val="solid"/>
          </a:ln>
        </p:spPr>
      </p:sp>
      <p:sp>
        <p:nvSpPr>
          <p:cNvPr id="21" name="Text 19"/>
          <p:cNvSpPr/>
          <p:nvPr/>
        </p:nvSpPr>
        <p:spPr>
          <a:xfrm>
            <a:off x="6670548" y="3108960"/>
            <a:ext cx="2009394" cy="457200"/>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~$9.5M</a:t>
            </a:r>
            <a:endParaRPr lang="en-US" sz="2000" dirty="0"/>
          </a:p>
        </p:txBody>
      </p:sp>
      <p:sp>
        <p:nvSpPr>
          <p:cNvPr id="22" name="Text 20"/>
          <p:cNvSpPr/>
          <p:nvPr/>
        </p:nvSpPr>
        <p:spPr>
          <a:xfrm>
            <a:off x="6670548" y="3584448"/>
            <a:ext cx="200939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TTM Revenue</a:t>
            </a:r>
            <a:endParaRPr lang="en-US" sz="1000" dirty="0"/>
          </a:p>
        </p:txBody>
      </p:sp>
      <p:sp>
        <p:nvSpPr>
          <p:cNvPr id="23" name="Shape 21"/>
          <p:cNvSpPr/>
          <p:nvPr/>
        </p:nvSpPr>
        <p:spPr>
          <a:xfrm>
            <a:off x="9073134" y="3063240"/>
            <a:ext cx="2338578" cy="914400"/>
          </a:xfrm>
          <a:prstGeom prst="roundRect">
            <a:avLst>
              <a:gd name="adj" fmla="val 6000"/>
            </a:avLst>
          </a:prstGeom>
          <a:solidFill>
            <a:srgbClr val="FFFFFF"/>
          </a:solidFill>
          <a:ln w="9525">
            <a:solidFill>
              <a:srgbClr val="E3E5EE"/>
            </a:solidFill>
            <a:prstDash val="solid"/>
          </a:ln>
        </p:spPr>
      </p:sp>
      <p:sp>
        <p:nvSpPr>
          <p:cNvPr id="24" name="Text 22"/>
          <p:cNvSpPr/>
          <p:nvPr/>
        </p:nvSpPr>
        <p:spPr>
          <a:xfrm>
            <a:off x="9237726" y="3108960"/>
            <a:ext cx="2009394" cy="457200"/>
          </a:xfrm>
          <a:prstGeom prst="rect">
            <a:avLst/>
          </a:prstGeom>
          <a:noFill/>
          <a:ln/>
        </p:spPr>
        <p:txBody>
          <a:bodyPr wrap="square" lIns="0" tIns="0" rIns="0" bIns="0" rtlCol="0" anchor="ctr"/>
          <a:lstStyle/>
          <a:p>
            <a:pPr indent="0" marL="0">
              <a:buNone/>
            </a:pPr>
            <a:r>
              <a:rPr lang="en-US" sz="2000" b="1" dirty="0">
                <a:solidFill>
                  <a:srgbClr val="1E2460"/>
                </a:solidFill>
                <a:latin typeface="Cambria" pitchFamily="34" charset="0"/>
                <a:ea typeface="Cambria" pitchFamily="34" charset="-122"/>
                <a:cs typeface="Cambria" pitchFamily="34" charset="-120"/>
              </a:rPr>
              <a:t>~40.3x</a:t>
            </a:r>
            <a:endParaRPr lang="en-US" sz="2000" dirty="0"/>
          </a:p>
        </p:txBody>
      </p:sp>
      <p:sp>
        <p:nvSpPr>
          <p:cNvPr id="25" name="Text 23"/>
          <p:cNvSpPr/>
          <p:nvPr/>
        </p:nvSpPr>
        <p:spPr>
          <a:xfrm>
            <a:off x="9237726" y="3584448"/>
            <a:ext cx="2009394"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EV / Revenue</a:t>
            </a:r>
            <a:endParaRPr lang="en-US" sz="1000" dirty="0"/>
          </a:p>
        </p:txBody>
      </p:sp>
      <p:sp>
        <p:nvSpPr>
          <p:cNvPr id="26" name="Text 24"/>
          <p:cNvSpPr/>
          <p:nvPr/>
        </p:nvSpPr>
        <p:spPr>
          <a:xfrm>
            <a:off x="6505956" y="4160520"/>
            <a:ext cx="4905756" cy="1554480"/>
          </a:xfrm>
          <a:prstGeom prst="rect">
            <a:avLst/>
          </a:prstGeom>
          <a:noFill/>
          <a:ln/>
        </p:spPr>
        <p:txBody>
          <a:bodyPr wrap="square" lIns="0" tIns="0" rIns="0" bIns="0" rtlCol="0" anchor="t"/>
          <a:lstStyle/>
          <a:p>
            <a:pPr indent="0" marL="0">
              <a:buNone/>
            </a:pPr>
            <a:r>
              <a:rPr lang="en-US" sz="1150" dirty="0">
                <a:solidFill>
                  <a:srgbClr val="2B2F45"/>
                </a:solidFill>
                <a:latin typeface="Calibri" pitchFamily="34" charset="0"/>
                <a:ea typeface="Calibri" pitchFamily="34" charset="-122"/>
                <a:cs typeface="Calibri" pitchFamily="34" charset="-120"/>
              </a:rPr>
              <a:t>Critical minerals/battery recycling, deeply negative EBITDA, tiny actual revenue, richly valued on narrative and government-grant backing. Shows how much multiple a compelling early-stage story can command on Nasdaq today.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460"/>
          </a:solidFill>
          <a:ln w="12700">
            <a:solidFill>
              <a:srgbClr val="1E2460"/>
            </a:solidFill>
            <a:prstDash val="solid"/>
          </a:ln>
        </p:spPr>
      </p:sp>
      <p:sp>
        <p:nvSpPr>
          <p:cNvPr id="3" name="Text 1"/>
          <p:cNvSpPr/>
          <p:nvPr/>
        </p:nvSpPr>
        <p:spPr>
          <a:xfrm>
            <a:off x="548640" y="164592"/>
            <a:ext cx="11091672" cy="274320"/>
          </a:xfrm>
          <a:prstGeom prst="rect">
            <a:avLst/>
          </a:prstGeom>
          <a:noFill/>
          <a:ln/>
        </p:spPr>
        <p:txBody>
          <a:bodyPr wrap="square" lIns="0" tIns="0" rIns="0" bIns="0" rtlCol="0" anchor="ctr"/>
          <a:lstStyle/>
          <a:p>
            <a:pPr indent="0" marL="0">
              <a:buNone/>
            </a:pPr>
            <a:r>
              <a:rPr lang="en-US" sz="1050" b="1" spc="200" kern="0" dirty="0">
                <a:solidFill>
                  <a:srgbClr val="E4B33A"/>
                </a:solidFill>
                <a:latin typeface="Calibri" pitchFamily="34" charset="0"/>
                <a:ea typeface="Calibri" pitchFamily="34" charset="-122"/>
                <a:cs typeface="Calibri" pitchFamily="34" charset="-120"/>
              </a:rPr>
              <a:t>THE BRIDGE, APPLIED</a:t>
            </a:r>
            <a:endParaRPr lang="en-US" sz="1050" dirty="0"/>
          </a:p>
        </p:txBody>
      </p:sp>
      <p:sp>
        <p:nvSpPr>
          <p:cNvPr id="4" name="Text 2"/>
          <p:cNvSpPr/>
          <p:nvPr/>
        </p:nvSpPr>
        <p:spPr>
          <a:xfrm>
            <a:off x="548640" y="457200"/>
            <a:ext cx="11091672"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Discounted Future Value Bridge — TWB, Year 10</a:t>
            </a:r>
            <a:endParaRPr lang="en-US" sz="2800" dirty="0"/>
          </a:p>
        </p:txBody>
      </p:sp>
      <p:sp>
        <p:nvSpPr>
          <p:cNvPr id="5" name="Text 3"/>
          <p:cNvSpPr/>
          <p:nvPr/>
        </p:nvSpPr>
        <p:spPr>
          <a:xfrm>
            <a:off x="548640" y="1417320"/>
            <a:ext cx="11091672" cy="54864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Comp multiple applied to Year-10 EBITDA, discounted 10 periods — matching the projection horizon exactly.</a:t>
            </a:r>
            <a:endParaRPr lang="en-US" sz="14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7" name="Text 5"/>
          <p:cNvSpPr/>
          <p:nvPr/>
        </p:nvSpPr>
        <p:spPr>
          <a:xfrm>
            <a:off x="548640" y="2148840"/>
            <a:ext cx="7315200" cy="411480"/>
          </a:xfrm>
          <a:prstGeom prst="rect">
            <a:avLst/>
          </a:prstGeom>
          <a:noFill/>
          <a:ln/>
        </p:spPr>
        <p:txBody>
          <a:bodyPr wrap="square" lIns="0" tIns="0" rIns="0" bIns="0" rtlCol="0" anchor="ctr"/>
          <a:lstStyle/>
          <a:p>
            <a:pPr indent="0" marL="0">
              <a:buNone/>
            </a:pPr>
            <a:r>
              <a:rPr lang="en-US" sz="1300" dirty="0">
                <a:solidFill>
                  <a:srgbClr val="2B2F45"/>
                </a:solidFill>
                <a:latin typeface="Calibri" pitchFamily="34" charset="0"/>
                <a:ea typeface="Calibri" pitchFamily="34" charset="-122"/>
                <a:cs typeface="Calibri" pitchFamily="34" charset="-120"/>
              </a:rPr>
              <a:t>Year-10 revenue (operating model)</a:t>
            </a:r>
            <a:endParaRPr lang="en-US" sz="1300" dirty="0"/>
          </a:p>
        </p:txBody>
      </p:sp>
      <p:sp>
        <p:nvSpPr>
          <p:cNvPr id="8" name="Text 6"/>
          <p:cNvSpPr/>
          <p:nvPr/>
        </p:nvSpPr>
        <p:spPr>
          <a:xfrm>
            <a:off x="7863840" y="2148840"/>
            <a:ext cx="3776472" cy="411480"/>
          </a:xfrm>
          <a:prstGeom prst="rect">
            <a:avLst/>
          </a:prstGeom>
          <a:noFill/>
          <a:ln/>
        </p:spPr>
        <p:txBody>
          <a:bodyPr wrap="square" lIns="0" tIns="0" rIns="0" bIns="0" rtlCol="0" anchor="ctr"/>
          <a:lstStyle/>
          <a:p>
            <a:pPr algn="r" indent="0" marL="0">
              <a:buNone/>
            </a:pPr>
            <a:r>
              <a:rPr lang="en-US" sz="1400" b="1" dirty="0">
                <a:solidFill>
                  <a:srgbClr val="1E2460"/>
                </a:solidFill>
                <a:latin typeface="Cambria" pitchFamily="34" charset="0"/>
                <a:ea typeface="Cambria" pitchFamily="34" charset="-122"/>
                <a:cs typeface="Cambria" pitchFamily="34" charset="-120"/>
              </a:rPr>
              <a:t>$480.5M</a:t>
            </a:r>
            <a:endParaRPr lang="en-US" sz="1400" dirty="0"/>
          </a:p>
        </p:txBody>
      </p:sp>
      <p:sp>
        <p:nvSpPr>
          <p:cNvPr id="9" name="Shape 7"/>
          <p:cNvSpPr/>
          <p:nvPr/>
        </p:nvSpPr>
        <p:spPr>
          <a:xfrm>
            <a:off x="548640" y="2606040"/>
            <a:ext cx="11091672" cy="0"/>
          </a:xfrm>
          <a:prstGeom prst="line">
            <a:avLst/>
          </a:prstGeom>
          <a:noFill/>
          <a:ln w="9525">
            <a:solidFill>
              <a:srgbClr val="E3E5EE"/>
            </a:solidFill>
            <a:prstDash val="solid"/>
          </a:ln>
        </p:spPr>
      </p:sp>
      <p:sp>
        <p:nvSpPr>
          <p:cNvPr id="10" name="Text 8"/>
          <p:cNvSpPr/>
          <p:nvPr/>
        </p:nvSpPr>
        <p:spPr>
          <a:xfrm>
            <a:off x="548640" y="2651760"/>
            <a:ext cx="7315200" cy="411480"/>
          </a:xfrm>
          <a:prstGeom prst="rect">
            <a:avLst/>
          </a:prstGeom>
          <a:noFill/>
          <a:ln/>
        </p:spPr>
        <p:txBody>
          <a:bodyPr wrap="square" lIns="0" tIns="0" rIns="0" bIns="0" rtlCol="0" anchor="ctr"/>
          <a:lstStyle/>
          <a:p>
            <a:pPr indent="0" marL="0">
              <a:buNone/>
            </a:pPr>
            <a:r>
              <a:rPr lang="en-US" sz="1300" dirty="0">
                <a:solidFill>
                  <a:srgbClr val="2B2F45"/>
                </a:solidFill>
                <a:latin typeface="Calibri" pitchFamily="34" charset="0"/>
                <a:ea typeface="Calibri" pitchFamily="34" charset="-122"/>
                <a:cs typeface="Calibri" pitchFamily="34" charset="-120"/>
              </a:rPr>
              <a:t>Assumed EBITDA margin at scale</a:t>
            </a:r>
            <a:endParaRPr lang="en-US" sz="1300" dirty="0"/>
          </a:p>
        </p:txBody>
      </p:sp>
      <p:sp>
        <p:nvSpPr>
          <p:cNvPr id="11" name="Text 9"/>
          <p:cNvSpPr/>
          <p:nvPr/>
        </p:nvSpPr>
        <p:spPr>
          <a:xfrm>
            <a:off x="7863840" y="2651760"/>
            <a:ext cx="3776472" cy="411480"/>
          </a:xfrm>
          <a:prstGeom prst="rect">
            <a:avLst/>
          </a:prstGeom>
          <a:noFill/>
          <a:ln/>
        </p:spPr>
        <p:txBody>
          <a:bodyPr wrap="square" lIns="0" tIns="0" rIns="0" bIns="0" rtlCol="0" anchor="ctr"/>
          <a:lstStyle/>
          <a:p>
            <a:pPr algn="r" indent="0" marL="0">
              <a:buNone/>
            </a:pPr>
            <a:r>
              <a:rPr lang="en-US" sz="1400" b="1" dirty="0">
                <a:solidFill>
                  <a:srgbClr val="1E2460"/>
                </a:solidFill>
                <a:latin typeface="Cambria" pitchFamily="34" charset="0"/>
                <a:ea typeface="Cambria" pitchFamily="34" charset="-122"/>
                <a:cs typeface="Cambria" pitchFamily="34" charset="-120"/>
              </a:rPr>
              <a:t>20%</a:t>
            </a:r>
            <a:endParaRPr lang="en-US" sz="1400" dirty="0"/>
          </a:p>
        </p:txBody>
      </p:sp>
      <p:sp>
        <p:nvSpPr>
          <p:cNvPr id="12" name="Shape 10"/>
          <p:cNvSpPr/>
          <p:nvPr/>
        </p:nvSpPr>
        <p:spPr>
          <a:xfrm>
            <a:off x="548640" y="3108960"/>
            <a:ext cx="11091672" cy="0"/>
          </a:xfrm>
          <a:prstGeom prst="line">
            <a:avLst/>
          </a:prstGeom>
          <a:noFill/>
          <a:ln w="9525">
            <a:solidFill>
              <a:srgbClr val="E3E5EE"/>
            </a:solidFill>
            <a:prstDash val="solid"/>
          </a:ln>
        </p:spPr>
      </p:sp>
      <p:sp>
        <p:nvSpPr>
          <p:cNvPr id="13" name="Text 11"/>
          <p:cNvSpPr/>
          <p:nvPr/>
        </p:nvSpPr>
        <p:spPr>
          <a:xfrm>
            <a:off x="548640" y="3154680"/>
            <a:ext cx="7315200" cy="411480"/>
          </a:xfrm>
          <a:prstGeom prst="rect">
            <a:avLst/>
          </a:prstGeom>
          <a:noFill/>
          <a:ln/>
        </p:spPr>
        <p:txBody>
          <a:bodyPr wrap="square" lIns="0" tIns="0" rIns="0" bIns="0" rtlCol="0" anchor="ctr"/>
          <a:lstStyle/>
          <a:p>
            <a:pPr indent="0" marL="0">
              <a:buNone/>
            </a:pPr>
            <a:r>
              <a:rPr lang="en-US" sz="1300" dirty="0">
                <a:solidFill>
                  <a:srgbClr val="2B2F45"/>
                </a:solidFill>
                <a:latin typeface="Calibri" pitchFamily="34" charset="0"/>
                <a:ea typeface="Calibri" pitchFamily="34" charset="-122"/>
                <a:cs typeface="Calibri" pitchFamily="34" charset="-120"/>
              </a:rPr>
              <a:t>Implied Year-10 EBITDA</a:t>
            </a:r>
            <a:endParaRPr lang="en-US" sz="1300" dirty="0"/>
          </a:p>
        </p:txBody>
      </p:sp>
      <p:sp>
        <p:nvSpPr>
          <p:cNvPr id="14" name="Text 12"/>
          <p:cNvSpPr/>
          <p:nvPr/>
        </p:nvSpPr>
        <p:spPr>
          <a:xfrm>
            <a:off x="7863840" y="3154680"/>
            <a:ext cx="3776472" cy="411480"/>
          </a:xfrm>
          <a:prstGeom prst="rect">
            <a:avLst/>
          </a:prstGeom>
          <a:noFill/>
          <a:ln/>
        </p:spPr>
        <p:txBody>
          <a:bodyPr wrap="square" lIns="0" tIns="0" rIns="0" bIns="0" rtlCol="0" anchor="ctr"/>
          <a:lstStyle/>
          <a:p>
            <a:pPr algn="r" indent="0" marL="0">
              <a:buNone/>
            </a:pPr>
            <a:r>
              <a:rPr lang="en-US" sz="1400" b="1" dirty="0">
                <a:solidFill>
                  <a:srgbClr val="1E2460"/>
                </a:solidFill>
                <a:latin typeface="Cambria" pitchFamily="34" charset="0"/>
                <a:ea typeface="Cambria" pitchFamily="34" charset="-122"/>
                <a:cs typeface="Cambria" pitchFamily="34" charset="-120"/>
              </a:rPr>
              <a:t>$96.1M</a:t>
            </a:r>
            <a:endParaRPr lang="en-US" sz="1400" dirty="0"/>
          </a:p>
        </p:txBody>
      </p:sp>
      <p:sp>
        <p:nvSpPr>
          <p:cNvPr id="15" name="Shape 13"/>
          <p:cNvSpPr/>
          <p:nvPr/>
        </p:nvSpPr>
        <p:spPr>
          <a:xfrm>
            <a:off x="548640" y="3611880"/>
            <a:ext cx="11091672" cy="0"/>
          </a:xfrm>
          <a:prstGeom prst="line">
            <a:avLst/>
          </a:prstGeom>
          <a:noFill/>
          <a:ln w="9525">
            <a:solidFill>
              <a:srgbClr val="E3E5EE"/>
            </a:solidFill>
            <a:prstDash val="solid"/>
          </a:ln>
        </p:spPr>
      </p:sp>
      <p:sp>
        <p:nvSpPr>
          <p:cNvPr id="16" name="Text 14"/>
          <p:cNvSpPr/>
          <p:nvPr/>
        </p:nvSpPr>
        <p:spPr>
          <a:xfrm>
            <a:off x="548640" y="3657600"/>
            <a:ext cx="7315200" cy="411480"/>
          </a:xfrm>
          <a:prstGeom prst="rect">
            <a:avLst/>
          </a:prstGeom>
          <a:noFill/>
          <a:ln/>
        </p:spPr>
        <p:txBody>
          <a:bodyPr wrap="square" lIns="0" tIns="0" rIns="0" bIns="0" rtlCol="0" anchor="ctr"/>
          <a:lstStyle/>
          <a:p>
            <a:pPr indent="0" marL="0">
              <a:buNone/>
            </a:pPr>
            <a:r>
              <a:rPr lang="en-US" sz="1300" dirty="0">
                <a:solidFill>
                  <a:srgbClr val="2B2F45"/>
                </a:solidFill>
                <a:latin typeface="Calibri" pitchFamily="34" charset="0"/>
                <a:ea typeface="Calibri" pitchFamily="34" charset="-122"/>
                <a:cs typeface="Calibri" pitchFamily="34" charset="-120"/>
              </a:rPr>
              <a:t>Comp multiple range (public / private A&amp;D)</a:t>
            </a:r>
            <a:endParaRPr lang="en-US" sz="1300" dirty="0"/>
          </a:p>
        </p:txBody>
      </p:sp>
      <p:sp>
        <p:nvSpPr>
          <p:cNvPr id="17" name="Text 15"/>
          <p:cNvSpPr/>
          <p:nvPr/>
        </p:nvSpPr>
        <p:spPr>
          <a:xfrm>
            <a:off x="7863840" y="3657600"/>
            <a:ext cx="3776472" cy="411480"/>
          </a:xfrm>
          <a:prstGeom prst="rect">
            <a:avLst/>
          </a:prstGeom>
          <a:noFill/>
          <a:ln/>
        </p:spPr>
        <p:txBody>
          <a:bodyPr wrap="square" lIns="0" tIns="0" rIns="0" bIns="0" rtlCol="0" anchor="ctr"/>
          <a:lstStyle/>
          <a:p>
            <a:pPr algn="r" indent="0" marL="0">
              <a:buNone/>
            </a:pPr>
            <a:r>
              <a:rPr lang="en-US" sz="1400" b="1" dirty="0">
                <a:solidFill>
                  <a:srgbClr val="1E2460"/>
                </a:solidFill>
                <a:latin typeface="Cambria" pitchFamily="34" charset="0"/>
                <a:ea typeface="Cambria" pitchFamily="34" charset="-122"/>
                <a:cs typeface="Cambria" pitchFamily="34" charset="-120"/>
              </a:rPr>
              <a:t>11.4x — 19.0x</a:t>
            </a:r>
            <a:endParaRPr lang="en-US" sz="1400" dirty="0"/>
          </a:p>
        </p:txBody>
      </p:sp>
      <p:sp>
        <p:nvSpPr>
          <p:cNvPr id="18" name="Shape 16"/>
          <p:cNvSpPr/>
          <p:nvPr/>
        </p:nvSpPr>
        <p:spPr>
          <a:xfrm>
            <a:off x="548640" y="4114800"/>
            <a:ext cx="11091672" cy="0"/>
          </a:xfrm>
          <a:prstGeom prst="line">
            <a:avLst/>
          </a:prstGeom>
          <a:noFill/>
          <a:ln w="9525">
            <a:solidFill>
              <a:srgbClr val="E3E5EE"/>
            </a:solidFill>
            <a:prstDash val="solid"/>
          </a:ln>
        </p:spPr>
      </p:sp>
      <p:sp>
        <p:nvSpPr>
          <p:cNvPr id="19" name="Text 17"/>
          <p:cNvSpPr/>
          <p:nvPr/>
        </p:nvSpPr>
        <p:spPr>
          <a:xfrm>
            <a:off x="548640" y="4160520"/>
            <a:ext cx="7315200" cy="411480"/>
          </a:xfrm>
          <a:prstGeom prst="rect">
            <a:avLst/>
          </a:prstGeom>
          <a:noFill/>
          <a:ln/>
        </p:spPr>
        <p:txBody>
          <a:bodyPr wrap="square" lIns="0" tIns="0" rIns="0" bIns="0" rtlCol="0" anchor="ctr"/>
          <a:lstStyle/>
          <a:p>
            <a:pPr indent="0" marL="0">
              <a:buNone/>
            </a:pPr>
            <a:r>
              <a:rPr lang="en-US" sz="1300" dirty="0">
                <a:solidFill>
                  <a:srgbClr val="2B2F45"/>
                </a:solidFill>
                <a:latin typeface="Calibri" pitchFamily="34" charset="0"/>
                <a:ea typeface="Calibri" pitchFamily="34" charset="-122"/>
                <a:cs typeface="Calibri" pitchFamily="34" charset="-120"/>
              </a:rPr>
              <a:t>Future firm value range</a:t>
            </a:r>
            <a:endParaRPr lang="en-US" sz="1300" dirty="0"/>
          </a:p>
        </p:txBody>
      </p:sp>
      <p:sp>
        <p:nvSpPr>
          <p:cNvPr id="20" name="Text 18"/>
          <p:cNvSpPr/>
          <p:nvPr/>
        </p:nvSpPr>
        <p:spPr>
          <a:xfrm>
            <a:off x="7863840" y="4160520"/>
            <a:ext cx="3776472" cy="411480"/>
          </a:xfrm>
          <a:prstGeom prst="rect">
            <a:avLst/>
          </a:prstGeom>
          <a:noFill/>
          <a:ln/>
        </p:spPr>
        <p:txBody>
          <a:bodyPr wrap="square" lIns="0" tIns="0" rIns="0" bIns="0" rtlCol="0" anchor="ctr"/>
          <a:lstStyle/>
          <a:p>
            <a:pPr algn="r" indent="0" marL="0">
              <a:buNone/>
            </a:pPr>
            <a:r>
              <a:rPr lang="en-US" sz="1400" b="1" dirty="0">
                <a:solidFill>
                  <a:srgbClr val="1E2460"/>
                </a:solidFill>
                <a:latin typeface="Cambria" pitchFamily="34" charset="0"/>
                <a:ea typeface="Cambria" pitchFamily="34" charset="-122"/>
                <a:cs typeface="Cambria" pitchFamily="34" charset="-120"/>
              </a:rPr>
              <a:t>$1,095M — $1,826M</a:t>
            </a:r>
            <a:endParaRPr lang="en-US" sz="1400" dirty="0"/>
          </a:p>
        </p:txBody>
      </p:sp>
      <p:sp>
        <p:nvSpPr>
          <p:cNvPr id="21" name="Shape 19"/>
          <p:cNvSpPr/>
          <p:nvPr/>
        </p:nvSpPr>
        <p:spPr>
          <a:xfrm>
            <a:off x="548640" y="4617720"/>
            <a:ext cx="11091672" cy="0"/>
          </a:xfrm>
          <a:prstGeom prst="line">
            <a:avLst/>
          </a:prstGeom>
          <a:noFill/>
          <a:ln w="9525">
            <a:solidFill>
              <a:srgbClr val="E3E5EE"/>
            </a:solidFill>
            <a:prstDash val="solid"/>
          </a:ln>
        </p:spPr>
      </p:sp>
      <p:sp>
        <p:nvSpPr>
          <p:cNvPr id="22" name="Text 20"/>
          <p:cNvSpPr/>
          <p:nvPr/>
        </p:nvSpPr>
        <p:spPr>
          <a:xfrm>
            <a:off x="548640" y="4754880"/>
            <a:ext cx="11091672" cy="365760"/>
          </a:xfrm>
          <a:prstGeom prst="rect">
            <a:avLst/>
          </a:prstGeom>
          <a:noFill/>
          <a:ln/>
        </p:spPr>
        <p:txBody>
          <a:bodyPr wrap="square" lIns="0" tIns="0" rIns="0" bIns="0" rtlCol="0" anchor="ctr"/>
          <a:lstStyle/>
          <a:p>
            <a:pPr indent="0" marL="0">
              <a:buNone/>
            </a:pPr>
            <a:r>
              <a:rPr lang="en-US" sz="1300" b="1" dirty="0">
                <a:solidFill>
                  <a:srgbClr val="1E2460"/>
                </a:solidFill>
                <a:latin typeface="Calibri" pitchFamily="34" charset="0"/>
                <a:ea typeface="Calibri" pitchFamily="34" charset="-122"/>
                <a:cs typeface="Calibri" pitchFamily="34" charset="-120"/>
              </a:rPr>
              <a:t>Discounted 10 periods @ 20% (matches projection horizon)</a:t>
            </a:r>
            <a:endParaRPr lang="en-US" sz="1300" dirty="0"/>
          </a:p>
        </p:txBody>
      </p:sp>
      <p:sp>
        <p:nvSpPr>
          <p:cNvPr id="23" name="Shape 21"/>
          <p:cNvSpPr/>
          <p:nvPr/>
        </p:nvSpPr>
        <p:spPr>
          <a:xfrm>
            <a:off x="548640" y="5257800"/>
            <a:ext cx="11091672" cy="868680"/>
          </a:xfrm>
          <a:prstGeom prst="rect">
            <a:avLst/>
          </a:prstGeom>
          <a:solidFill>
            <a:srgbClr val="1E2460"/>
          </a:solidFill>
          <a:ln w="12700">
            <a:solidFill>
              <a:srgbClr val="1E2460"/>
            </a:solidFill>
            <a:prstDash val="solid"/>
          </a:ln>
        </p:spPr>
      </p:sp>
      <p:sp>
        <p:nvSpPr>
          <p:cNvPr id="24" name="Text 22"/>
          <p:cNvSpPr/>
          <p:nvPr/>
        </p:nvSpPr>
        <p:spPr>
          <a:xfrm>
            <a:off x="822960" y="5257800"/>
            <a:ext cx="6400800"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Implied discounted fair value — midpoint</a:t>
            </a:r>
            <a:endParaRPr lang="en-US" sz="1400" dirty="0"/>
          </a:p>
        </p:txBody>
      </p:sp>
      <p:sp>
        <p:nvSpPr>
          <p:cNvPr id="25" name="Text 23"/>
          <p:cNvSpPr/>
          <p:nvPr/>
        </p:nvSpPr>
        <p:spPr>
          <a:xfrm>
            <a:off x="6949440" y="5257800"/>
            <a:ext cx="4416552" cy="868680"/>
          </a:xfrm>
          <a:prstGeom prst="rect">
            <a:avLst/>
          </a:prstGeom>
          <a:noFill/>
          <a:ln/>
        </p:spPr>
        <p:txBody>
          <a:bodyPr wrap="square" lIns="0" tIns="0" rIns="0" bIns="0" rtlCol="0" anchor="ctr"/>
          <a:lstStyle/>
          <a:p>
            <a:pPr algn="r" indent="0" marL="0">
              <a:buNone/>
            </a:pPr>
            <a:r>
              <a:rPr lang="en-US" sz="2800" b="1" dirty="0">
                <a:solidFill>
                  <a:srgbClr val="E4B33A"/>
                </a:solidFill>
                <a:latin typeface="Cambria" pitchFamily="34" charset="0"/>
                <a:ea typeface="Cambria" pitchFamily="34" charset="-122"/>
                <a:cs typeface="Cambria" pitchFamily="34" charset="-120"/>
              </a:rPr>
              <a:t>$235.9M</a:t>
            </a:r>
            <a:endParaRPr lang="en-US" sz="2800" dirty="0"/>
          </a:p>
        </p:txBody>
      </p:sp>
      <p:sp>
        <p:nvSpPr>
          <p:cNvPr id="26" name="Text 24"/>
          <p:cNvSpPr/>
          <p:nvPr/>
        </p:nvSpPr>
        <p:spPr>
          <a:xfrm>
            <a:off x="548640" y="6172200"/>
            <a:ext cx="11091672" cy="457200"/>
          </a:xfrm>
          <a:prstGeom prst="rect">
            <a:avLst/>
          </a:prstGeom>
          <a:noFill/>
          <a:ln/>
        </p:spPr>
        <p:txBody>
          <a:bodyPr wrap="square" lIns="0" tIns="0" rIns="0" bIns="0" rtlCol="0" anchor="t"/>
          <a:lstStyle/>
          <a:p>
            <a:pPr indent="0" marL="0">
              <a:buNone/>
            </a:pPr>
            <a:r>
              <a:rPr lang="en-US" sz="1000" i="1" dirty="0">
                <a:solidFill>
                  <a:srgbClr val="6B7280"/>
                </a:solidFill>
                <a:latin typeface="Calibri" pitchFamily="34" charset="0"/>
                <a:ea typeface="Calibri" pitchFamily="34" charset="-122"/>
                <a:cs typeface="Calibri" pitchFamily="34" charset="-120"/>
              </a:rPr>
              <a:t>The discount period is deliberately matched to the 10-year projection horizon. Discounting over a shorter, mismatched window (e.g. 3 periods) would have shown ~$845M — roughly 3.6x higher — from a methodological shortcut alone. This model does not take that shortcut.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460"/>
        </a:solidFill>
      </p:bgPr>
    </p:bg>
    <p:spTree>
      <p:nvGrpSpPr>
        <p:cNvPr id="1" name=""/>
        <p:cNvGrpSpPr/>
        <p:nvPr/>
      </p:nvGrpSpPr>
      <p:grpSpPr>
        <a:xfrm>
          <a:off x="0" y="0"/>
          <a:ext cx="0" cy="0"/>
          <a:chOff x="0" y="0"/>
          <a:chExt cx="0" cy="0"/>
        </a:xfrm>
      </p:grpSpPr>
      <p:sp>
        <p:nvSpPr>
          <p:cNvPr id="2" name="Text 0"/>
          <p:cNvSpPr/>
          <p:nvPr/>
        </p:nvSpPr>
        <p:spPr>
          <a:xfrm>
            <a:off x="548640" y="731520"/>
            <a:ext cx="11091672"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This Leaves Us</a:t>
            </a:r>
            <a:endParaRPr lang="en-US" sz="3200" dirty="0"/>
          </a:p>
        </p:txBody>
      </p:sp>
      <p:sp>
        <p:nvSpPr>
          <p:cNvPr id="3" name="Text 1"/>
          <p:cNvSpPr/>
          <p:nvPr/>
        </p:nvSpPr>
        <p:spPr>
          <a:xfrm>
            <a:off x="548640" y="1828800"/>
            <a:ext cx="11091672" cy="685800"/>
          </a:xfrm>
          <a:prstGeom prst="rect">
            <a:avLst/>
          </a:prstGeom>
          <a:noFill/>
          <a:ln/>
        </p:spPr>
        <p:txBody>
          <a:bodyPr wrap="square" lIns="0" tIns="0" rIns="0" bIns="0" rtlCol="0" anchor="ctr"/>
          <a:lstStyle/>
          <a:p>
            <a:pPr indent="0" marL="0">
              <a:buNone/>
            </a:pPr>
            <a:r>
              <a:rPr lang="en-US" sz="1600" b="1" dirty="0">
                <a:solidFill>
                  <a:srgbClr val="E4B33A"/>
                </a:solidFill>
                <a:latin typeface="Calibri" pitchFamily="34" charset="0"/>
                <a:ea typeface="Calibri" pitchFamily="34" charset="-122"/>
                <a:cs typeface="Calibri" pitchFamily="34" charset="-120"/>
              </a:rPr>
              <a:t>The need: </a:t>
            </a:r>
            <a:pPr indent="0" marL="0">
              <a:buNone/>
            </a:pPr>
            <a:r>
              <a:rPr lang="en-US" sz="1600" dirty="0">
                <a:solidFill>
                  <a:srgbClr val="FFFFFF"/>
                </a:solidFill>
                <a:latin typeface="Calibri" pitchFamily="34" charset="0"/>
                <a:ea typeface="Calibri" pitchFamily="34" charset="-122"/>
                <a:cs typeface="Calibri" pitchFamily="34" charset="-120"/>
              </a:rPr>
              <a:t>ordnances accumulating faster than fixed-plant capacity can absorb them; the U.S. Army alone has committed over $3bn across its 2026–27 demil awards and opened the door to new entrants</a:t>
            </a:r>
            <a:endParaRPr lang="en-US" sz="1600" dirty="0"/>
          </a:p>
        </p:txBody>
      </p:sp>
      <p:sp>
        <p:nvSpPr>
          <p:cNvPr id="4" name="Text 2"/>
          <p:cNvSpPr/>
          <p:nvPr/>
        </p:nvSpPr>
        <p:spPr>
          <a:xfrm>
            <a:off x="548640" y="2606040"/>
            <a:ext cx="11091672" cy="685800"/>
          </a:xfrm>
          <a:prstGeom prst="rect">
            <a:avLst/>
          </a:prstGeom>
          <a:noFill/>
          <a:ln/>
        </p:spPr>
        <p:txBody>
          <a:bodyPr wrap="square" lIns="0" tIns="0" rIns="0" bIns="0" rtlCol="0" anchor="ctr"/>
          <a:lstStyle/>
          <a:p>
            <a:pPr indent="0" marL="0">
              <a:buNone/>
            </a:pPr>
            <a:r>
              <a:rPr lang="en-US" sz="1600" b="1" dirty="0">
                <a:solidFill>
                  <a:srgbClr val="E4B33A"/>
                </a:solidFill>
                <a:latin typeface="Calibri" pitchFamily="34" charset="0"/>
                <a:ea typeface="Calibri" pitchFamily="34" charset="-122"/>
                <a:cs typeface="Calibri" pitchFamily="34" charset="-120"/>
              </a:rPr>
              <a:t>The position: </a:t>
            </a:r>
            <a:pPr indent="0" marL="0">
              <a:buNone/>
            </a:pPr>
            <a:r>
              <a:rPr lang="en-US" sz="1600" dirty="0">
                <a:solidFill>
                  <a:srgbClr val="FFFFFF"/>
                </a:solidFill>
                <a:latin typeface="Calibri" pitchFamily="34" charset="0"/>
                <a:ea typeface="Calibri" pitchFamily="34" charset="-122"/>
                <a:cs typeface="Calibri" pitchFamily="34" charset="-120"/>
              </a:rPr>
              <a:t>field-proven since 2001, existing police, allied-military and agent relationships across three continents</a:t>
            </a:r>
            <a:endParaRPr lang="en-US" sz="1600" dirty="0"/>
          </a:p>
        </p:txBody>
      </p:sp>
      <p:sp>
        <p:nvSpPr>
          <p:cNvPr id="5" name="Text 3"/>
          <p:cNvSpPr/>
          <p:nvPr/>
        </p:nvSpPr>
        <p:spPr>
          <a:xfrm>
            <a:off x="548640" y="3383280"/>
            <a:ext cx="11091672" cy="685800"/>
          </a:xfrm>
          <a:prstGeom prst="rect">
            <a:avLst/>
          </a:prstGeom>
          <a:noFill/>
          <a:ln/>
        </p:spPr>
        <p:txBody>
          <a:bodyPr wrap="square" lIns="0" tIns="0" rIns="0" bIns="0" rtlCol="0" anchor="ctr"/>
          <a:lstStyle/>
          <a:p>
            <a:pPr indent="0" marL="0">
              <a:buNone/>
            </a:pPr>
            <a:r>
              <a:rPr lang="en-US" sz="1600" b="1" dirty="0">
                <a:solidFill>
                  <a:srgbClr val="E4B33A"/>
                </a:solidFill>
                <a:latin typeface="Calibri" pitchFamily="34" charset="0"/>
                <a:ea typeface="Calibri" pitchFamily="34" charset="-122"/>
                <a:cs typeface="Calibri" pitchFamily="34" charset="-120"/>
              </a:rPr>
              <a:t>The plan: </a:t>
            </a:r>
            <a:pPr indent="0" marL="0">
              <a:buNone/>
            </a:pPr>
            <a:r>
              <a:rPr lang="en-US" sz="1600" dirty="0">
                <a:solidFill>
                  <a:srgbClr val="FFFFFF"/>
                </a:solidFill>
                <a:latin typeface="Calibri" pitchFamily="34" charset="0"/>
                <a:ea typeface="Calibri" pitchFamily="34" charset="-122"/>
                <a:cs typeface="Calibri" pitchFamily="34" charset="-120"/>
              </a:rPr>
              <a:t>organic growth + a funded acquisition program to ~$450–500M revenue by Year 10</a:t>
            </a:r>
            <a:endParaRPr lang="en-US" sz="1600" dirty="0"/>
          </a:p>
        </p:txBody>
      </p:sp>
      <p:sp>
        <p:nvSpPr>
          <p:cNvPr id="6" name="Text 4"/>
          <p:cNvSpPr/>
          <p:nvPr/>
        </p:nvSpPr>
        <p:spPr>
          <a:xfrm>
            <a:off x="548640" y="4160520"/>
            <a:ext cx="11091672" cy="685800"/>
          </a:xfrm>
          <a:prstGeom prst="rect">
            <a:avLst/>
          </a:prstGeom>
          <a:noFill/>
          <a:ln/>
        </p:spPr>
        <p:txBody>
          <a:bodyPr wrap="square" lIns="0" tIns="0" rIns="0" bIns="0" rtlCol="0" anchor="ctr"/>
          <a:lstStyle/>
          <a:p>
            <a:pPr indent="0" marL="0">
              <a:buNone/>
            </a:pPr>
            <a:r>
              <a:rPr lang="en-US" sz="1600" b="1" dirty="0">
                <a:solidFill>
                  <a:srgbClr val="E4B33A"/>
                </a:solidFill>
                <a:latin typeface="Calibri" pitchFamily="34" charset="0"/>
                <a:ea typeface="Calibri" pitchFamily="34" charset="-122"/>
                <a:cs typeface="Calibri" pitchFamily="34" charset="-120"/>
              </a:rPr>
              <a:t>The valuation lens: </a:t>
            </a:r>
            <a:pPr indent="0" marL="0">
              <a:buNone/>
            </a:pPr>
            <a:r>
              <a:rPr lang="en-US" sz="1600" dirty="0">
                <a:solidFill>
                  <a:srgbClr val="FFFFFF"/>
                </a:solidFill>
                <a:latin typeface="Calibri" pitchFamily="34" charset="0"/>
                <a:ea typeface="Calibri" pitchFamily="34" charset="-122"/>
                <a:cs typeface="Calibri" pitchFamily="34" charset="-120"/>
              </a:rPr>
              <a:t>a standard, sourced go-public methodology, applied on a matched 10-year basis</a:t>
            </a:r>
            <a:endParaRPr lang="en-US" sz="1600" dirty="0"/>
          </a:p>
        </p:txBody>
      </p:sp>
      <p:sp>
        <p:nvSpPr>
          <p:cNvPr id="7" name="Text 5"/>
          <p:cNvSpPr/>
          <p:nvPr/>
        </p:nvSpPr>
        <p:spPr>
          <a:xfrm>
            <a:off x="548640" y="4937760"/>
            <a:ext cx="11091672" cy="685800"/>
          </a:xfrm>
          <a:prstGeom prst="rect">
            <a:avLst/>
          </a:prstGeom>
          <a:noFill/>
          <a:ln/>
        </p:spPr>
        <p:txBody>
          <a:bodyPr wrap="square" lIns="0" tIns="0" rIns="0" bIns="0" rtlCol="0" anchor="ctr"/>
          <a:lstStyle/>
          <a:p>
            <a:pPr indent="0" marL="0">
              <a:buNone/>
            </a:pPr>
            <a:r>
              <a:rPr lang="en-US" sz="1600" b="1" dirty="0">
                <a:solidFill>
                  <a:srgbClr val="E4B33A"/>
                </a:solidFill>
                <a:latin typeface="Calibri" pitchFamily="34" charset="0"/>
                <a:ea typeface="Calibri" pitchFamily="34" charset="-122"/>
                <a:cs typeface="Calibri" pitchFamily="34" charset="-120"/>
              </a:rPr>
              <a:t>The decision: </a:t>
            </a:r>
            <a:pPr indent="0" marL="0">
              <a:buNone/>
            </a:pPr>
            <a:r>
              <a:rPr lang="en-US" sz="1600" dirty="0">
                <a:solidFill>
                  <a:srgbClr val="FFFFFF"/>
                </a:solidFill>
                <a:latin typeface="Calibri" pitchFamily="34" charset="0"/>
                <a:ea typeface="Calibri" pitchFamily="34" charset="-122"/>
                <a:cs typeface="Calibri" pitchFamily="34" charset="-120"/>
              </a:rPr>
              <a:t>capital deployment and M&amp;A execution capability, more than market size or story</a:t>
            </a:r>
            <a:endParaRPr lang="en-US" sz="1600" dirty="0"/>
          </a:p>
        </p:txBody>
      </p:sp>
      <p:sp>
        <p:nvSpPr>
          <p:cNvPr id="8" name="Text 6"/>
          <p:cNvSpPr/>
          <p:nvPr/>
        </p:nvSpPr>
        <p:spPr>
          <a:xfrm>
            <a:off x="548640" y="6126480"/>
            <a:ext cx="11091672" cy="274320"/>
          </a:xfrm>
          <a:prstGeom prst="rect">
            <a:avLst/>
          </a:prstGeom>
          <a:noFill/>
          <a:ln/>
        </p:spPr>
        <p:txBody>
          <a:bodyPr wrap="square" lIns="0" tIns="0" rIns="0" bIns="0" rtlCol="0" anchor="ctr"/>
          <a:lstStyle/>
          <a:p>
            <a:pPr indent="0" marL="0">
              <a:buNone/>
            </a:pPr>
            <a:r>
              <a:rPr lang="en-US" sz="950" i="1" dirty="0">
                <a:solidFill>
                  <a:srgbClr val="C7CEEA"/>
                </a:solidFill>
                <a:latin typeface="Calibri" pitchFamily="34" charset="0"/>
                <a:ea typeface="Calibri" pitchFamily="34" charset="-122"/>
                <a:cs typeface="Calibri" pitchFamily="34" charset="-120"/>
              </a:rPr>
              <a:t>See the accompanying supporting memo and TWB_10-15yr_Forecast.xlsx workbook for the full model, assumptions, and sourcing.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TWB — Global Secure Destruction &amp; Demilitarization Platform</dc:title>
  <dc:subject>PptxGenJS Presentation</dc:subject>
  <dc:creator>PptxGenJS</dc:creator>
  <cp:lastModifiedBy>PptxGenJS</cp:lastModifiedBy>
  <cp:revision>1</cp:revision>
  <dcterms:created xsi:type="dcterms:W3CDTF">2026-08-25T13:28:49Z</dcterms:created>
  <dcterms:modified xsi:type="dcterms:W3CDTF">2026-08-25T13:28:49Z</dcterms:modified>
</cp:coreProperties>
</file>