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Build (organic)</c:v>
                </c:pt>
              </c:strCache>
            </c:strRef>
          </c:tx>
          <c:spPr>
            <a:solidFill>
              <a:srgbClr val="6670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2026</c:v>
                  </c:pt>
                  <c:pt idx="1">
                    <c:v>2027</c:v>
                  </c:pt>
                  <c:pt idx="2">
                    <c:v>2028</c:v>
                  </c:pt>
                  <c:pt idx="3">
                    <c:v>2029</c:v>
                  </c:pt>
                  <c:pt idx="4">
                    <c:v>2030</c:v>
                  </c:pt>
                  <c:pt idx="5">
                    <c:v>2031</c:v>
                  </c:pt>
                  <c:pt idx="6">
                    <c:v>2032</c:v>
                  </c:pt>
                  <c:pt idx="7">
                    <c:v>2033</c:v>
                  </c:pt>
                  <c:pt idx="8">
                    <c:v>2034</c:v>
                  </c:pt>
                  <c:pt idx="9">
                    <c:v>2035</c:v>
                  </c:pt>
                  <c:pt idx="10">
                    <c:v>2036</c:v>
                  </c:pt>
                </c:lvl>
              </c:multiLvlStrCache>
            </c:multiLvlStrRef>
          </c:cat>
          <c:val>
            <c:numRef>
              <c:f>Sheet1!$B$2:$B$12</c:f>
              <c:numCache>
                <c:formatCode>General</c:formatCode>
                <c:ptCount val="11"/>
                <c:pt idx="0">
                  <c:v>0.6</c:v>
                </c:pt>
                <c:pt idx="1">
                  <c:v>2.1</c:v>
                </c:pt>
                <c:pt idx="2">
                  <c:v>3</c:v>
                </c:pt>
                <c:pt idx="3">
                  <c:v>10.8</c:v>
                </c:pt>
                <c:pt idx="4">
                  <c:v>24.2</c:v>
                </c:pt>
                <c:pt idx="5">
                  <c:v>44.3</c:v>
                </c:pt>
                <c:pt idx="6">
                  <c:v>60.3</c:v>
                </c:pt>
                <c:pt idx="7">
                  <c:v>82.6</c:v>
                </c:pt>
                <c:pt idx="8">
                  <c:v>99.8</c:v>
                </c:pt>
                <c:pt idx="9">
                  <c:v>124.5</c:v>
                </c:pt>
                <c:pt idx="10">
                  <c:v>157.3</c:v>
                </c:pt>
              </c:numCache>
            </c:numRef>
          </c:val>
        </c:ser>
        <c:ser>
          <c:idx val="1"/>
          <c:order val="1"/>
          <c:tx>
            <c:strRef>
              <c:f>Sheet1!$C$1</c:f>
              <c:strCache>
                <c:ptCount val="1"/>
                <c:pt idx="0">
                  <c:v>Buy (acquisition)</c:v>
                </c:pt>
              </c:strCache>
            </c:strRef>
          </c:tx>
          <c:spPr>
            <a:solidFill>
              <a:srgbClr val="B4BDB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2026</c:v>
                  </c:pt>
                  <c:pt idx="1">
                    <c:v>2027</c:v>
                  </c:pt>
                  <c:pt idx="2">
                    <c:v>2028</c:v>
                  </c:pt>
                  <c:pt idx="3">
                    <c:v>2029</c:v>
                  </c:pt>
                  <c:pt idx="4">
                    <c:v>2030</c:v>
                  </c:pt>
                  <c:pt idx="5">
                    <c:v>2031</c:v>
                  </c:pt>
                  <c:pt idx="6">
                    <c:v>2032</c:v>
                  </c:pt>
                  <c:pt idx="7">
                    <c:v>2033</c:v>
                  </c:pt>
                  <c:pt idx="8">
                    <c:v>2034</c:v>
                  </c:pt>
                  <c:pt idx="9">
                    <c:v>2035</c:v>
                  </c:pt>
                  <c:pt idx="10">
                    <c:v>2036</c:v>
                  </c:pt>
                </c:lvl>
              </c:multiLvlStrCache>
            </c:multiLvlStrRef>
          </c:cat>
          <c:val>
            <c:numRef>
              <c:f>Sheet1!$C$2:$C$12</c:f>
              <c:numCache>
                <c:formatCode>General</c:formatCode>
                <c:ptCount val="11"/>
                <c:pt idx="0">
                  <c:v>0</c:v>
                </c:pt>
                <c:pt idx="1">
                  <c:v>0</c:v>
                </c:pt>
                <c:pt idx="2">
                  <c:v>33</c:v>
                </c:pt>
                <c:pt idx="3">
                  <c:v>49</c:v>
                </c:pt>
                <c:pt idx="4">
                  <c:v>64.8</c:v>
                </c:pt>
                <c:pt idx="5">
                  <c:v>92.6</c:v>
                </c:pt>
                <c:pt idx="6">
                  <c:v>103.7</c:v>
                </c:pt>
                <c:pt idx="7">
                  <c:v>131.2</c:v>
                </c:pt>
                <c:pt idx="8">
                  <c:v>146.9</c:v>
                </c:pt>
                <c:pt idx="9">
                  <c:v>164.5</c:v>
                </c:pt>
                <c:pt idx="10">
                  <c:v>184.3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700" b="0" i="0" u="none" strike="noStrike">
                <a:solidFill>
                  <a:srgbClr val="6E6C66"/>
                </a:solidFill>
                <a:latin typeface="IBM Plex Mono"/>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2E1DA"/>
              </a:solidFill>
              <a:prstDash val="solid"/>
              <a:round/>
            </a:ln>
          </c:spPr>
        </c:majorGridlines>
        <c:numFmt formatCode="$#,##0&quot;M&quot;" sourceLinked="0"/>
        <c:majorTickMark val="out"/>
        <c:minorTickMark val="none"/>
        <c:tickLblPos val="nextTo"/>
        <c:spPr>
          <a:ln w="12700" cap="flat">
            <a:noFill/>
            <a:prstDash val="solid"/>
            <a:round/>
          </a:ln>
        </c:spPr>
        <c:txPr>
          <a:bodyPr/>
          <a:lstStyle/>
          <a:p>
            <a:pPr>
              <a:defRPr sz="700" b="0" i="0" u="none" strike="noStrike">
                <a:solidFill>
                  <a:srgbClr val="6E6C66"/>
                </a:solidFill>
                <a:latin typeface="IBM Plex Mono"/>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33332F"/>
              </a:solidFill>
              <a:latin typeface="Helvetica Neue"/>
              <a:cs typeface="Helvetica Neue"/>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contrast: the world has never spent more on defence, and no one has assembled the company that unmakes it at the founder scale where the capability actually sits. TWB Designs is the operating foundation that assembly starts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on the present, placed first on purpose: proof we operate. The number that separates us from a slide deck is 25 - a quarter-century of custody destruction. Do not lead with current revenue; lead with the doctrine and the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machine is the proof, not the hero. Custody is the sharpest proof point: same day, on site, the owner's own people, zero transfers. Patents are expired - do not lean on them; the moat is process know-how, permits, references and custody data. Regulatory line: hold to the citable fact (not open burning under 40 CFR 260.10) and let counsel settle incinerator/Subpart X classification before any further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traction slide the reviewer asked for - real actuals, not smoothed. Lead with debt-free and the reference base; do not oversell the revenue decline, explain it plainly (intercompany fee + lumpy equipment sales + softer services demand pre-raise). Fleet count stays unconfirmed pending 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Reviewer's explicit request: a team slide focused on why this team can win a regulated defence/munitions roll-up. Only two real, confirmed people appear here - no invented names or roles. Kasper content reuses the fact-checked advisor one-pager; do not add unconfirmed detail beyond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per reviewer feedback: a positioning map up front, the full comparison table on the following slide. Never mock the incumbents - several recover metal and several are larger; what nobody combines is custody-mobile destruction, a police channel, and a mandate to assemble the founder-scale capability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detail table the main-deck positioning map (slide 8) points to. Never mock the incumbents; state the table flatly.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on the US stockpile: the P-1 books show the account falling 37% since FY2016 - the pile is worked down slowly and the hard part (missile components, 6.5% → 16.8%) grows inside it; the Army's own October 2025 forecast has generations rising again to ~361,000 short tons by FY30. Both series are in the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strokes and dark neutral for the negative register. Argue safety of handling, not environment: the Army's own objection to preprocessing is personnel exposure, and point-of-storage destruction answers it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USGS data only. The honest number is a roughly fivefold move to a ~$60,000/t peak in mid-2025, easing since - still the sharpest repricing of any output metal.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this construction is ours. The scale drawing shows SOM as a sliver of TAM - the honest shape of a venture case. Discipline: we are never scored on tons per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here is a primary-source budget line or award. The point is not that TWB wins these vehicles today - it is that the buyer funds demil annually, recompetes commercial capacity, and is paying twenty-year money for the fixed-site model we intend to complement and, by acquisition, own a piece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venture slide - the story IS the roadmap. Engines are shown as a heading; individual lines are deliberately not tagged by delivery mode. The named, ranked acquisition shortlist stays out of circulating decks and comes out in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dissolution licence is real and in discussion; the sensing partner is a placeholder until confirmed - do not name an institution in the room. Chemical weapons are out. Geography compressed onto this slide (was its own slide) per reviewer feedback that 10-14 repeated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cash and references price Phase 2 acquisitions; Phase 2 capability wins Phase 3 sovereign programmes. The ask slide sizes against this ladder.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Year 0 is anchored to the FY2025 actual (a marked placeholder until the FY2026 estimate is supplied); acquisitions are priced at real multiples; the plan lands at $342M - defensible line by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ten-year capital picture - kept because a PE reader prices the whole plan regardless. Positioned as context for the Ask slide immediately following, not as the ask itself: this capital raise funds Phase 1 and reserves toward the first acquisition; the ten-year, six-deal picture is the upside case built on top of it. Simplified per Tom's request: the granular, harder-to-defend gross-use-of-funds line items were dropped in favor of the phase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reviewer's #1 highest-impact change: a clear ask slide. Be precise about what $10M does and does not fund - it is honestly a fraction of the full programme, and the slide says so. Instrument, valuation and close date are genuinely undecided - do not fill them in with invented specifics; if pressed, say these are set with the lead investor.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Tom's request: run the 2028 forecast through both comps' multiples. Revenue is the fair 2028 lens - EBITDA is genuinely too thin this early (3.6% margin) to support a defensible earnings multiple; forcing one here would be exactly the kind of unsupportable assumption that got cut elsewhere in this revision. The earnings-multiple comparison is deferred to the Year-7 figures on the valuation-framework reference slide, where margin has scaled.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emotional peak before the close. Lead with "4" before naming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bookend, then land on the specific ask, milestones and decision - per reviewer feedback on the prior closing slide. Hand them the memo and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Held at the back of the deck, not presented in the core narrative - kept for internal reference in case a reviewer asks how the framework itself works, in addition to the comp-universe slide that applies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Combined onto a single References slide per Tom's request. Citation lines are truncated for density - full text is in the standalone memo and fact-check log. Leave this up during Q&amp;A; if challenged on a number, go to the superscript, not to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hyperlink" Target="https://www.officer.com/tactical/firearm-accessories/product/10446308/twb-designs-inc-emacs-ammo-burner" TargetMode="External"/><Relationship Id="rId3" Type="http://schemas.openxmlformats.org/officeDocument/2006/relationships/hyperlink" Target="https://www.acquisition.gov/dfars/225.872-1-general." TargetMode="External"/><Relationship Id="rId4" Type="http://schemas.openxmlformats.org/officeDocument/2006/relationships/hyperlink" Target="https://www.ecfr.gov/current/title-40/chapter-I/subchapter-I/part-260/subpart-B/section-260.10" TargetMode="External"/><Relationship Id="rId5" Type="http://schemas.openxmlformats.org/officeDocument/2006/relationships/hyperlink" Target="https://dynasafe.com/demilitarization/munitions-destruction-tech/static-detonation-chamber-demilitarization/" TargetMode="External"/><Relationship Id="rId6" Type="http://schemas.openxmlformats.org/officeDocument/2006/relationships/hyperlink" Target="https://patents.google.com/patent/US6758151B2/en" TargetMode="External"/><Relationship Id="rId7" Type="http://schemas.openxmlformats.org/officeDocument/2006/relationships/hyperlink" Target="https://www.federalregister.gov/documents/2025/11/07/2025-19813/final-2025-list-of-critical-minerals" TargetMode="External"/><Relationship Id="rId8" Type="http://schemas.openxmlformats.org/officeDocument/2006/relationships/hyperlink" Target="https://www.prweb.com/releases/environmentally_smart_ammunition_disposal_heads_to_northern_europe/prweb11392397.htm" TargetMode="External"/><Relationship Id="rId9" Type="http://schemas.openxmlformats.org/officeDocument/2006/relationships/hyperlink" Target="https://uscode.house.gov/view.xhtml?req=granuleid:USC-prelim-title10-section7690&amp;num=0&amp;edition=prelim" TargetMode="External"/><Relationship Id="rId10" Type="http://schemas.openxmlformats.org/officeDocument/2006/relationships/hyperlink" Target="https://hilliardohio.gov/safer-homes-spring-clean-out-ammunition-take-back-day-planned-march-21/" TargetMode="External"/><Relationship Id="rId11" Type="http://schemas.openxmlformats.org/officeDocument/2006/relationships/hyperlink" Target="https://www.officer.com/on-the-street/apparel/article/10440937/results-from-the-2011-innovation-awards?page=2" TargetMode="External"/><Relationship Id="rId12" Type="http://schemas.openxmlformats.org/officeDocument/2006/relationships/hyperlink" Target="https://envirosafedemil.com/about-esd" TargetMode="External"/><Relationship Id="rId13" Type="http://schemas.openxmlformats.org/officeDocument/2006/relationships/hyperlink" Target="https://www.rheinmetall.com/en/company/subsidiaries/american-rheinmetall-munitions" TargetMode="External"/><Relationship Id="rId14" Type="http://schemas.openxmlformats.org/officeDocument/2006/relationships/hyperlink" Target="https://www.gdots.com/wp-content/uploads/2017/11/Demil-Capabilities.pdf" TargetMode="External"/><Relationship Id="rId15" Type="http://schemas.openxmlformats.org/officeDocument/2006/relationships/hyperlink" Target="https://dynasafe.com/demilitarization/mobile-ammunition-disposal/" TargetMode="External"/><Relationship Id="rId16" Type="http://schemas.openxmlformats.org/officeDocument/2006/relationships/hyperlink" Target="https://www.dayzim.com/services-and-products/munitions/demilitarization-conventional-munitions" TargetMode="External"/><Relationship Id="rId17" Type="http://schemas.openxmlformats.org/officeDocument/2006/relationships/hyperlink" Target="https://www.sipri.org/sites/default/files/2026-04/2604_milex_2025.pdf" TargetMode="External"/><Relationship Id="rId18" Type="http://schemas.openxmlformats.org/officeDocument/2006/relationships/hyperlink" Target="https://www.uu.se/en/press/press-releases/2026/2026-06-09-ucdp-record-number-of-conflicts-between-states" TargetMode="External"/><Relationship Id="rId19" Type="http://schemas.openxmlformats.org/officeDocument/2006/relationships/hyperlink" Target="https://www.asafm.army.mil/Portals/72/Documents/BudgetMaterial/2027/Discretionary%20Budget/Procurement/Procurement_of_Ammunition.pdf" TargetMode="External"/><Relationship Id="rId20" Type="http://schemas.openxmlformats.org/officeDocument/2006/relationships/hyperlink" Target="https://breakingdefense.com/2026/03/nato-sees-145b-in-munitions-needs-as-members-all-hit-2-percent-gdp-for-first-time/" TargetMode="External"/><Relationship Id="rId21" Type="http://schemas.openxmlformats.org/officeDocument/2006/relationships/hyperlink" Target="https://www.worldbank.org/en/news/press-release/2026/02/23/updated-ukraine-recovery-and-reconstruction-needs-assessment-released" TargetMode="External"/><Relationship Id="rId22" Type="http://schemas.openxmlformats.org/officeDocument/2006/relationships/hyperlink" Target="https://www.ungm.org/Public/Notice/271658" TargetMode="External"/><Relationship Id="rId23" Type="http://schemas.openxmlformats.org/officeDocument/2006/relationships/hyperlink" Target="https://www.nationalacademies.org/read/25140/chapter/4" TargetMode="External"/><Relationship Id="rId24" Type="http://schemas.openxmlformats.org/officeDocument/2006/relationships/hyperlink" Target="https://www.federalregister.gov/documents/2024/03/20/2024-05088/revisions-to-standards-for-the-open-burningopen-detonation-of-waste-explosives" TargetMode="External"/><Relationship Id="rId25" Type="http://schemas.openxmlformats.org/officeDocument/2006/relationships/hyperlink" Target="https://www.cbsnews.com/losangeles/news/explosion-los-angeles-county-sheriffs-department-training-facility/" TargetMode="External"/><Relationship Id="rId26" Type="http://schemas.openxmlformats.org/officeDocument/2006/relationships/hyperlink" Target="https://pubs.usgs.gov/periodicals/mcs2026/mcs2026-antimony.pdf" TargetMode="External"/><Relationship Id="rId27" Type="http://schemas.openxmlformats.org/officeDocument/2006/relationships/hyperlink" Target="https://tradingeconomics.com/commodity/lead" TargetMode="External"/><Relationship Id="rId28" Type="http://schemas.openxmlformats.org/officeDocument/2006/relationships/hyperlink" Target="https://perpetuaresources.com/export-import-bank-of-the-united-states-approves-2-9-billion-loan-for-developmen/" TargetMode="External"/><Relationship Id="rId29" Type="http://schemas.openxmlformats.org/officeDocument/2006/relationships/hyperlink" Target="https://www.gao.gov/products/gao-26-108687" TargetMode="External"/><Relationship Id="rId30" Type="http://schemas.openxmlformats.org/officeDocument/2006/relationships/hyperlink" Target="https://www.globalgrowthinsights.com/market-reports/explosive-ordnance-disposal-eod-market-109006" TargetMode="External"/><Relationship Id="rId31" Type="http://schemas.openxmlformats.org/officeDocument/2006/relationships/hyperlink" Target="https://the-monitor.org/api/assets/reports/Landmine-Monitors/LMM2025/Downloads/LM2025-Major-Findings_EN.pdf" TargetMode="External"/><Relationship Id="rId32" Type="http://schemas.openxmlformats.org/officeDocument/2006/relationships/hyperlink" Target="https://www.ndia.org/-/media/sites/ndia/meetings-and-events/proceedings/2025/FFC/October%201/Hrycak_Orest_2025%20FFC_1%20October%202025.pdf" TargetMode="External"/><Relationship Id="rId33" Type="http://schemas.openxmlformats.org/officeDocument/2006/relationships/hyperlink" Target="https://www.globalsecurity.org/military/library/news/2026/06/dod-contracts_4512718.htm" TargetMode="External"/><Relationship Id="rId34" Type="http://schemas.openxmlformats.org/officeDocument/2006/relationships/hyperlink" Target="https://www.defenceonline.co.uk/2026/08/27/explosive-ordnance-disposal-and-search-supportability-framework/" TargetMode="External"/><Relationship Id="rId35" Type="http://schemas.openxmlformats.org/officeDocument/2006/relationships/hyperlink" Target="https://capitalpad.com/lower-middle-market-ebitda-multiples/" TargetMode="External"/><Relationship Id="rId36" Type="http://schemas.openxmlformats.org/officeDocument/2006/relationships/hyperlink" Target="https://www.pcecompanies.com/resources/industry-reports/aerospace-government-ma-update" TargetMode="External"/><Relationship Id="rId37" Type="http://schemas.openxmlformats.org/officeDocument/2006/relationships/hyperlink" Target="https://stockanalysis.com/stocks/cdre/statistics/" TargetMode="External"/><Relationship Id="rId38" Type="http://schemas.openxmlformats.org/officeDocument/2006/relationships/hyperlink" Target="https://stockanalysis.com/stocks/abat/statistics/" TargetMode="External"/><Relationship Id="rId39" Type="http://schemas.openxmlformats.org/officeDocument/2006/relationships/hyperlink" Target="https://new.diehl.com/defence/en/press-media/news/est-energetics-becomes-part-of-diehl-defence" TargetMode="External"/><Relationship Id="rId1" Type="http://schemas.openxmlformats.org/officeDocument/2006/relationships/image" Target="../media/image-28-1.png"/><Relationship Id="rId40" Type="http://schemas.openxmlformats.org/officeDocument/2006/relationships/slideLayout" Target="../slideLayouts/slideLayout1.xml"/><Relationship Id="rId41"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01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pic>
        <p:nvPicPr>
          <p:cNvPr id="4" name="Image 1" descr="preencoded.png">    </p:cNvPr>
          <p:cNvPicPr>
            <a:picLocks noChangeAspect="1"/>
          </p:cNvPicPr>
          <p:nvPr/>
        </p:nvPicPr>
        <p:blipFill>
          <a:blip r:embed="rId2"/>
          <a:stretch>
            <a:fillRect/>
          </a:stretch>
        </p:blipFill>
        <p:spPr>
          <a:xfrm>
            <a:off x="548640" y="502920"/>
            <a:ext cx="1463040" cy="225857"/>
          </a:xfrm>
          <a:prstGeom prst="rect">
            <a:avLst/>
          </a:prstGeom>
        </p:spPr>
      </p:pic>
      <p:sp>
        <p:nvSpPr>
          <p:cNvPr id="5" name="Text 1"/>
          <p:cNvSpPr txBox="1"/>
          <p:nvPr/>
        </p:nvSpPr>
        <p:spPr>
          <a:xfrm>
            <a:off x="2084832" y="475488"/>
            <a:ext cx="1097280" cy="274320"/>
          </a:xfrm>
          <a:prstGeom prst="rect">
            <a:avLst/>
          </a:prstGeom>
          <a:noFill/>
          <a:ln/>
        </p:spPr>
        <p:txBody>
          <a:bodyPr wrap="square" lIns="0" tIns="0" rIns="0" bIns="0" rtlCol="0" anchor="ctr"/>
          <a:lstStyle/>
          <a:p>
            <a:pPr indent="0" marL="0">
              <a:buNone/>
            </a:pPr>
            <a:r>
              <a:rPr lang="en-US" sz="1200" dirty="0">
                <a:solidFill>
                  <a:srgbClr val="000000"/>
                </a:solidFill>
                <a:latin typeface="Helvetica Neue" pitchFamily="34" charset="0"/>
                <a:ea typeface="Helvetica Neue" pitchFamily="34" charset="-122"/>
                <a:cs typeface="Helvetica Neue" pitchFamily="34" charset="-120"/>
              </a:rPr>
              <a:t>Designs</a:t>
            </a:r>
            <a:endParaRPr lang="en-US" sz="1200" dirty="0"/>
          </a:p>
        </p:txBody>
      </p:sp>
      <p:sp>
        <p:nvSpPr>
          <p:cNvPr id="6" name="Text 2"/>
          <p:cNvSpPr txBox="1"/>
          <p:nvPr/>
        </p:nvSpPr>
        <p:spPr>
          <a:xfrm>
            <a:off x="548640" y="1417320"/>
            <a:ext cx="731520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INVESTOR PRESENTATION · SEPTEMBER 2026 · CONFIDENTIAL</a:t>
            </a:r>
            <a:endParaRPr lang="en-US" sz="700" dirty="0"/>
          </a:p>
        </p:txBody>
      </p:sp>
      <p:sp>
        <p:nvSpPr>
          <p:cNvPr id="7" name="Text 3"/>
          <p:cNvSpPr txBox="1"/>
          <p:nvPr/>
        </p:nvSpPr>
        <p:spPr>
          <a:xfrm>
            <a:off x="548640" y="1783080"/>
            <a:ext cx="10607040" cy="1371600"/>
          </a:xfrm>
          <a:prstGeom prst="rect">
            <a:avLst/>
          </a:prstGeom>
          <a:noFill/>
          <a:ln/>
        </p:spPr>
        <p:txBody>
          <a:bodyPr wrap="square" lIns="0" tIns="0" rIns="0" bIns="0" rtlCol="0" anchor="t"/>
          <a:lstStyle/>
          <a:p>
            <a:pPr indent="0" marL="0">
              <a:buNone/>
            </a:pPr>
            <a:r>
              <a:rPr lang="en-US" sz="4000" spc="-112" kern="0" dirty="0">
                <a:solidFill>
                  <a:srgbClr val="000000"/>
                </a:solidFill>
                <a:latin typeface="Helvetica Neue" pitchFamily="34" charset="0"/>
                <a:ea typeface="Helvetica Neue" pitchFamily="34" charset="-122"/>
                <a:cs typeface="Helvetica Neue" pitchFamily="34" charset="-120"/>
              </a:rPr>
              <a:t>The demilitarization and global secure destruction platform.</a:t>
            </a:r>
            <a:endParaRPr lang="en-US" sz="4000" dirty="0"/>
          </a:p>
        </p:txBody>
      </p:sp>
      <p:sp>
        <p:nvSpPr>
          <p:cNvPr id="8" name="Text 4"/>
          <p:cNvSpPr txBox="1"/>
          <p:nvPr/>
        </p:nvSpPr>
        <p:spPr>
          <a:xfrm>
            <a:off x="548640" y="3246120"/>
            <a:ext cx="8778240" cy="822960"/>
          </a:xfrm>
          <a:prstGeom prst="rect">
            <a:avLst/>
          </a:prstGeom>
          <a:noFill/>
          <a:ln/>
        </p:spPr>
        <p:txBody>
          <a:bodyPr wrap="square" lIns="0" tIns="0" rIns="0" bIns="0" rtlCol="0" anchor="t"/>
          <a:lstStyle/>
          <a:p>
            <a:pPr indent="0" marL="0">
              <a:buNone/>
            </a:pPr>
            <a:r>
              <a:rPr lang="en-US" sz="1400" dirty="0">
                <a:solidFill>
                  <a:srgbClr val="33332F"/>
                </a:solidFill>
                <a:latin typeface="Helvetica Neue" pitchFamily="34" charset="0"/>
                <a:ea typeface="Helvetica Neue" pitchFamily="34" charset="-122"/>
                <a:cs typeface="Helvetica Neue" pitchFamily="34" charset="-120"/>
              </a:rPr>
              <a:t>A 25-year operating foundation in custody destruction, assembled - through partnerships, acquisitions and internal engineering - into the full-service provider for munitions end-of-life across allied nations.</a:t>
            </a:r>
            <a:endParaRPr lang="en-US" sz="1400" dirty="0"/>
          </a:p>
        </p:txBody>
      </p:sp>
      <p:sp>
        <p:nvSpPr>
          <p:cNvPr id="9" name="Text 5"/>
          <p:cNvSpPr txBox="1"/>
          <p:nvPr/>
        </p:nvSpPr>
        <p:spPr>
          <a:xfrm>
            <a:off x="548640" y="4434840"/>
            <a:ext cx="3840480" cy="685800"/>
          </a:xfrm>
          <a:prstGeom prst="rect">
            <a:avLst/>
          </a:prstGeom>
          <a:noFill/>
          <a:ln/>
        </p:spPr>
        <p:txBody>
          <a:bodyPr wrap="square" lIns="0" tIns="0" rIns="0" bIns="0" rtlCol="0" anchor="t"/>
          <a:lstStyle/>
          <a:p>
            <a:pPr indent="0" marL="0">
              <a:buNone/>
            </a:pPr>
            <a:r>
              <a:rPr lang="en-US" sz="4800" spc="-134" kern="0" dirty="0">
                <a:solidFill>
                  <a:srgbClr val="000000"/>
                </a:solidFill>
                <a:latin typeface="Helvetica Neue" pitchFamily="34" charset="0"/>
                <a:ea typeface="Helvetica Neue" pitchFamily="34" charset="-122"/>
                <a:cs typeface="Helvetica Neue" pitchFamily="34" charset="-120"/>
              </a:rPr>
              <a:t>$2.88T</a:t>
            </a:r>
            <a:endParaRPr lang="en-US" sz="4800" dirty="0"/>
          </a:p>
        </p:txBody>
      </p:sp>
      <p:sp>
        <p:nvSpPr>
          <p:cNvPr id="10" name="Shape 6"/>
          <p:cNvSpPr/>
          <p:nvPr/>
        </p:nvSpPr>
        <p:spPr>
          <a:xfrm>
            <a:off x="501777" y="4378833"/>
            <a:ext cx="57150" cy="0"/>
          </a:xfrm>
          <a:prstGeom prst="line">
            <a:avLst/>
          </a:prstGeom>
          <a:noFill/>
          <a:ln w="9525">
            <a:solidFill>
              <a:srgbClr val="788274"/>
            </a:solidFill>
            <a:prstDash val="solid"/>
          </a:ln>
        </p:spPr>
      </p:sp>
      <p:sp>
        <p:nvSpPr>
          <p:cNvPr id="11" name="Shape 7"/>
          <p:cNvSpPr/>
          <p:nvPr/>
        </p:nvSpPr>
        <p:spPr>
          <a:xfrm>
            <a:off x="501777" y="4378833"/>
            <a:ext cx="0" cy="57150"/>
          </a:xfrm>
          <a:prstGeom prst="line">
            <a:avLst/>
          </a:prstGeom>
          <a:noFill/>
          <a:ln w="9525">
            <a:solidFill>
              <a:srgbClr val="788274"/>
            </a:solidFill>
            <a:prstDash val="solid"/>
          </a:ln>
        </p:spPr>
      </p:sp>
      <p:sp>
        <p:nvSpPr>
          <p:cNvPr id="12" name="Shape 8"/>
          <p:cNvSpPr/>
          <p:nvPr/>
        </p:nvSpPr>
        <p:spPr>
          <a:xfrm>
            <a:off x="3519297" y="4378833"/>
            <a:ext cx="57150" cy="0"/>
          </a:xfrm>
          <a:prstGeom prst="line">
            <a:avLst/>
          </a:prstGeom>
          <a:noFill/>
          <a:ln w="9525">
            <a:solidFill>
              <a:srgbClr val="788274"/>
            </a:solidFill>
            <a:prstDash val="solid"/>
          </a:ln>
        </p:spPr>
      </p:sp>
      <p:sp>
        <p:nvSpPr>
          <p:cNvPr id="13" name="Shape 9"/>
          <p:cNvSpPr/>
          <p:nvPr/>
        </p:nvSpPr>
        <p:spPr>
          <a:xfrm>
            <a:off x="3576447" y="4378833"/>
            <a:ext cx="0" cy="57150"/>
          </a:xfrm>
          <a:prstGeom prst="line">
            <a:avLst/>
          </a:prstGeom>
          <a:noFill/>
          <a:ln w="9525">
            <a:solidFill>
              <a:srgbClr val="788274"/>
            </a:solidFill>
            <a:prstDash val="solid"/>
          </a:ln>
        </p:spPr>
      </p:sp>
      <p:sp>
        <p:nvSpPr>
          <p:cNvPr id="14" name="Shape 10"/>
          <p:cNvSpPr/>
          <p:nvPr/>
        </p:nvSpPr>
        <p:spPr>
          <a:xfrm>
            <a:off x="501777" y="5149215"/>
            <a:ext cx="57150" cy="0"/>
          </a:xfrm>
          <a:prstGeom prst="line">
            <a:avLst/>
          </a:prstGeom>
          <a:noFill/>
          <a:ln w="9525">
            <a:solidFill>
              <a:srgbClr val="788274"/>
            </a:solidFill>
            <a:prstDash val="solid"/>
          </a:ln>
        </p:spPr>
      </p:sp>
      <p:sp>
        <p:nvSpPr>
          <p:cNvPr id="15" name="Shape 11"/>
          <p:cNvSpPr/>
          <p:nvPr/>
        </p:nvSpPr>
        <p:spPr>
          <a:xfrm>
            <a:off x="501777" y="5092065"/>
            <a:ext cx="0" cy="57150"/>
          </a:xfrm>
          <a:prstGeom prst="line">
            <a:avLst/>
          </a:prstGeom>
          <a:noFill/>
          <a:ln w="9525">
            <a:solidFill>
              <a:srgbClr val="788274"/>
            </a:solidFill>
            <a:prstDash val="solid"/>
          </a:ln>
        </p:spPr>
      </p:sp>
      <p:sp>
        <p:nvSpPr>
          <p:cNvPr id="16" name="Shape 12"/>
          <p:cNvSpPr/>
          <p:nvPr/>
        </p:nvSpPr>
        <p:spPr>
          <a:xfrm>
            <a:off x="3519297" y="5149215"/>
            <a:ext cx="57150" cy="0"/>
          </a:xfrm>
          <a:prstGeom prst="line">
            <a:avLst/>
          </a:prstGeom>
          <a:noFill/>
          <a:ln w="9525">
            <a:solidFill>
              <a:srgbClr val="788274"/>
            </a:solidFill>
            <a:prstDash val="solid"/>
          </a:ln>
        </p:spPr>
      </p:sp>
      <p:sp>
        <p:nvSpPr>
          <p:cNvPr id="17" name="Shape 13"/>
          <p:cNvSpPr/>
          <p:nvPr/>
        </p:nvSpPr>
        <p:spPr>
          <a:xfrm>
            <a:off x="3576447" y="5092065"/>
            <a:ext cx="0" cy="57150"/>
          </a:xfrm>
          <a:prstGeom prst="line">
            <a:avLst/>
          </a:prstGeom>
          <a:noFill/>
          <a:ln w="9525">
            <a:solidFill>
              <a:srgbClr val="788274"/>
            </a:solidFill>
            <a:prstDash val="solid"/>
          </a:ln>
        </p:spPr>
      </p:sp>
      <p:sp>
        <p:nvSpPr>
          <p:cNvPr id="18" name="Text 14"/>
          <p:cNvSpPr txBox="1"/>
          <p:nvPr/>
        </p:nvSpPr>
        <p:spPr>
          <a:xfrm>
            <a:off x="548640" y="5303520"/>
            <a:ext cx="3840480" cy="36576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WORLD MILITARY EXPENDITURE, 2025 - AN ALL-TIME RECORD (SIPRI)</a:t>
            </a:r>
            <a:endParaRPr lang="en-US" sz="700" dirty="0"/>
          </a:p>
        </p:txBody>
      </p:sp>
      <p:sp>
        <p:nvSpPr>
          <p:cNvPr id="19" name="Text 15"/>
          <p:cNvSpPr txBox="1"/>
          <p:nvPr/>
        </p:nvSpPr>
        <p:spPr>
          <a:xfrm>
            <a:off x="4480560" y="4434840"/>
            <a:ext cx="731520" cy="822960"/>
          </a:xfrm>
          <a:prstGeom prst="rect">
            <a:avLst/>
          </a:prstGeom>
          <a:noFill/>
          <a:ln/>
        </p:spPr>
        <p:txBody>
          <a:bodyPr wrap="square" lIns="0" tIns="0" rIns="0" bIns="0" rtlCol="0" anchor="ctr"/>
          <a:lstStyle/>
          <a:p>
            <a:pPr indent="0" marL="0">
              <a:buNone/>
            </a:pPr>
            <a:r>
              <a:rPr lang="en-US" sz="4000" dirty="0">
                <a:solidFill>
                  <a:srgbClr val="788274"/>
                </a:solidFill>
                <a:latin typeface="Helvetica Neue" pitchFamily="34" charset="0"/>
                <a:ea typeface="Helvetica Neue" pitchFamily="34" charset="-122"/>
                <a:cs typeface="Helvetica Neue" pitchFamily="34" charset="-120"/>
              </a:rPr>
              <a:t>→</a:t>
            </a:r>
            <a:endParaRPr lang="en-US" sz="4000" dirty="0"/>
          </a:p>
        </p:txBody>
      </p:sp>
      <p:sp>
        <p:nvSpPr>
          <p:cNvPr id="20" name="Text 16"/>
          <p:cNvSpPr txBox="1"/>
          <p:nvPr/>
        </p:nvSpPr>
        <p:spPr>
          <a:xfrm>
            <a:off x="5303520" y="4434840"/>
            <a:ext cx="5029200" cy="914400"/>
          </a:xfrm>
          <a:prstGeom prst="rect">
            <a:avLst/>
          </a:prstGeom>
          <a:noFill/>
          <a:ln/>
        </p:spPr>
        <p:txBody>
          <a:bodyPr wrap="square" lIns="0" tIns="0" rIns="0" bIns="0" rtlCol="0" anchor="t"/>
          <a:lstStyle/>
          <a:p>
            <a:pPr indent="0" marL="0">
              <a:buNone/>
            </a:pPr>
            <a:r>
              <a:rPr lang="en-US" sz="4800" spc="-134" kern="0" dirty="0">
                <a:solidFill>
                  <a:srgbClr val="788274"/>
                </a:solidFill>
                <a:latin typeface="Helvetica Neue" pitchFamily="34" charset="0"/>
                <a:ea typeface="Helvetica Neue" pitchFamily="34" charset="-122"/>
                <a:cs typeface="Helvetica Neue" pitchFamily="34" charset="-120"/>
              </a:rPr>
              <a:t>No platform</a:t>
            </a:r>
            <a:endParaRPr lang="en-US" sz="4800" dirty="0"/>
          </a:p>
        </p:txBody>
      </p:sp>
      <p:sp>
        <p:nvSpPr>
          <p:cNvPr id="21" name="Text 17"/>
          <p:cNvSpPr txBox="1"/>
          <p:nvPr/>
        </p:nvSpPr>
        <p:spPr>
          <a:xfrm>
            <a:off x="5303520" y="5303520"/>
            <a:ext cx="5029200" cy="36576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BUILT TO UNMAKE IT AT FOUNDER SCALE - UNTIL NOW</a:t>
            </a:r>
            <a:endParaRPr lang="en-US" sz="700" dirty="0"/>
          </a:p>
        </p:txBody>
      </p:sp>
      <p:sp>
        <p:nvSpPr>
          <p:cNvPr id="22" name="Text 18"/>
          <p:cNvSpPr txBox="1"/>
          <p:nvPr/>
        </p:nvSpPr>
        <p:spPr>
          <a:xfrm>
            <a:off x="548640" y="5897880"/>
            <a:ext cx="10058400" cy="274320"/>
          </a:xfrm>
          <a:prstGeom prst="rect">
            <a:avLst/>
          </a:prstGeom>
          <a:noFill/>
          <a:ln/>
        </p:spPr>
        <p:txBody>
          <a:bodyPr wrap="square" lIns="0" tIns="0" rIns="0" bIns="0" rtlCol="0" anchor="ctr"/>
          <a:lstStyle/>
          <a:p>
            <a:pPr indent="0" marL="0">
              <a:buNone/>
            </a:pPr>
            <a:r>
              <a:rPr lang="en-US" sz="700" dirty="0">
                <a:solidFill>
                  <a:srgbClr val="6E6C66"/>
                </a:solidFill>
                <a:latin typeface="IBM Plex Mono" pitchFamily="34" charset="0"/>
                <a:ea typeface="IBM Plex Mono" pitchFamily="34" charset="-122"/>
                <a:cs typeface="IBM Plex Mono" pitchFamily="34" charset="-120"/>
              </a:rPr>
              <a:t>10-year growth plan, capital requirement and investment case. Contains modelled projections - not a solicitation of investment.</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02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DISCLAIMER</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Forward-looking statements, projections and sourcing</a:t>
            </a:r>
            <a:endParaRPr lang="en-US" sz="2200" dirty="0"/>
          </a:p>
        </p:txBody>
      </p:sp>
      <p:sp>
        <p:nvSpPr>
          <p:cNvPr id="6" name="Text 3"/>
          <p:cNvSpPr txBox="1"/>
          <p:nvPr/>
        </p:nvSpPr>
        <p:spPr>
          <a:xfrm>
            <a:off x="548640" y="1600200"/>
            <a:ext cx="530352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FORWARD-LOOKING STATEMENTS</a:t>
            </a:r>
            <a:endParaRPr lang="en-US" sz="700" dirty="0"/>
          </a:p>
        </p:txBody>
      </p:sp>
      <p:sp>
        <p:nvSpPr>
          <p:cNvPr id="7" name="Text 4"/>
          <p:cNvSpPr txBox="1"/>
          <p:nvPr/>
        </p:nvSpPr>
        <p:spPr>
          <a:xfrm>
            <a:off x="548640" y="1874520"/>
            <a:ext cx="5303520" cy="1828800"/>
          </a:xfrm>
          <a:prstGeom prst="rect">
            <a:avLst/>
          </a:prstGeom>
          <a:noFill/>
          <a:ln/>
        </p:spPr>
        <p:txBody>
          <a:bodyPr wrap="square" lIns="0" tIns="0" rIns="0" bIns="0" rtlCol="0" anchor="t"/>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Under legal review.</a:t>
            </a:r>
            <a:endParaRPr lang="en-US" sz="950" dirty="0"/>
          </a:p>
        </p:txBody>
      </p:sp>
      <p:sp>
        <p:nvSpPr>
          <p:cNvPr id="8" name="Text 5"/>
          <p:cNvSpPr txBox="1"/>
          <p:nvPr/>
        </p:nvSpPr>
        <p:spPr>
          <a:xfrm>
            <a:off x="6126480" y="1600200"/>
            <a:ext cx="530352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USE OF PROJECTIONS</a:t>
            </a:r>
            <a:endParaRPr lang="en-US" sz="700" dirty="0"/>
          </a:p>
        </p:txBody>
      </p:sp>
      <p:sp>
        <p:nvSpPr>
          <p:cNvPr id="9" name="Text 6"/>
          <p:cNvSpPr txBox="1"/>
          <p:nvPr/>
        </p:nvSpPr>
        <p:spPr>
          <a:xfrm>
            <a:off x="6126480" y="1874520"/>
            <a:ext cx="5303520" cy="1828800"/>
          </a:xfrm>
          <a:prstGeom prst="rect">
            <a:avLst/>
          </a:prstGeom>
          <a:noFill/>
          <a:ln/>
        </p:spPr>
        <p:txBody>
          <a:bodyPr wrap="square" lIns="0" tIns="0" rIns="0" bIns="0" rtlCol="0" anchor="t"/>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Projected financial information is included for illustrative purposes only and should not be relied upon as indicative of future results. The assumptions underlying the projections are inherently uncertain and are set out in the accompanying financial model and supporting memo. No independent auditor has audited, reviewed, compiled or performed procedures with respect to the projections.</a:t>
            </a:r>
            <a:endParaRPr lang="en-US" sz="950" dirty="0"/>
          </a:p>
        </p:txBody>
      </p:sp>
      <p:sp>
        <p:nvSpPr>
          <p:cNvPr id="10" name="Text 7"/>
          <p:cNvSpPr txBox="1"/>
          <p:nvPr/>
        </p:nvSpPr>
        <p:spPr>
          <a:xfrm>
            <a:off x="548640" y="3840480"/>
            <a:ext cx="530352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THREE KINDS OF NUMBERS</a:t>
            </a:r>
            <a:endParaRPr lang="en-US" sz="700" dirty="0"/>
          </a:p>
        </p:txBody>
      </p:sp>
      <p:sp>
        <p:nvSpPr>
          <p:cNvPr id="11" name="Text 8"/>
          <p:cNvSpPr txBox="1"/>
          <p:nvPr/>
        </p:nvSpPr>
        <p:spPr>
          <a:xfrm>
            <a:off x="548640" y="4114800"/>
            <a:ext cx="5303520" cy="1828800"/>
          </a:xfrm>
          <a:prstGeom prst="rect">
            <a:avLst/>
          </a:prstGeom>
          <a:noFill/>
          <a:ln/>
        </p:spPr>
        <p:txBody>
          <a:bodyPr wrap="square" lIns="0" tIns="0" rIns="0" bIns="0" rtlCol="0" anchor="t"/>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Every figure in this deck is one of three things, and is labelled as such on the slide or in the References: a VERIFIED figure cited to a named primary source; a COMPANY-PROVIDED figure from TWB's own records, marked "company figure"; or a PROJECTION / OUR CONSTRUCTION from the accompanying model. Where a figure could not be verified it has been removed or softened - see the fact-check log.</a:t>
            </a:r>
            <a:endParaRPr lang="en-US" sz="950" dirty="0"/>
          </a:p>
        </p:txBody>
      </p:sp>
      <p:sp>
        <p:nvSpPr>
          <p:cNvPr id="12" name="Text 9"/>
          <p:cNvSpPr txBox="1"/>
          <p:nvPr/>
        </p:nvSpPr>
        <p:spPr>
          <a:xfrm>
            <a:off x="6126480" y="3840480"/>
            <a:ext cx="530352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NO OFFER OR SOLICITATION</a:t>
            </a:r>
            <a:endParaRPr lang="en-US" sz="700" dirty="0"/>
          </a:p>
        </p:txBody>
      </p:sp>
      <p:sp>
        <p:nvSpPr>
          <p:cNvPr id="13" name="Text 10"/>
          <p:cNvSpPr txBox="1"/>
          <p:nvPr/>
        </p:nvSpPr>
        <p:spPr>
          <a:xfrm>
            <a:off x="6126480" y="4114800"/>
            <a:ext cx="5303520" cy="1828800"/>
          </a:xfrm>
          <a:prstGeom prst="rect">
            <a:avLst/>
          </a:prstGeom>
          <a:noFill/>
          <a:ln/>
        </p:spPr>
        <p:txBody>
          <a:bodyPr wrap="square" lIns="0" tIns="0" rIns="0" bIns="0" rtlCol="0" anchor="t"/>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This presentation does not constitute an offer to sell or the solicitation of an offer to buy any securities, or a solicitation of any vote or approval, in any jurisdiction. Acquisition targets are described as capability categories only; named targets are held for diligence.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6705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FFFFFF"/>
                </a:solidFill>
                <a:latin typeface="IBM Plex Mono" pitchFamily="34" charset="0"/>
                <a:ea typeface="IBM Plex Mono" pitchFamily="34" charset="-122"/>
                <a:cs typeface="IBM Plex Mono" pitchFamily="34" charset="-120"/>
              </a:rPr>
              <a:t>03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1463040"/>
            <a:ext cx="3657600" cy="1097280"/>
          </a:xfrm>
          <a:prstGeom prst="rect">
            <a:avLst/>
          </a:prstGeom>
          <a:noFill/>
          <a:ln/>
        </p:spPr>
        <p:txBody>
          <a:bodyPr wrap="square" lIns="0" tIns="0" rIns="0" bIns="0" rtlCol="0" anchor="ctr"/>
          <a:lstStyle/>
          <a:p>
            <a:pPr indent="0" marL="0">
              <a:buNone/>
            </a:pPr>
            <a:r>
              <a:rPr lang="en-US" sz="8000" spc="-224" kern="0" dirty="0">
                <a:solidFill>
                  <a:srgbClr val="D3D9D0"/>
                </a:solidFill>
                <a:latin typeface="Helvetica Neue" pitchFamily="34" charset="0"/>
                <a:ea typeface="Helvetica Neue" pitchFamily="34" charset="-122"/>
                <a:cs typeface="Helvetica Neue" pitchFamily="34" charset="-120"/>
              </a:rPr>
              <a:t>01</a:t>
            </a:r>
            <a:endParaRPr lang="en-US" sz="8000" dirty="0"/>
          </a:p>
        </p:txBody>
      </p:sp>
      <p:sp>
        <p:nvSpPr>
          <p:cNvPr id="5" name="Text 2"/>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FFFFFF"/>
                </a:solidFill>
                <a:latin typeface="IBM Plex Mono" pitchFamily="34" charset="0"/>
                <a:ea typeface="IBM Plex Mono" pitchFamily="34" charset="-122"/>
                <a:cs typeface="IBM Plex Mono" pitchFamily="34" charset="-120"/>
              </a:rPr>
              <a:t>WHERE WE ARE TODAY</a:t>
            </a:r>
            <a:endParaRPr lang="en-US" sz="800" dirty="0"/>
          </a:p>
        </p:txBody>
      </p:sp>
      <p:sp>
        <p:nvSpPr>
          <p:cNvPr id="6" name="Text 3"/>
          <p:cNvSpPr txBox="1"/>
          <p:nvPr/>
        </p:nvSpPr>
        <p:spPr>
          <a:xfrm>
            <a:off x="548640" y="2834640"/>
            <a:ext cx="10058400" cy="1097280"/>
          </a:xfrm>
          <a:prstGeom prst="rect">
            <a:avLst/>
          </a:prstGeom>
          <a:noFill/>
          <a:ln/>
        </p:spPr>
        <p:txBody>
          <a:bodyPr wrap="square" lIns="0" tIns="0" rIns="0" bIns="0" rtlCol="0" anchor="t"/>
          <a:lstStyle/>
          <a:p>
            <a:pPr indent="0" marL="0">
              <a:buNone/>
            </a:pPr>
            <a:r>
              <a:rPr lang="en-US" sz="3400" spc="-65" kern="0" dirty="0">
                <a:solidFill>
                  <a:srgbClr val="FFFFFF"/>
                </a:solidFill>
                <a:latin typeface="Helvetica Neue" pitchFamily="34" charset="0"/>
                <a:ea typeface="Helvetica Neue" pitchFamily="34" charset="-122"/>
                <a:cs typeface="Helvetica Neue" pitchFamily="34" charset="-120"/>
              </a:rPr>
              <a:t>The foundation.</a:t>
            </a:r>
            <a:endParaRPr lang="en-US" sz="3400" dirty="0"/>
          </a:p>
        </p:txBody>
      </p:sp>
      <p:sp>
        <p:nvSpPr>
          <p:cNvPr id="7" name="Text 4"/>
          <p:cNvSpPr txBox="1"/>
          <p:nvPr/>
        </p:nvSpPr>
        <p:spPr>
          <a:xfrm>
            <a:off x="548640" y="4114800"/>
            <a:ext cx="8686800" cy="822960"/>
          </a:xfrm>
          <a:prstGeom prst="rect">
            <a:avLst/>
          </a:prstGeom>
          <a:noFill/>
          <a:ln/>
        </p:spPr>
        <p:txBody>
          <a:bodyPr wrap="square" lIns="0" tIns="0" rIns="0" bIns="0" rtlCol="0" anchor="t"/>
          <a:lstStyle/>
          <a:p>
            <a:pPr indent="0" marL="0">
              <a:buNone/>
            </a:pPr>
            <a:r>
              <a:rPr lang="en-US" sz="1300" dirty="0">
                <a:solidFill>
                  <a:srgbClr val="F1F3F0"/>
                </a:solidFill>
                <a:latin typeface="Helvetica Neue" pitchFamily="34" charset="0"/>
                <a:ea typeface="Helvetica Neue" pitchFamily="34" charset="-122"/>
                <a:cs typeface="Helvetica Neue" pitchFamily="34" charset="-120"/>
              </a:rPr>
              <a:t>An operating business with twenty-five years of custody-destruction contracts, relationships on four continents, and the field doctrine the whole platform inherits. Not a whiteboard.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04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FOUNDATION</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TWB Designs today: the operating base the platform is built on</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Hamilton, Ontario. Owner-operated eMACS custody-destruction system in continuous service since 2001, with a US entity established and an allied footprint already in place.</a:t>
            </a:r>
            <a:endParaRPr lang="en-US" sz="1100" dirty="0"/>
          </a:p>
        </p:txBody>
      </p:sp>
      <p:sp>
        <p:nvSpPr>
          <p:cNvPr id="7" name="Text 4"/>
          <p:cNvSpPr txBox="1"/>
          <p:nvPr/>
        </p:nvSpPr>
        <p:spPr>
          <a:xfrm>
            <a:off x="548640" y="2148840"/>
            <a:ext cx="2377440" cy="1280160"/>
          </a:xfrm>
          <a:prstGeom prst="rect">
            <a:avLst/>
          </a:prstGeom>
          <a:noFill/>
          <a:ln/>
        </p:spPr>
        <p:txBody>
          <a:bodyPr wrap="square" lIns="0" tIns="0" rIns="0" bIns="0" rtlCol="0" anchor="t"/>
          <a:lstStyle/>
          <a:p>
            <a:pPr indent="0" marL="0">
              <a:buNone/>
            </a:pPr>
            <a:r>
              <a:rPr lang="en-US" sz="9600" spc="-269" kern="0" dirty="0">
                <a:solidFill>
                  <a:srgbClr val="000000"/>
                </a:solidFill>
                <a:latin typeface="Helvetica Neue" pitchFamily="34" charset="0"/>
                <a:ea typeface="Helvetica Neue" pitchFamily="34" charset="-122"/>
                <a:cs typeface="Helvetica Neue" pitchFamily="34" charset="-120"/>
              </a:rPr>
              <a:t>25</a:t>
            </a:r>
            <a:endParaRPr lang="en-US" sz="9600" dirty="0"/>
          </a:p>
        </p:txBody>
      </p:sp>
      <p:sp>
        <p:nvSpPr>
          <p:cNvPr id="8" name="Shape 5"/>
          <p:cNvSpPr/>
          <p:nvPr/>
        </p:nvSpPr>
        <p:spPr>
          <a:xfrm>
            <a:off x="501777" y="2092833"/>
            <a:ext cx="57150" cy="0"/>
          </a:xfrm>
          <a:prstGeom prst="line">
            <a:avLst/>
          </a:prstGeom>
          <a:noFill/>
          <a:ln w="9525">
            <a:solidFill>
              <a:srgbClr val="788274"/>
            </a:solidFill>
            <a:prstDash val="solid"/>
          </a:ln>
        </p:spPr>
      </p:sp>
      <p:sp>
        <p:nvSpPr>
          <p:cNvPr id="9" name="Shape 6"/>
          <p:cNvSpPr/>
          <p:nvPr/>
        </p:nvSpPr>
        <p:spPr>
          <a:xfrm>
            <a:off x="501777" y="2092833"/>
            <a:ext cx="0" cy="57150"/>
          </a:xfrm>
          <a:prstGeom prst="line">
            <a:avLst/>
          </a:prstGeom>
          <a:noFill/>
          <a:ln w="9525">
            <a:solidFill>
              <a:srgbClr val="788274"/>
            </a:solidFill>
            <a:prstDash val="solid"/>
          </a:ln>
        </p:spPr>
      </p:sp>
      <p:sp>
        <p:nvSpPr>
          <p:cNvPr id="10" name="Shape 7"/>
          <p:cNvSpPr/>
          <p:nvPr/>
        </p:nvSpPr>
        <p:spPr>
          <a:xfrm>
            <a:off x="2330577" y="2092833"/>
            <a:ext cx="57150" cy="0"/>
          </a:xfrm>
          <a:prstGeom prst="line">
            <a:avLst/>
          </a:prstGeom>
          <a:noFill/>
          <a:ln w="9525">
            <a:solidFill>
              <a:srgbClr val="788274"/>
            </a:solidFill>
            <a:prstDash val="solid"/>
          </a:ln>
        </p:spPr>
      </p:sp>
      <p:sp>
        <p:nvSpPr>
          <p:cNvPr id="11" name="Shape 8"/>
          <p:cNvSpPr/>
          <p:nvPr/>
        </p:nvSpPr>
        <p:spPr>
          <a:xfrm>
            <a:off x="2387727" y="2092833"/>
            <a:ext cx="0" cy="57150"/>
          </a:xfrm>
          <a:prstGeom prst="line">
            <a:avLst/>
          </a:prstGeom>
          <a:noFill/>
          <a:ln w="9525">
            <a:solidFill>
              <a:srgbClr val="788274"/>
            </a:solidFill>
            <a:prstDash val="solid"/>
          </a:ln>
        </p:spPr>
      </p:sp>
      <p:sp>
        <p:nvSpPr>
          <p:cNvPr id="12" name="Shape 9"/>
          <p:cNvSpPr/>
          <p:nvPr/>
        </p:nvSpPr>
        <p:spPr>
          <a:xfrm>
            <a:off x="501777" y="3448431"/>
            <a:ext cx="57150" cy="0"/>
          </a:xfrm>
          <a:prstGeom prst="line">
            <a:avLst/>
          </a:prstGeom>
          <a:noFill/>
          <a:ln w="9525">
            <a:solidFill>
              <a:srgbClr val="788274"/>
            </a:solidFill>
            <a:prstDash val="solid"/>
          </a:ln>
        </p:spPr>
      </p:sp>
      <p:sp>
        <p:nvSpPr>
          <p:cNvPr id="13" name="Shape 10"/>
          <p:cNvSpPr/>
          <p:nvPr/>
        </p:nvSpPr>
        <p:spPr>
          <a:xfrm>
            <a:off x="501777" y="3391281"/>
            <a:ext cx="0" cy="57150"/>
          </a:xfrm>
          <a:prstGeom prst="line">
            <a:avLst/>
          </a:prstGeom>
          <a:noFill/>
          <a:ln w="9525">
            <a:solidFill>
              <a:srgbClr val="788274"/>
            </a:solidFill>
            <a:prstDash val="solid"/>
          </a:ln>
        </p:spPr>
      </p:sp>
      <p:sp>
        <p:nvSpPr>
          <p:cNvPr id="14" name="Shape 11"/>
          <p:cNvSpPr/>
          <p:nvPr/>
        </p:nvSpPr>
        <p:spPr>
          <a:xfrm>
            <a:off x="2330577" y="3448431"/>
            <a:ext cx="57150" cy="0"/>
          </a:xfrm>
          <a:prstGeom prst="line">
            <a:avLst/>
          </a:prstGeom>
          <a:noFill/>
          <a:ln w="9525">
            <a:solidFill>
              <a:srgbClr val="788274"/>
            </a:solidFill>
            <a:prstDash val="solid"/>
          </a:ln>
        </p:spPr>
      </p:sp>
      <p:sp>
        <p:nvSpPr>
          <p:cNvPr id="15" name="Shape 12"/>
          <p:cNvSpPr/>
          <p:nvPr/>
        </p:nvSpPr>
        <p:spPr>
          <a:xfrm>
            <a:off x="2387727" y="3391281"/>
            <a:ext cx="0" cy="57150"/>
          </a:xfrm>
          <a:prstGeom prst="line">
            <a:avLst/>
          </a:prstGeom>
          <a:noFill/>
          <a:ln w="9525">
            <a:solidFill>
              <a:srgbClr val="788274"/>
            </a:solidFill>
            <a:prstDash val="solid"/>
          </a:ln>
        </p:spPr>
      </p:sp>
      <p:sp>
        <p:nvSpPr>
          <p:cNvPr id="16" name="Text 13"/>
          <p:cNvSpPr txBox="1"/>
          <p:nvPr/>
        </p:nvSpPr>
        <p:spPr>
          <a:xfrm>
            <a:off x="548640" y="3584448"/>
            <a:ext cx="2468880" cy="54864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YEARS IN SERVICE - EMACS, IN USE SINCE 2001, DEVELOPED IN A JOINT VENTURE WITH THE RCMP ¹</a:t>
            </a:r>
            <a:endParaRPr lang="en-US" sz="700" dirty="0"/>
          </a:p>
        </p:txBody>
      </p:sp>
      <p:pic>
        <p:nvPicPr>
          <p:cNvPr id="17" name="Image 1" descr="preencoded.png">    </p:cNvPr>
          <p:cNvPicPr>
            <a:picLocks noChangeAspect="1"/>
          </p:cNvPicPr>
          <p:nvPr/>
        </p:nvPicPr>
        <p:blipFill>
          <a:blip r:embed="rId2"/>
          <a:stretch>
            <a:fillRect/>
          </a:stretch>
        </p:blipFill>
        <p:spPr>
          <a:xfrm>
            <a:off x="548640" y="4315968"/>
            <a:ext cx="2514600" cy="1014984"/>
          </a:xfrm>
          <a:prstGeom prst="rect">
            <a:avLst/>
          </a:prstGeom>
        </p:spPr>
      </p:pic>
      <p:sp>
        <p:nvSpPr>
          <p:cNvPr id="18" name="Shape 14"/>
          <p:cNvSpPr/>
          <p:nvPr/>
        </p:nvSpPr>
        <p:spPr>
          <a:xfrm>
            <a:off x="520065" y="4287393"/>
            <a:ext cx="57150" cy="0"/>
          </a:xfrm>
          <a:prstGeom prst="line">
            <a:avLst/>
          </a:prstGeom>
          <a:noFill/>
          <a:ln w="9525">
            <a:solidFill>
              <a:srgbClr val="788274"/>
            </a:solidFill>
            <a:prstDash val="solid"/>
          </a:ln>
        </p:spPr>
      </p:sp>
      <p:sp>
        <p:nvSpPr>
          <p:cNvPr id="19" name="Shape 15"/>
          <p:cNvSpPr/>
          <p:nvPr/>
        </p:nvSpPr>
        <p:spPr>
          <a:xfrm>
            <a:off x="520065" y="4287393"/>
            <a:ext cx="0" cy="57150"/>
          </a:xfrm>
          <a:prstGeom prst="line">
            <a:avLst/>
          </a:prstGeom>
          <a:noFill/>
          <a:ln w="9525">
            <a:solidFill>
              <a:srgbClr val="788274"/>
            </a:solidFill>
            <a:prstDash val="solid"/>
          </a:ln>
        </p:spPr>
      </p:sp>
      <p:sp>
        <p:nvSpPr>
          <p:cNvPr id="20" name="Shape 16"/>
          <p:cNvSpPr/>
          <p:nvPr/>
        </p:nvSpPr>
        <p:spPr>
          <a:xfrm>
            <a:off x="3034665" y="4287393"/>
            <a:ext cx="57150" cy="0"/>
          </a:xfrm>
          <a:prstGeom prst="line">
            <a:avLst/>
          </a:prstGeom>
          <a:noFill/>
          <a:ln w="9525">
            <a:solidFill>
              <a:srgbClr val="788274"/>
            </a:solidFill>
            <a:prstDash val="solid"/>
          </a:ln>
        </p:spPr>
      </p:sp>
      <p:sp>
        <p:nvSpPr>
          <p:cNvPr id="21" name="Shape 17"/>
          <p:cNvSpPr/>
          <p:nvPr/>
        </p:nvSpPr>
        <p:spPr>
          <a:xfrm>
            <a:off x="3091815" y="4287393"/>
            <a:ext cx="0" cy="57150"/>
          </a:xfrm>
          <a:prstGeom prst="line">
            <a:avLst/>
          </a:prstGeom>
          <a:noFill/>
          <a:ln w="9525">
            <a:solidFill>
              <a:srgbClr val="788274"/>
            </a:solidFill>
            <a:prstDash val="solid"/>
          </a:ln>
        </p:spPr>
      </p:sp>
      <p:sp>
        <p:nvSpPr>
          <p:cNvPr id="22" name="Shape 18"/>
          <p:cNvSpPr/>
          <p:nvPr/>
        </p:nvSpPr>
        <p:spPr>
          <a:xfrm>
            <a:off x="520065" y="5359527"/>
            <a:ext cx="57150" cy="0"/>
          </a:xfrm>
          <a:prstGeom prst="line">
            <a:avLst/>
          </a:prstGeom>
          <a:noFill/>
          <a:ln w="9525">
            <a:solidFill>
              <a:srgbClr val="788274"/>
            </a:solidFill>
            <a:prstDash val="solid"/>
          </a:ln>
        </p:spPr>
      </p:sp>
      <p:sp>
        <p:nvSpPr>
          <p:cNvPr id="23" name="Shape 19"/>
          <p:cNvSpPr/>
          <p:nvPr/>
        </p:nvSpPr>
        <p:spPr>
          <a:xfrm>
            <a:off x="520065" y="5302377"/>
            <a:ext cx="0" cy="57150"/>
          </a:xfrm>
          <a:prstGeom prst="line">
            <a:avLst/>
          </a:prstGeom>
          <a:noFill/>
          <a:ln w="9525">
            <a:solidFill>
              <a:srgbClr val="788274"/>
            </a:solidFill>
            <a:prstDash val="solid"/>
          </a:ln>
        </p:spPr>
      </p:sp>
      <p:sp>
        <p:nvSpPr>
          <p:cNvPr id="24" name="Shape 20"/>
          <p:cNvSpPr/>
          <p:nvPr/>
        </p:nvSpPr>
        <p:spPr>
          <a:xfrm>
            <a:off x="3034665" y="5359527"/>
            <a:ext cx="57150" cy="0"/>
          </a:xfrm>
          <a:prstGeom prst="line">
            <a:avLst/>
          </a:prstGeom>
          <a:noFill/>
          <a:ln w="9525">
            <a:solidFill>
              <a:srgbClr val="788274"/>
            </a:solidFill>
            <a:prstDash val="solid"/>
          </a:ln>
        </p:spPr>
      </p:sp>
      <p:sp>
        <p:nvSpPr>
          <p:cNvPr id="25" name="Shape 21"/>
          <p:cNvSpPr/>
          <p:nvPr/>
        </p:nvSpPr>
        <p:spPr>
          <a:xfrm>
            <a:off x="3091815" y="5302377"/>
            <a:ext cx="0" cy="57150"/>
          </a:xfrm>
          <a:prstGeom prst="line">
            <a:avLst/>
          </a:prstGeom>
          <a:noFill/>
          <a:ln w="9525">
            <a:solidFill>
              <a:srgbClr val="788274"/>
            </a:solidFill>
            <a:prstDash val="solid"/>
          </a:ln>
        </p:spPr>
      </p:sp>
      <p:sp>
        <p:nvSpPr>
          <p:cNvPr id="26" name="Text 22"/>
          <p:cNvSpPr txBox="1"/>
          <p:nvPr/>
        </p:nvSpPr>
        <p:spPr>
          <a:xfrm>
            <a:off x="548640" y="5504688"/>
            <a:ext cx="2514600" cy="365760"/>
          </a:xfrm>
          <a:prstGeom prst="rect">
            <a:avLst/>
          </a:prstGeom>
          <a:noFill/>
          <a:ln/>
        </p:spPr>
        <p:txBody>
          <a:bodyPr wrap="square" lIns="0" tIns="0" rIns="0" bIns="0" rtlCol="0" anchor="t"/>
          <a:lstStyle/>
          <a:p>
            <a:pPr indent="0" marL="0">
              <a:buNone/>
            </a:pPr>
            <a:r>
              <a:rPr lang="en-US" sz="600" spc="150" kern="0" dirty="0">
                <a:solidFill>
                  <a:srgbClr val="6E6C66"/>
                </a:solidFill>
                <a:latin typeface="IBM Plex Mono" pitchFamily="34" charset="0"/>
                <a:ea typeface="IBM Plex Mono" pitchFamily="34" charset="-122"/>
                <a:cs typeface="IBM Plex Mono" pitchFamily="34" charset="-120"/>
              </a:rPr>
              <a:t>FRANKLIN COUNTY (OH) SHERIFF / HILLIARD PD TAKE-BACK, 2026 - COMPANY PHOTO</a:t>
            </a:r>
            <a:endParaRPr lang="en-US" sz="600" dirty="0"/>
          </a:p>
        </p:txBody>
      </p:sp>
      <p:sp>
        <p:nvSpPr>
          <p:cNvPr id="27" name="Shape 23"/>
          <p:cNvSpPr/>
          <p:nvPr/>
        </p:nvSpPr>
        <p:spPr>
          <a:xfrm>
            <a:off x="3429000" y="2148840"/>
            <a:ext cx="4023360" cy="1691640"/>
          </a:xfrm>
          <a:prstGeom prst="rect">
            <a:avLst/>
          </a:prstGeom>
          <a:solidFill>
            <a:srgbClr val="F1F3F0"/>
          </a:solidFill>
          <a:ln w="12700">
            <a:solidFill>
              <a:srgbClr val="F1F3F0"/>
            </a:solidFill>
            <a:prstDash val="solid"/>
          </a:ln>
        </p:spPr>
      </p:sp>
      <p:sp>
        <p:nvSpPr>
          <p:cNvPr id="28" name="Text 24"/>
          <p:cNvSpPr txBox="1"/>
          <p:nvPr/>
        </p:nvSpPr>
        <p:spPr>
          <a:xfrm>
            <a:off x="3593592" y="2295144"/>
            <a:ext cx="369417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SCOPE</a:t>
            </a:r>
            <a:endParaRPr lang="en-US" sz="700" dirty="0"/>
          </a:p>
        </p:txBody>
      </p:sp>
      <p:sp>
        <p:nvSpPr>
          <p:cNvPr id="29" name="Text 25"/>
          <p:cNvSpPr txBox="1"/>
          <p:nvPr/>
        </p:nvSpPr>
        <p:spPr>
          <a:xfrm>
            <a:off x="3593592" y="2532888"/>
            <a:ext cx="3694176" cy="1197864"/>
          </a:xfrm>
          <a:prstGeom prst="rect">
            <a:avLst/>
          </a:prstGeom>
          <a:noFill/>
          <a:ln/>
        </p:spPr>
        <p:txBody>
          <a:bodyPr wrap="square" lIns="0" tIns="0" rIns="0" bIns="0" rtlCol="0" anchor="ctr"/>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Small-arms ammunition to .50 calibre; seized narcotics and seized property (law enforcement); on-site, same day, operated inside the owner's perimeter.</a:t>
            </a:r>
            <a:endParaRPr lang="en-US" sz="950" dirty="0"/>
          </a:p>
        </p:txBody>
      </p:sp>
      <p:sp>
        <p:nvSpPr>
          <p:cNvPr id="30" name="Shape 26"/>
          <p:cNvSpPr/>
          <p:nvPr/>
        </p:nvSpPr>
        <p:spPr>
          <a:xfrm>
            <a:off x="7635240" y="2148840"/>
            <a:ext cx="4023360" cy="1691640"/>
          </a:xfrm>
          <a:prstGeom prst="rect">
            <a:avLst/>
          </a:prstGeom>
          <a:solidFill>
            <a:srgbClr val="F1F3F0"/>
          </a:solidFill>
          <a:ln w="12700">
            <a:solidFill>
              <a:srgbClr val="F1F3F0"/>
            </a:solidFill>
            <a:prstDash val="solid"/>
          </a:ln>
        </p:spPr>
      </p:sp>
      <p:sp>
        <p:nvSpPr>
          <p:cNvPr id="31" name="Text 27"/>
          <p:cNvSpPr txBox="1"/>
          <p:nvPr/>
        </p:nvSpPr>
        <p:spPr>
          <a:xfrm>
            <a:off x="7799832" y="2295144"/>
            <a:ext cx="369417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FOOTPRINT</a:t>
            </a:r>
            <a:endParaRPr lang="en-US" sz="700" dirty="0"/>
          </a:p>
        </p:txBody>
      </p:sp>
      <p:sp>
        <p:nvSpPr>
          <p:cNvPr id="32" name="Text 28"/>
          <p:cNvSpPr txBox="1"/>
          <p:nvPr/>
        </p:nvSpPr>
        <p:spPr>
          <a:xfrm>
            <a:off x="7799832" y="2532888"/>
            <a:ext cx="3694176" cy="1197864"/>
          </a:xfrm>
          <a:prstGeom prst="rect">
            <a:avLst/>
          </a:prstGeom>
          <a:noFill/>
          <a:ln/>
        </p:spPr>
        <p:txBody>
          <a:bodyPr wrap="square" lIns="0" tIns="0" rIns="0" bIns="0" rtlCol="0" anchor="ctr"/>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Canadian federal, provincial and municipal policing · US county law enforcement · agent agreement across seven Nordic and Baltic countries · allied and partner militaries on four continents (references under NDA).</a:t>
            </a:r>
            <a:endParaRPr lang="en-US" sz="950" dirty="0"/>
          </a:p>
        </p:txBody>
      </p:sp>
      <p:sp>
        <p:nvSpPr>
          <p:cNvPr id="33" name="Shape 29"/>
          <p:cNvSpPr/>
          <p:nvPr/>
        </p:nvSpPr>
        <p:spPr>
          <a:xfrm>
            <a:off x="3429000" y="4023360"/>
            <a:ext cx="4023360" cy="1691640"/>
          </a:xfrm>
          <a:prstGeom prst="rect">
            <a:avLst/>
          </a:prstGeom>
          <a:solidFill>
            <a:srgbClr val="F1F3F0"/>
          </a:solidFill>
          <a:ln w="12700">
            <a:solidFill>
              <a:srgbClr val="F1F3F0"/>
            </a:solidFill>
            <a:prstDash val="solid"/>
          </a:ln>
        </p:spPr>
      </p:sp>
      <p:sp>
        <p:nvSpPr>
          <p:cNvPr id="34" name="Text 30"/>
          <p:cNvSpPr txBox="1"/>
          <p:nvPr/>
        </p:nvSpPr>
        <p:spPr>
          <a:xfrm>
            <a:off x="3593592" y="4169664"/>
            <a:ext cx="369417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STANDING</a:t>
            </a:r>
            <a:endParaRPr lang="en-US" sz="700" dirty="0"/>
          </a:p>
        </p:txBody>
      </p:sp>
      <p:sp>
        <p:nvSpPr>
          <p:cNvPr id="35" name="Text 31"/>
          <p:cNvSpPr txBox="1"/>
          <p:nvPr/>
        </p:nvSpPr>
        <p:spPr>
          <a:xfrm>
            <a:off x="3593592" y="4407408"/>
            <a:ext cx="3694176" cy="1197864"/>
          </a:xfrm>
          <a:prstGeom prst="rect">
            <a:avLst/>
          </a:prstGeom>
          <a:noFill/>
          <a:ln/>
        </p:spPr>
        <p:txBody>
          <a:bodyPr wrap="square" lIns="0" tIns="0" rIns="0" bIns="0" rtlCol="0" anchor="ctr"/>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Canadian company - a DFARS 225.872 qualifying country for US defence acquisition ²; US entity established (company); Ontario MECP environmental compliance approval and TSSA field approval on the equipment (company).</a:t>
            </a:r>
            <a:endParaRPr lang="en-US" sz="950" dirty="0"/>
          </a:p>
        </p:txBody>
      </p:sp>
      <p:sp>
        <p:nvSpPr>
          <p:cNvPr id="36" name="Shape 32"/>
          <p:cNvSpPr/>
          <p:nvPr/>
        </p:nvSpPr>
        <p:spPr>
          <a:xfrm>
            <a:off x="7635240" y="4023360"/>
            <a:ext cx="4023360" cy="1691640"/>
          </a:xfrm>
          <a:prstGeom prst="rect">
            <a:avLst/>
          </a:prstGeom>
          <a:solidFill>
            <a:srgbClr val="F1F3F0"/>
          </a:solidFill>
          <a:ln w="12700">
            <a:solidFill>
              <a:srgbClr val="F1F3F0"/>
            </a:solidFill>
            <a:prstDash val="solid"/>
          </a:ln>
        </p:spPr>
      </p:sp>
      <p:sp>
        <p:nvSpPr>
          <p:cNvPr id="37" name="Text 33"/>
          <p:cNvSpPr txBox="1"/>
          <p:nvPr/>
        </p:nvSpPr>
        <p:spPr>
          <a:xfrm>
            <a:off x="7799832" y="4169664"/>
            <a:ext cx="369417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WHAT THE FOOTHOLD GIVES THE PLATFORM</a:t>
            </a:r>
            <a:endParaRPr lang="en-US" sz="700" dirty="0"/>
          </a:p>
        </p:txBody>
      </p:sp>
      <p:sp>
        <p:nvSpPr>
          <p:cNvPr id="38" name="Text 34"/>
          <p:cNvSpPr txBox="1"/>
          <p:nvPr/>
        </p:nvSpPr>
        <p:spPr>
          <a:xfrm>
            <a:off x="7799832" y="4407408"/>
            <a:ext cx="3694176" cy="1197864"/>
          </a:xfrm>
          <a:prstGeom prst="rect">
            <a:avLst/>
          </a:prstGeom>
          <a:noFill/>
          <a:ln/>
        </p:spPr>
        <p:txBody>
          <a:bodyPr wrap="square" lIns="0" tIns="0" rIns="0" bIns="0" rtlCol="0" anchor="ctr"/>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Twenty-five years of destruction records, references and process know-how; the custody doctrine every acquired capability will run on; and certification data that no fixed-site incumbent publishes.</a:t>
            </a:r>
            <a:endParaRPr lang="en-US" sz="950" dirty="0"/>
          </a:p>
        </p:txBody>
      </p:sp>
      <p:sp>
        <p:nvSpPr>
          <p:cNvPr id="39" name="Text 35"/>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¹ Officer.com product listing (2011): "designed in a joint venture between the Royal Canadian Mounted Police and TWB Designs… in use since 2001."   ² DFARS 225.872-1.   Deployment footprint, US entity and approvals: company-provided.</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05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CAPABILITY</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eMACS - mobile closed-chamber destruction, field-proven since 2001</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A trailer-deployed two-stage combustion system: the unit goes to the ammunition, the material never leaves the owner's custody, and what comes out is graded metal - lead-antimony, brass, copper and steel, three of four now on the US Critical Minerals List ⁶.</a:t>
            </a:r>
            <a:endParaRPr lang="en-US" sz="1100" dirty="0"/>
          </a:p>
        </p:txBody>
      </p:sp>
      <p:pic>
        <p:nvPicPr>
          <p:cNvPr id="7" name="Image 1" descr="preencoded.png">    </p:cNvPr>
          <p:cNvPicPr>
            <a:picLocks noChangeAspect="1"/>
          </p:cNvPicPr>
          <p:nvPr/>
        </p:nvPicPr>
        <p:blipFill>
          <a:blip r:embed="rId2"/>
          <a:stretch>
            <a:fillRect/>
          </a:stretch>
        </p:blipFill>
        <p:spPr>
          <a:xfrm>
            <a:off x="548640" y="2103120"/>
            <a:ext cx="4754880" cy="2907792"/>
          </a:xfrm>
          <a:prstGeom prst="rect">
            <a:avLst/>
          </a:prstGeom>
        </p:spPr>
      </p:pic>
      <p:sp>
        <p:nvSpPr>
          <p:cNvPr id="8" name="Shape 4"/>
          <p:cNvSpPr/>
          <p:nvPr/>
        </p:nvSpPr>
        <p:spPr>
          <a:xfrm>
            <a:off x="520065" y="2074545"/>
            <a:ext cx="57150" cy="0"/>
          </a:xfrm>
          <a:prstGeom prst="line">
            <a:avLst/>
          </a:prstGeom>
          <a:noFill/>
          <a:ln w="9525">
            <a:solidFill>
              <a:srgbClr val="788274"/>
            </a:solidFill>
            <a:prstDash val="solid"/>
          </a:ln>
        </p:spPr>
      </p:sp>
      <p:sp>
        <p:nvSpPr>
          <p:cNvPr id="9" name="Shape 5"/>
          <p:cNvSpPr/>
          <p:nvPr/>
        </p:nvSpPr>
        <p:spPr>
          <a:xfrm>
            <a:off x="520065" y="2074545"/>
            <a:ext cx="0" cy="57150"/>
          </a:xfrm>
          <a:prstGeom prst="line">
            <a:avLst/>
          </a:prstGeom>
          <a:noFill/>
          <a:ln w="9525">
            <a:solidFill>
              <a:srgbClr val="788274"/>
            </a:solidFill>
            <a:prstDash val="solid"/>
          </a:ln>
        </p:spPr>
      </p:sp>
      <p:sp>
        <p:nvSpPr>
          <p:cNvPr id="10" name="Shape 6"/>
          <p:cNvSpPr/>
          <p:nvPr/>
        </p:nvSpPr>
        <p:spPr>
          <a:xfrm>
            <a:off x="5274945" y="2074545"/>
            <a:ext cx="57150" cy="0"/>
          </a:xfrm>
          <a:prstGeom prst="line">
            <a:avLst/>
          </a:prstGeom>
          <a:noFill/>
          <a:ln w="9525">
            <a:solidFill>
              <a:srgbClr val="788274"/>
            </a:solidFill>
            <a:prstDash val="solid"/>
          </a:ln>
        </p:spPr>
      </p:sp>
      <p:sp>
        <p:nvSpPr>
          <p:cNvPr id="11" name="Shape 7"/>
          <p:cNvSpPr/>
          <p:nvPr/>
        </p:nvSpPr>
        <p:spPr>
          <a:xfrm>
            <a:off x="5332095" y="2074545"/>
            <a:ext cx="0" cy="57150"/>
          </a:xfrm>
          <a:prstGeom prst="line">
            <a:avLst/>
          </a:prstGeom>
          <a:noFill/>
          <a:ln w="9525">
            <a:solidFill>
              <a:srgbClr val="788274"/>
            </a:solidFill>
            <a:prstDash val="solid"/>
          </a:ln>
        </p:spPr>
      </p:sp>
      <p:sp>
        <p:nvSpPr>
          <p:cNvPr id="12" name="Shape 8"/>
          <p:cNvSpPr/>
          <p:nvPr/>
        </p:nvSpPr>
        <p:spPr>
          <a:xfrm>
            <a:off x="520065" y="5039487"/>
            <a:ext cx="57150" cy="0"/>
          </a:xfrm>
          <a:prstGeom prst="line">
            <a:avLst/>
          </a:prstGeom>
          <a:noFill/>
          <a:ln w="9525">
            <a:solidFill>
              <a:srgbClr val="788274"/>
            </a:solidFill>
            <a:prstDash val="solid"/>
          </a:ln>
        </p:spPr>
      </p:sp>
      <p:sp>
        <p:nvSpPr>
          <p:cNvPr id="13" name="Shape 9"/>
          <p:cNvSpPr/>
          <p:nvPr/>
        </p:nvSpPr>
        <p:spPr>
          <a:xfrm>
            <a:off x="520065" y="4982337"/>
            <a:ext cx="0" cy="57150"/>
          </a:xfrm>
          <a:prstGeom prst="line">
            <a:avLst/>
          </a:prstGeom>
          <a:noFill/>
          <a:ln w="9525">
            <a:solidFill>
              <a:srgbClr val="788274"/>
            </a:solidFill>
            <a:prstDash val="solid"/>
          </a:ln>
        </p:spPr>
      </p:sp>
      <p:sp>
        <p:nvSpPr>
          <p:cNvPr id="14" name="Shape 10"/>
          <p:cNvSpPr/>
          <p:nvPr/>
        </p:nvSpPr>
        <p:spPr>
          <a:xfrm>
            <a:off x="5274945" y="5039487"/>
            <a:ext cx="57150" cy="0"/>
          </a:xfrm>
          <a:prstGeom prst="line">
            <a:avLst/>
          </a:prstGeom>
          <a:noFill/>
          <a:ln w="9525">
            <a:solidFill>
              <a:srgbClr val="788274"/>
            </a:solidFill>
            <a:prstDash val="solid"/>
          </a:ln>
        </p:spPr>
      </p:sp>
      <p:sp>
        <p:nvSpPr>
          <p:cNvPr id="15" name="Shape 11"/>
          <p:cNvSpPr/>
          <p:nvPr/>
        </p:nvSpPr>
        <p:spPr>
          <a:xfrm>
            <a:off x="5332095" y="4982337"/>
            <a:ext cx="0" cy="57150"/>
          </a:xfrm>
          <a:prstGeom prst="line">
            <a:avLst/>
          </a:prstGeom>
          <a:noFill/>
          <a:ln w="9525">
            <a:solidFill>
              <a:srgbClr val="788274"/>
            </a:solidFill>
            <a:prstDash val="solid"/>
          </a:ln>
        </p:spPr>
      </p:sp>
      <p:sp>
        <p:nvSpPr>
          <p:cNvPr id="16" name="Text 12"/>
          <p:cNvSpPr txBox="1"/>
          <p:nvPr/>
        </p:nvSpPr>
        <p:spPr>
          <a:xfrm>
            <a:off x="548640" y="5074920"/>
            <a:ext cx="4754880" cy="320040"/>
          </a:xfrm>
          <a:prstGeom prst="rect">
            <a:avLst/>
          </a:prstGeom>
          <a:noFill/>
          <a:ln/>
        </p:spPr>
        <p:txBody>
          <a:bodyPr wrap="square" lIns="0" tIns="0" rIns="0" bIns="0" rtlCol="0" anchor="t"/>
          <a:lstStyle/>
          <a:p>
            <a:pPr indent="0" marL="0">
              <a:buNone/>
            </a:pPr>
            <a:r>
              <a:rPr lang="en-US" sz="600" spc="150" kern="0" dirty="0">
                <a:solidFill>
                  <a:srgbClr val="6E6C66"/>
                </a:solidFill>
                <a:latin typeface="IBM Plex Mono" pitchFamily="34" charset="0"/>
                <a:ea typeface="IBM Plex Mono" pitchFamily="34" charset="-122"/>
                <a:cs typeface="IBM Plex Mono" pitchFamily="34" charset="-120"/>
              </a:rPr>
              <a:t>EMACS TRAILER - PRIMARY CHAMBER, AFTERBURNER, FILTER CABINET, EXHAUST FAN, FILTERED EXHAUST (COMPANY DOCUMENTATION)</a:t>
            </a:r>
            <a:endParaRPr lang="en-US" sz="600" dirty="0"/>
          </a:p>
        </p:txBody>
      </p:sp>
      <p:sp>
        <p:nvSpPr>
          <p:cNvPr id="17" name="Shape 13"/>
          <p:cNvSpPr/>
          <p:nvPr/>
        </p:nvSpPr>
        <p:spPr>
          <a:xfrm>
            <a:off x="548640" y="5486400"/>
            <a:ext cx="3607626" cy="219456"/>
          </a:xfrm>
          <a:prstGeom prst="rect">
            <a:avLst/>
          </a:prstGeom>
          <a:solidFill>
            <a:srgbClr val="FFFFFF"/>
          </a:solidFill>
          <a:ln w="9525">
            <a:solidFill>
              <a:srgbClr val="66705F"/>
            </a:solidFill>
            <a:prstDash val="solid"/>
          </a:ln>
        </p:spPr>
      </p:sp>
      <p:sp>
        <p:nvSpPr>
          <p:cNvPr id="18" name="Shape 14"/>
          <p:cNvSpPr/>
          <p:nvPr/>
        </p:nvSpPr>
        <p:spPr>
          <a:xfrm>
            <a:off x="640080" y="5577840"/>
            <a:ext cx="41148" cy="41148"/>
          </a:xfrm>
          <a:prstGeom prst="rect">
            <a:avLst/>
          </a:prstGeom>
          <a:solidFill>
            <a:srgbClr val="66705F"/>
          </a:solidFill>
          <a:ln w="12700">
            <a:solidFill>
              <a:srgbClr val="66705F"/>
            </a:solidFill>
            <a:prstDash val="solid"/>
          </a:ln>
        </p:spPr>
      </p:sp>
      <p:sp>
        <p:nvSpPr>
          <p:cNvPr id="19" name="Text 15"/>
          <p:cNvSpPr txBox="1"/>
          <p:nvPr/>
        </p:nvSpPr>
        <p:spPr>
          <a:xfrm>
            <a:off x="713232" y="5486400"/>
            <a:ext cx="3443034" cy="219456"/>
          </a:xfrm>
          <a:prstGeom prst="rect">
            <a:avLst/>
          </a:prstGeom>
          <a:noFill/>
          <a:ln/>
        </p:spPr>
        <p:txBody>
          <a:bodyPr wrap="none" lIns="0" tIns="0" rIns="0" bIns="0" rtlCol="0" anchor="ctr"/>
          <a:lstStyle/>
          <a:p>
            <a:pPr indent="0" marL="0">
              <a:buNone/>
            </a:pPr>
            <a:r>
              <a:rPr lang="en-US" sz="650" b="1" spc="59" kern="0" dirty="0">
                <a:solidFill>
                  <a:srgbClr val="66705F"/>
                </a:solidFill>
                <a:latin typeface="IBM Plex Mono" pitchFamily="34" charset="0"/>
                <a:ea typeface="IBM Plex Mono" pitchFamily="34" charset="-122"/>
                <a:cs typeface="IBM Plex Mono" pitchFamily="34" charset="-120"/>
              </a:rPr>
              <a:t>RECOVERY &amp; STANDARDS - PENDING THIRD-PARTY VERIFICATION</a:t>
            </a:r>
            <a:endParaRPr lang="en-US" sz="650" dirty="0"/>
          </a:p>
        </p:txBody>
      </p:sp>
      <p:sp>
        <p:nvSpPr>
          <p:cNvPr id="20" name="Shape 16"/>
          <p:cNvSpPr/>
          <p:nvPr/>
        </p:nvSpPr>
        <p:spPr>
          <a:xfrm>
            <a:off x="5577840" y="2103120"/>
            <a:ext cx="2971800" cy="923544"/>
          </a:xfrm>
          <a:prstGeom prst="rect">
            <a:avLst/>
          </a:prstGeom>
          <a:solidFill>
            <a:srgbClr val="F1F3F0"/>
          </a:solidFill>
          <a:ln w="12700">
            <a:solidFill>
              <a:srgbClr val="F1F3F0"/>
            </a:solidFill>
            <a:prstDash val="solid"/>
          </a:ln>
        </p:spPr>
      </p:sp>
      <p:sp>
        <p:nvSpPr>
          <p:cNvPr id="21" name="Text 17"/>
          <p:cNvSpPr txBox="1"/>
          <p:nvPr/>
        </p:nvSpPr>
        <p:spPr>
          <a:xfrm>
            <a:off x="5742432" y="2249424"/>
            <a:ext cx="264261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TWO-STAGE CLOSED CHAMBER</a:t>
            </a:r>
            <a:endParaRPr lang="en-US" sz="700" dirty="0"/>
          </a:p>
        </p:txBody>
      </p:sp>
      <p:sp>
        <p:nvSpPr>
          <p:cNvPr id="22" name="Text 18"/>
          <p:cNvSpPr txBox="1"/>
          <p:nvPr/>
        </p:nvSpPr>
        <p:spPr>
          <a:xfrm>
            <a:off x="5742432" y="2414016"/>
            <a:ext cx="2642616" cy="256032"/>
          </a:xfrm>
          <a:prstGeom prst="rect">
            <a:avLst/>
          </a:prstGeom>
          <a:noFill/>
          <a:ln/>
        </p:spPr>
        <p:txBody>
          <a:bodyPr wrap="square" lIns="0" tIns="0" rIns="0" bIns="0" rtlCol="0" anchor="t"/>
          <a:lstStyle/>
          <a:p>
            <a:pPr indent="0" marL="0">
              <a:buNone/>
            </a:pPr>
            <a:r>
              <a:rPr lang="en-US" sz="1200" spc="-23" kern="0" dirty="0">
                <a:solidFill>
                  <a:srgbClr val="000000"/>
                </a:solidFill>
                <a:latin typeface="Helvetica Neue" pitchFamily="34" charset="0"/>
                <a:ea typeface="Helvetica Neue" pitchFamily="34" charset="-122"/>
                <a:cs typeface="Helvetica Neue" pitchFamily="34" charset="-120"/>
              </a:rPr>
              <a:t>850°F / 1,750°F</a:t>
            </a:r>
            <a:endParaRPr lang="en-US" sz="1200" dirty="0"/>
          </a:p>
        </p:txBody>
      </p:sp>
      <p:sp>
        <p:nvSpPr>
          <p:cNvPr id="23" name="Text 19"/>
          <p:cNvSpPr txBox="1"/>
          <p:nvPr/>
        </p:nvSpPr>
        <p:spPr>
          <a:xfrm>
            <a:off x="5742432" y="2633472"/>
            <a:ext cx="2642616" cy="283464"/>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Controlled air, containment and emission control - categorically not open burning under 40 CFR 260.10 ³.</a:t>
            </a:r>
            <a:endParaRPr lang="en-US" sz="700" dirty="0"/>
          </a:p>
        </p:txBody>
      </p:sp>
      <p:sp>
        <p:nvSpPr>
          <p:cNvPr id="24" name="Shape 20"/>
          <p:cNvSpPr/>
          <p:nvPr/>
        </p:nvSpPr>
        <p:spPr>
          <a:xfrm>
            <a:off x="8686800" y="2103120"/>
            <a:ext cx="2971800" cy="923544"/>
          </a:xfrm>
          <a:prstGeom prst="rect">
            <a:avLst/>
          </a:prstGeom>
          <a:solidFill>
            <a:srgbClr val="F1F3F0"/>
          </a:solidFill>
          <a:ln w="12700">
            <a:solidFill>
              <a:srgbClr val="F1F3F0"/>
            </a:solidFill>
            <a:prstDash val="solid"/>
          </a:ln>
        </p:spPr>
      </p:sp>
      <p:sp>
        <p:nvSpPr>
          <p:cNvPr id="25" name="Text 21"/>
          <p:cNvSpPr txBox="1"/>
          <p:nvPr/>
        </p:nvSpPr>
        <p:spPr>
          <a:xfrm>
            <a:off x="8851392" y="2249424"/>
            <a:ext cx="264261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THROUGHPUT PER UNIT</a:t>
            </a:r>
            <a:endParaRPr lang="en-US" sz="700" dirty="0"/>
          </a:p>
        </p:txBody>
      </p:sp>
      <p:sp>
        <p:nvSpPr>
          <p:cNvPr id="26" name="Text 22"/>
          <p:cNvSpPr txBox="1"/>
          <p:nvPr/>
        </p:nvSpPr>
        <p:spPr>
          <a:xfrm>
            <a:off x="8851392" y="2414016"/>
            <a:ext cx="2642616" cy="256032"/>
          </a:xfrm>
          <a:prstGeom prst="rect">
            <a:avLst/>
          </a:prstGeom>
          <a:noFill/>
          <a:ln/>
        </p:spPr>
        <p:txBody>
          <a:bodyPr wrap="square" lIns="0" tIns="0" rIns="0" bIns="0" rtlCol="0" anchor="t"/>
          <a:lstStyle/>
          <a:p>
            <a:pPr indent="0" marL="0">
              <a:buNone/>
            </a:pPr>
            <a:r>
              <a:rPr lang="en-US" sz="1200" spc="-23" kern="0" dirty="0">
                <a:solidFill>
                  <a:srgbClr val="000000"/>
                </a:solidFill>
                <a:latin typeface="Helvetica Neue" pitchFamily="34" charset="0"/>
                <a:ea typeface="Helvetica Neue" pitchFamily="34" charset="-122"/>
                <a:cs typeface="Helvetica Neue" pitchFamily="34" charset="-120"/>
              </a:rPr>
              <a:t>~1,000 lb / day</a:t>
            </a:r>
            <a:endParaRPr lang="en-US" sz="1200" dirty="0"/>
          </a:p>
        </p:txBody>
      </p:sp>
      <p:sp>
        <p:nvSpPr>
          <p:cNvPr id="27" name="Text 23"/>
          <p:cNvSpPr txBox="1"/>
          <p:nvPr/>
        </p:nvSpPr>
        <p:spPr>
          <a:xfrm>
            <a:off x="8851392" y="2633472"/>
            <a:ext cx="2642616" cy="283464"/>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Company figure; up to ~100 lb per one-hour cycle. Tested to .50 calibre.</a:t>
            </a:r>
            <a:endParaRPr lang="en-US" sz="700" dirty="0"/>
          </a:p>
        </p:txBody>
      </p:sp>
      <p:sp>
        <p:nvSpPr>
          <p:cNvPr id="28" name="Shape 24"/>
          <p:cNvSpPr/>
          <p:nvPr/>
        </p:nvSpPr>
        <p:spPr>
          <a:xfrm>
            <a:off x="5577840" y="3099816"/>
            <a:ext cx="2971800" cy="923544"/>
          </a:xfrm>
          <a:prstGeom prst="rect">
            <a:avLst/>
          </a:prstGeom>
          <a:solidFill>
            <a:srgbClr val="F1F3F0"/>
          </a:solidFill>
          <a:ln w="12700">
            <a:solidFill>
              <a:srgbClr val="F1F3F0"/>
            </a:solidFill>
            <a:prstDash val="solid"/>
          </a:ln>
        </p:spPr>
      </p:sp>
      <p:sp>
        <p:nvSpPr>
          <p:cNvPr id="29" name="Text 25"/>
          <p:cNvSpPr txBox="1"/>
          <p:nvPr/>
        </p:nvSpPr>
        <p:spPr>
          <a:xfrm>
            <a:off x="5742432" y="3246120"/>
            <a:ext cx="264261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MATERIAL RECOVERED</a:t>
            </a:r>
            <a:endParaRPr lang="en-US" sz="700" dirty="0"/>
          </a:p>
        </p:txBody>
      </p:sp>
      <p:sp>
        <p:nvSpPr>
          <p:cNvPr id="30" name="Text 26"/>
          <p:cNvSpPr txBox="1"/>
          <p:nvPr/>
        </p:nvSpPr>
        <p:spPr>
          <a:xfrm>
            <a:off x="5742432" y="3410712"/>
            <a:ext cx="2642616" cy="256032"/>
          </a:xfrm>
          <a:prstGeom prst="rect">
            <a:avLst/>
          </a:prstGeom>
          <a:noFill/>
          <a:ln/>
        </p:spPr>
        <p:txBody>
          <a:bodyPr wrap="square" lIns="0" tIns="0" rIns="0" bIns="0" rtlCol="0" anchor="t"/>
          <a:lstStyle/>
          <a:p>
            <a:pPr indent="0" marL="0">
              <a:buNone/>
            </a:pPr>
            <a:r>
              <a:rPr lang="en-US" sz="1200" spc="-23" kern="0" dirty="0">
                <a:solidFill>
                  <a:srgbClr val="000000"/>
                </a:solidFill>
                <a:latin typeface="Helvetica Neue" pitchFamily="34" charset="0"/>
                <a:ea typeface="Helvetica Neue" pitchFamily="34" charset="-122"/>
                <a:cs typeface="Helvetica Neue" pitchFamily="34" charset="-120"/>
              </a:rPr>
              <a:t>97%</a:t>
            </a:r>
            <a:endParaRPr lang="en-US" sz="1200" dirty="0"/>
          </a:p>
        </p:txBody>
      </p:sp>
      <p:sp>
        <p:nvSpPr>
          <p:cNvPr id="31" name="Text 27"/>
          <p:cNvSpPr txBox="1"/>
          <p:nvPr/>
        </p:nvSpPr>
        <p:spPr>
          <a:xfrm>
            <a:off x="5742432" y="3630168"/>
            <a:ext cx="2642616" cy="283464"/>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Of recyclable material per cycle - company operating figure; third-party verification to be published.</a:t>
            </a:r>
            <a:endParaRPr lang="en-US" sz="700" dirty="0"/>
          </a:p>
        </p:txBody>
      </p:sp>
      <p:sp>
        <p:nvSpPr>
          <p:cNvPr id="32" name="Shape 28"/>
          <p:cNvSpPr/>
          <p:nvPr/>
        </p:nvSpPr>
        <p:spPr>
          <a:xfrm>
            <a:off x="8686800" y="3099816"/>
            <a:ext cx="2971800" cy="923544"/>
          </a:xfrm>
          <a:prstGeom prst="rect">
            <a:avLst/>
          </a:prstGeom>
          <a:solidFill>
            <a:srgbClr val="F1F3F0"/>
          </a:solidFill>
          <a:ln w="12700">
            <a:solidFill>
              <a:srgbClr val="F1F3F0"/>
            </a:solidFill>
            <a:prstDash val="solid"/>
          </a:ln>
        </p:spPr>
      </p:sp>
      <p:sp>
        <p:nvSpPr>
          <p:cNvPr id="33" name="Text 29"/>
          <p:cNvSpPr txBox="1"/>
          <p:nvPr/>
        </p:nvSpPr>
        <p:spPr>
          <a:xfrm>
            <a:off x="8851392" y="3246120"/>
            <a:ext cx="264261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DEPLOYMENT</a:t>
            </a:r>
            <a:endParaRPr lang="en-US" sz="700" dirty="0"/>
          </a:p>
        </p:txBody>
      </p:sp>
      <p:sp>
        <p:nvSpPr>
          <p:cNvPr id="34" name="Text 30"/>
          <p:cNvSpPr txBox="1"/>
          <p:nvPr/>
        </p:nvSpPr>
        <p:spPr>
          <a:xfrm>
            <a:off x="8851392" y="3410712"/>
            <a:ext cx="2642616" cy="256032"/>
          </a:xfrm>
          <a:prstGeom prst="rect">
            <a:avLst/>
          </a:prstGeom>
          <a:noFill/>
          <a:ln/>
        </p:spPr>
        <p:txBody>
          <a:bodyPr wrap="square" lIns="0" tIns="0" rIns="0" bIns="0" rtlCol="0" anchor="t"/>
          <a:lstStyle/>
          <a:p>
            <a:pPr indent="0" marL="0">
              <a:buNone/>
            </a:pPr>
            <a:r>
              <a:rPr lang="en-US" sz="1200" spc="-23" kern="0" dirty="0">
                <a:solidFill>
                  <a:srgbClr val="000000"/>
                </a:solidFill>
                <a:latin typeface="Helvetica Neue" pitchFamily="34" charset="0"/>
                <a:ea typeface="Helvetica Neue" pitchFamily="34" charset="-122"/>
                <a:cs typeface="Helvetica Neue" pitchFamily="34" charset="-120"/>
              </a:rPr>
              <a:t>Days, not months</a:t>
            </a:r>
            <a:endParaRPr lang="en-US" sz="1200" dirty="0"/>
          </a:p>
        </p:txBody>
      </p:sp>
      <p:sp>
        <p:nvSpPr>
          <p:cNvPr id="35" name="Text 31"/>
          <p:cNvSpPr txBox="1"/>
          <p:nvPr/>
        </p:nvSpPr>
        <p:spPr>
          <a:xfrm>
            <a:off x="8851392" y="3630168"/>
            <a:ext cx="2642616" cy="283464"/>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Trailer-mounted, 11,500 lb, Class V hitch, remote start/stop (company). Nearest comparable closed chamber: three-week deployment ⁴.</a:t>
            </a:r>
            <a:endParaRPr lang="en-US" sz="700" dirty="0"/>
          </a:p>
        </p:txBody>
      </p:sp>
      <p:sp>
        <p:nvSpPr>
          <p:cNvPr id="36" name="Shape 32"/>
          <p:cNvSpPr/>
          <p:nvPr/>
        </p:nvSpPr>
        <p:spPr>
          <a:xfrm>
            <a:off x="5577840" y="4096512"/>
            <a:ext cx="2971800" cy="923544"/>
          </a:xfrm>
          <a:prstGeom prst="rect">
            <a:avLst/>
          </a:prstGeom>
          <a:solidFill>
            <a:srgbClr val="F1F3F0"/>
          </a:solidFill>
          <a:ln w="12700">
            <a:solidFill>
              <a:srgbClr val="F1F3F0"/>
            </a:solidFill>
            <a:prstDash val="solid"/>
          </a:ln>
        </p:spPr>
      </p:sp>
      <p:sp>
        <p:nvSpPr>
          <p:cNvPr id="37" name="Text 33"/>
          <p:cNvSpPr txBox="1"/>
          <p:nvPr/>
        </p:nvSpPr>
        <p:spPr>
          <a:xfrm>
            <a:off x="5742432" y="4242816"/>
            <a:ext cx="264261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STANDARDS &amp; APPROVALS</a:t>
            </a:r>
            <a:endParaRPr lang="en-US" sz="700" dirty="0"/>
          </a:p>
        </p:txBody>
      </p:sp>
      <p:sp>
        <p:nvSpPr>
          <p:cNvPr id="38" name="Text 34"/>
          <p:cNvSpPr txBox="1"/>
          <p:nvPr/>
        </p:nvSpPr>
        <p:spPr>
          <a:xfrm>
            <a:off x="5742432" y="4407408"/>
            <a:ext cx="2642616" cy="256032"/>
          </a:xfrm>
          <a:prstGeom prst="rect">
            <a:avLst/>
          </a:prstGeom>
          <a:noFill/>
          <a:ln/>
        </p:spPr>
        <p:txBody>
          <a:bodyPr wrap="square" lIns="0" tIns="0" rIns="0" bIns="0" rtlCol="0" anchor="t"/>
          <a:lstStyle/>
          <a:p>
            <a:pPr indent="0" marL="0">
              <a:buNone/>
            </a:pPr>
            <a:r>
              <a:rPr lang="en-US" sz="1200" spc="-23" kern="0" dirty="0">
                <a:solidFill>
                  <a:srgbClr val="000000"/>
                </a:solidFill>
                <a:latin typeface="Helvetica Neue" pitchFamily="34" charset="0"/>
                <a:ea typeface="Helvetica Neue" pitchFamily="34" charset="-122"/>
                <a:cs typeface="Helvetica Neue" pitchFamily="34" charset="-120"/>
              </a:rPr>
              <a:t>CA EPA · NATO · EU</a:t>
            </a:r>
            <a:endParaRPr lang="en-US" sz="1200" dirty="0"/>
          </a:p>
        </p:txBody>
      </p:sp>
      <p:sp>
        <p:nvSpPr>
          <p:cNvPr id="39" name="Text 35"/>
          <p:cNvSpPr txBox="1"/>
          <p:nvPr/>
        </p:nvSpPr>
        <p:spPr>
          <a:xfrm>
            <a:off x="5742432" y="4626864"/>
            <a:ext cx="2642616" cy="283464"/>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Company states the system meets or exceeds these; Ontario MECP ECA; TSSA field-approved (company).</a:t>
            </a:r>
            <a:endParaRPr lang="en-US" sz="700" dirty="0"/>
          </a:p>
        </p:txBody>
      </p:sp>
      <p:sp>
        <p:nvSpPr>
          <p:cNvPr id="40" name="Shape 36"/>
          <p:cNvSpPr/>
          <p:nvPr/>
        </p:nvSpPr>
        <p:spPr>
          <a:xfrm>
            <a:off x="8686800" y="4096512"/>
            <a:ext cx="2971800" cy="923544"/>
          </a:xfrm>
          <a:prstGeom prst="rect">
            <a:avLst/>
          </a:prstGeom>
          <a:solidFill>
            <a:srgbClr val="F1F3F0"/>
          </a:solidFill>
          <a:ln w="12700">
            <a:solidFill>
              <a:srgbClr val="F1F3F0"/>
            </a:solidFill>
            <a:prstDash val="solid"/>
          </a:ln>
        </p:spPr>
      </p:sp>
      <p:sp>
        <p:nvSpPr>
          <p:cNvPr id="41" name="Text 37"/>
          <p:cNvSpPr txBox="1"/>
          <p:nvPr/>
        </p:nvSpPr>
        <p:spPr>
          <a:xfrm>
            <a:off x="8851392" y="4242816"/>
            <a:ext cx="264261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PROCESS KNOW-HOW &amp; MOAT</a:t>
            </a:r>
            <a:endParaRPr lang="en-US" sz="700" dirty="0"/>
          </a:p>
        </p:txBody>
      </p:sp>
      <p:sp>
        <p:nvSpPr>
          <p:cNvPr id="42" name="Text 38"/>
          <p:cNvSpPr txBox="1"/>
          <p:nvPr/>
        </p:nvSpPr>
        <p:spPr>
          <a:xfrm>
            <a:off x="8851392" y="4407408"/>
            <a:ext cx="2642616" cy="256032"/>
          </a:xfrm>
          <a:prstGeom prst="rect">
            <a:avLst/>
          </a:prstGeom>
          <a:noFill/>
          <a:ln/>
        </p:spPr>
        <p:txBody>
          <a:bodyPr wrap="square" lIns="0" tIns="0" rIns="0" bIns="0" rtlCol="0" anchor="t"/>
          <a:lstStyle/>
          <a:p>
            <a:pPr indent="0" marL="0">
              <a:buNone/>
            </a:pPr>
            <a:r>
              <a:rPr lang="en-US" sz="1200" spc="-23" kern="0" dirty="0">
                <a:solidFill>
                  <a:srgbClr val="000000"/>
                </a:solidFill>
                <a:latin typeface="Helvetica Neue" pitchFamily="34" charset="0"/>
                <a:ea typeface="Helvetica Neue" pitchFamily="34" charset="-122"/>
                <a:cs typeface="Helvetica Neue" pitchFamily="34" charset="-120"/>
              </a:rPr>
              <a:t>25 years operational</a:t>
            </a:r>
            <a:endParaRPr lang="en-US" sz="1200" dirty="0"/>
          </a:p>
        </p:txBody>
      </p:sp>
      <p:sp>
        <p:nvSpPr>
          <p:cNvPr id="43" name="Text 39"/>
          <p:cNvSpPr txBox="1"/>
          <p:nvPr/>
        </p:nvSpPr>
        <p:spPr>
          <a:xfrm>
            <a:off x="8851392" y="4626864"/>
            <a:ext cx="2642616" cy="283464"/>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Real moat is field process know-how, permits, references and custody data - not the original patents (US 6,758,151 / CA 2,402,939), now expired ⁵.</a:t>
            </a:r>
            <a:endParaRPr lang="en-US" sz="700" dirty="0"/>
          </a:p>
        </p:txBody>
      </p:sp>
      <p:sp>
        <p:nvSpPr>
          <p:cNvPr id="44" name="Shape 40"/>
          <p:cNvSpPr/>
          <p:nvPr/>
        </p:nvSpPr>
        <p:spPr>
          <a:xfrm>
            <a:off x="5577840" y="5093208"/>
            <a:ext cx="2971800" cy="923544"/>
          </a:xfrm>
          <a:prstGeom prst="rect">
            <a:avLst/>
          </a:prstGeom>
          <a:solidFill>
            <a:srgbClr val="F1F3F0"/>
          </a:solidFill>
          <a:ln w="12700">
            <a:solidFill>
              <a:srgbClr val="F1F3F0"/>
            </a:solidFill>
            <a:prstDash val="solid"/>
          </a:ln>
        </p:spPr>
      </p:sp>
      <p:sp>
        <p:nvSpPr>
          <p:cNvPr id="45" name="Text 41"/>
          <p:cNvSpPr txBox="1"/>
          <p:nvPr/>
        </p:nvSpPr>
        <p:spPr>
          <a:xfrm>
            <a:off x="5742432" y="5239512"/>
            <a:ext cx="264261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INDICATIVE RECOVERY</a:t>
            </a:r>
            <a:endParaRPr lang="en-US" sz="700" dirty="0"/>
          </a:p>
        </p:txBody>
      </p:sp>
      <p:sp>
        <p:nvSpPr>
          <p:cNvPr id="46" name="Text 42"/>
          <p:cNvSpPr txBox="1"/>
          <p:nvPr/>
        </p:nvSpPr>
        <p:spPr>
          <a:xfrm>
            <a:off x="5742432" y="5404104"/>
            <a:ext cx="2642616" cy="256032"/>
          </a:xfrm>
          <a:prstGeom prst="rect">
            <a:avLst/>
          </a:prstGeom>
          <a:noFill/>
          <a:ln/>
        </p:spPr>
        <p:txBody>
          <a:bodyPr wrap="square" lIns="0" tIns="0" rIns="0" bIns="0" rtlCol="0" anchor="t"/>
          <a:lstStyle/>
          <a:p>
            <a:pPr indent="0" marL="0">
              <a:buNone/>
            </a:pPr>
            <a:r>
              <a:rPr lang="en-US" sz="1200" spc="-23" kern="0" dirty="0">
                <a:solidFill>
                  <a:srgbClr val="000000"/>
                </a:solidFill>
                <a:latin typeface="Helvetica Neue" pitchFamily="34" charset="0"/>
                <a:ea typeface="Helvetica Neue" pitchFamily="34" charset="-122"/>
                <a:cs typeface="Helvetica Neue" pitchFamily="34" charset="-120"/>
              </a:rPr>
              <a:t>~$1,000 / day</a:t>
            </a:r>
            <a:endParaRPr lang="en-US" sz="1200" dirty="0"/>
          </a:p>
        </p:txBody>
      </p:sp>
      <p:sp>
        <p:nvSpPr>
          <p:cNvPr id="47" name="Text 43"/>
          <p:cNvSpPr txBox="1"/>
          <p:nvPr/>
        </p:nvSpPr>
        <p:spPr>
          <a:xfrm>
            <a:off x="5742432" y="5623560"/>
            <a:ext cx="2642616" cy="283464"/>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Company reference (2013): ~1,000 lb/day yields ~$1,000 of clean reclaimed metal. Metal prices vary; indicative only ⁷. Pitched net of fee, never "cheaper" in the gross.</a:t>
            </a:r>
            <a:endParaRPr lang="en-US" sz="700" dirty="0"/>
          </a:p>
        </p:txBody>
      </p:sp>
      <p:sp>
        <p:nvSpPr>
          <p:cNvPr id="48" name="Shape 44"/>
          <p:cNvSpPr/>
          <p:nvPr/>
        </p:nvSpPr>
        <p:spPr>
          <a:xfrm>
            <a:off x="8686800" y="5093208"/>
            <a:ext cx="2971800" cy="923544"/>
          </a:xfrm>
          <a:prstGeom prst="rect">
            <a:avLst/>
          </a:prstGeom>
          <a:solidFill>
            <a:srgbClr val="F1F3F0"/>
          </a:solidFill>
          <a:ln w="12700">
            <a:solidFill>
              <a:srgbClr val="F1F3F0"/>
            </a:solidFill>
            <a:prstDash val="solid"/>
          </a:ln>
        </p:spPr>
      </p:sp>
      <p:sp>
        <p:nvSpPr>
          <p:cNvPr id="49" name="Text 45"/>
          <p:cNvSpPr txBox="1"/>
          <p:nvPr/>
        </p:nvSpPr>
        <p:spPr>
          <a:xfrm>
            <a:off x="8851392" y="5239512"/>
            <a:ext cx="264261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OUTPUT STREAMS</a:t>
            </a:r>
            <a:endParaRPr lang="en-US" sz="700" dirty="0"/>
          </a:p>
        </p:txBody>
      </p:sp>
      <p:sp>
        <p:nvSpPr>
          <p:cNvPr id="50" name="Text 46"/>
          <p:cNvSpPr txBox="1"/>
          <p:nvPr/>
        </p:nvSpPr>
        <p:spPr>
          <a:xfrm>
            <a:off x="8851392" y="5404104"/>
            <a:ext cx="2642616" cy="256032"/>
          </a:xfrm>
          <a:prstGeom prst="rect">
            <a:avLst/>
          </a:prstGeom>
          <a:noFill/>
          <a:ln/>
        </p:spPr>
        <p:txBody>
          <a:bodyPr wrap="square" lIns="0" tIns="0" rIns="0" bIns="0" rtlCol="0" anchor="t"/>
          <a:lstStyle/>
          <a:p>
            <a:pPr indent="0" marL="0">
              <a:buNone/>
            </a:pPr>
            <a:r>
              <a:rPr lang="en-US" sz="1200" spc="-23" kern="0" dirty="0">
                <a:solidFill>
                  <a:srgbClr val="000000"/>
                </a:solidFill>
                <a:latin typeface="Helvetica Neue" pitchFamily="34" charset="0"/>
                <a:ea typeface="Helvetica Neue" pitchFamily="34" charset="-122"/>
                <a:cs typeface="Helvetica Neue" pitchFamily="34" charset="-120"/>
              </a:rPr>
              <a:t>4 metal fractions</a:t>
            </a:r>
            <a:endParaRPr lang="en-US" sz="1200" dirty="0"/>
          </a:p>
        </p:txBody>
      </p:sp>
      <p:sp>
        <p:nvSpPr>
          <p:cNvPr id="51" name="Text 47"/>
          <p:cNvSpPr txBox="1"/>
          <p:nvPr/>
        </p:nvSpPr>
        <p:spPr>
          <a:xfrm>
            <a:off x="8851392" y="5623560"/>
            <a:ext cx="2642616" cy="283464"/>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Lead-antimony alloy, cartridge brass, copper/gilding jackets, ferrous - separated in one pass; no dollar-recovery table until third-party verification publishes.</a:t>
            </a:r>
            <a:endParaRPr lang="en-US" sz="700" dirty="0"/>
          </a:p>
        </p:txBody>
      </p:sp>
      <p:sp>
        <p:nvSpPr>
          <p:cNvPr id="52" name="Text 48"/>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³ 40 CFR 260.10 (eCFR). ⁴ Dynasafe SDC 1000: "deploys in three weeks". ⁵ Google Patents US6758151B2/CA2402939. ⁶ 90 FR 50494 (7 Nov 2025). ⁷ TWB press release, PRWeb, 6 Dec 2013. Throughput/recovery/standards: company figures pending third-party verification.</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06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TRACTION</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What the foothold has already done - in numbers</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A small, debt-free operating base with real customers today - not a projection. Capital is what turns this into the platform, not what starts it.</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120640" cy="914400"/>
        </p:xfrm>
        <a:graphic>
          <a:graphicData uri="http://schemas.openxmlformats.org/drawingml/2006/table">
            <a:tbl>
              <a:tblPr/>
              <a:tblGrid>
                <a:gridCol w="1828800"/>
                <a:gridCol w="1097280"/>
                <a:gridCol w="1097280"/>
                <a:gridCol w="1097280"/>
              </a:tblGrid>
              <a:tr h="292608">
                <a:tc>
                  <a:txBody>
                    <a:bodyPr/>
                    <a:lstStyle/>
                    <a:p>
                      <a:pPr algn="l" indent="0" marL="0">
                        <a:buNone/>
                      </a:pPr>
                      <a:r>
                        <a:rPr lang="en-US" sz="650" b="1" dirty="0">
                          <a:solidFill>
                            <a:srgbClr val="000000"/>
                          </a:solidFill>
                          <a:latin typeface="IBM Plex Mono" pitchFamily="34" charset="0"/>
                          <a:ea typeface="IBM Plex Mono" pitchFamily="34" charset="-122"/>
                          <a:cs typeface="IBM Plex Mono" pitchFamily="34" charset="-120"/>
                        </a:rPr>
                        <a:t>CAD (combined, compiled)</a:t>
                      </a:r>
                      <a:endParaRPr lang="en-US" sz="650" dirty="0">
                        <a:latin typeface="IBM Plex Mono" charset="0"/>
                        <a:ea typeface="IBM Plex Mono" charset="0"/>
                        <a:cs typeface="IBM Plex Mono"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900" b="1" dirty="0">
                          <a:solidFill>
                            <a:srgbClr val="000000"/>
                          </a:solidFill>
                          <a:latin typeface="Helvetica Neue" pitchFamily="34" charset="0"/>
                          <a:ea typeface="Helvetica Neue" pitchFamily="34" charset="-122"/>
                          <a:cs typeface="Helvetica Neue" pitchFamily="34" charset="-120"/>
                        </a:rPr>
                        <a:t>FY2023</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900" b="1" dirty="0">
                          <a:solidFill>
                            <a:srgbClr val="000000"/>
                          </a:solidFill>
                          <a:latin typeface="Helvetica Neue" pitchFamily="34" charset="0"/>
                          <a:ea typeface="Helvetica Neue" pitchFamily="34" charset="-122"/>
                          <a:cs typeface="Helvetica Neue" pitchFamily="34" charset="-120"/>
                        </a:rPr>
                        <a:t>FY2024</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900" b="1" dirty="0">
                          <a:solidFill>
                            <a:srgbClr val="000000"/>
                          </a:solidFill>
                          <a:latin typeface="Helvetica Neue" pitchFamily="34" charset="0"/>
                          <a:ea typeface="Helvetica Neue" pitchFamily="34" charset="-122"/>
                          <a:cs typeface="Helvetica Neue" pitchFamily="34" charset="-120"/>
                        </a:rPr>
                        <a:t>FY2025</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r>
              <a:tr h="292608">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Revenue</a:t>
                      </a:r>
                      <a:endParaRPr lang="en-US" sz="85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965,730</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1,711,261</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862,856</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r h="292608">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EBITDA (approx.)</a:t>
                      </a:r>
                      <a:endParaRPr lang="en-US" sz="85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~419,000</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~492,000</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~235,000</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r>
              <a:tr h="292608">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EBITDA margin</a:t>
                      </a:r>
                      <a:endParaRPr lang="en-US" sz="85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43.4%</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28.8%</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27.2%</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r h="292608">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Net income</a:t>
                      </a:r>
                      <a:endParaRPr lang="en-US" sz="85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337,094</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589,471</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900" dirty="0">
                          <a:solidFill>
                            <a:srgbClr val="33332F"/>
                          </a:solidFill>
                          <a:latin typeface="Helvetica Neue" pitchFamily="34" charset="0"/>
                          <a:ea typeface="Helvetica Neue" pitchFamily="34" charset="-122"/>
                          <a:cs typeface="Helvetica Neue" pitchFamily="34" charset="-120"/>
                        </a:rPr>
                        <a:t>125,174</a:t>
                      </a:r>
                      <a:endParaRPr lang="en-US" sz="900" dirty="0">
                        <a:latin typeface="Helvetica Neue" charset="0"/>
                        <a:ea typeface="Helvetica Neue" charset="0"/>
                        <a:cs typeface="Helvetica Neue" charset="0"/>
                      </a:endParaRPr>
                    </a:p>
                  </a:txBody>
                  <a:tcPr marL="27432" marR="27432" marT="27432" marB="27432"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r>
            </a:tbl>
          </a:graphicData>
        </a:graphic>
      </p:graphicFrame>
      <p:sp>
        <p:nvSpPr>
          <p:cNvPr id="8" name="Shape 4"/>
          <p:cNvSpPr/>
          <p:nvPr/>
        </p:nvSpPr>
        <p:spPr>
          <a:xfrm>
            <a:off x="520065" y="2074545"/>
            <a:ext cx="57150" cy="0"/>
          </a:xfrm>
          <a:prstGeom prst="line">
            <a:avLst/>
          </a:prstGeom>
          <a:noFill/>
          <a:ln w="9525">
            <a:solidFill>
              <a:srgbClr val="788274"/>
            </a:solidFill>
            <a:prstDash val="solid"/>
          </a:ln>
        </p:spPr>
      </p:sp>
      <p:sp>
        <p:nvSpPr>
          <p:cNvPr id="9" name="Shape 5"/>
          <p:cNvSpPr/>
          <p:nvPr/>
        </p:nvSpPr>
        <p:spPr>
          <a:xfrm>
            <a:off x="520065" y="2074545"/>
            <a:ext cx="0" cy="57150"/>
          </a:xfrm>
          <a:prstGeom prst="line">
            <a:avLst/>
          </a:prstGeom>
          <a:noFill/>
          <a:ln w="9525">
            <a:solidFill>
              <a:srgbClr val="788274"/>
            </a:solidFill>
            <a:prstDash val="solid"/>
          </a:ln>
        </p:spPr>
      </p:sp>
      <p:sp>
        <p:nvSpPr>
          <p:cNvPr id="10" name="Shape 6"/>
          <p:cNvSpPr/>
          <p:nvPr/>
        </p:nvSpPr>
        <p:spPr>
          <a:xfrm>
            <a:off x="5640705" y="2074545"/>
            <a:ext cx="57150" cy="0"/>
          </a:xfrm>
          <a:prstGeom prst="line">
            <a:avLst/>
          </a:prstGeom>
          <a:noFill/>
          <a:ln w="9525">
            <a:solidFill>
              <a:srgbClr val="788274"/>
            </a:solidFill>
            <a:prstDash val="solid"/>
          </a:ln>
        </p:spPr>
      </p:sp>
      <p:sp>
        <p:nvSpPr>
          <p:cNvPr id="11" name="Shape 7"/>
          <p:cNvSpPr/>
          <p:nvPr/>
        </p:nvSpPr>
        <p:spPr>
          <a:xfrm>
            <a:off x="5697855" y="2074545"/>
            <a:ext cx="0" cy="57150"/>
          </a:xfrm>
          <a:prstGeom prst="line">
            <a:avLst/>
          </a:prstGeom>
          <a:noFill/>
          <a:ln w="9525">
            <a:solidFill>
              <a:srgbClr val="788274"/>
            </a:solidFill>
            <a:prstDash val="solid"/>
          </a:ln>
        </p:spPr>
      </p:sp>
      <p:sp>
        <p:nvSpPr>
          <p:cNvPr id="12" name="Shape 8"/>
          <p:cNvSpPr/>
          <p:nvPr/>
        </p:nvSpPr>
        <p:spPr>
          <a:xfrm>
            <a:off x="520065" y="3302127"/>
            <a:ext cx="57150" cy="0"/>
          </a:xfrm>
          <a:prstGeom prst="line">
            <a:avLst/>
          </a:prstGeom>
          <a:noFill/>
          <a:ln w="9525">
            <a:solidFill>
              <a:srgbClr val="788274"/>
            </a:solidFill>
            <a:prstDash val="solid"/>
          </a:ln>
        </p:spPr>
      </p:sp>
      <p:sp>
        <p:nvSpPr>
          <p:cNvPr id="13" name="Shape 9"/>
          <p:cNvSpPr/>
          <p:nvPr/>
        </p:nvSpPr>
        <p:spPr>
          <a:xfrm>
            <a:off x="520065" y="3244977"/>
            <a:ext cx="0" cy="57150"/>
          </a:xfrm>
          <a:prstGeom prst="line">
            <a:avLst/>
          </a:prstGeom>
          <a:noFill/>
          <a:ln w="9525">
            <a:solidFill>
              <a:srgbClr val="788274"/>
            </a:solidFill>
            <a:prstDash val="solid"/>
          </a:ln>
        </p:spPr>
      </p:sp>
      <p:sp>
        <p:nvSpPr>
          <p:cNvPr id="14" name="Shape 10"/>
          <p:cNvSpPr/>
          <p:nvPr/>
        </p:nvSpPr>
        <p:spPr>
          <a:xfrm>
            <a:off x="5640705" y="3302127"/>
            <a:ext cx="57150" cy="0"/>
          </a:xfrm>
          <a:prstGeom prst="line">
            <a:avLst/>
          </a:prstGeom>
          <a:noFill/>
          <a:ln w="9525">
            <a:solidFill>
              <a:srgbClr val="788274"/>
            </a:solidFill>
            <a:prstDash val="solid"/>
          </a:ln>
        </p:spPr>
      </p:sp>
      <p:sp>
        <p:nvSpPr>
          <p:cNvPr id="15" name="Shape 11"/>
          <p:cNvSpPr/>
          <p:nvPr/>
        </p:nvSpPr>
        <p:spPr>
          <a:xfrm>
            <a:off x="5697855" y="3244977"/>
            <a:ext cx="0" cy="57150"/>
          </a:xfrm>
          <a:prstGeom prst="line">
            <a:avLst/>
          </a:prstGeom>
          <a:noFill/>
          <a:ln w="9525">
            <a:solidFill>
              <a:srgbClr val="788274"/>
            </a:solidFill>
            <a:prstDash val="solid"/>
          </a:ln>
        </p:spPr>
      </p:sp>
      <p:sp>
        <p:nvSpPr>
          <p:cNvPr id="16" name="Text 12"/>
          <p:cNvSpPr txBox="1"/>
          <p:nvPr/>
        </p:nvSpPr>
        <p:spPr>
          <a:xfrm>
            <a:off x="548640" y="3611880"/>
            <a:ext cx="5029200" cy="502920"/>
          </a:xfrm>
          <a:prstGeom prst="rect">
            <a:avLst/>
          </a:prstGeom>
          <a:noFill/>
          <a:ln/>
        </p:spPr>
        <p:txBody>
          <a:bodyPr wrap="square" lIns="0" tIns="0" rIns="0" bIns="0" rtlCol="0" anchor="t"/>
          <a:lstStyle/>
          <a:p>
            <a:pPr algn="l" indent="0" marL="0">
              <a:spcAft>
                <a:spcPts val="400"/>
              </a:spcAft>
              <a:buNone/>
            </a:pPr>
            <a:r>
              <a:rPr lang="en-US" sz="750" dirty="0">
                <a:solidFill>
                  <a:srgbClr val="6E6C66"/>
                </a:solidFill>
                <a:latin typeface="Helvetica Neue" pitchFamily="34" charset="0"/>
                <a:ea typeface="Helvetica Neue" pitchFamily="34" charset="-122"/>
                <a:cs typeface="Helvetica Neue" pitchFamily="34" charset="-120"/>
              </a:rPr>
              <a:t>Combined TWB Designs Inc. + CADS, from compiled (unaudited) financial statements - a compilation engagement provides no assurance. Revenue, USD (BoC average): $0.72M / $1.25M / $0.62M.</a:t>
            </a:r>
            <a:endParaRPr lang="en-US" sz="750" dirty="0"/>
          </a:p>
        </p:txBody>
      </p:sp>
      <p:sp>
        <p:nvSpPr>
          <p:cNvPr id="17" name="Text 13"/>
          <p:cNvSpPr txBox="1"/>
          <p:nvPr/>
        </p:nvSpPr>
        <p:spPr>
          <a:xfrm>
            <a:off x="548640" y="4160520"/>
            <a:ext cx="5120640" cy="731520"/>
          </a:xfrm>
          <a:prstGeom prst="rect">
            <a:avLst/>
          </a:prstGeom>
          <a:noFill/>
          <a:ln/>
        </p:spPr>
        <p:txBody>
          <a:bodyPr wrap="square" lIns="0" tIns="0" rIns="0" bIns="0" rtlCol="0" anchor="t"/>
          <a:lstStyle/>
          <a:p>
            <a:pPr algn="l" indent="0" marL="0">
              <a:spcAft>
                <a:spcPts val="400"/>
              </a:spcAft>
              <a:buNone/>
            </a:pPr>
            <a:r>
              <a:rPr lang="en-US" sz="800" i="1" dirty="0">
                <a:solidFill>
                  <a:srgbClr val="6E6C66"/>
                </a:solidFill>
                <a:latin typeface="Helvetica Neue" pitchFamily="34" charset="0"/>
                <a:ea typeface="Helvetica Neue" pitchFamily="34" charset="-122"/>
                <a:cs typeface="Helvetica Neue" pitchFamily="34" charset="-120"/>
              </a:rPr>
              <a:t>Debt-free at 31 Dec 2025: cash CAD 199,098, total assets CAD 628,018, book equity CAD 580,329, no interest-bearing debt. Services revenue declined ~20% across 2023–2025 as an intercompany fee and lumpy equipment sales moved the mix - disclosed, not smoothed; the raise is what reverses this.</a:t>
            </a:r>
            <a:endParaRPr lang="en-US" sz="800" dirty="0"/>
          </a:p>
        </p:txBody>
      </p:sp>
      <p:sp>
        <p:nvSpPr>
          <p:cNvPr id="18" name="Shape 14"/>
          <p:cNvSpPr/>
          <p:nvPr/>
        </p:nvSpPr>
        <p:spPr>
          <a:xfrm>
            <a:off x="548640" y="5102352"/>
            <a:ext cx="5120640" cy="0"/>
          </a:xfrm>
          <a:prstGeom prst="line">
            <a:avLst/>
          </a:prstGeom>
          <a:noFill/>
          <a:ln w="9525">
            <a:solidFill>
              <a:srgbClr val="D3D9D0"/>
            </a:solidFill>
            <a:prstDash val="solid"/>
          </a:ln>
        </p:spPr>
      </p:sp>
      <p:sp>
        <p:nvSpPr>
          <p:cNvPr id="19" name="Text 15"/>
          <p:cNvSpPr txBox="1"/>
          <p:nvPr/>
        </p:nvSpPr>
        <p:spPr>
          <a:xfrm>
            <a:off x="548640" y="5212080"/>
            <a:ext cx="5120640" cy="201168"/>
          </a:xfrm>
          <a:prstGeom prst="rect">
            <a:avLst/>
          </a:prstGeom>
          <a:noFill/>
          <a:ln/>
        </p:spPr>
        <p:txBody>
          <a:bodyPr wrap="square" lIns="0" tIns="0" rIns="0" bIns="0" rtlCol="0" anchor="t"/>
          <a:lstStyle/>
          <a:p>
            <a:pPr indent="0" marL="0">
              <a:buNone/>
            </a:pPr>
            <a:r>
              <a:rPr lang="en-US" sz="630" spc="150" kern="0" dirty="0">
                <a:solidFill>
                  <a:srgbClr val="6E6C66"/>
                </a:solidFill>
                <a:latin typeface="IBM Plex Mono" pitchFamily="34" charset="0"/>
                <a:ea typeface="IBM Plex Mono" pitchFamily="34" charset="-122"/>
                <a:cs typeface="IBM Plex Mono" pitchFamily="34" charset="-120"/>
              </a:rPr>
              <a:t>OPEN DISCLOSURE ITEM</a:t>
            </a:r>
            <a:endParaRPr lang="en-US" sz="630" dirty="0"/>
          </a:p>
        </p:txBody>
      </p:sp>
      <p:sp>
        <p:nvSpPr>
          <p:cNvPr id="20" name="Shape 16"/>
          <p:cNvSpPr/>
          <p:nvPr/>
        </p:nvSpPr>
        <p:spPr>
          <a:xfrm>
            <a:off x="548640" y="5394960"/>
            <a:ext cx="2200974" cy="219456"/>
          </a:xfrm>
          <a:prstGeom prst="rect">
            <a:avLst/>
          </a:prstGeom>
          <a:solidFill>
            <a:srgbClr val="FFFFFF"/>
          </a:solidFill>
          <a:ln w="9525">
            <a:solidFill>
              <a:srgbClr val="6E6C66"/>
            </a:solidFill>
            <a:prstDash val="solid"/>
          </a:ln>
        </p:spPr>
      </p:sp>
      <p:sp>
        <p:nvSpPr>
          <p:cNvPr id="21" name="Shape 17"/>
          <p:cNvSpPr/>
          <p:nvPr/>
        </p:nvSpPr>
        <p:spPr>
          <a:xfrm>
            <a:off x="640080" y="5486400"/>
            <a:ext cx="41148" cy="41148"/>
          </a:xfrm>
          <a:prstGeom prst="rect">
            <a:avLst/>
          </a:prstGeom>
          <a:solidFill>
            <a:srgbClr val="6E6C66"/>
          </a:solidFill>
          <a:ln w="12700">
            <a:solidFill>
              <a:srgbClr val="6E6C66"/>
            </a:solidFill>
            <a:prstDash val="solid"/>
          </a:ln>
        </p:spPr>
      </p:sp>
      <p:sp>
        <p:nvSpPr>
          <p:cNvPr id="22" name="Text 18"/>
          <p:cNvSpPr txBox="1"/>
          <p:nvPr/>
        </p:nvSpPr>
        <p:spPr>
          <a:xfrm>
            <a:off x="713232" y="5394960"/>
            <a:ext cx="2036381" cy="219456"/>
          </a:xfrm>
          <a:prstGeom prst="rect">
            <a:avLst/>
          </a:prstGeom>
          <a:noFill/>
          <a:ln/>
        </p:spPr>
        <p:txBody>
          <a:bodyPr wrap="none" lIns="0" tIns="0" rIns="0" bIns="0" rtlCol="0" anchor="ctr"/>
          <a:lstStyle/>
          <a:p>
            <a:pPr indent="0" marL="0">
              <a:buNone/>
            </a:pPr>
            <a:r>
              <a:rPr lang="en-US" sz="650" b="1" spc="59" kern="0" dirty="0">
                <a:solidFill>
                  <a:srgbClr val="6E6C66"/>
                </a:solidFill>
                <a:latin typeface="IBM Plex Mono" pitchFamily="34" charset="0"/>
                <a:ea typeface="IBM Plex Mono" pitchFamily="34" charset="-122"/>
                <a:cs typeface="IBM Plex Mono" pitchFamily="34" charset="-120"/>
              </a:rPr>
              <a:t>FLEET COUNT - NOT YET CONFIRMED</a:t>
            </a:r>
            <a:endParaRPr lang="en-US" sz="650" dirty="0"/>
          </a:p>
        </p:txBody>
      </p:sp>
      <p:sp>
        <p:nvSpPr>
          <p:cNvPr id="23" name="Shape 19"/>
          <p:cNvSpPr/>
          <p:nvPr/>
        </p:nvSpPr>
        <p:spPr>
          <a:xfrm>
            <a:off x="5852160" y="2103120"/>
            <a:ext cx="2606040" cy="3246120"/>
          </a:xfrm>
          <a:prstGeom prst="rect">
            <a:avLst/>
          </a:prstGeom>
          <a:solidFill>
            <a:srgbClr val="F1F3F0"/>
          </a:solidFill>
          <a:ln w="12700">
            <a:solidFill>
              <a:srgbClr val="F1F3F0"/>
            </a:solidFill>
            <a:prstDash val="solid"/>
          </a:ln>
        </p:spPr>
      </p:sp>
      <p:sp>
        <p:nvSpPr>
          <p:cNvPr id="24" name="Text 20"/>
          <p:cNvSpPr txBox="1"/>
          <p:nvPr/>
        </p:nvSpPr>
        <p:spPr>
          <a:xfrm>
            <a:off x="6016752" y="2231136"/>
            <a:ext cx="227685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PUBLICLY REFERENCEABLE</a:t>
            </a:r>
            <a:endParaRPr lang="en-US" sz="700" dirty="0"/>
          </a:p>
        </p:txBody>
      </p:sp>
      <p:sp>
        <p:nvSpPr>
          <p:cNvPr id="25" name="Text 21"/>
          <p:cNvSpPr txBox="1"/>
          <p:nvPr/>
        </p:nvSpPr>
        <p:spPr>
          <a:xfrm>
            <a:off x="6016752" y="2523744"/>
            <a:ext cx="2276856" cy="237744"/>
          </a:xfrm>
          <a:prstGeom prst="rect">
            <a:avLst/>
          </a:prstGeom>
          <a:noFill/>
          <a:ln/>
        </p:spPr>
        <p:txBody>
          <a:bodyPr wrap="square" lIns="0" tIns="0" rIns="0" bIns="0" rtlCol="0" anchor="t"/>
          <a:lstStyle/>
          <a:p>
            <a:pPr algn="l" indent="0" marL="0">
              <a:spcAft>
                <a:spcPts val="400"/>
              </a:spcAft>
              <a:buNone/>
            </a:pPr>
            <a:r>
              <a:rPr lang="en-US" sz="850" b="1" dirty="0">
                <a:solidFill>
                  <a:srgbClr val="000000"/>
                </a:solidFill>
                <a:latin typeface="Helvetica Neue" pitchFamily="34" charset="0"/>
                <a:ea typeface="Helvetica Neue" pitchFamily="34" charset="-122"/>
                <a:cs typeface="Helvetica Neue" pitchFamily="34" charset="-120"/>
              </a:rPr>
              <a:t>Royal Canadian Mounted Police</a:t>
            </a:r>
            <a:endParaRPr lang="en-US" sz="850" dirty="0"/>
          </a:p>
        </p:txBody>
      </p:sp>
      <p:sp>
        <p:nvSpPr>
          <p:cNvPr id="26" name="Text 22"/>
          <p:cNvSpPr txBox="1"/>
          <p:nvPr/>
        </p:nvSpPr>
        <p:spPr>
          <a:xfrm>
            <a:off x="6016752" y="2761488"/>
            <a:ext cx="2276856" cy="384048"/>
          </a:xfrm>
          <a:prstGeom prst="rect">
            <a:avLst/>
          </a:prstGeom>
          <a:noFill/>
          <a:ln/>
        </p:spPr>
        <p:txBody>
          <a:bodyPr wrap="square" lIns="0" tIns="0" rIns="0" bIns="0" rtlCol="0" anchor="t"/>
          <a:lstStyle/>
          <a:p>
            <a:pPr algn="l" indent="0" marL="0">
              <a:spcAft>
                <a:spcPts val="400"/>
              </a:spcAft>
              <a:buNone/>
            </a:pPr>
            <a:r>
              <a:rPr lang="en-US" sz="730" dirty="0">
                <a:solidFill>
                  <a:srgbClr val="33332F"/>
                </a:solidFill>
                <a:latin typeface="Helvetica Neue" pitchFamily="34" charset="0"/>
                <a:ea typeface="Helvetica Neue" pitchFamily="34" charset="-122"/>
                <a:cs typeface="Helvetica Neue" pitchFamily="34" charset="-120"/>
              </a:rPr>
              <a:t>JV partner; eMACS in service since 2001 ¹</a:t>
            </a:r>
            <a:endParaRPr lang="en-US" sz="730" dirty="0"/>
          </a:p>
        </p:txBody>
      </p:sp>
      <p:sp>
        <p:nvSpPr>
          <p:cNvPr id="27" name="Text 23"/>
          <p:cNvSpPr txBox="1"/>
          <p:nvPr/>
        </p:nvSpPr>
        <p:spPr>
          <a:xfrm>
            <a:off x="6016752" y="3236976"/>
            <a:ext cx="2276856" cy="237744"/>
          </a:xfrm>
          <a:prstGeom prst="rect">
            <a:avLst/>
          </a:prstGeom>
          <a:noFill/>
          <a:ln/>
        </p:spPr>
        <p:txBody>
          <a:bodyPr wrap="square" lIns="0" tIns="0" rIns="0" bIns="0" rtlCol="0" anchor="t"/>
          <a:lstStyle/>
          <a:p>
            <a:pPr algn="l" indent="0" marL="0">
              <a:spcAft>
                <a:spcPts val="400"/>
              </a:spcAft>
              <a:buNone/>
            </a:pPr>
            <a:r>
              <a:rPr lang="en-US" sz="850" b="1" dirty="0">
                <a:solidFill>
                  <a:srgbClr val="000000"/>
                </a:solidFill>
                <a:latin typeface="Helvetica Neue" pitchFamily="34" charset="0"/>
                <a:ea typeface="Helvetica Neue" pitchFamily="34" charset="-122"/>
                <a:cs typeface="Helvetica Neue" pitchFamily="34" charset="-120"/>
              </a:rPr>
              <a:t>Canadian municipal &amp; provincial police</a:t>
            </a:r>
            <a:endParaRPr lang="en-US" sz="850" dirty="0"/>
          </a:p>
        </p:txBody>
      </p:sp>
      <p:sp>
        <p:nvSpPr>
          <p:cNvPr id="28" name="Text 24"/>
          <p:cNvSpPr txBox="1"/>
          <p:nvPr/>
        </p:nvSpPr>
        <p:spPr>
          <a:xfrm>
            <a:off x="6016752" y="3474720"/>
            <a:ext cx="2276856" cy="384048"/>
          </a:xfrm>
          <a:prstGeom prst="rect">
            <a:avLst/>
          </a:prstGeom>
          <a:noFill/>
          <a:ln/>
        </p:spPr>
        <p:txBody>
          <a:bodyPr wrap="square" lIns="0" tIns="0" rIns="0" bIns="0" rtlCol="0" anchor="t"/>
          <a:lstStyle/>
          <a:p>
            <a:pPr algn="l" indent="0" marL="0">
              <a:spcAft>
                <a:spcPts val="400"/>
              </a:spcAft>
              <a:buNone/>
            </a:pPr>
            <a:r>
              <a:rPr lang="en-US" sz="730" dirty="0">
                <a:solidFill>
                  <a:srgbClr val="33332F"/>
                </a:solidFill>
                <a:latin typeface="Helvetica Neue" pitchFamily="34" charset="0"/>
                <a:ea typeface="Helvetica Neue" pitchFamily="34" charset="-122"/>
                <a:cs typeface="Helvetica Neue" pitchFamily="34" charset="-120"/>
              </a:rPr>
              <a:t>Multiple forces; ongoing programmes (company)</a:t>
            </a:r>
            <a:endParaRPr lang="en-US" sz="730" dirty="0"/>
          </a:p>
        </p:txBody>
      </p:sp>
      <p:sp>
        <p:nvSpPr>
          <p:cNvPr id="29" name="Text 25"/>
          <p:cNvSpPr txBox="1"/>
          <p:nvPr/>
        </p:nvSpPr>
        <p:spPr>
          <a:xfrm>
            <a:off x="6016752" y="3950208"/>
            <a:ext cx="2276856" cy="237744"/>
          </a:xfrm>
          <a:prstGeom prst="rect">
            <a:avLst/>
          </a:prstGeom>
          <a:noFill/>
          <a:ln/>
        </p:spPr>
        <p:txBody>
          <a:bodyPr wrap="square" lIns="0" tIns="0" rIns="0" bIns="0" rtlCol="0" anchor="t"/>
          <a:lstStyle/>
          <a:p>
            <a:pPr algn="l" indent="0" marL="0">
              <a:spcAft>
                <a:spcPts val="400"/>
              </a:spcAft>
              <a:buNone/>
            </a:pPr>
            <a:r>
              <a:rPr lang="en-US" sz="850" b="1" dirty="0">
                <a:solidFill>
                  <a:srgbClr val="000000"/>
                </a:solidFill>
                <a:latin typeface="Helvetica Neue" pitchFamily="34" charset="0"/>
                <a:ea typeface="Helvetica Neue" pitchFamily="34" charset="-122"/>
                <a:cs typeface="Helvetica Neue" pitchFamily="34" charset="-120"/>
              </a:rPr>
              <a:t>Franklin County (OH) Sheriff &amp; Hilliard PD</a:t>
            </a:r>
            <a:endParaRPr lang="en-US" sz="850" dirty="0"/>
          </a:p>
        </p:txBody>
      </p:sp>
      <p:sp>
        <p:nvSpPr>
          <p:cNvPr id="30" name="Text 26"/>
          <p:cNvSpPr txBox="1"/>
          <p:nvPr/>
        </p:nvSpPr>
        <p:spPr>
          <a:xfrm>
            <a:off x="6016752" y="4187952"/>
            <a:ext cx="2276856" cy="384048"/>
          </a:xfrm>
          <a:prstGeom prst="rect">
            <a:avLst/>
          </a:prstGeom>
          <a:noFill/>
          <a:ln/>
        </p:spPr>
        <p:txBody>
          <a:bodyPr wrap="square" lIns="0" tIns="0" rIns="0" bIns="0" rtlCol="0" anchor="t"/>
          <a:lstStyle/>
          <a:p>
            <a:pPr algn="l" indent="0" marL="0">
              <a:spcAft>
                <a:spcPts val="400"/>
              </a:spcAft>
              <a:buNone/>
            </a:pPr>
            <a:r>
              <a:rPr lang="en-US" sz="730" dirty="0">
                <a:solidFill>
                  <a:srgbClr val="33332F"/>
                </a:solidFill>
                <a:latin typeface="Helvetica Neue" pitchFamily="34" charset="0"/>
                <a:ea typeface="Helvetica Neue" pitchFamily="34" charset="-122"/>
                <a:cs typeface="Helvetica Neue" pitchFamily="34" charset="-120"/>
              </a:rPr>
              <a:t>1,630 lb / ~54,000 rounds collected 21 Mar 2026 ⁹</a:t>
            </a:r>
            <a:endParaRPr lang="en-US" sz="730" dirty="0"/>
          </a:p>
        </p:txBody>
      </p:sp>
      <p:sp>
        <p:nvSpPr>
          <p:cNvPr id="31" name="Text 27"/>
          <p:cNvSpPr txBox="1"/>
          <p:nvPr/>
        </p:nvSpPr>
        <p:spPr>
          <a:xfrm>
            <a:off x="6016752" y="4663440"/>
            <a:ext cx="2276856" cy="237744"/>
          </a:xfrm>
          <a:prstGeom prst="rect">
            <a:avLst/>
          </a:prstGeom>
          <a:noFill/>
          <a:ln/>
        </p:spPr>
        <p:txBody>
          <a:bodyPr wrap="square" lIns="0" tIns="0" rIns="0" bIns="0" rtlCol="0" anchor="t"/>
          <a:lstStyle/>
          <a:p>
            <a:pPr algn="l" indent="0" marL="0">
              <a:spcAft>
                <a:spcPts val="400"/>
              </a:spcAft>
              <a:buNone/>
            </a:pPr>
            <a:r>
              <a:rPr lang="en-US" sz="850" b="1" dirty="0">
                <a:solidFill>
                  <a:srgbClr val="000000"/>
                </a:solidFill>
                <a:latin typeface="Helvetica Neue" pitchFamily="34" charset="0"/>
                <a:ea typeface="Helvetica Neue" pitchFamily="34" charset="-122"/>
                <a:cs typeface="Helvetica Neue" pitchFamily="34" charset="-120"/>
              </a:rPr>
              <a:t>Military Equipment Denmark A/S</a:t>
            </a:r>
            <a:endParaRPr lang="en-US" sz="850" dirty="0"/>
          </a:p>
        </p:txBody>
      </p:sp>
      <p:sp>
        <p:nvSpPr>
          <p:cNvPr id="32" name="Text 28"/>
          <p:cNvSpPr txBox="1"/>
          <p:nvPr/>
        </p:nvSpPr>
        <p:spPr>
          <a:xfrm>
            <a:off x="6016752" y="4901184"/>
            <a:ext cx="2276856" cy="384048"/>
          </a:xfrm>
          <a:prstGeom prst="rect">
            <a:avLst/>
          </a:prstGeom>
          <a:noFill/>
          <a:ln/>
        </p:spPr>
        <p:txBody>
          <a:bodyPr wrap="square" lIns="0" tIns="0" rIns="0" bIns="0" rtlCol="0" anchor="t"/>
          <a:lstStyle/>
          <a:p>
            <a:pPr algn="l" indent="0" marL="0">
              <a:spcAft>
                <a:spcPts val="400"/>
              </a:spcAft>
              <a:buNone/>
            </a:pPr>
            <a:r>
              <a:rPr lang="en-US" sz="730" dirty="0">
                <a:solidFill>
                  <a:srgbClr val="33332F"/>
                </a:solidFill>
                <a:latin typeface="Helvetica Neue" pitchFamily="34" charset="0"/>
                <a:ea typeface="Helvetica Neue" pitchFamily="34" charset="-122"/>
                <a:cs typeface="Helvetica Neue" pitchFamily="34" charset="-120"/>
              </a:rPr>
              <a:t>Multi-country agreement: DK/NO/SE/FI/LV/LT/EE (2013) ⁷</a:t>
            </a:r>
            <a:endParaRPr lang="en-US" sz="730" dirty="0"/>
          </a:p>
        </p:txBody>
      </p:sp>
      <p:sp>
        <p:nvSpPr>
          <p:cNvPr id="33" name="Shape 29"/>
          <p:cNvSpPr/>
          <p:nvPr/>
        </p:nvSpPr>
        <p:spPr>
          <a:xfrm>
            <a:off x="8641080" y="2103120"/>
            <a:ext cx="2606040" cy="3246120"/>
          </a:xfrm>
          <a:prstGeom prst="rect">
            <a:avLst/>
          </a:prstGeom>
          <a:solidFill>
            <a:srgbClr val="FAFAF8"/>
          </a:solidFill>
          <a:ln w="6350">
            <a:solidFill>
              <a:srgbClr val="D3D9D0"/>
            </a:solidFill>
            <a:prstDash val="solid"/>
          </a:ln>
        </p:spPr>
      </p:sp>
      <p:sp>
        <p:nvSpPr>
          <p:cNvPr id="34" name="Text 30"/>
          <p:cNvSpPr txBox="1"/>
          <p:nvPr/>
        </p:nvSpPr>
        <p:spPr>
          <a:xfrm>
            <a:off x="8805672" y="2231136"/>
            <a:ext cx="227685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ALLIED &amp; PARTNER-NATION MILITARY</a:t>
            </a:r>
            <a:endParaRPr lang="en-US" sz="700" dirty="0"/>
          </a:p>
        </p:txBody>
      </p:sp>
      <p:sp>
        <p:nvSpPr>
          <p:cNvPr id="35" name="Text 31"/>
          <p:cNvSpPr txBox="1"/>
          <p:nvPr/>
        </p:nvSpPr>
        <p:spPr>
          <a:xfrm>
            <a:off x="8805672" y="2523744"/>
            <a:ext cx="2276856" cy="237744"/>
          </a:xfrm>
          <a:prstGeom prst="rect">
            <a:avLst/>
          </a:prstGeom>
          <a:noFill/>
          <a:ln/>
        </p:spPr>
        <p:txBody>
          <a:bodyPr wrap="square" lIns="0" tIns="0" rIns="0" bIns="0" rtlCol="0" anchor="t"/>
          <a:lstStyle/>
          <a:p>
            <a:pPr algn="l" indent="0" marL="0">
              <a:spcAft>
                <a:spcPts val="400"/>
              </a:spcAft>
              <a:buNone/>
            </a:pPr>
            <a:r>
              <a:rPr lang="en-US" sz="850" b="1" dirty="0">
                <a:solidFill>
                  <a:srgbClr val="000000"/>
                </a:solidFill>
                <a:latin typeface="Helvetica Neue" pitchFamily="34" charset="0"/>
                <a:ea typeface="Helvetica Neue" pitchFamily="34" charset="-122"/>
                <a:cs typeface="Helvetica Neue" pitchFamily="34" charset="-120"/>
              </a:rPr>
              <a:t>Australian Army</a:t>
            </a:r>
            <a:endParaRPr lang="en-US" sz="850" dirty="0"/>
          </a:p>
        </p:txBody>
      </p:sp>
      <p:sp>
        <p:nvSpPr>
          <p:cNvPr id="36" name="Text 32"/>
          <p:cNvSpPr txBox="1"/>
          <p:nvPr/>
        </p:nvSpPr>
        <p:spPr>
          <a:xfrm>
            <a:off x="8805672" y="2761488"/>
            <a:ext cx="2276856" cy="292608"/>
          </a:xfrm>
          <a:prstGeom prst="rect">
            <a:avLst/>
          </a:prstGeom>
          <a:noFill/>
          <a:ln/>
        </p:spPr>
        <p:txBody>
          <a:bodyPr wrap="square" lIns="0" tIns="0" rIns="0" bIns="0" rtlCol="0" anchor="t"/>
          <a:lstStyle/>
          <a:p>
            <a:pPr algn="l" indent="0" marL="0">
              <a:spcAft>
                <a:spcPts val="400"/>
              </a:spcAft>
              <a:buNone/>
            </a:pPr>
            <a:r>
              <a:rPr lang="en-US" sz="730" dirty="0">
                <a:solidFill>
                  <a:srgbClr val="33332F"/>
                </a:solidFill>
                <a:latin typeface="Helvetica Neue" pitchFamily="34" charset="0"/>
                <a:ea typeface="Helvetica Neue" pitchFamily="34" charset="-122"/>
                <a:cs typeface="Helvetica Neue" pitchFamily="34" charset="-120"/>
              </a:rPr>
              <a:t>ADF - US treaty ally (ANZUS)</a:t>
            </a:r>
            <a:endParaRPr lang="en-US" sz="730" dirty="0"/>
          </a:p>
        </p:txBody>
      </p:sp>
      <p:sp>
        <p:nvSpPr>
          <p:cNvPr id="37" name="Text 33"/>
          <p:cNvSpPr txBox="1"/>
          <p:nvPr/>
        </p:nvSpPr>
        <p:spPr>
          <a:xfrm>
            <a:off x="8805672" y="3090672"/>
            <a:ext cx="2276856" cy="237744"/>
          </a:xfrm>
          <a:prstGeom prst="rect">
            <a:avLst/>
          </a:prstGeom>
          <a:noFill/>
          <a:ln/>
        </p:spPr>
        <p:txBody>
          <a:bodyPr wrap="square" lIns="0" tIns="0" rIns="0" bIns="0" rtlCol="0" anchor="t"/>
          <a:lstStyle/>
          <a:p>
            <a:pPr algn="l" indent="0" marL="0">
              <a:spcAft>
                <a:spcPts val="400"/>
              </a:spcAft>
              <a:buNone/>
            </a:pPr>
            <a:r>
              <a:rPr lang="en-US" sz="850" b="1" dirty="0">
                <a:solidFill>
                  <a:srgbClr val="000000"/>
                </a:solidFill>
                <a:latin typeface="Helvetica Neue" pitchFamily="34" charset="0"/>
                <a:ea typeface="Helvetica Neue" pitchFamily="34" charset="-122"/>
                <a:cs typeface="Helvetica Neue" pitchFamily="34" charset="-120"/>
              </a:rPr>
              <a:t>New Zealand Army</a:t>
            </a:r>
            <a:endParaRPr lang="en-US" sz="850" dirty="0"/>
          </a:p>
        </p:txBody>
      </p:sp>
      <p:sp>
        <p:nvSpPr>
          <p:cNvPr id="38" name="Text 34"/>
          <p:cNvSpPr txBox="1"/>
          <p:nvPr/>
        </p:nvSpPr>
        <p:spPr>
          <a:xfrm>
            <a:off x="8805672" y="3328416"/>
            <a:ext cx="2276856" cy="292608"/>
          </a:xfrm>
          <a:prstGeom prst="rect">
            <a:avLst/>
          </a:prstGeom>
          <a:noFill/>
          <a:ln/>
        </p:spPr>
        <p:txBody>
          <a:bodyPr wrap="square" lIns="0" tIns="0" rIns="0" bIns="0" rtlCol="0" anchor="t"/>
          <a:lstStyle/>
          <a:p>
            <a:pPr algn="l" indent="0" marL="0">
              <a:spcAft>
                <a:spcPts val="400"/>
              </a:spcAft>
              <a:buNone/>
            </a:pPr>
            <a:r>
              <a:rPr lang="en-US" sz="730" dirty="0">
                <a:solidFill>
                  <a:srgbClr val="33332F"/>
                </a:solidFill>
                <a:latin typeface="Helvetica Neue" pitchFamily="34" charset="0"/>
                <a:ea typeface="Helvetica Neue" pitchFamily="34" charset="-122"/>
                <a:cs typeface="Helvetica Neue" pitchFamily="34" charset="-120"/>
              </a:rPr>
              <a:t>NZDF - US treaty ally (ANZUS)</a:t>
            </a:r>
            <a:endParaRPr lang="en-US" sz="730" dirty="0"/>
          </a:p>
        </p:txBody>
      </p:sp>
      <p:sp>
        <p:nvSpPr>
          <p:cNvPr id="39" name="Text 35"/>
          <p:cNvSpPr txBox="1"/>
          <p:nvPr/>
        </p:nvSpPr>
        <p:spPr>
          <a:xfrm>
            <a:off x="8805672" y="3657600"/>
            <a:ext cx="2276856" cy="237744"/>
          </a:xfrm>
          <a:prstGeom prst="rect">
            <a:avLst/>
          </a:prstGeom>
          <a:noFill/>
          <a:ln/>
        </p:spPr>
        <p:txBody>
          <a:bodyPr wrap="square" lIns="0" tIns="0" rIns="0" bIns="0" rtlCol="0" anchor="t"/>
          <a:lstStyle/>
          <a:p>
            <a:pPr algn="l" indent="0" marL="0">
              <a:spcAft>
                <a:spcPts val="400"/>
              </a:spcAft>
              <a:buNone/>
            </a:pPr>
            <a:r>
              <a:rPr lang="en-US" sz="850" b="1" dirty="0">
                <a:solidFill>
                  <a:srgbClr val="000000"/>
                </a:solidFill>
                <a:latin typeface="Helvetica Neue" pitchFamily="34" charset="0"/>
                <a:ea typeface="Helvetica Neue" pitchFamily="34" charset="-122"/>
                <a:cs typeface="Helvetica Neue" pitchFamily="34" charset="-120"/>
              </a:rPr>
              <a:t>Royal Saudi Land Forces</a:t>
            </a:r>
            <a:endParaRPr lang="en-US" sz="850" dirty="0"/>
          </a:p>
        </p:txBody>
      </p:sp>
      <p:sp>
        <p:nvSpPr>
          <p:cNvPr id="40" name="Text 36"/>
          <p:cNvSpPr txBox="1"/>
          <p:nvPr/>
        </p:nvSpPr>
        <p:spPr>
          <a:xfrm>
            <a:off x="8805672" y="3895344"/>
            <a:ext cx="2276856" cy="292608"/>
          </a:xfrm>
          <a:prstGeom prst="rect">
            <a:avLst/>
          </a:prstGeom>
          <a:noFill/>
          <a:ln/>
        </p:spPr>
        <p:txBody>
          <a:bodyPr wrap="square" lIns="0" tIns="0" rIns="0" bIns="0" rtlCol="0" anchor="t"/>
          <a:lstStyle/>
          <a:p>
            <a:pPr algn="l" indent="0" marL="0">
              <a:spcAft>
                <a:spcPts val="400"/>
              </a:spcAft>
              <a:buNone/>
            </a:pPr>
            <a:r>
              <a:rPr lang="en-US" sz="730" dirty="0">
                <a:solidFill>
                  <a:srgbClr val="33332F"/>
                </a:solidFill>
                <a:latin typeface="Helvetica Neue" pitchFamily="34" charset="0"/>
                <a:ea typeface="Helvetica Neue" pitchFamily="34" charset="-122"/>
                <a:cs typeface="Helvetica Neue" pitchFamily="34" charset="-120"/>
              </a:rPr>
              <a:t>US strategic partner</a:t>
            </a:r>
            <a:endParaRPr lang="en-US" sz="730" dirty="0"/>
          </a:p>
        </p:txBody>
      </p:sp>
      <p:sp>
        <p:nvSpPr>
          <p:cNvPr id="41" name="Text 37"/>
          <p:cNvSpPr txBox="1"/>
          <p:nvPr/>
        </p:nvSpPr>
        <p:spPr>
          <a:xfrm>
            <a:off x="8805672" y="4160520"/>
            <a:ext cx="2276856" cy="685800"/>
          </a:xfrm>
          <a:prstGeom prst="rect">
            <a:avLst/>
          </a:prstGeom>
          <a:noFill/>
          <a:ln/>
        </p:spPr>
        <p:txBody>
          <a:bodyPr wrap="square" lIns="0" tIns="0" rIns="0" bIns="0" rtlCol="0" anchor="t"/>
          <a:lstStyle/>
          <a:p>
            <a:pPr algn="l" indent="0" marL="0">
              <a:spcAft>
                <a:spcPts val="400"/>
              </a:spcAft>
              <a:buNone/>
            </a:pPr>
            <a:r>
              <a:rPr lang="en-US" sz="700" i="1" dirty="0">
                <a:solidFill>
                  <a:srgbClr val="6E6C66"/>
                </a:solidFill>
                <a:latin typeface="Helvetica Neue" pitchFamily="34" charset="0"/>
                <a:ea typeface="Helvetica Neue" pitchFamily="34" charset="-122"/>
                <a:cs typeface="Helvetica Neue" pitchFamily="34" charset="-120"/>
              </a:rPr>
              <a:t>Deployments demonstrate operation to military standards outside Canada. Company-provided; references, scope and dates under NDA.</a:t>
            </a:r>
            <a:endParaRPr lang="en-US" sz="700" dirty="0"/>
          </a:p>
        </p:txBody>
      </p:sp>
      <p:sp>
        <p:nvSpPr>
          <p:cNvPr id="42" name="Text 38"/>
          <p:cNvSpPr txBox="1"/>
          <p:nvPr/>
        </p:nvSpPr>
        <p:spPr>
          <a:xfrm>
            <a:off x="8805672" y="4892040"/>
            <a:ext cx="2276856" cy="41148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Recognition: 2011 Law Enforcement Technology Innovation Awards finalist, presented at the IACP conference, Chicago ¹⁰.</a:t>
            </a:r>
            <a:endParaRPr lang="en-US" sz="750" dirty="0"/>
          </a:p>
        </p:txBody>
      </p:sp>
      <p:sp>
        <p:nvSpPr>
          <p:cNvPr id="43" name="Text 39"/>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Compiled financials: Steve Herman Accounting, FY2023–FY2025. ⁷ TWB press release, PRWeb, 6 Dec 2013. ⁹ City of Hilliard/ABC6 (Mar 2026), TWB role company-provided. ¹⁰ Officer.com. Military references: company-provided, NDA.</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07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TEAM</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Why this team can win a regulated defence acquisition programme</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A founder who has run the operating business for twenty-five years, and a strategic advisor whose Washington-level mandate maps directly onto the buyer, the material and the funding cycle this platform depends on.</a:t>
            </a:r>
            <a:endParaRPr lang="en-US" sz="1100" dirty="0"/>
          </a:p>
        </p:txBody>
      </p:sp>
      <p:sp>
        <p:nvSpPr>
          <p:cNvPr id="7" name="Shape 4"/>
          <p:cNvSpPr/>
          <p:nvPr/>
        </p:nvSpPr>
        <p:spPr>
          <a:xfrm>
            <a:off x="548640" y="2148840"/>
            <a:ext cx="5394960" cy="3931920"/>
          </a:xfrm>
          <a:prstGeom prst="rect">
            <a:avLst/>
          </a:prstGeom>
          <a:solidFill>
            <a:srgbClr val="F1F3F0"/>
          </a:solidFill>
          <a:ln w="12700">
            <a:solidFill>
              <a:srgbClr val="F1F3F0"/>
            </a:solidFill>
            <a:prstDash val="solid"/>
          </a:ln>
        </p:spPr>
      </p:sp>
      <p:sp>
        <p:nvSpPr>
          <p:cNvPr id="8" name="Shape 5"/>
          <p:cNvSpPr/>
          <p:nvPr/>
        </p:nvSpPr>
        <p:spPr>
          <a:xfrm>
            <a:off x="822960" y="2423160"/>
            <a:ext cx="1188720" cy="1188720"/>
          </a:xfrm>
          <a:prstGeom prst="rect">
            <a:avLst/>
          </a:prstGeom>
          <a:solidFill>
            <a:srgbClr val="66705F"/>
          </a:solidFill>
          <a:ln w="12700">
            <a:solidFill>
              <a:srgbClr val="66705F"/>
            </a:solidFill>
            <a:prstDash val="solid"/>
          </a:ln>
        </p:spPr>
      </p:sp>
      <p:sp>
        <p:nvSpPr>
          <p:cNvPr id="9" name="Shape 6"/>
          <p:cNvSpPr/>
          <p:nvPr/>
        </p:nvSpPr>
        <p:spPr>
          <a:xfrm>
            <a:off x="794385" y="2394585"/>
            <a:ext cx="57150" cy="0"/>
          </a:xfrm>
          <a:prstGeom prst="line">
            <a:avLst/>
          </a:prstGeom>
          <a:noFill/>
          <a:ln w="9525">
            <a:solidFill>
              <a:srgbClr val="788274"/>
            </a:solidFill>
            <a:prstDash val="solid"/>
          </a:ln>
        </p:spPr>
      </p:sp>
      <p:sp>
        <p:nvSpPr>
          <p:cNvPr id="10" name="Shape 7"/>
          <p:cNvSpPr/>
          <p:nvPr/>
        </p:nvSpPr>
        <p:spPr>
          <a:xfrm>
            <a:off x="794385" y="2394585"/>
            <a:ext cx="0" cy="57150"/>
          </a:xfrm>
          <a:prstGeom prst="line">
            <a:avLst/>
          </a:prstGeom>
          <a:noFill/>
          <a:ln w="9525">
            <a:solidFill>
              <a:srgbClr val="788274"/>
            </a:solidFill>
            <a:prstDash val="solid"/>
          </a:ln>
        </p:spPr>
      </p:sp>
      <p:sp>
        <p:nvSpPr>
          <p:cNvPr id="11" name="Shape 8"/>
          <p:cNvSpPr/>
          <p:nvPr/>
        </p:nvSpPr>
        <p:spPr>
          <a:xfrm>
            <a:off x="1983105" y="2394585"/>
            <a:ext cx="57150" cy="0"/>
          </a:xfrm>
          <a:prstGeom prst="line">
            <a:avLst/>
          </a:prstGeom>
          <a:noFill/>
          <a:ln w="9525">
            <a:solidFill>
              <a:srgbClr val="788274"/>
            </a:solidFill>
            <a:prstDash val="solid"/>
          </a:ln>
        </p:spPr>
      </p:sp>
      <p:sp>
        <p:nvSpPr>
          <p:cNvPr id="12" name="Shape 9"/>
          <p:cNvSpPr/>
          <p:nvPr/>
        </p:nvSpPr>
        <p:spPr>
          <a:xfrm>
            <a:off x="2040255" y="2394585"/>
            <a:ext cx="0" cy="57150"/>
          </a:xfrm>
          <a:prstGeom prst="line">
            <a:avLst/>
          </a:prstGeom>
          <a:noFill/>
          <a:ln w="9525">
            <a:solidFill>
              <a:srgbClr val="788274"/>
            </a:solidFill>
            <a:prstDash val="solid"/>
          </a:ln>
        </p:spPr>
      </p:sp>
      <p:sp>
        <p:nvSpPr>
          <p:cNvPr id="13" name="Shape 10"/>
          <p:cNvSpPr/>
          <p:nvPr/>
        </p:nvSpPr>
        <p:spPr>
          <a:xfrm>
            <a:off x="794385" y="3640455"/>
            <a:ext cx="57150" cy="0"/>
          </a:xfrm>
          <a:prstGeom prst="line">
            <a:avLst/>
          </a:prstGeom>
          <a:noFill/>
          <a:ln w="9525">
            <a:solidFill>
              <a:srgbClr val="788274"/>
            </a:solidFill>
            <a:prstDash val="solid"/>
          </a:ln>
        </p:spPr>
      </p:sp>
      <p:sp>
        <p:nvSpPr>
          <p:cNvPr id="14" name="Shape 11"/>
          <p:cNvSpPr/>
          <p:nvPr/>
        </p:nvSpPr>
        <p:spPr>
          <a:xfrm>
            <a:off x="794385" y="3583305"/>
            <a:ext cx="0" cy="57150"/>
          </a:xfrm>
          <a:prstGeom prst="line">
            <a:avLst/>
          </a:prstGeom>
          <a:noFill/>
          <a:ln w="9525">
            <a:solidFill>
              <a:srgbClr val="788274"/>
            </a:solidFill>
            <a:prstDash val="solid"/>
          </a:ln>
        </p:spPr>
      </p:sp>
      <p:sp>
        <p:nvSpPr>
          <p:cNvPr id="15" name="Shape 12"/>
          <p:cNvSpPr/>
          <p:nvPr/>
        </p:nvSpPr>
        <p:spPr>
          <a:xfrm>
            <a:off x="1983105" y="3640455"/>
            <a:ext cx="57150" cy="0"/>
          </a:xfrm>
          <a:prstGeom prst="line">
            <a:avLst/>
          </a:prstGeom>
          <a:noFill/>
          <a:ln w="9525">
            <a:solidFill>
              <a:srgbClr val="788274"/>
            </a:solidFill>
            <a:prstDash val="solid"/>
          </a:ln>
        </p:spPr>
      </p:sp>
      <p:sp>
        <p:nvSpPr>
          <p:cNvPr id="16" name="Shape 13"/>
          <p:cNvSpPr/>
          <p:nvPr/>
        </p:nvSpPr>
        <p:spPr>
          <a:xfrm>
            <a:off x="2040255" y="3583305"/>
            <a:ext cx="0" cy="57150"/>
          </a:xfrm>
          <a:prstGeom prst="line">
            <a:avLst/>
          </a:prstGeom>
          <a:noFill/>
          <a:ln w="9525">
            <a:solidFill>
              <a:srgbClr val="788274"/>
            </a:solidFill>
            <a:prstDash val="solid"/>
          </a:ln>
        </p:spPr>
      </p:sp>
      <p:sp>
        <p:nvSpPr>
          <p:cNvPr id="17" name="Text 14"/>
          <p:cNvSpPr txBox="1"/>
          <p:nvPr/>
        </p:nvSpPr>
        <p:spPr>
          <a:xfrm>
            <a:off x="822960" y="2423160"/>
            <a:ext cx="1188720" cy="1188720"/>
          </a:xfrm>
          <a:prstGeom prst="rect">
            <a:avLst/>
          </a:prstGeom>
          <a:noFill/>
          <a:ln/>
        </p:spPr>
        <p:txBody>
          <a:bodyPr wrap="square" lIns="0" tIns="0" rIns="0" bIns="0" rtlCol="0" anchor="ctr"/>
          <a:lstStyle/>
          <a:p>
            <a:pPr algn="ctr" indent="0" marL="0">
              <a:buNone/>
            </a:pPr>
            <a:r>
              <a:rPr lang="en-US" sz="3000" dirty="0">
                <a:solidFill>
                  <a:srgbClr val="FFFFFF"/>
                </a:solidFill>
                <a:latin typeface="Helvetica Neue" pitchFamily="34" charset="0"/>
                <a:ea typeface="Helvetica Neue" pitchFamily="34" charset="-122"/>
                <a:cs typeface="Helvetica Neue" pitchFamily="34" charset="-120"/>
              </a:rPr>
              <a:t>TB</a:t>
            </a:r>
            <a:endParaRPr lang="en-US" sz="3000" dirty="0"/>
          </a:p>
        </p:txBody>
      </p:sp>
      <p:sp>
        <p:nvSpPr>
          <p:cNvPr id="18" name="Text 15"/>
          <p:cNvSpPr txBox="1"/>
          <p:nvPr/>
        </p:nvSpPr>
        <p:spPr>
          <a:xfrm>
            <a:off x="2286000" y="2532888"/>
            <a:ext cx="33832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FOUNDER</a:t>
            </a:r>
            <a:endParaRPr lang="en-US" sz="700" dirty="0"/>
          </a:p>
        </p:txBody>
      </p:sp>
      <p:sp>
        <p:nvSpPr>
          <p:cNvPr id="19" name="Text 16"/>
          <p:cNvSpPr txBox="1"/>
          <p:nvPr/>
        </p:nvSpPr>
        <p:spPr>
          <a:xfrm>
            <a:off x="2286000" y="2770632"/>
            <a:ext cx="3383280" cy="640080"/>
          </a:xfrm>
          <a:prstGeom prst="rect">
            <a:avLst/>
          </a:prstGeom>
          <a:noFill/>
          <a:ln/>
        </p:spPr>
        <p:txBody>
          <a:bodyPr wrap="square" lIns="0" tIns="0" rIns="0" bIns="0" rtlCol="0" anchor="t"/>
          <a:lstStyle/>
          <a:p>
            <a:pPr indent="0" marL="0">
              <a:buNone/>
            </a:pPr>
            <a:r>
              <a:rPr lang="en-US" sz="2600" dirty="0">
                <a:solidFill>
                  <a:srgbClr val="000000"/>
                </a:solidFill>
                <a:latin typeface="Helvetica Neue" pitchFamily="34" charset="0"/>
                <a:ea typeface="Helvetica Neue" pitchFamily="34" charset="-122"/>
                <a:cs typeface="Helvetica Neue" pitchFamily="34" charset="-120"/>
              </a:rPr>
              <a:t>Tom Braithwaite</a:t>
            </a:r>
            <a:endParaRPr lang="en-US" sz="2600" dirty="0"/>
          </a:p>
        </p:txBody>
      </p:sp>
      <p:sp>
        <p:nvSpPr>
          <p:cNvPr id="20" name="Shape 17"/>
          <p:cNvSpPr/>
          <p:nvPr/>
        </p:nvSpPr>
        <p:spPr>
          <a:xfrm>
            <a:off x="822960" y="3840480"/>
            <a:ext cx="4846320" cy="0"/>
          </a:xfrm>
          <a:prstGeom prst="line">
            <a:avLst/>
          </a:prstGeom>
          <a:noFill/>
          <a:ln w="9525">
            <a:solidFill>
              <a:srgbClr val="D3D9D0"/>
            </a:solidFill>
            <a:prstDash val="solid"/>
          </a:ln>
        </p:spPr>
      </p:sp>
      <p:sp>
        <p:nvSpPr>
          <p:cNvPr id="21" name="Text 18"/>
          <p:cNvSpPr txBox="1"/>
          <p:nvPr/>
        </p:nvSpPr>
        <p:spPr>
          <a:xfrm>
            <a:off x="822960" y="4023360"/>
            <a:ext cx="4846320" cy="1947672"/>
          </a:xfrm>
          <a:prstGeom prst="rect">
            <a:avLst/>
          </a:prstGeom>
          <a:noFill/>
          <a:ln/>
        </p:spPr>
        <p:txBody>
          <a:bodyPr wrap="square" lIns="0" tIns="0" rIns="0" bIns="0" rtlCol="0" anchor="t"/>
          <a:lstStyle/>
          <a:p>
            <a:pPr marL="342900" indent="-342900">
              <a:spcAft>
                <a:spcPts val="800"/>
              </a:spcAft>
              <a:buSzPct val="100000"/>
              <a:buChar char="–"/>
            </a:pPr>
            <a:r>
              <a:rPr lang="en-US" sz="900" dirty="0">
                <a:solidFill>
                  <a:srgbClr val="33332F"/>
                </a:solidFill>
                <a:latin typeface="Helvetica Neue" pitchFamily="34" charset="0"/>
                <a:ea typeface="Helvetica Neue" pitchFamily="34" charset="-122"/>
                <a:cs typeface="Helvetica Neue" pitchFamily="34" charset="-120"/>
              </a:rPr>
              <a:t>Owner-operator of TWB Designs through the twenty-five years of eMACS deployment covered on the earlier foundation slides - the operating history, customer relationships and regulatory approvals in this deck are the founder's track record, not an acquired story.</a:t>
            </a:r>
            <a:endParaRPr lang="en-US" sz="900" dirty="0"/>
          </a:p>
          <a:p>
            <a:pPr marL="342900" indent="-342900">
              <a:spcAft>
                <a:spcPts val="800"/>
              </a:spcAft>
              <a:buSzPct val="100000"/>
              <a:buChar char="–"/>
            </a:pPr>
            <a:r>
              <a:rPr lang="en-US" sz="900" dirty="0">
                <a:solidFill>
                  <a:srgbClr val="33332F"/>
                </a:solidFill>
                <a:latin typeface="Helvetica Neue" pitchFamily="34" charset="0"/>
                <a:ea typeface="Helvetica Neue" pitchFamily="34" charset="-122"/>
                <a:cs typeface="Helvetica Neue" pitchFamily="34" charset="-120"/>
              </a:rPr>
              <a:t>Built and holds the direct relationships this deck cites as references: the RCMP joint-development history, the US and Canadian law-enforcement customer base, and the allied and partner-nation military deployments described earlier.</a:t>
            </a:r>
            <a:endParaRPr lang="en-US" sz="900" dirty="0"/>
          </a:p>
          <a:p>
            <a:pPr marL="342900" indent="-342900">
              <a:spcAft>
                <a:spcPts val="800"/>
              </a:spcAft>
              <a:buSzPct val="100000"/>
              <a:buChar char="–"/>
            </a:pPr>
            <a:r>
              <a:rPr lang="en-US" sz="900" dirty="0">
                <a:solidFill>
                  <a:srgbClr val="33332F"/>
                </a:solidFill>
                <a:latin typeface="Helvetica Neue" pitchFamily="34" charset="0"/>
                <a:ea typeface="Helvetica Neue" pitchFamily="34" charset="-122"/>
                <a:cs typeface="Helvetica Neue" pitchFamily="34" charset="-120"/>
              </a:rPr>
              <a:t>Leading the raise and the acquisition programme personally; sourcing, diligence and integration of the first targets run through the founder's existing network in the demil and destruction-equipment industry.</a:t>
            </a:r>
            <a:endParaRPr lang="en-US" sz="900" dirty="0"/>
          </a:p>
        </p:txBody>
      </p:sp>
      <p:sp>
        <p:nvSpPr>
          <p:cNvPr id="22" name="Shape 19"/>
          <p:cNvSpPr/>
          <p:nvPr/>
        </p:nvSpPr>
        <p:spPr>
          <a:xfrm>
            <a:off x="6309360" y="2148840"/>
            <a:ext cx="5333695" cy="3931920"/>
          </a:xfrm>
          <a:prstGeom prst="rect">
            <a:avLst/>
          </a:prstGeom>
          <a:solidFill>
            <a:srgbClr val="FAFAF8"/>
          </a:solidFill>
          <a:ln w="6350">
            <a:solidFill>
              <a:srgbClr val="D3D9D0"/>
            </a:solidFill>
            <a:prstDash val="solid"/>
          </a:ln>
        </p:spPr>
      </p:sp>
      <p:pic>
        <p:nvPicPr>
          <p:cNvPr id="23" name="Image 1" descr="preencoded.png">    </p:cNvPr>
          <p:cNvPicPr>
            <a:picLocks noChangeAspect="1"/>
          </p:cNvPicPr>
          <p:nvPr/>
        </p:nvPicPr>
        <p:blipFill>
          <a:blip r:embed="rId2"/>
          <a:srcRect l="0" r="0" t="0" b="0"/>
          <a:stretch/>
        </p:blipFill>
        <p:spPr>
          <a:xfrm>
            <a:off x="6583680" y="2423160"/>
            <a:ext cx="1188720" cy="1188720"/>
          </a:xfrm>
          <a:prstGeom prst="rect">
            <a:avLst/>
          </a:prstGeom>
        </p:spPr>
      </p:pic>
      <p:sp>
        <p:nvSpPr>
          <p:cNvPr id="24" name="Shape 20"/>
          <p:cNvSpPr/>
          <p:nvPr/>
        </p:nvSpPr>
        <p:spPr>
          <a:xfrm>
            <a:off x="6555105" y="2394585"/>
            <a:ext cx="57150" cy="0"/>
          </a:xfrm>
          <a:prstGeom prst="line">
            <a:avLst/>
          </a:prstGeom>
          <a:noFill/>
          <a:ln w="9525">
            <a:solidFill>
              <a:srgbClr val="788274"/>
            </a:solidFill>
            <a:prstDash val="solid"/>
          </a:ln>
        </p:spPr>
      </p:sp>
      <p:sp>
        <p:nvSpPr>
          <p:cNvPr id="25" name="Shape 21"/>
          <p:cNvSpPr/>
          <p:nvPr/>
        </p:nvSpPr>
        <p:spPr>
          <a:xfrm>
            <a:off x="6555105" y="2394585"/>
            <a:ext cx="0" cy="57150"/>
          </a:xfrm>
          <a:prstGeom prst="line">
            <a:avLst/>
          </a:prstGeom>
          <a:noFill/>
          <a:ln w="9525">
            <a:solidFill>
              <a:srgbClr val="788274"/>
            </a:solidFill>
            <a:prstDash val="solid"/>
          </a:ln>
        </p:spPr>
      </p:sp>
      <p:sp>
        <p:nvSpPr>
          <p:cNvPr id="26" name="Shape 22"/>
          <p:cNvSpPr/>
          <p:nvPr/>
        </p:nvSpPr>
        <p:spPr>
          <a:xfrm>
            <a:off x="7743825" y="2394585"/>
            <a:ext cx="57150" cy="0"/>
          </a:xfrm>
          <a:prstGeom prst="line">
            <a:avLst/>
          </a:prstGeom>
          <a:noFill/>
          <a:ln w="9525">
            <a:solidFill>
              <a:srgbClr val="788274"/>
            </a:solidFill>
            <a:prstDash val="solid"/>
          </a:ln>
        </p:spPr>
      </p:sp>
      <p:sp>
        <p:nvSpPr>
          <p:cNvPr id="27" name="Shape 23"/>
          <p:cNvSpPr/>
          <p:nvPr/>
        </p:nvSpPr>
        <p:spPr>
          <a:xfrm>
            <a:off x="7800975" y="2394585"/>
            <a:ext cx="0" cy="57150"/>
          </a:xfrm>
          <a:prstGeom prst="line">
            <a:avLst/>
          </a:prstGeom>
          <a:noFill/>
          <a:ln w="9525">
            <a:solidFill>
              <a:srgbClr val="788274"/>
            </a:solidFill>
            <a:prstDash val="solid"/>
          </a:ln>
        </p:spPr>
      </p:sp>
      <p:sp>
        <p:nvSpPr>
          <p:cNvPr id="28" name="Shape 24"/>
          <p:cNvSpPr/>
          <p:nvPr/>
        </p:nvSpPr>
        <p:spPr>
          <a:xfrm>
            <a:off x="6555105" y="3640455"/>
            <a:ext cx="57150" cy="0"/>
          </a:xfrm>
          <a:prstGeom prst="line">
            <a:avLst/>
          </a:prstGeom>
          <a:noFill/>
          <a:ln w="9525">
            <a:solidFill>
              <a:srgbClr val="788274"/>
            </a:solidFill>
            <a:prstDash val="solid"/>
          </a:ln>
        </p:spPr>
      </p:sp>
      <p:sp>
        <p:nvSpPr>
          <p:cNvPr id="29" name="Shape 25"/>
          <p:cNvSpPr/>
          <p:nvPr/>
        </p:nvSpPr>
        <p:spPr>
          <a:xfrm>
            <a:off x="6555105" y="3583305"/>
            <a:ext cx="0" cy="57150"/>
          </a:xfrm>
          <a:prstGeom prst="line">
            <a:avLst/>
          </a:prstGeom>
          <a:noFill/>
          <a:ln w="9525">
            <a:solidFill>
              <a:srgbClr val="788274"/>
            </a:solidFill>
            <a:prstDash val="solid"/>
          </a:ln>
        </p:spPr>
      </p:sp>
      <p:sp>
        <p:nvSpPr>
          <p:cNvPr id="30" name="Shape 26"/>
          <p:cNvSpPr/>
          <p:nvPr/>
        </p:nvSpPr>
        <p:spPr>
          <a:xfrm>
            <a:off x="7743825" y="3640455"/>
            <a:ext cx="57150" cy="0"/>
          </a:xfrm>
          <a:prstGeom prst="line">
            <a:avLst/>
          </a:prstGeom>
          <a:noFill/>
          <a:ln w="9525">
            <a:solidFill>
              <a:srgbClr val="788274"/>
            </a:solidFill>
            <a:prstDash val="solid"/>
          </a:ln>
        </p:spPr>
      </p:sp>
      <p:sp>
        <p:nvSpPr>
          <p:cNvPr id="31" name="Shape 27"/>
          <p:cNvSpPr/>
          <p:nvPr/>
        </p:nvSpPr>
        <p:spPr>
          <a:xfrm>
            <a:off x="7800975" y="3583305"/>
            <a:ext cx="0" cy="57150"/>
          </a:xfrm>
          <a:prstGeom prst="line">
            <a:avLst/>
          </a:prstGeom>
          <a:noFill/>
          <a:ln w="9525">
            <a:solidFill>
              <a:srgbClr val="788274"/>
            </a:solidFill>
            <a:prstDash val="solid"/>
          </a:ln>
        </p:spPr>
      </p:sp>
      <p:sp>
        <p:nvSpPr>
          <p:cNvPr id="32" name="Text 28"/>
          <p:cNvSpPr txBox="1"/>
          <p:nvPr/>
        </p:nvSpPr>
        <p:spPr>
          <a:xfrm>
            <a:off x="8046720" y="2532888"/>
            <a:ext cx="3322015"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STRATEGIC ADVISOR</a:t>
            </a:r>
            <a:endParaRPr lang="en-US" sz="700" dirty="0"/>
          </a:p>
        </p:txBody>
      </p:sp>
      <p:sp>
        <p:nvSpPr>
          <p:cNvPr id="33" name="Text 29"/>
          <p:cNvSpPr txBox="1"/>
          <p:nvPr/>
        </p:nvSpPr>
        <p:spPr>
          <a:xfrm>
            <a:off x="8046720" y="2770632"/>
            <a:ext cx="3322015" cy="640080"/>
          </a:xfrm>
          <a:prstGeom prst="rect">
            <a:avLst/>
          </a:prstGeom>
          <a:noFill/>
          <a:ln/>
        </p:spPr>
        <p:txBody>
          <a:bodyPr wrap="square" lIns="0" tIns="0" rIns="0" bIns="0" rtlCol="0" anchor="t"/>
          <a:lstStyle/>
          <a:p>
            <a:pPr indent="0" marL="0">
              <a:buNone/>
            </a:pPr>
            <a:r>
              <a:rPr lang="en-US" sz="2400" dirty="0">
                <a:solidFill>
                  <a:srgbClr val="000000"/>
                </a:solidFill>
                <a:latin typeface="Helvetica Neue" pitchFamily="34" charset="0"/>
                <a:ea typeface="Helvetica Neue" pitchFamily="34" charset="-122"/>
                <a:cs typeface="Helvetica Neue" pitchFamily="34" charset="-120"/>
              </a:rPr>
              <a:t>Joe Kasper</a:t>
            </a:r>
            <a:endParaRPr lang="en-US" sz="2400" dirty="0"/>
          </a:p>
        </p:txBody>
      </p:sp>
      <p:sp>
        <p:nvSpPr>
          <p:cNvPr id="34" name="Shape 30"/>
          <p:cNvSpPr/>
          <p:nvPr/>
        </p:nvSpPr>
        <p:spPr>
          <a:xfrm>
            <a:off x="6583680" y="3840480"/>
            <a:ext cx="4785055" cy="0"/>
          </a:xfrm>
          <a:prstGeom prst="line">
            <a:avLst/>
          </a:prstGeom>
          <a:noFill/>
          <a:ln w="9525">
            <a:solidFill>
              <a:srgbClr val="D3D9D0"/>
            </a:solidFill>
            <a:prstDash val="solid"/>
          </a:ln>
        </p:spPr>
      </p:sp>
      <p:sp>
        <p:nvSpPr>
          <p:cNvPr id="35" name="Text 31"/>
          <p:cNvSpPr txBox="1"/>
          <p:nvPr/>
        </p:nvSpPr>
        <p:spPr>
          <a:xfrm>
            <a:off x="6583680" y="4023360"/>
            <a:ext cx="4785055" cy="1947672"/>
          </a:xfrm>
          <a:prstGeom prst="rect">
            <a:avLst/>
          </a:prstGeom>
          <a:noFill/>
          <a:ln/>
        </p:spPr>
        <p:txBody>
          <a:bodyPr wrap="square" lIns="0" tIns="0" rIns="0" bIns="0" rtlCol="0" anchor="t"/>
          <a:lstStyle/>
          <a:p>
            <a:pPr marL="342900" indent="-342900">
              <a:spcAft>
                <a:spcPts val="600"/>
              </a:spcAft>
              <a:buSzPct val="100000"/>
              <a:buChar char="–"/>
            </a:pPr>
            <a:r>
              <a:rPr lang="en-US" sz="800" dirty="0">
                <a:solidFill>
                  <a:srgbClr val="33332F"/>
                </a:solidFill>
                <a:latin typeface="Helvetica Neue" pitchFamily="34" charset="0"/>
                <a:ea typeface="Helvetica Neue" pitchFamily="34" charset="-122"/>
                <a:cs typeface="Helvetica Neue" pitchFamily="34" charset="-120"/>
              </a:rPr>
              <a:t>Chair, REalloys Advisory Board (NASDAQ: ALOY) · former Chief of Staff to the US Secretary of Defense.</a:t>
            </a:r>
            <a:endParaRPr lang="en-US" sz="800" dirty="0"/>
          </a:p>
          <a:p>
            <a:pPr marL="342900" indent="-342900">
              <a:spcAft>
                <a:spcPts val="600"/>
              </a:spcAft>
              <a:buSzPct val="100000"/>
              <a:buChar char="–"/>
            </a:pPr>
            <a:r>
              <a:rPr lang="en-US" sz="800" dirty="0">
                <a:solidFill>
                  <a:srgbClr val="33332F"/>
                </a:solidFill>
                <a:latin typeface="Helvetica Neue" pitchFamily="34" charset="0"/>
                <a:ea typeface="Helvetica Neue" pitchFamily="34" charset="-122"/>
                <a:cs typeface="Helvetica Neue" pitchFamily="34" charset="-120"/>
              </a:rPr>
              <a:t>The buyer: TWB's core customer is the same institution Kasper served at the highest staff level - the Office of the Secretary of Defense.</a:t>
            </a:r>
            <a:endParaRPr lang="en-US" sz="800" dirty="0"/>
          </a:p>
          <a:p>
            <a:pPr marL="342900" indent="-342900">
              <a:spcAft>
                <a:spcPts val="600"/>
              </a:spcAft>
              <a:buSzPct val="100000"/>
              <a:buChar char="–"/>
            </a:pPr>
            <a:r>
              <a:rPr lang="en-US" sz="800" dirty="0">
                <a:solidFill>
                  <a:srgbClr val="33332F"/>
                </a:solidFill>
                <a:latin typeface="Helvetica Neue" pitchFamily="34" charset="0"/>
                <a:ea typeface="Helvetica Neue" pitchFamily="34" charset="-122"/>
                <a:cs typeface="Helvetica Neue" pitchFamily="34" charset="-120"/>
              </a:rPr>
              <a:t>The material: his DoD-era mandate covered critical-material supply chains directly; he now chairs the advisory board of a critical-minerals company - the same recovery thesis TWB is built on.</a:t>
            </a:r>
            <a:endParaRPr lang="en-US" sz="800" dirty="0"/>
          </a:p>
          <a:p>
            <a:pPr marL="342900" indent="-342900">
              <a:spcAft>
                <a:spcPts val="600"/>
              </a:spcAft>
              <a:buSzPct val="100000"/>
              <a:buChar char="–"/>
            </a:pPr>
            <a:r>
              <a:rPr lang="en-US" sz="800" dirty="0">
                <a:solidFill>
                  <a:srgbClr val="33332F"/>
                </a:solidFill>
                <a:latin typeface="Helvetica Neue" pitchFamily="34" charset="0"/>
                <a:ea typeface="Helvetica Neue" pitchFamily="34" charset="-122"/>
                <a:cs typeface="Helvetica Neue" pitchFamily="34" charset="-120"/>
              </a:rPr>
              <a:t>The process: a decade of Capitol Hill defence-appropriations experience maps to the Army demil line and NDAA funding cycles that anchor TWB's demand case.</a:t>
            </a:r>
            <a:endParaRPr lang="en-US" sz="800" dirty="0"/>
          </a:p>
          <a:p>
            <a:pPr marL="342900" indent="-342900">
              <a:spcAft>
                <a:spcPts val="600"/>
              </a:spcAft>
              <a:buSzPct val="100000"/>
              <a:buChar char="–"/>
            </a:pPr>
            <a:r>
              <a:rPr lang="en-US" sz="800" dirty="0">
                <a:solidFill>
                  <a:srgbClr val="33332F"/>
                </a:solidFill>
                <a:latin typeface="Helvetica Neue" pitchFamily="34" charset="0"/>
                <a:ea typeface="Helvetica Neue" pitchFamily="34" charset="-122"/>
                <a:cs typeface="Helvetica Neue" pitchFamily="34" charset="-120"/>
              </a:rPr>
              <a:t>Status: agreed / in discussion (confirmed by Tom, 2 Sep 2026) - see the standalone advisor profile for full sourcing.</a:t>
            </a:r>
            <a:endParaRPr lang="en-US" sz="800" dirty="0"/>
          </a:p>
        </p:txBody>
      </p:sp>
      <p:sp>
        <p:nvSpPr>
          <p:cNvPr id="36" name="Text 32"/>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Kasper bio: REalloys, Inc. team page and 30 Mar 2026 press release (Advisory Board Chair appointment); Chief of Staff tenure independently reported (Newsweek, Washington Times, Apr 2026). Full sourcing in the standalone advisor profile. Advisory relationship: company-confirmed, not yet publicly announced.</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08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POSITION</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Competitive landscape: incumbents move the material; the platform moves the capability</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Fixed-plant demil contractors, technology vendors and field-clearance teams each hold one piece. None combines mobile custody destruction, materials recovery, a police channel and an acquisition mandate.</a:t>
            </a:r>
            <a:endParaRPr lang="en-US" sz="1100" dirty="0"/>
          </a:p>
        </p:txBody>
      </p:sp>
      <p:sp>
        <p:nvSpPr>
          <p:cNvPr id="7" name="Shape 4"/>
          <p:cNvSpPr/>
          <p:nvPr/>
        </p:nvSpPr>
        <p:spPr>
          <a:xfrm>
            <a:off x="548640" y="2148840"/>
            <a:ext cx="6949440" cy="3840480"/>
          </a:xfrm>
          <a:prstGeom prst="rect">
            <a:avLst/>
          </a:prstGeom>
          <a:solidFill>
            <a:srgbClr val="FAFAF8"/>
          </a:solidFill>
          <a:ln w="9525">
            <a:solidFill>
              <a:srgbClr val="D3D9D0"/>
            </a:solidFill>
            <a:prstDash val="solid"/>
          </a:ln>
        </p:spPr>
      </p:sp>
      <p:sp>
        <p:nvSpPr>
          <p:cNvPr id="8" name="Shape 5"/>
          <p:cNvSpPr/>
          <p:nvPr/>
        </p:nvSpPr>
        <p:spPr>
          <a:xfrm>
            <a:off x="548640" y="4069080"/>
            <a:ext cx="6949440" cy="0"/>
          </a:xfrm>
          <a:prstGeom prst="line">
            <a:avLst/>
          </a:prstGeom>
          <a:noFill/>
          <a:ln w="9525">
            <a:solidFill>
              <a:srgbClr val="D3D9D0"/>
            </a:solidFill>
            <a:prstDash val="solid"/>
          </a:ln>
        </p:spPr>
      </p:sp>
      <p:sp>
        <p:nvSpPr>
          <p:cNvPr id="9" name="Shape 6"/>
          <p:cNvSpPr/>
          <p:nvPr/>
        </p:nvSpPr>
        <p:spPr>
          <a:xfrm>
            <a:off x="4023360" y="2148840"/>
            <a:ext cx="0" cy="3840480"/>
          </a:xfrm>
          <a:prstGeom prst="line">
            <a:avLst/>
          </a:prstGeom>
          <a:noFill/>
          <a:ln w="9525">
            <a:solidFill>
              <a:srgbClr val="D3D9D0"/>
            </a:solidFill>
            <a:prstDash val="solid"/>
          </a:ln>
        </p:spPr>
      </p:sp>
      <p:sp>
        <p:nvSpPr>
          <p:cNvPr id="10" name="Text 7"/>
          <p:cNvSpPr txBox="1"/>
          <p:nvPr/>
        </p:nvSpPr>
        <p:spPr>
          <a:xfrm>
            <a:off x="685800" y="5733288"/>
            <a:ext cx="2743200" cy="201168"/>
          </a:xfrm>
          <a:prstGeom prst="rect">
            <a:avLst/>
          </a:prstGeom>
          <a:noFill/>
          <a:ln/>
        </p:spPr>
        <p:txBody>
          <a:bodyPr wrap="square" lIns="0" tIns="0" rIns="0" bIns="0" rtlCol="0" anchor="t"/>
          <a:lstStyle/>
          <a:p>
            <a:pPr indent="0" marL="0">
              <a:buNone/>
            </a:pPr>
            <a:r>
              <a:rPr lang="en-US" sz="650" spc="150" kern="0" dirty="0">
                <a:solidFill>
                  <a:srgbClr val="6E6C66"/>
                </a:solidFill>
                <a:latin typeface="IBM Plex Mono" pitchFamily="34" charset="0"/>
                <a:ea typeface="IBM Plex Mono" pitchFamily="34" charset="-122"/>
                <a:cs typeface="IBM Plex Mono" pitchFamily="34" charset="-120"/>
              </a:rPr>
              <a:t>← FIXED-SITE SERVICE</a:t>
            </a:r>
            <a:endParaRPr lang="en-US" sz="650" dirty="0"/>
          </a:p>
        </p:txBody>
      </p:sp>
      <p:sp>
        <p:nvSpPr>
          <p:cNvPr id="11" name="Text 8"/>
          <p:cNvSpPr txBox="1"/>
          <p:nvPr/>
        </p:nvSpPr>
        <p:spPr>
          <a:xfrm>
            <a:off x="4663440" y="5733288"/>
            <a:ext cx="2743200" cy="201168"/>
          </a:xfrm>
          <a:prstGeom prst="rect">
            <a:avLst/>
          </a:prstGeom>
          <a:noFill/>
          <a:ln/>
        </p:spPr>
        <p:txBody>
          <a:bodyPr wrap="square" lIns="0" tIns="0" rIns="0" bIns="0" rtlCol="0" anchor="t"/>
          <a:lstStyle/>
          <a:p>
            <a:pPr indent="0" marL="0">
              <a:buNone/>
            </a:pPr>
            <a:r>
              <a:rPr lang="en-US" sz="650" spc="150" kern="0" dirty="0">
                <a:solidFill>
                  <a:srgbClr val="6E6C66"/>
                </a:solidFill>
                <a:latin typeface="IBM Plex Mono" pitchFamily="34" charset="0"/>
                <a:ea typeface="IBM Plex Mono" pitchFamily="34" charset="-122"/>
                <a:cs typeface="IBM Plex Mono" pitchFamily="34" charset="-120"/>
              </a:rPr>
              <a:t>MOBILE, ON-SITE CUSTODY →</a:t>
            </a:r>
            <a:endParaRPr lang="en-US" sz="650" dirty="0"/>
          </a:p>
        </p:txBody>
      </p:sp>
      <p:sp>
        <p:nvSpPr>
          <p:cNvPr id="12" name="Text 9"/>
          <p:cNvSpPr txBox="1"/>
          <p:nvPr/>
        </p:nvSpPr>
        <p:spPr>
          <a:xfrm>
            <a:off x="685800" y="2221992"/>
            <a:ext cx="6675120" cy="201168"/>
          </a:xfrm>
          <a:prstGeom prst="rect">
            <a:avLst/>
          </a:prstGeom>
          <a:noFill/>
          <a:ln/>
        </p:spPr>
        <p:txBody>
          <a:bodyPr wrap="square" lIns="0" tIns="0" rIns="0" bIns="0" rtlCol="0" anchor="t"/>
          <a:lstStyle/>
          <a:p>
            <a:pPr indent="0" marL="0">
              <a:buNone/>
            </a:pPr>
            <a:r>
              <a:rPr lang="en-US" sz="650" spc="150" kern="0" dirty="0">
                <a:solidFill>
                  <a:srgbClr val="6E6C66"/>
                </a:solidFill>
                <a:latin typeface="IBM Plex Mono" pitchFamily="34" charset="0"/>
                <a:ea typeface="IBM Plex Mono" pitchFamily="34" charset="-122"/>
                <a:cs typeface="IBM Plex Mono" pitchFamily="34" charset="-120"/>
              </a:rPr>
              <a:t>↑ INTEGRATED PLATFORM (RECOVERY + POLICE CHANNEL + ACQUISITION)</a:t>
            </a:r>
            <a:endParaRPr lang="en-US" sz="650" dirty="0"/>
          </a:p>
        </p:txBody>
      </p:sp>
      <p:sp>
        <p:nvSpPr>
          <p:cNvPr id="13" name="Shape 10"/>
          <p:cNvSpPr/>
          <p:nvPr/>
        </p:nvSpPr>
        <p:spPr>
          <a:xfrm>
            <a:off x="6452006" y="2613355"/>
            <a:ext cx="146304" cy="146304"/>
          </a:xfrm>
          <a:prstGeom prst="ellipse">
            <a:avLst/>
          </a:prstGeom>
          <a:solidFill>
            <a:srgbClr val="66705F"/>
          </a:solidFill>
          <a:ln w="12700">
            <a:solidFill>
              <a:srgbClr val="FFFFFF"/>
            </a:solidFill>
            <a:prstDash val="solid"/>
          </a:ln>
        </p:spPr>
      </p:sp>
      <p:sp>
        <p:nvSpPr>
          <p:cNvPr id="14" name="Text 11"/>
          <p:cNvSpPr txBox="1"/>
          <p:nvPr/>
        </p:nvSpPr>
        <p:spPr>
          <a:xfrm>
            <a:off x="5519318" y="2777947"/>
            <a:ext cx="2011680" cy="219456"/>
          </a:xfrm>
          <a:prstGeom prst="rect">
            <a:avLst/>
          </a:prstGeom>
          <a:noFill/>
          <a:ln/>
        </p:spPr>
        <p:txBody>
          <a:bodyPr wrap="square" lIns="0" tIns="0" rIns="0" bIns="0" rtlCol="0" anchor="ctr"/>
          <a:lstStyle/>
          <a:p>
            <a:pPr algn="ctr" indent="0" marL="0">
              <a:buNone/>
            </a:pPr>
            <a:r>
              <a:rPr lang="en-US" sz="900" b="1" dirty="0">
                <a:solidFill>
                  <a:srgbClr val="000000"/>
                </a:solidFill>
                <a:latin typeface="Helvetica Neue" pitchFamily="34" charset="0"/>
                <a:ea typeface="Helvetica Neue" pitchFamily="34" charset="-122"/>
                <a:cs typeface="Helvetica Neue" pitchFamily="34" charset="-120"/>
              </a:rPr>
              <a:t>TWB Designs</a:t>
            </a:r>
            <a:endParaRPr lang="en-US" sz="900" dirty="0"/>
          </a:p>
        </p:txBody>
      </p:sp>
      <p:sp>
        <p:nvSpPr>
          <p:cNvPr id="15" name="Shape 12"/>
          <p:cNvSpPr/>
          <p:nvPr/>
        </p:nvSpPr>
        <p:spPr>
          <a:xfrm>
            <a:off x="1888236" y="2866644"/>
            <a:ext cx="100584" cy="100584"/>
          </a:xfrm>
          <a:prstGeom prst="ellipse">
            <a:avLst/>
          </a:prstGeom>
          <a:solidFill>
            <a:srgbClr val="6E6C66"/>
          </a:solidFill>
          <a:ln w="12700">
            <a:solidFill>
              <a:srgbClr val="FFFFFF"/>
            </a:solidFill>
            <a:prstDash val="solid"/>
          </a:ln>
        </p:spPr>
      </p:sp>
      <p:sp>
        <p:nvSpPr>
          <p:cNvPr id="16" name="Text 13"/>
          <p:cNvSpPr txBox="1"/>
          <p:nvPr/>
        </p:nvSpPr>
        <p:spPr>
          <a:xfrm>
            <a:off x="932688" y="2971800"/>
            <a:ext cx="2011680" cy="219456"/>
          </a:xfrm>
          <a:prstGeom prst="rect">
            <a:avLst/>
          </a:prstGeom>
          <a:noFill/>
          <a:ln/>
        </p:spPr>
        <p:txBody>
          <a:bodyPr wrap="square" lIns="0" tIns="0" rIns="0" bIns="0" rtlCol="0" anchor="ctr"/>
          <a:lstStyle/>
          <a:p>
            <a:pPr algn="ctr" indent="0" marL="0">
              <a:buNone/>
            </a:pPr>
            <a:r>
              <a:rPr lang="en-US" sz="750" dirty="0">
                <a:solidFill>
                  <a:srgbClr val="33332F"/>
                </a:solidFill>
                <a:latin typeface="Helvetica Neue" pitchFamily="34" charset="0"/>
                <a:ea typeface="Helvetica Neue" pitchFamily="34" charset="-122"/>
                <a:cs typeface="Helvetica Neue" pitchFamily="34" charset="-120"/>
              </a:rPr>
              <a:t>Rheinmetall Expal</a:t>
            </a:r>
            <a:endParaRPr lang="en-US" sz="750" dirty="0"/>
          </a:p>
        </p:txBody>
      </p:sp>
      <p:sp>
        <p:nvSpPr>
          <p:cNvPr id="17" name="Shape 14"/>
          <p:cNvSpPr/>
          <p:nvPr/>
        </p:nvSpPr>
        <p:spPr>
          <a:xfrm>
            <a:off x="2722169" y="3481121"/>
            <a:ext cx="100584" cy="100584"/>
          </a:xfrm>
          <a:prstGeom prst="ellipse">
            <a:avLst/>
          </a:prstGeom>
          <a:solidFill>
            <a:srgbClr val="6E6C66"/>
          </a:solidFill>
          <a:ln w="12700">
            <a:solidFill>
              <a:srgbClr val="FFFFFF"/>
            </a:solidFill>
            <a:prstDash val="solid"/>
          </a:ln>
        </p:spPr>
      </p:sp>
      <p:sp>
        <p:nvSpPr>
          <p:cNvPr id="18" name="Text 15"/>
          <p:cNvSpPr txBox="1"/>
          <p:nvPr/>
        </p:nvSpPr>
        <p:spPr>
          <a:xfrm>
            <a:off x="1766621" y="3586277"/>
            <a:ext cx="2011680" cy="219456"/>
          </a:xfrm>
          <a:prstGeom prst="rect">
            <a:avLst/>
          </a:prstGeom>
          <a:noFill/>
          <a:ln/>
        </p:spPr>
        <p:txBody>
          <a:bodyPr wrap="square" lIns="0" tIns="0" rIns="0" bIns="0" rtlCol="0" anchor="ctr"/>
          <a:lstStyle/>
          <a:p>
            <a:pPr algn="ctr" indent="0" marL="0">
              <a:buNone/>
            </a:pPr>
            <a:r>
              <a:rPr lang="en-US" sz="750" dirty="0">
                <a:solidFill>
                  <a:srgbClr val="33332F"/>
                </a:solidFill>
                <a:latin typeface="Helvetica Neue" pitchFamily="34" charset="0"/>
                <a:ea typeface="Helvetica Neue" pitchFamily="34" charset="-122"/>
                <a:cs typeface="Helvetica Neue" pitchFamily="34" charset="-120"/>
              </a:rPr>
              <a:t>EnviroSafe Demil</a:t>
            </a:r>
            <a:endParaRPr lang="en-US" sz="750" dirty="0"/>
          </a:p>
        </p:txBody>
      </p:sp>
      <p:sp>
        <p:nvSpPr>
          <p:cNvPr id="19" name="Shape 16"/>
          <p:cNvSpPr/>
          <p:nvPr/>
        </p:nvSpPr>
        <p:spPr>
          <a:xfrm>
            <a:off x="2166214" y="4095598"/>
            <a:ext cx="100584" cy="100584"/>
          </a:xfrm>
          <a:prstGeom prst="ellipse">
            <a:avLst/>
          </a:prstGeom>
          <a:solidFill>
            <a:srgbClr val="6E6C66"/>
          </a:solidFill>
          <a:ln w="12700">
            <a:solidFill>
              <a:srgbClr val="FFFFFF"/>
            </a:solidFill>
            <a:prstDash val="solid"/>
          </a:ln>
        </p:spPr>
      </p:sp>
      <p:sp>
        <p:nvSpPr>
          <p:cNvPr id="20" name="Text 17"/>
          <p:cNvSpPr txBox="1"/>
          <p:nvPr/>
        </p:nvSpPr>
        <p:spPr>
          <a:xfrm>
            <a:off x="1210666" y="4200754"/>
            <a:ext cx="2011680" cy="219456"/>
          </a:xfrm>
          <a:prstGeom prst="rect">
            <a:avLst/>
          </a:prstGeom>
          <a:noFill/>
          <a:ln/>
        </p:spPr>
        <p:txBody>
          <a:bodyPr wrap="square" lIns="0" tIns="0" rIns="0" bIns="0" rtlCol="0" anchor="ctr"/>
          <a:lstStyle/>
          <a:p>
            <a:pPr algn="ctr" indent="0" marL="0">
              <a:buNone/>
            </a:pPr>
            <a:r>
              <a:rPr lang="en-US" sz="750" dirty="0">
                <a:solidFill>
                  <a:srgbClr val="33332F"/>
                </a:solidFill>
                <a:latin typeface="Helvetica Neue" pitchFamily="34" charset="0"/>
                <a:ea typeface="Helvetica Neue" pitchFamily="34" charset="-122"/>
                <a:cs typeface="Helvetica Neue" pitchFamily="34" charset="-120"/>
              </a:rPr>
              <a:t>GD-OTS</a:t>
            </a:r>
            <a:endParaRPr lang="en-US" sz="750" dirty="0"/>
          </a:p>
        </p:txBody>
      </p:sp>
      <p:sp>
        <p:nvSpPr>
          <p:cNvPr id="21" name="Shape 18"/>
          <p:cNvSpPr/>
          <p:nvPr/>
        </p:nvSpPr>
        <p:spPr>
          <a:xfrm>
            <a:off x="2583180" y="4786884"/>
            <a:ext cx="100584" cy="100584"/>
          </a:xfrm>
          <a:prstGeom prst="ellipse">
            <a:avLst/>
          </a:prstGeom>
          <a:solidFill>
            <a:srgbClr val="6E6C66"/>
          </a:solidFill>
          <a:ln w="12700">
            <a:solidFill>
              <a:srgbClr val="FFFFFF"/>
            </a:solidFill>
            <a:prstDash val="solid"/>
          </a:ln>
        </p:spPr>
      </p:sp>
      <p:sp>
        <p:nvSpPr>
          <p:cNvPr id="22" name="Text 19"/>
          <p:cNvSpPr txBox="1"/>
          <p:nvPr/>
        </p:nvSpPr>
        <p:spPr>
          <a:xfrm>
            <a:off x="1627632" y="4892040"/>
            <a:ext cx="2011680" cy="219456"/>
          </a:xfrm>
          <a:prstGeom prst="rect">
            <a:avLst/>
          </a:prstGeom>
          <a:noFill/>
          <a:ln/>
        </p:spPr>
        <p:txBody>
          <a:bodyPr wrap="square" lIns="0" tIns="0" rIns="0" bIns="0" rtlCol="0" anchor="ctr"/>
          <a:lstStyle/>
          <a:p>
            <a:pPr algn="ctr" indent="0" marL="0">
              <a:buNone/>
            </a:pPr>
            <a:r>
              <a:rPr lang="en-US" sz="750" dirty="0">
                <a:solidFill>
                  <a:srgbClr val="33332F"/>
                </a:solidFill>
                <a:latin typeface="Helvetica Neue" pitchFamily="34" charset="0"/>
                <a:ea typeface="Helvetica Neue" pitchFamily="34" charset="-122"/>
                <a:cs typeface="Helvetica Neue" pitchFamily="34" charset="-120"/>
              </a:rPr>
              <a:t>Day &amp; Zimmermann</a:t>
            </a:r>
            <a:endParaRPr lang="en-US" sz="750" dirty="0"/>
          </a:p>
        </p:txBody>
      </p:sp>
      <p:sp>
        <p:nvSpPr>
          <p:cNvPr id="23" name="Shape 20"/>
          <p:cNvSpPr/>
          <p:nvPr/>
        </p:nvSpPr>
        <p:spPr>
          <a:xfrm>
            <a:off x="4529023" y="4402836"/>
            <a:ext cx="100584" cy="100584"/>
          </a:xfrm>
          <a:prstGeom prst="ellipse">
            <a:avLst/>
          </a:prstGeom>
          <a:solidFill>
            <a:srgbClr val="6E6C66"/>
          </a:solidFill>
          <a:ln w="12700">
            <a:solidFill>
              <a:srgbClr val="FFFFFF"/>
            </a:solidFill>
            <a:prstDash val="solid"/>
          </a:ln>
        </p:spPr>
      </p:sp>
      <p:sp>
        <p:nvSpPr>
          <p:cNvPr id="24" name="Text 21"/>
          <p:cNvSpPr txBox="1"/>
          <p:nvPr/>
        </p:nvSpPr>
        <p:spPr>
          <a:xfrm>
            <a:off x="3573475" y="4507992"/>
            <a:ext cx="2011680" cy="219456"/>
          </a:xfrm>
          <a:prstGeom prst="rect">
            <a:avLst/>
          </a:prstGeom>
          <a:noFill/>
          <a:ln/>
        </p:spPr>
        <p:txBody>
          <a:bodyPr wrap="square" lIns="0" tIns="0" rIns="0" bIns="0" rtlCol="0" anchor="ctr"/>
          <a:lstStyle/>
          <a:p>
            <a:pPr algn="ctr" indent="0" marL="0">
              <a:buNone/>
            </a:pPr>
            <a:r>
              <a:rPr lang="en-US" sz="750" dirty="0">
                <a:solidFill>
                  <a:srgbClr val="33332F"/>
                </a:solidFill>
                <a:latin typeface="Helvetica Neue" pitchFamily="34" charset="0"/>
                <a:ea typeface="Helvetica Neue" pitchFamily="34" charset="-122"/>
                <a:cs typeface="Helvetica Neue" pitchFamily="34" charset="-120"/>
              </a:rPr>
              <a:t>Dynasafe</a:t>
            </a:r>
            <a:endParaRPr lang="en-US" sz="750" dirty="0"/>
          </a:p>
        </p:txBody>
      </p:sp>
      <p:sp>
        <p:nvSpPr>
          <p:cNvPr id="25" name="Shape 22"/>
          <p:cNvSpPr/>
          <p:nvPr/>
        </p:nvSpPr>
        <p:spPr>
          <a:xfrm>
            <a:off x="3556102" y="5170932"/>
            <a:ext cx="100584" cy="100584"/>
          </a:xfrm>
          <a:prstGeom prst="ellipse">
            <a:avLst/>
          </a:prstGeom>
          <a:solidFill>
            <a:srgbClr val="6E6C66"/>
          </a:solidFill>
          <a:ln w="12700">
            <a:solidFill>
              <a:srgbClr val="FFFFFF"/>
            </a:solidFill>
            <a:prstDash val="solid"/>
          </a:ln>
        </p:spPr>
      </p:sp>
      <p:sp>
        <p:nvSpPr>
          <p:cNvPr id="26" name="Text 23"/>
          <p:cNvSpPr txBox="1"/>
          <p:nvPr/>
        </p:nvSpPr>
        <p:spPr>
          <a:xfrm>
            <a:off x="2600554" y="5276088"/>
            <a:ext cx="2011680" cy="219456"/>
          </a:xfrm>
          <a:prstGeom prst="rect">
            <a:avLst/>
          </a:prstGeom>
          <a:noFill/>
          <a:ln/>
        </p:spPr>
        <p:txBody>
          <a:bodyPr wrap="square" lIns="0" tIns="0" rIns="0" bIns="0" rtlCol="0" anchor="ctr"/>
          <a:lstStyle/>
          <a:p>
            <a:pPr algn="ctr" indent="0" marL="0">
              <a:buNone/>
            </a:pPr>
            <a:r>
              <a:rPr lang="en-US" sz="750" dirty="0">
                <a:solidFill>
                  <a:srgbClr val="33332F"/>
                </a:solidFill>
                <a:latin typeface="Helvetica Neue" pitchFamily="34" charset="0"/>
                <a:ea typeface="Helvetica Neue" pitchFamily="34" charset="-122"/>
                <a:cs typeface="Helvetica Neue" pitchFamily="34" charset="-120"/>
              </a:rPr>
              <a:t>El Dorado Eng.</a:t>
            </a:r>
            <a:endParaRPr lang="en-US" sz="750" dirty="0"/>
          </a:p>
        </p:txBody>
      </p:sp>
      <p:sp>
        <p:nvSpPr>
          <p:cNvPr id="27" name="Shape 24"/>
          <p:cNvSpPr/>
          <p:nvPr/>
        </p:nvSpPr>
        <p:spPr>
          <a:xfrm>
            <a:off x="5362956" y="5554980"/>
            <a:ext cx="100584" cy="100584"/>
          </a:xfrm>
          <a:prstGeom prst="ellipse">
            <a:avLst/>
          </a:prstGeom>
          <a:solidFill>
            <a:srgbClr val="6E6C66"/>
          </a:solidFill>
          <a:ln w="12700">
            <a:solidFill>
              <a:srgbClr val="FFFFFF"/>
            </a:solidFill>
            <a:prstDash val="solid"/>
          </a:ln>
        </p:spPr>
      </p:sp>
      <p:sp>
        <p:nvSpPr>
          <p:cNvPr id="28" name="Text 25"/>
          <p:cNvSpPr txBox="1"/>
          <p:nvPr/>
        </p:nvSpPr>
        <p:spPr>
          <a:xfrm>
            <a:off x="4407408" y="5312664"/>
            <a:ext cx="2011680" cy="219456"/>
          </a:xfrm>
          <a:prstGeom prst="rect">
            <a:avLst/>
          </a:prstGeom>
          <a:noFill/>
          <a:ln/>
        </p:spPr>
        <p:txBody>
          <a:bodyPr wrap="square" lIns="0" tIns="0" rIns="0" bIns="0" rtlCol="0" anchor="ctr"/>
          <a:lstStyle/>
          <a:p>
            <a:pPr algn="ctr" indent="0" marL="0">
              <a:buNone/>
            </a:pPr>
            <a:r>
              <a:rPr lang="en-US" sz="750" dirty="0">
                <a:solidFill>
                  <a:srgbClr val="33332F"/>
                </a:solidFill>
                <a:latin typeface="Helvetica Neue" pitchFamily="34" charset="0"/>
                <a:ea typeface="Helvetica Neue" pitchFamily="34" charset="-122"/>
                <a:cs typeface="Helvetica Neue" pitchFamily="34" charset="-120"/>
              </a:rPr>
              <a:t>Mine-action ops</a:t>
            </a:r>
            <a:endParaRPr lang="en-US" sz="750" dirty="0"/>
          </a:p>
        </p:txBody>
      </p:sp>
      <p:sp>
        <p:nvSpPr>
          <p:cNvPr id="29" name="Text 26"/>
          <p:cNvSpPr txBox="1"/>
          <p:nvPr/>
        </p:nvSpPr>
        <p:spPr>
          <a:xfrm>
            <a:off x="7818120" y="2103120"/>
            <a:ext cx="38404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ON-SITE, INSIDE OWNER CUSTODY</a:t>
            </a:r>
            <a:endParaRPr lang="en-US" sz="700" dirty="0"/>
          </a:p>
        </p:txBody>
      </p:sp>
      <p:sp>
        <p:nvSpPr>
          <p:cNvPr id="30" name="Text 27"/>
          <p:cNvSpPr txBox="1"/>
          <p:nvPr/>
        </p:nvSpPr>
        <p:spPr>
          <a:xfrm>
            <a:off x="7818120" y="2304288"/>
            <a:ext cx="3840480" cy="73152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Same day, zero transfers - the fixed-site incumbents (EnviroSafe, Rheinmetall, GD-OTS, D&amp;Z) all move material off-site; Dynasafe's SDC is transportable but a multi-week deployment.</a:t>
            </a:r>
            <a:endParaRPr lang="en-US" sz="800" dirty="0"/>
          </a:p>
        </p:txBody>
      </p:sp>
      <p:sp>
        <p:nvSpPr>
          <p:cNvPr id="31" name="Text 28"/>
          <p:cNvSpPr txBox="1"/>
          <p:nvPr/>
        </p:nvSpPr>
        <p:spPr>
          <a:xfrm>
            <a:off x="7818120" y="3063240"/>
            <a:ext cx="38404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POLICE / CIVILIAN CUSTOMER BASE</a:t>
            </a:r>
            <a:endParaRPr lang="en-US" sz="700" dirty="0"/>
          </a:p>
        </p:txBody>
      </p:sp>
      <p:sp>
        <p:nvSpPr>
          <p:cNvPr id="32" name="Text 29"/>
          <p:cNvSpPr txBox="1"/>
          <p:nvPr/>
        </p:nvSpPr>
        <p:spPr>
          <a:xfrm>
            <a:off x="7818120" y="3264408"/>
            <a:ext cx="3840480" cy="73152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No demil competitor sells into law-enforcement destruction - TWB's only channel today, and the one none of the defence-focused incumbents has built.</a:t>
            </a:r>
            <a:endParaRPr lang="en-US" sz="800" dirty="0"/>
          </a:p>
        </p:txBody>
      </p:sp>
      <p:sp>
        <p:nvSpPr>
          <p:cNvPr id="33" name="Text 30"/>
          <p:cNvSpPr txBox="1"/>
          <p:nvPr/>
        </p:nvSpPr>
        <p:spPr>
          <a:xfrm>
            <a:off x="7818120" y="4023360"/>
            <a:ext cx="38404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BUYS AND INTEGRATES OTHER CAPABILITIES</a:t>
            </a:r>
            <a:endParaRPr lang="en-US" sz="700" dirty="0"/>
          </a:p>
        </p:txBody>
      </p:sp>
      <p:sp>
        <p:nvSpPr>
          <p:cNvPr id="34" name="Text 31"/>
          <p:cNvSpPr txBox="1"/>
          <p:nvPr/>
        </p:nvSpPr>
        <p:spPr>
          <a:xfrm>
            <a:off x="7818120" y="4224528"/>
            <a:ext cx="3840480" cy="73152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A stated acquisition mandate, not just organic growth - matched only by Rheinmetall's group-level M&amp;A, at a completely different scale.</a:t>
            </a:r>
            <a:endParaRPr lang="en-US" sz="800" dirty="0"/>
          </a:p>
        </p:txBody>
      </p:sp>
      <p:sp>
        <p:nvSpPr>
          <p:cNvPr id="35" name="Text 32"/>
          <p:cNvSpPr txBox="1"/>
          <p:nvPr/>
        </p:nvSpPr>
        <p:spPr>
          <a:xfrm>
            <a:off x="7818120" y="4983480"/>
            <a:ext cx="38404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DFARS-QUALIFYING-COUNTRY STANDING</a:t>
            </a:r>
            <a:endParaRPr lang="en-US" sz="700" dirty="0"/>
          </a:p>
        </p:txBody>
      </p:sp>
      <p:sp>
        <p:nvSpPr>
          <p:cNvPr id="36" name="Text 33"/>
          <p:cNvSpPr txBox="1"/>
          <p:nvPr/>
        </p:nvSpPr>
        <p:spPr>
          <a:xfrm>
            <a:off x="7818120" y="5184648"/>
            <a:ext cx="3840480" cy="73152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Canadian company; qualifies for US defence acquisition under DFARS 225.872 alongside Sweden (Dynasafe) - most US incumbents don't need this, but it widens who can buy from TWB.</a:t>
            </a:r>
            <a:endParaRPr lang="en-US" sz="800" dirty="0"/>
          </a:p>
        </p:txBody>
      </p:sp>
      <p:sp>
        <p:nvSpPr>
          <p:cNvPr id="37" name="Text 34"/>
          <p:cNvSpPr txBox="1"/>
          <p:nvPr/>
        </p:nvSpPr>
        <p:spPr>
          <a:xfrm>
            <a:off x="548640" y="6108192"/>
            <a:ext cx="7315200" cy="274320"/>
          </a:xfrm>
          <a:prstGeom prst="rect">
            <a:avLst/>
          </a:prstGeom>
          <a:noFill/>
          <a:ln/>
        </p:spPr>
        <p:txBody>
          <a:bodyPr wrap="square" lIns="0" tIns="0" rIns="0" bIns="0" rtlCol="0" anchor="t"/>
          <a:lstStyle/>
          <a:p>
            <a:pPr algn="l" indent="0" marL="0">
              <a:spcAft>
                <a:spcPts val="400"/>
              </a:spcAft>
              <a:buNone/>
            </a:pPr>
            <a:r>
              <a:rPr lang="en-US" sz="750" i="1" dirty="0">
                <a:solidFill>
                  <a:srgbClr val="6E6C66"/>
                </a:solidFill>
                <a:latin typeface="Helvetica Neue" pitchFamily="34" charset="0"/>
                <a:ea typeface="Helvetica Neue" pitchFamily="34" charset="-122"/>
                <a:cs typeface="Helvetica Neue" pitchFamily="34" charset="-120"/>
              </a:rPr>
              <a:t>Full nine-company capability matrix, sourced line by line, is on the next slide.</a:t>
            </a:r>
            <a:endParaRPr lang="en-US" sz="750" dirty="0"/>
          </a:p>
        </p:txBody>
      </p:sp>
      <p:sp>
        <p:nvSpPr>
          <p:cNvPr id="38" name="Text 35"/>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TWB assessment from each company's public materials, September 2026 - see next slide for sources ¹¹⁻¹⁵. Positioning is illustrative (axis placement is TWB's own read of public materials, not a scored index).</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09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POSITION, IN DETAIL</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Full comparison table - the nine-company capability matrix behind the positioning map</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Fixed-plant demil contractors, technology vendors and field-clearance teams each hold one piece. None combines mobile custody destruction, materials recovery, a police channel and an acquisition mandate.</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11094415" cy="914400"/>
        </p:xfrm>
        <a:graphic>
          <a:graphicData uri="http://schemas.openxmlformats.org/drawingml/2006/table">
            <a:tbl>
              <a:tblPr/>
              <a:tblGrid>
                <a:gridCol w="2103120"/>
                <a:gridCol w="1143000"/>
                <a:gridCol w="1097280"/>
                <a:gridCol w="1234440"/>
                <a:gridCol w="914400"/>
                <a:gridCol w="1280160"/>
                <a:gridCol w="1097280"/>
                <a:gridCol w="1051560"/>
                <a:gridCol w="1170432"/>
              </a:tblGrid>
              <a:tr h="329184">
                <a:tc>
                  <a:txBody>
                    <a:bodyPr/>
                    <a:lstStyle/>
                    <a:p>
                      <a:pPr algn="ctr" indent="0" marL="0">
                        <a:buNone/>
                      </a:pPr>
                      <a:endParaRPr lang="en-US" sz="700" dirty="0">
                        <a:latin typeface="IBM Plex Mono" charset="0"/>
                        <a:ea typeface="IBM Plex Mono" charset="0"/>
                        <a:cs typeface="IBM Plex Mono"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850" b="1" dirty="0">
                          <a:solidFill>
                            <a:srgbClr val="FFFFFF"/>
                          </a:solidFill>
                          <a:latin typeface="Helvetica Neue" pitchFamily="34" charset="0"/>
                          <a:ea typeface="Helvetica Neue" pitchFamily="34" charset="-122"/>
                          <a:cs typeface="Helvetica Neue" pitchFamily="34" charset="-120"/>
                        </a:rPr>
                        <a:t>TWB Designs</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66705F"/>
                    </a:solidFill>
                  </a:tcPr>
                </a:tc>
                <a:tc>
                  <a:txBody>
                    <a:bodyPr/>
                    <a:lstStyle/>
                    <a:p>
                      <a:pPr algn="ctr" indent="0" marL="0">
                        <a:buNone/>
                      </a:pPr>
                      <a:r>
                        <a:rPr lang="en-US" sz="850" b="1" dirty="0">
                          <a:solidFill>
                            <a:srgbClr val="000000"/>
                          </a:solidFill>
                          <a:latin typeface="Helvetica Neue" pitchFamily="34" charset="0"/>
                          <a:ea typeface="Helvetica Neue" pitchFamily="34" charset="-122"/>
                          <a:cs typeface="Helvetica Neue" pitchFamily="34" charset="-120"/>
                        </a:rPr>
                        <a:t>EnviroSafe Demil</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850" b="1" dirty="0">
                          <a:solidFill>
                            <a:srgbClr val="000000"/>
                          </a:solidFill>
                          <a:latin typeface="Helvetica Neue" pitchFamily="34" charset="0"/>
                          <a:ea typeface="Helvetica Neue" pitchFamily="34" charset="-122"/>
                          <a:cs typeface="Helvetica Neue" pitchFamily="34" charset="-120"/>
                        </a:rPr>
                        <a:t>Rheinmetall Expal</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850" b="1" dirty="0">
                          <a:solidFill>
                            <a:srgbClr val="000000"/>
                          </a:solidFill>
                          <a:latin typeface="Helvetica Neue" pitchFamily="34" charset="0"/>
                          <a:ea typeface="Helvetica Neue" pitchFamily="34" charset="-122"/>
                          <a:cs typeface="Helvetica Neue" pitchFamily="34" charset="-120"/>
                        </a:rPr>
                        <a:t>GD-OTS</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850" b="1" dirty="0">
                          <a:solidFill>
                            <a:srgbClr val="000000"/>
                          </a:solidFill>
                          <a:latin typeface="Helvetica Neue" pitchFamily="34" charset="0"/>
                          <a:ea typeface="Helvetica Neue" pitchFamily="34" charset="-122"/>
                          <a:cs typeface="Helvetica Neue" pitchFamily="34" charset="-120"/>
                        </a:rPr>
                        <a:t>Dynasafe</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850" b="1" dirty="0">
                          <a:solidFill>
                            <a:srgbClr val="000000"/>
                          </a:solidFill>
                          <a:latin typeface="Helvetica Neue" pitchFamily="34" charset="0"/>
                          <a:ea typeface="Helvetica Neue" pitchFamily="34" charset="-122"/>
                          <a:cs typeface="Helvetica Neue" pitchFamily="34" charset="-120"/>
                        </a:rPr>
                        <a:t>Day &amp; Zimmermann</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850" b="1" dirty="0">
                          <a:solidFill>
                            <a:srgbClr val="000000"/>
                          </a:solidFill>
                          <a:latin typeface="Helvetica Neue" pitchFamily="34" charset="0"/>
                          <a:ea typeface="Helvetica Neue" pitchFamily="34" charset="-122"/>
                          <a:cs typeface="Helvetica Neue" pitchFamily="34" charset="-120"/>
                        </a:rPr>
                        <a:t>El Dorado Eng.</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algn="ctr" indent="0" marL="0">
                        <a:buNone/>
                      </a:pPr>
                      <a:r>
                        <a:rPr lang="en-US" sz="850" b="1" dirty="0">
                          <a:solidFill>
                            <a:srgbClr val="000000"/>
                          </a:solidFill>
                          <a:latin typeface="Helvetica Neue" pitchFamily="34" charset="0"/>
                          <a:ea typeface="Helvetica Neue" pitchFamily="34" charset="-122"/>
                          <a:cs typeface="Helvetica Neue" pitchFamily="34" charset="-120"/>
                        </a:rPr>
                        <a:t>Mine-action operators</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Country</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Canada · USA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USA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Germany · Spain · USA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USA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Sweden · USA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USA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USA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UK · USA · intl</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Model</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Mobile service + acquisition</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Fixed-site service</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Fixed-site service</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Fixed-site service</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Equipment (SDC)</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Depot GOCO</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Equipment / eng.</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Field clearance</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On-site inside owner custody, same day</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 transportable SDC (weeks)</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 TFF trailer (metal only)</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Small-arms destruction</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Large-calibre / artillery</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 roadmap</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Metals recovery as a revenue line</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 (&gt;80% recycled)</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 scrap 3X decon.</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Police / civilian customer base</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Buys and integrates other capabilities</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 (Rheinmetall group)</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r>
              <a:tr h="329184">
                <a:tc>
                  <a:txBody>
                    <a:bodyPr/>
                    <a:lstStyle/>
                    <a:p>
                      <a:pPr algn="l" indent="0" marL="0">
                        <a:buNone/>
                      </a:pPr>
                      <a:r>
                        <a:rPr lang="en-US" sz="850" b="1" dirty="0">
                          <a:solidFill>
                            <a:srgbClr val="33332F"/>
                          </a:solidFill>
                          <a:latin typeface="Helvetica Neue" pitchFamily="34" charset="0"/>
                          <a:ea typeface="Helvetica Neue" pitchFamily="34" charset="-122"/>
                          <a:cs typeface="Helvetica Neue" pitchFamily="34" charset="-120"/>
                        </a:rPr>
                        <a:t>DFARS qualifying-country standing (Canada)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000000"/>
                          </a:solidFill>
                          <a:latin typeface="Helvetica Neue" pitchFamily="34" charset="0"/>
                          <a:ea typeface="Helvetica Neue" pitchFamily="34" charset="-122"/>
                          <a:cs typeface="Helvetica Neue" pitchFamily="34" charset="-120"/>
                        </a:rPr>
                        <a:t>●</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n/a (US)</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n/a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n/a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 (Sweden)</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n/a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n/a</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algn="ctr" indent="0" marL="0">
                        <a:buNone/>
                      </a:pPr>
                      <a:r>
                        <a:rPr lang="en-US" sz="850" dirty="0">
                          <a:solidFill>
                            <a:srgbClr val="33332F"/>
                          </a:solidFill>
                          <a:latin typeface="Helvetica Neue" pitchFamily="34" charset="0"/>
                          <a:ea typeface="Helvetica Neue" pitchFamily="34" charset="-122"/>
                          <a:cs typeface="Helvetica Neue" pitchFamily="34" charset="-120"/>
                        </a:rPr>
                        <a:t>varies</a:t>
                      </a:r>
                      <a:endParaRPr lang="en-US" sz="850" dirty="0">
                        <a:latin typeface="Helvetica Neue" charset="0"/>
                        <a:ea typeface="Helvetica Neue" charset="0"/>
                        <a:cs typeface="Helvetica Neue" charset="0"/>
                      </a:endParaRPr>
                    </a:p>
                  </a:txBody>
                  <a:tcPr marL="36576" marR="36576" marT="36576" marB="36576"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532120"/>
            <a:ext cx="10972800" cy="457200"/>
          </a:xfrm>
          <a:prstGeom prst="rect">
            <a:avLst/>
          </a:prstGeom>
          <a:noFill/>
          <a:ln/>
        </p:spPr>
        <p:txBody>
          <a:bodyPr wrap="square" lIns="0" tIns="0" rIns="0" bIns="0" rtlCol="0" anchor="t"/>
          <a:lstStyle/>
          <a:p>
            <a:pPr algn="l" indent="0" marL="0">
              <a:spcAft>
                <a:spcPts val="400"/>
              </a:spcAft>
              <a:buNone/>
            </a:pPr>
            <a:r>
              <a:rPr lang="en-US" sz="750" i="1" dirty="0">
                <a:solidFill>
                  <a:srgbClr val="6E6C66"/>
                </a:solidFill>
                <a:latin typeface="Helvetica Neue" pitchFamily="34" charset="0"/>
                <a:ea typeface="Helvetica Neue" pitchFamily="34" charset="-122"/>
                <a:cs typeface="Helvetica Neue" pitchFamily="34" charset="-120"/>
              </a:rPr>
              <a:t>● offered   ◐ on the roadmap (acquisition programme)   ○ partial   – not offered.  TWB assessment from each company's public materials, September 2026 - see sources ¹¹⁻¹⁵. Sourced from public materials only; capability rows for TWB beyond small arms are shown as roadmap.</a:t>
            </a:r>
            <a:endParaRPr lang="en-US" sz="750" dirty="0"/>
          </a:p>
        </p:txBody>
      </p:sp>
      <p:sp>
        <p:nvSpPr>
          <p:cNvPr id="9" name="Text 5"/>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¹¹ EnviroSafe Demil site; GovCon Wire 2021.  ¹² Rheinmetall Expal / American Rheinmetall Munitions pages.  ¹³ GD-OTS demil brochure (Carthage, MO).  ¹⁴ Dynasafe SDC / mobile pages.  ¹⁵ Day &amp; Zimmermann SOC page; El Dorado Engineering TFF page.</a:t>
            </a:r>
            <a:endParaRPr lang="en-US" sz="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6705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FFFFFF"/>
                </a:solidFill>
                <a:latin typeface="IBM Plex Mono" pitchFamily="34" charset="0"/>
                <a:ea typeface="IBM Plex Mono" pitchFamily="34" charset="-122"/>
                <a:cs typeface="IBM Plex Mono" pitchFamily="34" charset="-120"/>
              </a:rPr>
              <a:t>10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1463040"/>
            <a:ext cx="3657600" cy="1097280"/>
          </a:xfrm>
          <a:prstGeom prst="rect">
            <a:avLst/>
          </a:prstGeom>
          <a:noFill/>
          <a:ln/>
        </p:spPr>
        <p:txBody>
          <a:bodyPr wrap="square" lIns="0" tIns="0" rIns="0" bIns="0" rtlCol="0" anchor="ctr"/>
          <a:lstStyle/>
          <a:p>
            <a:pPr indent="0" marL="0">
              <a:buNone/>
            </a:pPr>
            <a:r>
              <a:rPr lang="en-US" sz="8000" spc="-224" kern="0" dirty="0">
                <a:solidFill>
                  <a:srgbClr val="D3D9D0"/>
                </a:solidFill>
                <a:latin typeface="Helvetica Neue" pitchFamily="34" charset="0"/>
                <a:ea typeface="Helvetica Neue" pitchFamily="34" charset="-122"/>
                <a:cs typeface="Helvetica Neue" pitchFamily="34" charset="-120"/>
              </a:rPr>
              <a:t>02</a:t>
            </a:r>
            <a:endParaRPr lang="en-US" sz="8000" dirty="0"/>
          </a:p>
        </p:txBody>
      </p:sp>
      <p:sp>
        <p:nvSpPr>
          <p:cNvPr id="5" name="Text 2"/>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FFFFFF"/>
                </a:solidFill>
                <a:latin typeface="IBM Plex Mono" pitchFamily="34" charset="0"/>
                <a:ea typeface="IBM Plex Mono" pitchFamily="34" charset="-122"/>
                <a:cs typeface="IBM Plex Mono" pitchFamily="34" charset="-120"/>
              </a:rPr>
              <a:t>WHY THE OPPORTUNITY IS BIGGER THAN THE BUSINESS</a:t>
            </a:r>
            <a:endParaRPr lang="en-US" sz="800" dirty="0"/>
          </a:p>
        </p:txBody>
      </p:sp>
      <p:sp>
        <p:nvSpPr>
          <p:cNvPr id="6" name="Text 3"/>
          <p:cNvSpPr txBox="1"/>
          <p:nvPr/>
        </p:nvSpPr>
        <p:spPr>
          <a:xfrm>
            <a:off x="548640" y="2834640"/>
            <a:ext cx="10058400" cy="1097280"/>
          </a:xfrm>
          <a:prstGeom prst="rect">
            <a:avLst/>
          </a:prstGeom>
          <a:noFill/>
          <a:ln/>
        </p:spPr>
        <p:txBody>
          <a:bodyPr wrap="square" lIns="0" tIns="0" rIns="0" bIns="0" rtlCol="0" anchor="t"/>
          <a:lstStyle/>
          <a:p>
            <a:pPr indent="0" marL="0">
              <a:buNone/>
            </a:pPr>
            <a:r>
              <a:rPr lang="en-US" sz="3400" spc="-65" kern="0" dirty="0">
                <a:solidFill>
                  <a:srgbClr val="FFFFFF"/>
                </a:solidFill>
                <a:latin typeface="Helvetica Neue" pitchFamily="34" charset="0"/>
                <a:ea typeface="Helvetica Neue" pitchFamily="34" charset="-122"/>
                <a:cs typeface="Helvetica Neue" pitchFamily="34" charset="-120"/>
              </a:rPr>
              <a:t>The opportunity.</a:t>
            </a:r>
            <a:endParaRPr lang="en-US" sz="3400" dirty="0"/>
          </a:p>
        </p:txBody>
      </p:sp>
      <p:sp>
        <p:nvSpPr>
          <p:cNvPr id="7" name="Text 4"/>
          <p:cNvSpPr txBox="1"/>
          <p:nvPr/>
        </p:nvSpPr>
        <p:spPr>
          <a:xfrm>
            <a:off x="548640" y="4114800"/>
            <a:ext cx="8686800" cy="822960"/>
          </a:xfrm>
          <a:prstGeom prst="rect">
            <a:avLst/>
          </a:prstGeom>
          <a:noFill/>
          <a:ln/>
        </p:spPr>
        <p:txBody>
          <a:bodyPr wrap="square" lIns="0" tIns="0" rIns="0" bIns="0" rtlCol="0" anchor="t"/>
          <a:lstStyle/>
          <a:p>
            <a:pPr indent="0" marL="0">
              <a:buNone/>
            </a:pPr>
            <a:r>
              <a:rPr lang="en-US" sz="1300" dirty="0">
                <a:solidFill>
                  <a:srgbClr val="F1F3F0"/>
                </a:solidFill>
                <a:latin typeface="Helvetica Neue" pitchFamily="34" charset="0"/>
                <a:ea typeface="Helvetica Neue" pitchFamily="34" charset="-122"/>
                <a:cs typeface="Helvetica Neue" pitchFamily="34" charset="-120"/>
              </a:rPr>
              <a:t>A record rearmament has no end-of-life plan. Destruction was never industrialised, the incumbent method is being regulated out, and the outputs have just been repriced as strategic material.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11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PROBLEM</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Stockpiles are being rebuilt faster than the capacity to retire them</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Unlike a rifle or a hull, ammunition must be destroyed to be retired. Three demand pools are converging on a destruction base that was sized for peacetime.</a:t>
            </a:r>
            <a:endParaRPr lang="en-US" sz="1100" dirty="0"/>
          </a:p>
        </p:txBody>
      </p:sp>
      <p:sp>
        <p:nvSpPr>
          <p:cNvPr id="7" name="Text 4"/>
          <p:cNvSpPr txBox="1"/>
          <p:nvPr/>
        </p:nvSpPr>
        <p:spPr>
          <a:xfrm>
            <a:off x="548640" y="2103120"/>
            <a:ext cx="3383280" cy="731520"/>
          </a:xfrm>
          <a:prstGeom prst="rect">
            <a:avLst/>
          </a:prstGeom>
          <a:noFill/>
          <a:ln/>
        </p:spPr>
        <p:txBody>
          <a:bodyPr wrap="square" lIns="0" tIns="0" rIns="0" bIns="0" rtlCol="0" anchor="t"/>
          <a:lstStyle/>
          <a:p>
            <a:pPr indent="0" marL="0">
              <a:buNone/>
            </a:pPr>
            <a:r>
              <a:rPr lang="en-US" sz="4400" spc="-123" kern="0" dirty="0">
                <a:solidFill>
                  <a:srgbClr val="000000"/>
                </a:solidFill>
                <a:latin typeface="Helvetica Neue" pitchFamily="34" charset="0"/>
                <a:ea typeface="Helvetica Neue" pitchFamily="34" charset="-122"/>
                <a:cs typeface="Helvetica Neue" pitchFamily="34" charset="-120"/>
              </a:rPr>
              <a:t>$2.88T</a:t>
            </a:r>
            <a:endParaRPr lang="en-US" sz="4400" dirty="0"/>
          </a:p>
        </p:txBody>
      </p:sp>
      <p:sp>
        <p:nvSpPr>
          <p:cNvPr id="8" name="Text 5"/>
          <p:cNvSpPr txBox="1"/>
          <p:nvPr/>
        </p:nvSpPr>
        <p:spPr>
          <a:xfrm>
            <a:off x="548640" y="2834640"/>
            <a:ext cx="3291840" cy="41148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WORLD MILITARY EXPENDITURE 2025 - ALL-TIME RECORD, 11TH CONSECUTIVE RISE (SIPRI) ¹⁶</a:t>
            </a:r>
            <a:endParaRPr lang="en-US" sz="700" dirty="0"/>
          </a:p>
        </p:txBody>
      </p:sp>
      <p:sp>
        <p:nvSpPr>
          <p:cNvPr id="9" name="Text 6"/>
          <p:cNvSpPr txBox="1"/>
          <p:nvPr/>
        </p:nvSpPr>
        <p:spPr>
          <a:xfrm>
            <a:off x="4114800" y="2103120"/>
            <a:ext cx="3383280" cy="731520"/>
          </a:xfrm>
          <a:prstGeom prst="rect">
            <a:avLst/>
          </a:prstGeom>
          <a:noFill/>
          <a:ln/>
        </p:spPr>
        <p:txBody>
          <a:bodyPr wrap="square" lIns="0" tIns="0" rIns="0" bIns="0" rtlCol="0" anchor="t"/>
          <a:lstStyle/>
          <a:p>
            <a:pPr indent="0" marL="0">
              <a:buNone/>
            </a:pPr>
            <a:r>
              <a:rPr lang="en-US" sz="4400" spc="-123" kern="0" dirty="0">
                <a:solidFill>
                  <a:srgbClr val="000000"/>
                </a:solidFill>
                <a:latin typeface="Helvetica Neue" pitchFamily="34" charset="0"/>
                <a:ea typeface="Helvetica Neue" pitchFamily="34" charset="-122"/>
                <a:cs typeface="Helvetica Neue" pitchFamily="34" charset="-120"/>
              </a:rPr>
              <a:t>65</a:t>
            </a:r>
            <a:endParaRPr lang="en-US" sz="4400" dirty="0"/>
          </a:p>
        </p:txBody>
      </p:sp>
      <p:sp>
        <p:nvSpPr>
          <p:cNvPr id="10" name="Text 7"/>
          <p:cNvSpPr txBox="1"/>
          <p:nvPr/>
        </p:nvSpPr>
        <p:spPr>
          <a:xfrm>
            <a:off x="4114800" y="2834640"/>
            <a:ext cx="3291840" cy="41148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ARMED CONFLICTS INVOLVING STATES IN 2025 - THE MOST SINCE RECORDS BEGAN IN 1946 (UCDP) ¹⁷</a:t>
            </a:r>
            <a:endParaRPr lang="en-US" sz="700" dirty="0"/>
          </a:p>
        </p:txBody>
      </p:sp>
      <p:sp>
        <p:nvSpPr>
          <p:cNvPr id="11" name="Text 8"/>
          <p:cNvSpPr txBox="1"/>
          <p:nvPr/>
        </p:nvSpPr>
        <p:spPr>
          <a:xfrm>
            <a:off x="7680960" y="2103120"/>
            <a:ext cx="3931920" cy="731520"/>
          </a:xfrm>
          <a:prstGeom prst="rect">
            <a:avLst/>
          </a:prstGeom>
          <a:noFill/>
          <a:ln/>
        </p:spPr>
        <p:txBody>
          <a:bodyPr wrap="square" lIns="0" tIns="0" rIns="0" bIns="0" rtlCol="0" anchor="t"/>
          <a:lstStyle/>
          <a:p>
            <a:pPr indent="0" marL="0">
              <a:buNone/>
            </a:pPr>
            <a:r>
              <a:rPr lang="en-US" sz="4400" spc="-123" kern="0" dirty="0">
                <a:solidFill>
                  <a:srgbClr val="000000"/>
                </a:solidFill>
                <a:latin typeface="Helvetica Neue" pitchFamily="34" charset="0"/>
                <a:ea typeface="Helvetica Neue" pitchFamily="34" charset="-122"/>
                <a:cs typeface="Helvetica Neue" pitchFamily="34" charset="-120"/>
              </a:rPr>
              <a:t>296,534 t</a:t>
            </a:r>
            <a:endParaRPr lang="en-US" sz="4400" dirty="0"/>
          </a:p>
        </p:txBody>
      </p:sp>
      <p:sp>
        <p:nvSpPr>
          <p:cNvPr id="12" name="Text 9"/>
          <p:cNvSpPr txBox="1"/>
          <p:nvPr/>
        </p:nvSpPr>
        <p:spPr>
          <a:xfrm>
            <a:off x="7680960" y="2834640"/>
            <a:ext cx="3931920" cy="41148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US MUNITIONS AWAITING DEMILITARIZATION, 4 DEC 2025 - &gt;7,000 DODICS; ARMY FORECASTS GENERATIONS RISING FY27–31 ¹⁸</a:t>
            </a:r>
            <a:endParaRPr lang="en-US" sz="700" dirty="0"/>
          </a:p>
        </p:txBody>
      </p:sp>
      <p:sp>
        <p:nvSpPr>
          <p:cNvPr id="13" name="Shape 10"/>
          <p:cNvSpPr/>
          <p:nvPr/>
        </p:nvSpPr>
        <p:spPr>
          <a:xfrm>
            <a:off x="548640" y="3520440"/>
            <a:ext cx="3611880" cy="2103120"/>
          </a:xfrm>
          <a:prstGeom prst="rect">
            <a:avLst/>
          </a:prstGeom>
          <a:solidFill>
            <a:srgbClr val="F1F3F0"/>
          </a:solidFill>
          <a:ln w="12700">
            <a:solidFill>
              <a:srgbClr val="F1F3F0"/>
            </a:solidFill>
            <a:prstDash val="solid"/>
          </a:ln>
        </p:spPr>
      </p:sp>
      <p:sp>
        <p:nvSpPr>
          <p:cNvPr id="14" name="Text 11"/>
          <p:cNvSpPr txBox="1"/>
          <p:nvPr/>
        </p:nvSpPr>
        <p:spPr>
          <a:xfrm>
            <a:off x="713232" y="3666744"/>
            <a:ext cx="328269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ALLIED STOCKPILE TURNOVER</a:t>
            </a:r>
            <a:endParaRPr lang="en-US" sz="700" dirty="0"/>
          </a:p>
        </p:txBody>
      </p:sp>
      <p:sp>
        <p:nvSpPr>
          <p:cNvPr id="15" name="Text 12"/>
          <p:cNvSpPr txBox="1"/>
          <p:nvPr/>
        </p:nvSpPr>
        <p:spPr>
          <a:xfrm>
            <a:off x="713232" y="3904488"/>
            <a:ext cx="3282696" cy="1609344"/>
          </a:xfrm>
          <a:prstGeom prst="rect">
            <a:avLst/>
          </a:prstGeom>
          <a:noFill/>
          <a:ln/>
        </p:spPr>
        <p:txBody>
          <a:bodyPr wrap="square" lIns="0" tIns="0" rIns="0" bIns="0" rtlCol="0" anchor="t"/>
          <a:lstStyle/>
          <a:p>
            <a:pPr algn="l" indent="0" marL="0">
              <a:spcAft>
                <a:spcPts val="400"/>
              </a:spcAft>
              <a:buNone/>
            </a:pPr>
            <a:r>
              <a:rPr lang="en-US" sz="900" dirty="0">
                <a:solidFill>
                  <a:srgbClr val="33332F"/>
                </a:solidFill>
                <a:latin typeface="Helvetica Neue" pitchFamily="34" charset="0"/>
                <a:ea typeface="Helvetica Neue" pitchFamily="34" charset="-122"/>
                <a:cs typeface="Helvetica Neue" pitchFamily="34" charset="-120"/>
              </a:rPr>
              <a:t>Europe doubled military spending 2016–25 ¹⁶; NATO identifies $145bn of munitions requirements and Allied production is up ~sixfold ¹⁹. Every new round is a future destruction obligation; expiring and orphaned calibres accumulate as rearmament turns stockpiles over.</a:t>
            </a:r>
            <a:endParaRPr lang="en-US" sz="900" dirty="0"/>
          </a:p>
        </p:txBody>
      </p:sp>
      <p:sp>
        <p:nvSpPr>
          <p:cNvPr id="16" name="Shape 13"/>
          <p:cNvSpPr/>
          <p:nvPr/>
        </p:nvSpPr>
        <p:spPr>
          <a:xfrm>
            <a:off x="4297680" y="3520440"/>
            <a:ext cx="3611880" cy="2103120"/>
          </a:xfrm>
          <a:prstGeom prst="rect">
            <a:avLst/>
          </a:prstGeom>
          <a:solidFill>
            <a:srgbClr val="F1F3F0"/>
          </a:solidFill>
          <a:ln w="12700">
            <a:solidFill>
              <a:srgbClr val="F1F3F0"/>
            </a:solidFill>
            <a:prstDash val="solid"/>
          </a:ln>
        </p:spPr>
      </p:sp>
      <p:sp>
        <p:nvSpPr>
          <p:cNvPr id="17" name="Text 14"/>
          <p:cNvSpPr txBox="1"/>
          <p:nvPr/>
        </p:nvSpPr>
        <p:spPr>
          <a:xfrm>
            <a:off x="4462272" y="3666744"/>
            <a:ext cx="328269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POST-CONFLICT RECOVERY</a:t>
            </a:r>
            <a:endParaRPr lang="en-US" sz="700" dirty="0"/>
          </a:p>
        </p:txBody>
      </p:sp>
      <p:sp>
        <p:nvSpPr>
          <p:cNvPr id="18" name="Text 15"/>
          <p:cNvSpPr txBox="1"/>
          <p:nvPr/>
        </p:nvSpPr>
        <p:spPr>
          <a:xfrm>
            <a:off x="4462272" y="3904488"/>
            <a:ext cx="3282696" cy="1609344"/>
          </a:xfrm>
          <a:prstGeom prst="rect">
            <a:avLst/>
          </a:prstGeom>
          <a:noFill/>
          <a:ln/>
        </p:spPr>
        <p:txBody>
          <a:bodyPr wrap="square" lIns="0" tIns="0" rIns="0" bIns="0" rtlCol="0" anchor="t"/>
          <a:lstStyle/>
          <a:p>
            <a:pPr algn="l" indent="0" marL="0">
              <a:spcAft>
                <a:spcPts val="400"/>
              </a:spcAft>
              <a:buNone/>
            </a:pPr>
            <a:r>
              <a:rPr lang="en-US" sz="900" dirty="0">
                <a:solidFill>
                  <a:srgbClr val="33332F"/>
                </a:solidFill>
                <a:latin typeface="Helvetica Neue" pitchFamily="34" charset="0"/>
                <a:ea typeface="Helvetica Neue" pitchFamily="34" charset="-122"/>
                <a:cs typeface="Helvetica Neue" pitchFamily="34" charset="-120"/>
              </a:rPr>
              <a:t>Ukraine's explosive-hazard management need is put at US$27.6bn for 2026–2035 across ~133,000 km² (RDNA5) ²⁰ - the first invoice of this war's end-of-life, not the last. Clearance produces ordnance that still has to be destroyed.</a:t>
            </a:r>
            <a:endParaRPr lang="en-US" sz="900" dirty="0"/>
          </a:p>
        </p:txBody>
      </p:sp>
      <p:sp>
        <p:nvSpPr>
          <p:cNvPr id="19" name="Shape 16"/>
          <p:cNvSpPr/>
          <p:nvPr/>
        </p:nvSpPr>
        <p:spPr>
          <a:xfrm>
            <a:off x="8046720" y="3520440"/>
            <a:ext cx="3611880" cy="2103120"/>
          </a:xfrm>
          <a:prstGeom prst="rect">
            <a:avLst/>
          </a:prstGeom>
          <a:solidFill>
            <a:srgbClr val="F1F3F0"/>
          </a:solidFill>
          <a:ln w="12700">
            <a:solidFill>
              <a:srgbClr val="F1F3F0"/>
            </a:solidFill>
            <a:prstDash val="solid"/>
          </a:ln>
        </p:spPr>
      </p:sp>
      <p:sp>
        <p:nvSpPr>
          <p:cNvPr id="20" name="Text 17"/>
          <p:cNvSpPr txBox="1"/>
          <p:nvPr/>
        </p:nvSpPr>
        <p:spPr>
          <a:xfrm>
            <a:off x="8211312" y="3666744"/>
            <a:ext cx="328269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EVERY AGENCY, EVERY YEAR</a:t>
            </a:r>
            <a:endParaRPr lang="en-US" sz="700" dirty="0"/>
          </a:p>
        </p:txBody>
      </p:sp>
      <p:sp>
        <p:nvSpPr>
          <p:cNvPr id="21" name="Text 18"/>
          <p:cNvSpPr txBox="1"/>
          <p:nvPr/>
        </p:nvSpPr>
        <p:spPr>
          <a:xfrm>
            <a:off x="8211312" y="3904488"/>
            <a:ext cx="3282696" cy="1609344"/>
          </a:xfrm>
          <a:prstGeom prst="rect">
            <a:avLst/>
          </a:prstGeom>
          <a:noFill/>
          <a:ln/>
        </p:spPr>
        <p:txBody>
          <a:bodyPr wrap="square" lIns="0" tIns="0" rIns="0" bIns="0" rtlCol="0" anchor="t"/>
          <a:lstStyle/>
          <a:p>
            <a:pPr algn="l" indent="0" marL="0">
              <a:spcAft>
                <a:spcPts val="400"/>
              </a:spcAft>
              <a:buNone/>
            </a:pPr>
            <a:r>
              <a:rPr lang="en-US" sz="900" dirty="0">
                <a:solidFill>
                  <a:srgbClr val="33332F"/>
                </a:solidFill>
                <a:latin typeface="Helvetica Neue" pitchFamily="34" charset="0"/>
                <a:ea typeface="Helvetica Neue" pitchFamily="34" charset="-122"/>
                <a:cs typeface="Helvetica Neue" pitchFamily="34" charset="-120"/>
              </a:rPr>
              <a:t>Law-enforcement seizures, take-back events and expired duty ammunition accumulate in evidence rooms with no compliant disposal path - a persistent backlog in every jurisdiction served. The UN ran two procurements for mobile ammunition destruction in 2025 alone ²¹.</a:t>
            </a:r>
            <a:endParaRPr lang="en-US" sz="900" dirty="0"/>
          </a:p>
        </p:txBody>
      </p:sp>
      <p:sp>
        <p:nvSpPr>
          <p:cNvPr id="22" name="Text 19"/>
          <p:cNvSpPr txBox="1"/>
          <p:nvPr/>
        </p:nvSpPr>
        <p:spPr>
          <a:xfrm>
            <a:off x="548640" y="5760720"/>
            <a:ext cx="10972800" cy="365760"/>
          </a:xfrm>
          <a:prstGeom prst="rect">
            <a:avLst/>
          </a:prstGeom>
          <a:noFill/>
          <a:ln/>
        </p:spPr>
        <p:txBody>
          <a:bodyPr wrap="square" lIns="0" tIns="0" rIns="0" bIns="0" rtlCol="0" anchor="t"/>
          <a:lstStyle/>
          <a:p>
            <a:pPr algn="l" indent="0" marL="0">
              <a:spcAft>
                <a:spcPts val="400"/>
              </a:spcAft>
              <a:buNone/>
            </a:pPr>
            <a:r>
              <a:rPr lang="en-US" sz="1000" b="1" dirty="0">
                <a:solidFill>
                  <a:srgbClr val="000000"/>
                </a:solidFill>
                <a:latin typeface="Helvetica Neue" pitchFamily="34" charset="0"/>
                <a:ea typeface="Helvetica Neue" pitchFamily="34" charset="-122"/>
                <a:cs typeface="Helvetica Neue" pitchFamily="34" charset="-120"/>
              </a:rPr>
              <a:t>The structural gap: the world's demil capacity is fixed-plant, centralised and permitted over years. Ordnance is distributed, hazardous to move and accumulating now.</a:t>
            </a:r>
            <a:endParaRPr lang="en-US" sz="1000" dirty="0"/>
          </a:p>
        </p:txBody>
      </p:sp>
      <p:sp>
        <p:nvSpPr>
          <p:cNvPr id="23" name="Text 20"/>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¹⁶ SIPRI Fact Sheet, Apr 2026.  ¹⁷ Davies, Pettersson &amp; Öberg, JPR 2026.  ¹⁸ Army FY2027 Procurement of Ammunition J-book, line 4099EP1700; PD Demil, NDIA Oct 2025.  ¹⁹ NATO Annual Report 2025 briefing.  ²⁰ RDNA5, Feb 2026.  ²¹ UNGM RFIUNPD23632 / EOIUNPD23750.</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12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GAP</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Destruction never industrialised - and the incumbent method is being regulated out</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The status quo is a pit, a truck, or a pair of hands. Fixed plants cannot reach where the ordnance is.</a:t>
            </a:r>
            <a:endParaRPr lang="en-US" sz="1100" dirty="0"/>
          </a:p>
        </p:txBody>
      </p:sp>
      <p:sp>
        <p:nvSpPr>
          <p:cNvPr id="7" name="Shape 4"/>
          <p:cNvSpPr/>
          <p:nvPr/>
        </p:nvSpPr>
        <p:spPr>
          <a:xfrm>
            <a:off x="548640" y="2103120"/>
            <a:ext cx="3611880" cy="1600200"/>
          </a:xfrm>
          <a:prstGeom prst="rect">
            <a:avLst/>
          </a:prstGeom>
          <a:solidFill>
            <a:srgbClr val="FFFFFF"/>
          </a:solidFill>
          <a:ln w="9525">
            <a:solidFill>
              <a:srgbClr val="3D3D38"/>
            </a:solidFill>
            <a:prstDash val="dash"/>
          </a:ln>
        </p:spPr>
      </p:sp>
      <p:sp>
        <p:nvSpPr>
          <p:cNvPr id="8" name="Text 5"/>
          <p:cNvSpPr txBox="1"/>
          <p:nvPr/>
        </p:nvSpPr>
        <p:spPr>
          <a:xfrm>
            <a:off x="713232" y="2240280"/>
            <a:ext cx="3291840" cy="201168"/>
          </a:xfrm>
          <a:prstGeom prst="rect">
            <a:avLst/>
          </a:prstGeom>
          <a:noFill/>
          <a:ln/>
        </p:spPr>
        <p:txBody>
          <a:bodyPr wrap="square" lIns="0" tIns="0" rIns="0" bIns="0" rtlCol="0" anchor="t"/>
          <a:lstStyle/>
          <a:p>
            <a:pPr indent="0" marL="0">
              <a:buNone/>
            </a:pPr>
            <a:r>
              <a:rPr lang="en-US" sz="700" spc="150" kern="0" dirty="0">
                <a:solidFill>
                  <a:srgbClr val="3D3D38"/>
                </a:solidFill>
                <a:latin typeface="IBM Plex Mono" pitchFamily="34" charset="0"/>
                <a:ea typeface="IBM Plex Mono" pitchFamily="34" charset="-122"/>
                <a:cs typeface="IBM Plex Mono" pitchFamily="34" charset="-120"/>
              </a:rPr>
              <a:t>BURN IT IN A PIT</a:t>
            </a:r>
            <a:endParaRPr lang="en-US" sz="700" dirty="0"/>
          </a:p>
        </p:txBody>
      </p:sp>
      <p:sp>
        <p:nvSpPr>
          <p:cNvPr id="9" name="Text 6"/>
          <p:cNvSpPr txBox="1"/>
          <p:nvPr/>
        </p:nvSpPr>
        <p:spPr>
          <a:xfrm>
            <a:off x="713232" y="2487168"/>
            <a:ext cx="3291840" cy="118872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Open burning / open detonation - combustion with no containment and no emissions control. Roughly $750/ton ²², and the EPA's proposed rule (89 FR 19952) targets the 67 US facilities still doing it; a final rule is projected for late 2026 ²³.</a:t>
            </a:r>
            <a:endParaRPr lang="en-US" sz="850" dirty="0"/>
          </a:p>
        </p:txBody>
      </p:sp>
      <p:sp>
        <p:nvSpPr>
          <p:cNvPr id="10" name="Shape 7"/>
          <p:cNvSpPr/>
          <p:nvPr/>
        </p:nvSpPr>
        <p:spPr>
          <a:xfrm>
            <a:off x="4297680" y="2103120"/>
            <a:ext cx="3611880" cy="1600200"/>
          </a:xfrm>
          <a:prstGeom prst="rect">
            <a:avLst/>
          </a:prstGeom>
          <a:solidFill>
            <a:srgbClr val="FFFFFF"/>
          </a:solidFill>
          <a:ln w="9525">
            <a:solidFill>
              <a:srgbClr val="3D3D38"/>
            </a:solidFill>
            <a:prstDash val="dash"/>
          </a:ln>
        </p:spPr>
      </p:sp>
      <p:sp>
        <p:nvSpPr>
          <p:cNvPr id="11" name="Text 8"/>
          <p:cNvSpPr txBox="1"/>
          <p:nvPr/>
        </p:nvSpPr>
        <p:spPr>
          <a:xfrm>
            <a:off x="4462272" y="2240280"/>
            <a:ext cx="3291840" cy="201168"/>
          </a:xfrm>
          <a:prstGeom prst="rect">
            <a:avLst/>
          </a:prstGeom>
          <a:noFill/>
          <a:ln/>
        </p:spPr>
        <p:txBody>
          <a:bodyPr wrap="square" lIns="0" tIns="0" rIns="0" bIns="0" rtlCol="0" anchor="t"/>
          <a:lstStyle/>
          <a:p>
            <a:pPr indent="0" marL="0">
              <a:buNone/>
            </a:pPr>
            <a:r>
              <a:rPr lang="en-US" sz="700" spc="150" kern="0" dirty="0">
                <a:solidFill>
                  <a:srgbClr val="3D3D38"/>
                </a:solidFill>
                <a:latin typeface="IBM Plex Mono" pitchFamily="34" charset="0"/>
                <a:ea typeface="IBM Plex Mono" pitchFamily="34" charset="-122"/>
                <a:cs typeface="IBM Plex Mono" pitchFamily="34" charset="-120"/>
              </a:rPr>
              <a:t>TRUCK IT AWAY</a:t>
            </a:r>
            <a:endParaRPr lang="en-US" sz="700" dirty="0"/>
          </a:p>
        </p:txBody>
      </p:sp>
      <p:sp>
        <p:nvSpPr>
          <p:cNvPr id="12" name="Text 9"/>
          <p:cNvSpPr txBox="1"/>
          <p:nvPr/>
        </p:nvSpPr>
        <p:spPr>
          <a:xfrm>
            <a:off x="4462272" y="2487168"/>
            <a:ext cx="3291840" cy="118872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Live ammunition loaded onto highways to reach a permitted depot. Every mile a diversion window; every transfer a custody break; every escort a cost the owner carries.</a:t>
            </a:r>
            <a:endParaRPr lang="en-US" sz="850" dirty="0"/>
          </a:p>
        </p:txBody>
      </p:sp>
      <p:sp>
        <p:nvSpPr>
          <p:cNvPr id="13" name="Shape 10"/>
          <p:cNvSpPr/>
          <p:nvPr/>
        </p:nvSpPr>
        <p:spPr>
          <a:xfrm>
            <a:off x="8046720" y="2103120"/>
            <a:ext cx="3611880" cy="1600200"/>
          </a:xfrm>
          <a:prstGeom prst="rect">
            <a:avLst/>
          </a:prstGeom>
          <a:solidFill>
            <a:srgbClr val="FFFFFF"/>
          </a:solidFill>
          <a:ln w="9525">
            <a:solidFill>
              <a:srgbClr val="3D3D38"/>
            </a:solidFill>
            <a:prstDash val="dash"/>
          </a:ln>
        </p:spPr>
      </p:sp>
      <p:sp>
        <p:nvSpPr>
          <p:cNvPr id="14" name="Text 11"/>
          <p:cNvSpPr txBox="1"/>
          <p:nvPr/>
        </p:nvSpPr>
        <p:spPr>
          <a:xfrm>
            <a:off x="8211312" y="2240280"/>
            <a:ext cx="3291840" cy="201168"/>
          </a:xfrm>
          <a:prstGeom prst="rect">
            <a:avLst/>
          </a:prstGeom>
          <a:noFill/>
          <a:ln/>
        </p:spPr>
        <p:txBody>
          <a:bodyPr wrap="square" lIns="0" tIns="0" rIns="0" bIns="0" rtlCol="0" anchor="t"/>
          <a:lstStyle/>
          <a:p>
            <a:pPr indent="0" marL="0">
              <a:buNone/>
            </a:pPr>
            <a:r>
              <a:rPr lang="en-US" sz="700" spc="150" kern="0" dirty="0">
                <a:solidFill>
                  <a:srgbClr val="3D3D38"/>
                </a:solidFill>
                <a:latin typeface="IBM Plex Mono" pitchFamily="34" charset="0"/>
                <a:ea typeface="IBM Plex Mono" pitchFamily="34" charset="-122"/>
                <a:cs typeface="IBM Plex Mono" pitchFamily="34" charset="-120"/>
              </a:rPr>
              <a:t>DO IT BY HAND</a:t>
            </a:r>
            <a:endParaRPr lang="en-US" sz="700" dirty="0"/>
          </a:p>
        </p:txBody>
      </p:sp>
      <p:sp>
        <p:nvSpPr>
          <p:cNvPr id="15" name="Text 12"/>
          <p:cNvSpPr txBox="1"/>
          <p:nvPr/>
        </p:nvSpPr>
        <p:spPr>
          <a:xfrm>
            <a:off x="8211312" y="2487168"/>
            <a:ext cx="3291840" cy="118872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Los Angeles County, 18 July 2025: three sheriff's detectives killed processing seized ordnance ²⁴. The default when nothing else is on site.</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1094415" cy="914400"/>
        </p:xfrm>
        <a:graphic>
          <a:graphicData uri="http://schemas.openxmlformats.org/drawingml/2006/table">
            <a:tbl>
              <a:tblPr/>
              <a:tblGrid>
                <a:gridCol w="2194560"/>
                <a:gridCol w="4754880"/>
                <a:gridCol w="4142232"/>
              </a:tblGrid>
              <a:tr h="329184">
                <a:tc>
                  <a:txBody>
                    <a:bodyPr/>
                    <a:lstStyle/>
                    <a:p>
                      <a:pPr indent="0" marL="0">
                        <a:buNone/>
                      </a:pPr>
                      <a:r>
                        <a:rPr lang="en-US" sz="900" b="1" dirty="0">
                          <a:solidFill>
                            <a:srgbClr val="000000"/>
                          </a:solidFill>
                          <a:latin typeface="Helvetica Neue" pitchFamily="34" charset="0"/>
                          <a:ea typeface="Helvetica Neue" pitchFamily="34" charset="-122"/>
                          <a:cs typeface="Helvetica Neue" pitchFamily="34" charset="-120"/>
                        </a:rPr>
                        <a:t>Dimension</a:t>
                      </a:r>
                      <a:endParaRPr lang="en-US" sz="90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c>
                  <a:txBody>
                    <a:bodyP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Mobile custody system (TWB)</a:t>
                      </a:r>
                      <a:endParaRPr lang="en-US" sz="90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66705F"/>
                    </a:solidFill>
                  </a:tcPr>
                </a:tc>
                <a:tc>
                  <a:txBody>
                    <a:bodyPr/>
                    <a:lstStyle/>
                    <a:p>
                      <a:pPr indent="0" marL="0">
                        <a:buNone/>
                      </a:pPr>
                      <a:r>
                        <a:rPr lang="en-US" sz="900" b="1" dirty="0">
                          <a:solidFill>
                            <a:srgbClr val="000000"/>
                          </a:solidFill>
                          <a:latin typeface="Helvetica Neue" pitchFamily="34" charset="0"/>
                          <a:ea typeface="Helvetica Neue" pitchFamily="34" charset="-122"/>
                          <a:cs typeface="Helvetica Neue" pitchFamily="34" charset="-120"/>
                        </a:rPr>
                        <a:t>Fixed-plant demil</a:t>
                      </a:r>
                      <a:endParaRPr lang="en-US" sz="90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1F3F0"/>
                    </a:solidFill>
                  </a:tcPr>
                </a:tc>
              </a:tr>
              <a:tr h="329184">
                <a:tc>
                  <a:txBody>
                    <a:bodyPr/>
                    <a:lstStyle/>
                    <a:p>
                      <a:pPr indent="0" marL="0">
                        <a:buNone/>
                      </a:pPr>
                      <a:r>
                        <a:rPr lang="en-US" sz="850" b="1" dirty="0">
                          <a:solidFill>
                            <a:srgbClr val="33332F"/>
                          </a:solidFill>
                          <a:latin typeface="Helvetica Neue" pitchFamily="34" charset="0"/>
                          <a:ea typeface="Helvetica Neue" pitchFamily="34" charset="-122"/>
                          <a:cs typeface="Helvetica Neue" pitchFamily="34" charset="-120"/>
                        </a:rPr>
                        <a:t>Deployment</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On site - the unit goes to the ordnance; material never leaves the owner's perimeter</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Fixed depot - ordnance shipped to the plant</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33332F"/>
                          </a:solidFill>
                          <a:latin typeface="Helvetica Neue" pitchFamily="34" charset="0"/>
                          <a:ea typeface="Helvetica Neue" pitchFamily="34" charset="-122"/>
                          <a:cs typeface="Helvetica Neue" pitchFamily="34" charset="-120"/>
                        </a:rPr>
                        <a:t>Time to operational</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Days - trailer-deployable, minimal site preparation (company)</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Months to years - permitted infrastructure</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r>
              <a:tr h="329184">
                <a:tc>
                  <a:txBody>
                    <a:bodyPr/>
                    <a:lstStyle/>
                    <a:p>
                      <a:pPr indent="0" marL="0">
                        <a:buNone/>
                      </a:pPr>
                      <a:r>
                        <a:rPr lang="en-US" sz="850" b="1" dirty="0">
                          <a:solidFill>
                            <a:srgbClr val="33332F"/>
                          </a:solidFill>
                          <a:latin typeface="Helvetica Neue" pitchFamily="34" charset="0"/>
                          <a:ea typeface="Helvetica Neue" pitchFamily="34" charset="-122"/>
                          <a:cs typeface="Helvetica Neue" pitchFamily="34" charset="-120"/>
                        </a:rPr>
                        <a:t>Capital intensity</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c>
                  <a:txBody>
                    <a:bodyPr/>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Low - single-unit capital cost</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High - large-scale fixed-plant investment</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FFFFF"/>
                    </a:solidFill>
                  </a:tcPr>
                </a:tc>
              </a:tr>
              <a:tr h="329184">
                <a:tc>
                  <a:txBody>
                    <a:bodyPr/>
                    <a:lstStyle/>
                    <a:p>
                      <a:pPr indent="0" marL="0">
                        <a:buNone/>
                      </a:pPr>
                      <a:r>
                        <a:rPr lang="en-US" sz="850" b="1" dirty="0">
                          <a:solidFill>
                            <a:srgbClr val="33332F"/>
                          </a:solidFill>
                          <a:latin typeface="Helvetica Neue" pitchFamily="34" charset="0"/>
                          <a:ea typeface="Helvetica Neue" pitchFamily="34" charset="-122"/>
                          <a:cs typeface="Helvetica Neue" pitchFamily="34" charset="-120"/>
                        </a:rPr>
                        <a:t>Ideal use</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c>
                  <a:txBody>
                    <a:bodyPr/>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Distributed bases, police agencies, allied nations, surge capacity</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E9EDE7"/>
                    </a:solidFill>
                  </a:tcPr>
                </a:tc>
                <a:tc>
                  <a:txBody>
                    <a:bodyPr/>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Centralised national stockpile reduction</a:t>
                      </a:r>
                      <a:endParaRPr lang="en-US" sz="850" dirty="0">
                        <a:latin typeface="Helvetica Neue" charset="0"/>
                        <a:ea typeface="Helvetica Neue" charset="0"/>
                        <a:cs typeface="Helvetica Neue" charset="0"/>
                      </a:endParaRPr>
                    </a:p>
                  </a:txBody>
                  <a:tcPr marL="54864" marR="54864" marT="54864" marB="54864" anchor="ctr">
                    <a:lnL w="6350" cap="flat" cmpd="sng" algn="ctr">
                      <a:solidFill>
                        <a:srgbClr val="E2E1DA"/>
                      </a:solidFill>
                      <a:prstDash val="solid"/>
                      <a:round/>
                      <a:headEnd type="none" w="med" len="med"/>
                      <a:tailEnd type="none" w="med" len="med"/>
                    </a:lnL>
                    <a:lnR w="6350" cap="flat" cmpd="sng" algn="ctr">
                      <a:solidFill>
                        <a:srgbClr val="E2E1DA"/>
                      </a:solidFill>
                      <a:prstDash val="solid"/>
                      <a:round/>
                      <a:headEnd type="none" w="med" len="med"/>
                      <a:tailEnd type="none" w="med" len="med"/>
                    </a:lnR>
                    <a:lnT w="6350" cap="flat" cmpd="sng" algn="ctr">
                      <a:solidFill>
                        <a:srgbClr val="E2E1DA"/>
                      </a:solidFill>
                      <a:prstDash val="solid"/>
                      <a:round/>
                      <a:headEnd type="none" w="med" len="med"/>
                      <a:tailEnd type="none" w="med" len="med"/>
                    </a:lnT>
                    <a:lnB w="6350" cap="flat" cmpd="sng" algn="ctr">
                      <a:solidFill>
                        <a:srgbClr val="E2E1DA"/>
                      </a:solidFill>
                      <a:prstDash val="solid"/>
                      <a:round/>
                      <a:headEnd type="none" w="med" len="med"/>
                      <a:tailEnd type="none" w="med" len="med"/>
                    </a:lnB>
                    <a:solidFill>
                      <a:srgbClr val="FAFAF8"/>
                    </a:solidFill>
                  </a:tcPr>
                </a:tc>
              </a:tr>
            </a:tbl>
          </a:graphicData>
        </a:graphic>
      </p:graphicFrame>
      <p:sp>
        <p:nvSpPr>
          <p:cNvPr id="17" name="Text 13"/>
          <p:cNvSpPr txBox="1"/>
          <p:nvPr/>
        </p:nvSpPr>
        <p:spPr>
          <a:xfrm>
            <a:off x="548640" y="5669280"/>
            <a:ext cx="10972800" cy="457200"/>
          </a:xfrm>
          <a:prstGeom prst="rect">
            <a:avLst/>
          </a:prstGeom>
          <a:noFill/>
          <a:ln/>
        </p:spPr>
        <p:txBody>
          <a:bodyPr wrap="square" lIns="0" tIns="0" rIns="0" bIns="0" rtlCol="0" anchor="t"/>
          <a:lstStyle/>
          <a:p>
            <a:pPr algn="l" indent="0" marL="0">
              <a:spcAft>
                <a:spcPts val="400"/>
              </a:spcAft>
              <a:buNone/>
            </a:pPr>
            <a:r>
              <a:rPr lang="en-US" sz="900" dirty="0">
                <a:solidFill>
                  <a:srgbClr val="000000"/>
                </a:solidFill>
                <a:latin typeface="Helvetica Neue" pitchFamily="34" charset="0"/>
                <a:ea typeface="Helvetica Neue" pitchFamily="34" charset="-122"/>
                <a:cs typeface="Helvetica Neue" pitchFamily="34" charset="-120"/>
              </a:rPr>
              <a:t>Why this matters for the venture: a mobile, low-capex unit is the form factor that serves allied militaries, distributed bases, police forces and reconstruction zones without waiting years for a plant - and the platform adds the fixed and containerised tiers by acquisition rather than by declaring them out of scope.</a:t>
            </a:r>
            <a:endParaRPr lang="en-US" sz="900" dirty="0"/>
          </a:p>
        </p:txBody>
      </p:sp>
      <p:sp>
        <p:nvSpPr>
          <p:cNvPr id="18" name="Text 14"/>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²² Army estimate cited in National Academies (2019), Alternatives for the Demilitarization of Conventional Munitions.  ²³ 89 FR 19952 (20 Mar 2024); EPA programme page; Unified Agenda RIN 2050-AH24.  ²⁴ CBS Los Angeles, 18 Jul 2025.</a:t>
            </a:r>
            <a:endParaRPr lang="en-US" sz="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13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FLIP</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Geopolitics turned the waste stream into an ore body</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Open a round and it is mostly metal: a brass case, a copper jacket, a lead–antimony core. Washington has now listed all three metals as critical.</a:t>
            </a:r>
            <a:endParaRPr lang="en-US" sz="1100" dirty="0"/>
          </a:p>
        </p:txBody>
      </p:sp>
      <p:sp>
        <p:nvSpPr>
          <p:cNvPr id="7" name="Text 4"/>
          <p:cNvSpPr txBox="1"/>
          <p:nvPr/>
        </p:nvSpPr>
        <p:spPr>
          <a:xfrm>
            <a:off x="548640" y="2103120"/>
            <a:ext cx="3108960" cy="914400"/>
          </a:xfrm>
          <a:prstGeom prst="rect">
            <a:avLst/>
          </a:prstGeom>
          <a:noFill/>
          <a:ln/>
        </p:spPr>
        <p:txBody>
          <a:bodyPr wrap="square" lIns="0" tIns="0" rIns="0" bIns="0" rtlCol="0" anchor="t"/>
          <a:lstStyle/>
          <a:p>
            <a:pPr indent="0" marL="0">
              <a:buNone/>
            </a:pPr>
            <a:r>
              <a:rPr lang="en-US" sz="6000" spc="-168" kern="0" dirty="0">
                <a:solidFill>
                  <a:srgbClr val="000000"/>
                </a:solidFill>
                <a:latin typeface="Helvetica Neue" pitchFamily="34" charset="0"/>
                <a:ea typeface="Helvetica Neue" pitchFamily="34" charset="-122"/>
                <a:cs typeface="Helvetica Neue" pitchFamily="34" charset="-120"/>
              </a:rPr>
              <a:t>~5x</a:t>
            </a:r>
            <a:endParaRPr lang="en-US" sz="6000" dirty="0"/>
          </a:p>
        </p:txBody>
      </p:sp>
      <p:sp>
        <p:nvSpPr>
          <p:cNvPr id="8" name="Text 5"/>
          <p:cNvSpPr txBox="1"/>
          <p:nvPr/>
        </p:nvSpPr>
        <p:spPr>
          <a:xfrm>
            <a:off x="548640" y="3063240"/>
            <a:ext cx="3108960" cy="64008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ANTIMONY PRICE MOVE FROM EARLY 2024 TO THE MID-2025 PEAK (~$60,000/T) AFTER CHINA RESTRICTED, THEN BANNED, EXPORTS TO THE US (USGS) ²⁵</a:t>
            </a:r>
            <a:endParaRPr lang="en-US" sz="700" dirty="0"/>
          </a:p>
        </p:txBody>
      </p:sp>
      <p:sp>
        <p:nvSpPr>
          <p:cNvPr id="9" name="Shape 6"/>
          <p:cNvSpPr/>
          <p:nvPr/>
        </p:nvSpPr>
        <p:spPr>
          <a:xfrm>
            <a:off x="4023360" y="2103120"/>
            <a:ext cx="2468880" cy="1828800"/>
          </a:xfrm>
          <a:prstGeom prst="rect">
            <a:avLst/>
          </a:prstGeom>
          <a:solidFill>
            <a:srgbClr val="F1F3F0"/>
          </a:solidFill>
          <a:ln w="12700">
            <a:solidFill>
              <a:srgbClr val="F1F3F0"/>
            </a:solidFill>
            <a:prstDash val="solid"/>
          </a:ln>
        </p:spPr>
      </p:sp>
      <p:sp>
        <p:nvSpPr>
          <p:cNvPr id="10" name="Text 7"/>
          <p:cNvSpPr txBox="1"/>
          <p:nvPr/>
        </p:nvSpPr>
        <p:spPr>
          <a:xfrm>
            <a:off x="4187952" y="2194560"/>
            <a:ext cx="2103120" cy="640080"/>
          </a:xfrm>
          <a:prstGeom prst="rect">
            <a:avLst/>
          </a:prstGeom>
          <a:noFill/>
          <a:ln/>
        </p:spPr>
        <p:txBody>
          <a:bodyPr wrap="square" lIns="0" tIns="0" rIns="0" bIns="0" rtlCol="0" anchor="ctr"/>
          <a:lstStyle/>
          <a:p>
            <a:pPr indent="0" marL="0">
              <a:buNone/>
            </a:pPr>
            <a:r>
              <a:rPr lang="en-US" sz="3400" dirty="0">
                <a:solidFill>
                  <a:srgbClr val="000000"/>
                </a:solidFill>
                <a:latin typeface="Helvetica Neue" pitchFamily="34" charset="0"/>
                <a:ea typeface="Helvetica Neue" pitchFamily="34" charset="-122"/>
                <a:cs typeface="Helvetica Neue" pitchFamily="34" charset="-120"/>
              </a:rPr>
              <a:t>Cu</a:t>
            </a:r>
            <a:endParaRPr lang="en-US" sz="3400" dirty="0"/>
          </a:p>
        </p:txBody>
      </p:sp>
      <p:sp>
        <p:nvSpPr>
          <p:cNvPr id="11" name="Text 8"/>
          <p:cNvSpPr txBox="1"/>
          <p:nvPr/>
        </p:nvSpPr>
        <p:spPr>
          <a:xfrm>
            <a:off x="4187952" y="2852928"/>
            <a:ext cx="210312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COPPER</a:t>
            </a:r>
            <a:endParaRPr lang="en-US" sz="700" dirty="0"/>
          </a:p>
        </p:txBody>
      </p:sp>
      <p:sp>
        <p:nvSpPr>
          <p:cNvPr id="12" name="Text 9"/>
          <p:cNvSpPr txBox="1"/>
          <p:nvPr/>
        </p:nvSpPr>
        <p:spPr>
          <a:xfrm>
            <a:off x="4187952" y="3090672"/>
            <a:ext cx="2148840" cy="77724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Added to the US Critical Minerals List, November 2025 ⁶ · LME ~$14,000/t (Aug 2026) ²⁶</a:t>
            </a:r>
            <a:endParaRPr lang="en-US" sz="800" dirty="0"/>
          </a:p>
        </p:txBody>
      </p:sp>
      <p:sp>
        <p:nvSpPr>
          <p:cNvPr id="13" name="Shape 10"/>
          <p:cNvSpPr/>
          <p:nvPr/>
        </p:nvSpPr>
        <p:spPr>
          <a:xfrm>
            <a:off x="6629400" y="2103120"/>
            <a:ext cx="2468880" cy="1828800"/>
          </a:xfrm>
          <a:prstGeom prst="rect">
            <a:avLst/>
          </a:prstGeom>
          <a:solidFill>
            <a:srgbClr val="F1F3F0"/>
          </a:solidFill>
          <a:ln w="12700">
            <a:solidFill>
              <a:srgbClr val="F1F3F0"/>
            </a:solidFill>
            <a:prstDash val="solid"/>
          </a:ln>
        </p:spPr>
      </p:sp>
      <p:sp>
        <p:nvSpPr>
          <p:cNvPr id="14" name="Text 11"/>
          <p:cNvSpPr txBox="1"/>
          <p:nvPr/>
        </p:nvSpPr>
        <p:spPr>
          <a:xfrm>
            <a:off x="6793992" y="2194560"/>
            <a:ext cx="2103120" cy="640080"/>
          </a:xfrm>
          <a:prstGeom prst="rect">
            <a:avLst/>
          </a:prstGeom>
          <a:noFill/>
          <a:ln/>
        </p:spPr>
        <p:txBody>
          <a:bodyPr wrap="square" lIns="0" tIns="0" rIns="0" bIns="0" rtlCol="0" anchor="ctr"/>
          <a:lstStyle/>
          <a:p>
            <a:pPr indent="0" marL="0">
              <a:buNone/>
            </a:pPr>
            <a:r>
              <a:rPr lang="en-US" sz="3400" dirty="0">
                <a:solidFill>
                  <a:srgbClr val="000000"/>
                </a:solidFill>
                <a:latin typeface="Helvetica Neue" pitchFamily="34" charset="0"/>
                <a:ea typeface="Helvetica Neue" pitchFamily="34" charset="-122"/>
                <a:cs typeface="Helvetica Neue" pitchFamily="34" charset="-120"/>
              </a:rPr>
              <a:t>Pb</a:t>
            </a:r>
            <a:endParaRPr lang="en-US" sz="3400" dirty="0"/>
          </a:p>
        </p:txBody>
      </p:sp>
      <p:sp>
        <p:nvSpPr>
          <p:cNvPr id="15" name="Text 12"/>
          <p:cNvSpPr txBox="1"/>
          <p:nvPr/>
        </p:nvSpPr>
        <p:spPr>
          <a:xfrm>
            <a:off x="6793992" y="2852928"/>
            <a:ext cx="210312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LEAD</a:t>
            </a:r>
            <a:endParaRPr lang="en-US" sz="700" dirty="0"/>
          </a:p>
        </p:txBody>
      </p:sp>
      <p:sp>
        <p:nvSpPr>
          <p:cNvPr id="16" name="Text 13"/>
          <p:cNvSpPr txBox="1"/>
          <p:nvPr/>
        </p:nvSpPr>
        <p:spPr>
          <a:xfrm>
            <a:off x="6793992" y="3090672"/>
            <a:ext cx="2148840" cy="77724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Added to the US Critical Minerals List, November 2025 ⁶ · LME ~$1,900/t (Sep 2026) ²⁶</a:t>
            </a:r>
            <a:endParaRPr lang="en-US" sz="800" dirty="0"/>
          </a:p>
        </p:txBody>
      </p:sp>
      <p:sp>
        <p:nvSpPr>
          <p:cNvPr id="17" name="Shape 14"/>
          <p:cNvSpPr/>
          <p:nvPr/>
        </p:nvSpPr>
        <p:spPr>
          <a:xfrm>
            <a:off x="9235440" y="2103120"/>
            <a:ext cx="2468880" cy="1828800"/>
          </a:xfrm>
          <a:prstGeom prst="rect">
            <a:avLst/>
          </a:prstGeom>
          <a:solidFill>
            <a:srgbClr val="F1F3F0"/>
          </a:solidFill>
          <a:ln w="12700">
            <a:solidFill>
              <a:srgbClr val="F1F3F0"/>
            </a:solidFill>
            <a:prstDash val="solid"/>
          </a:ln>
        </p:spPr>
      </p:sp>
      <p:sp>
        <p:nvSpPr>
          <p:cNvPr id="18" name="Text 15"/>
          <p:cNvSpPr txBox="1"/>
          <p:nvPr/>
        </p:nvSpPr>
        <p:spPr>
          <a:xfrm>
            <a:off x="9400032" y="2194560"/>
            <a:ext cx="2103120" cy="640080"/>
          </a:xfrm>
          <a:prstGeom prst="rect">
            <a:avLst/>
          </a:prstGeom>
          <a:noFill/>
          <a:ln/>
        </p:spPr>
        <p:txBody>
          <a:bodyPr wrap="square" lIns="0" tIns="0" rIns="0" bIns="0" rtlCol="0" anchor="ctr"/>
          <a:lstStyle/>
          <a:p>
            <a:pPr indent="0" marL="0">
              <a:buNone/>
            </a:pPr>
            <a:r>
              <a:rPr lang="en-US" sz="3400" dirty="0">
                <a:solidFill>
                  <a:srgbClr val="000000"/>
                </a:solidFill>
                <a:latin typeface="Helvetica Neue" pitchFamily="34" charset="0"/>
                <a:ea typeface="Helvetica Neue" pitchFamily="34" charset="-122"/>
                <a:cs typeface="Helvetica Neue" pitchFamily="34" charset="-120"/>
              </a:rPr>
              <a:t>Sb</a:t>
            </a:r>
            <a:endParaRPr lang="en-US" sz="3400" dirty="0"/>
          </a:p>
        </p:txBody>
      </p:sp>
      <p:sp>
        <p:nvSpPr>
          <p:cNvPr id="19" name="Text 16"/>
          <p:cNvSpPr txBox="1"/>
          <p:nvPr/>
        </p:nvSpPr>
        <p:spPr>
          <a:xfrm>
            <a:off x="9400032" y="2852928"/>
            <a:ext cx="210312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ANTIMONY</a:t>
            </a:r>
            <a:endParaRPr lang="en-US" sz="700" dirty="0"/>
          </a:p>
        </p:txBody>
      </p:sp>
      <p:sp>
        <p:nvSpPr>
          <p:cNvPr id="20" name="Text 17"/>
          <p:cNvSpPr txBox="1"/>
          <p:nvPr/>
        </p:nvSpPr>
        <p:spPr>
          <a:xfrm>
            <a:off x="9400032" y="3090672"/>
            <a:ext cx="2148840" cy="77724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On the list since 2022; China-restricted 2024; USGS 2025 average ~$25/lb, more than double 2024 ²⁵</a:t>
            </a:r>
            <a:endParaRPr lang="en-US" sz="800" dirty="0"/>
          </a:p>
        </p:txBody>
      </p:sp>
      <p:sp>
        <p:nvSpPr>
          <p:cNvPr id="21" name="Shape 18"/>
          <p:cNvSpPr/>
          <p:nvPr/>
        </p:nvSpPr>
        <p:spPr>
          <a:xfrm>
            <a:off x="548640" y="4206240"/>
            <a:ext cx="11094415" cy="1417320"/>
          </a:xfrm>
          <a:prstGeom prst="rect">
            <a:avLst/>
          </a:prstGeom>
          <a:solidFill>
            <a:srgbClr val="66705F"/>
          </a:solidFill>
          <a:ln w="12700">
            <a:solidFill>
              <a:srgbClr val="66705F"/>
            </a:solidFill>
            <a:prstDash val="solid"/>
          </a:ln>
        </p:spPr>
      </p:sp>
      <p:sp>
        <p:nvSpPr>
          <p:cNvPr id="22" name="Text 19"/>
          <p:cNvSpPr txBox="1"/>
          <p:nvPr/>
        </p:nvSpPr>
        <p:spPr>
          <a:xfrm>
            <a:off x="822960" y="4343400"/>
            <a:ext cx="10515600" cy="1188720"/>
          </a:xfrm>
          <a:prstGeom prst="rect">
            <a:avLst/>
          </a:prstGeom>
          <a:noFill/>
          <a:ln/>
        </p:spPr>
        <p:txBody>
          <a:bodyPr wrap="square" lIns="0" tIns="0" rIns="0" bIns="0" rtlCol="0" anchor="t"/>
          <a:lstStyle/>
          <a:p>
            <a:pPr algn="l" indent="0" marL="0">
              <a:spcAft>
                <a:spcPts val="400"/>
              </a:spcAft>
              <a:buNone/>
            </a:pPr>
            <a:r>
              <a:rPr lang="en-US" sz="1100" dirty="0">
                <a:solidFill>
                  <a:srgbClr val="FFFFFF"/>
                </a:solidFill>
                <a:latin typeface="Helvetica Neue" pitchFamily="34" charset="0"/>
                <a:ea typeface="Helvetica Neue" pitchFamily="34" charset="-122"/>
                <a:cs typeface="Helvetica Neue" pitchFamily="34" charset="-120"/>
              </a:rPr>
              <a:t>An allied depot is an above-ground deposit of exactly the metals the West just declared strategic - already mined, already refined, already inside a guarded perimeter. Done in a closed chamber with recovery, destruction stops being a grudge purchase: paid once to make the liability cease to exist, paid again for the material that comes back - and the buyer's net cost of destruction falls with every ton the recovered metal offsets.</a:t>
            </a:r>
            <a:endParaRPr lang="en-US" sz="1100" dirty="0"/>
          </a:p>
        </p:txBody>
      </p:sp>
      <p:sp>
        <p:nvSpPr>
          <p:cNvPr id="23" name="Text 20"/>
          <p:cNvSpPr txBox="1"/>
          <p:nvPr/>
        </p:nvSpPr>
        <p:spPr>
          <a:xfrm>
            <a:off x="548640" y="5760720"/>
            <a:ext cx="10972800" cy="41148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Policy direction: the US Export–Import Bank approved a $2.9bn loan in May 2026 for a domestic antimony source ²⁷; GAO (July 2026) frames domestic recycling feedstock as a critical-minerals priority ²⁸. Recovery economics are underwritten only where the material is the customer's or ours to sell.</a:t>
            </a:r>
            <a:endParaRPr lang="en-US" sz="850" dirty="0"/>
          </a:p>
        </p:txBody>
      </p:sp>
      <p:sp>
        <p:nvSpPr>
          <p:cNvPr id="24" name="Text 21"/>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²⁵ USGS Mineral Commodity Summaries 2026 - Antimony.  ²⁶ LME / COMEX via Trading Economics, NAI500 (Aug–Sep 2026).  ²⁷ Perpetua Resources, 21 May 2026.  ²⁸ GAO-26-108687.</a:t>
            </a:r>
            <a:endParaRPr lang="en-US" sz="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14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MARKET OPPORTUNITY - OUR CONSTRUCTION, EVERY ASSUMPTION ON THE PAGE</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The end-of-life bill of a $2.88 trillion rearmament</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No published analyst coverage exists for munitions end-of-life. The market below is constructed layer by layer, each layer labelled sourced or assumed, and SOM is the model's own revenue - not a top-down share.</a:t>
            </a:r>
            <a:endParaRPr lang="en-US" sz="1100" dirty="0"/>
          </a:p>
        </p:txBody>
      </p:sp>
      <p:sp>
        <p:nvSpPr>
          <p:cNvPr id="7" name="Text 4"/>
          <p:cNvSpPr txBox="1"/>
          <p:nvPr/>
        </p:nvSpPr>
        <p:spPr>
          <a:xfrm>
            <a:off x="548640" y="2148840"/>
            <a:ext cx="548640" cy="201168"/>
          </a:xfrm>
          <a:prstGeom prst="rect">
            <a:avLst/>
          </a:prstGeom>
          <a:noFill/>
          <a:ln/>
        </p:spPr>
        <p:txBody>
          <a:bodyPr wrap="square" lIns="0" tIns="0" rIns="0" bIns="0" rtlCol="0" anchor="t"/>
          <a:lstStyle/>
          <a:p>
            <a:pPr indent="0" marL="0">
              <a:buNone/>
            </a:pPr>
            <a:r>
              <a:rPr lang="en-US" sz="800" spc="150" kern="0" dirty="0">
                <a:solidFill>
                  <a:srgbClr val="66705F"/>
                </a:solidFill>
                <a:latin typeface="IBM Plex Mono" pitchFamily="34" charset="0"/>
                <a:ea typeface="IBM Plex Mono" pitchFamily="34" charset="-122"/>
                <a:cs typeface="IBM Plex Mono" pitchFamily="34" charset="-120"/>
              </a:rPr>
              <a:t>TAM</a:t>
            </a:r>
            <a:endParaRPr lang="en-US" sz="800" dirty="0"/>
          </a:p>
        </p:txBody>
      </p:sp>
      <p:sp>
        <p:nvSpPr>
          <p:cNvPr id="8" name="Shape 5"/>
          <p:cNvSpPr/>
          <p:nvPr/>
        </p:nvSpPr>
        <p:spPr>
          <a:xfrm>
            <a:off x="1097280" y="2148840"/>
            <a:ext cx="5135270" cy="384048"/>
          </a:xfrm>
          <a:prstGeom prst="rect">
            <a:avLst/>
          </a:prstGeom>
          <a:solidFill>
            <a:srgbClr val="66705F"/>
          </a:solidFill>
          <a:ln w="12700">
            <a:solidFill>
              <a:srgbClr val="66705F"/>
            </a:solidFill>
            <a:prstDash val="solid"/>
          </a:ln>
        </p:spPr>
      </p:sp>
      <p:sp>
        <p:nvSpPr>
          <p:cNvPr id="9" name="Text 6"/>
          <p:cNvSpPr txBox="1"/>
          <p:nvPr/>
        </p:nvSpPr>
        <p:spPr>
          <a:xfrm>
            <a:off x="6323990" y="2130552"/>
            <a:ext cx="2286000" cy="411480"/>
          </a:xfrm>
          <a:prstGeom prst="rect">
            <a:avLst/>
          </a:prstGeom>
          <a:noFill/>
          <a:ln/>
        </p:spPr>
        <p:txBody>
          <a:bodyPr wrap="square" lIns="0" tIns="0" rIns="0" bIns="0" rtlCol="0" anchor="ctr"/>
          <a:lstStyle/>
          <a:p>
            <a:pPr indent="0" marL="0">
              <a:buNone/>
            </a:pPr>
            <a:r>
              <a:rPr lang="en-US" sz="1600" dirty="0">
                <a:solidFill>
                  <a:srgbClr val="000000"/>
                </a:solidFill>
                <a:latin typeface="Helvetica Neue" pitchFamily="34" charset="0"/>
                <a:ea typeface="Helvetica Neue" pitchFamily="34" charset="-122"/>
                <a:cs typeface="Helvetica Neue" pitchFamily="34" charset="-120"/>
              </a:rPr>
              <a:t>$5.2B / yr</a:t>
            </a:r>
            <a:endParaRPr lang="en-US" sz="1600" dirty="0"/>
          </a:p>
        </p:txBody>
      </p:sp>
      <p:sp>
        <p:nvSpPr>
          <p:cNvPr id="10" name="Text 7"/>
          <p:cNvSpPr txBox="1"/>
          <p:nvPr/>
        </p:nvSpPr>
        <p:spPr>
          <a:xfrm>
            <a:off x="1097280" y="2587752"/>
            <a:ext cx="6217920" cy="64008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Allied munitions end-of-life: destruction &amp; demil services, EOD services, mine action, sovereign facility engineering, recovered materials - forming annual spend, 2026</a:t>
            </a:r>
            <a:endParaRPr lang="en-US" sz="800" dirty="0"/>
          </a:p>
        </p:txBody>
      </p:sp>
      <p:sp>
        <p:nvSpPr>
          <p:cNvPr id="11" name="Text 8"/>
          <p:cNvSpPr txBox="1"/>
          <p:nvPr/>
        </p:nvSpPr>
        <p:spPr>
          <a:xfrm>
            <a:off x="548640" y="3291840"/>
            <a:ext cx="548640" cy="201168"/>
          </a:xfrm>
          <a:prstGeom prst="rect">
            <a:avLst/>
          </a:prstGeom>
          <a:noFill/>
          <a:ln/>
        </p:spPr>
        <p:txBody>
          <a:bodyPr wrap="square" lIns="0" tIns="0" rIns="0" bIns="0" rtlCol="0" anchor="t"/>
          <a:lstStyle/>
          <a:p>
            <a:pPr indent="0" marL="0">
              <a:buNone/>
            </a:pPr>
            <a:r>
              <a:rPr lang="en-US" sz="800" spc="150" kern="0" dirty="0">
                <a:solidFill>
                  <a:srgbClr val="66705F"/>
                </a:solidFill>
                <a:latin typeface="IBM Plex Mono" pitchFamily="34" charset="0"/>
                <a:ea typeface="IBM Plex Mono" pitchFamily="34" charset="-122"/>
                <a:cs typeface="IBM Plex Mono" pitchFamily="34" charset="-120"/>
              </a:rPr>
              <a:t>SAM</a:t>
            </a:r>
            <a:endParaRPr lang="en-US" sz="800" dirty="0"/>
          </a:p>
        </p:txBody>
      </p:sp>
      <p:sp>
        <p:nvSpPr>
          <p:cNvPr id="12" name="Shape 9"/>
          <p:cNvSpPr/>
          <p:nvPr/>
        </p:nvSpPr>
        <p:spPr>
          <a:xfrm>
            <a:off x="1097280" y="3291840"/>
            <a:ext cx="2156814" cy="384048"/>
          </a:xfrm>
          <a:prstGeom prst="rect">
            <a:avLst/>
          </a:prstGeom>
          <a:solidFill>
            <a:srgbClr val="788274"/>
          </a:solidFill>
          <a:ln w="12700">
            <a:solidFill>
              <a:srgbClr val="788274"/>
            </a:solidFill>
            <a:prstDash val="solid"/>
          </a:ln>
        </p:spPr>
      </p:sp>
      <p:sp>
        <p:nvSpPr>
          <p:cNvPr id="13" name="Text 10"/>
          <p:cNvSpPr txBox="1"/>
          <p:nvPr/>
        </p:nvSpPr>
        <p:spPr>
          <a:xfrm>
            <a:off x="3345534" y="3273552"/>
            <a:ext cx="2286000" cy="411480"/>
          </a:xfrm>
          <a:prstGeom prst="rect">
            <a:avLst/>
          </a:prstGeom>
          <a:noFill/>
          <a:ln/>
        </p:spPr>
        <p:txBody>
          <a:bodyPr wrap="square" lIns="0" tIns="0" rIns="0" bIns="0" rtlCol="0" anchor="ctr"/>
          <a:lstStyle/>
          <a:p>
            <a:pPr indent="0" marL="0">
              <a:buNone/>
            </a:pPr>
            <a:r>
              <a:rPr lang="en-US" sz="1600" dirty="0">
                <a:solidFill>
                  <a:srgbClr val="000000"/>
                </a:solidFill>
                <a:latin typeface="Helvetica Neue" pitchFamily="34" charset="0"/>
                <a:ea typeface="Helvetica Neue" pitchFamily="34" charset="-122"/>
                <a:cs typeface="Helvetica Neue" pitchFamily="34" charset="-120"/>
              </a:rPr>
              <a:t>$2.2B / yr</a:t>
            </a:r>
            <a:endParaRPr lang="en-US" sz="1600" dirty="0"/>
          </a:p>
        </p:txBody>
      </p:sp>
      <p:sp>
        <p:nvSpPr>
          <p:cNvPr id="14" name="Text 11"/>
          <p:cNvSpPr txBox="1"/>
          <p:nvPr/>
        </p:nvSpPr>
        <p:spPr>
          <a:xfrm>
            <a:off x="1097280" y="3730752"/>
            <a:ext cx="6217920" cy="64008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North America + Europe: small-arms-through-artillery destruction, materials recovery and plant engineering - the scope the roadmap assembles (60% geographic × 70% access factors)</a:t>
            </a:r>
            <a:endParaRPr lang="en-US" sz="800" dirty="0"/>
          </a:p>
        </p:txBody>
      </p:sp>
      <p:sp>
        <p:nvSpPr>
          <p:cNvPr id="15" name="Text 12"/>
          <p:cNvSpPr txBox="1"/>
          <p:nvPr/>
        </p:nvSpPr>
        <p:spPr>
          <a:xfrm>
            <a:off x="548640" y="4434840"/>
            <a:ext cx="548640" cy="201168"/>
          </a:xfrm>
          <a:prstGeom prst="rect">
            <a:avLst/>
          </a:prstGeom>
          <a:noFill/>
          <a:ln/>
        </p:spPr>
        <p:txBody>
          <a:bodyPr wrap="square" lIns="0" tIns="0" rIns="0" bIns="0" rtlCol="0" anchor="t"/>
          <a:lstStyle/>
          <a:p>
            <a:pPr indent="0" marL="0">
              <a:buNone/>
            </a:pPr>
            <a:r>
              <a:rPr lang="en-US" sz="800" spc="150" kern="0" dirty="0">
                <a:solidFill>
                  <a:srgbClr val="66705F"/>
                </a:solidFill>
                <a:latin typeface="IBM Plex Mono" pitchFamily="34" charset="0"/>
                <a:ea typeface="IBM Plex Mono" pitchFamily="34" charset="-122"/>
                <a:cs typeface="IBM Plex Mono" pitchFamily="34" charset="-120"/>
              </a:rPr>
              <a:t>SOM</a:t>
            </a:r>
            <a:endParaRPr lang="en-US" sz="800" dirty="0"/>
          </a:p>
        </p:txBody>
      </p:sp>
      <p:sp>
        <p:nvSpPr>
          <p:cNvPr id="16" name="Shape 13"/>
          <p:cNvSpPr/>
          <p:nvPr/>
        </p:nvSpPr>
        <p:spPr>
          <a:xfrm>
            <a:off x="1097280" y="4434840"/>
            <a:ext cx="134134" cy="384048"/>
          </a:xfrm>
          <a:prstGeom prst="rect">
            <a:avLst/>
          </a:prstGeom>
          <a:solidFill>
            <a:srgbClr val="A9B3A5"/>
          </a:solidFill>
          <a:ln w="12700">
            <a:solidFill>
              <a:srgbClr val="A9B3A5"/>
            </a:solidFill>
            <a:prstDash val="solid"/>
          </a:ln>
        </p:spPr>
      </p:sp>
      <p:sp>
        <p:nvSpPr>
          <p:cNvPr id="17" name="Text 14"/>
          <p:cNvSpPr txBox="1"/>
          <p:nvPr/>
        </p:nvSpPr>
        <p:spPr>
          <a:xfrm>
            <a:off x="1322854" y="4416552"/>
            <a:ext cx="2286000" cy="411480"/>
          </a:xfrm>
          <a:prstGeom prst="rect">
            <a:avLst/>
          </a:prstGeom>
          <a:noFill/>
          <a:ln/>
        </p:spPr>
        <p:txBody>
          <a:bodyPr wrap="square" lIns="0" tIns="0" rIns="0" bIns="0" rtlCol="0" anchor="ctr"/>
          <a:lstStyle/>
          <a:p>
            <a:pPr indent="0" marL="0">
              <a:buNone/>
            </a:pPr>
            <a:r>
              <a:rPr lang="en-US" sz="1600" dirty="0">
                <a:solidFill>
                  <a:srgbClr val="000000"/>
                </a:solidFill>
                <a:latin typeface="Helvetica Neue" pitchFamily="34" charset="0"/>
                <a:ea typeface="Helvetica Neue" pitchFamily="34" charset="-122"/>
                <a:cs typeface="Helvetica Neue" pitchFamily="34" charset="-120"/>
              </a:rPr>
              <a:t>$137M / yr</a:t>
            </a:r>
            <a:endParaRPr lang="en-US" sz="1600" dirty="0"/>
          </a:p>
        </p:txBody>
      </p:sp>
      <p:sp>
        <p:nvSpPr>
          <p:cNvPr id="18" name="Text 15"/>
          <p:cNvSpPr txBox="1"/>
          <p:nvPr/>
        </p:nvSpPr>
        <p:spPr>
          <a:xfrm>
            <a:off x="1097280" y="4873752"/>
            <a:ext cx="6217920" cy="640080"/>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The model's Year-5 (2031) revenue - foothold plus first assembly; 5.4% of Year-5 SAM</a:t>
            </a:r>
            <a:endParaRPr lang="en-US" sz="800" dirty="0"/>
          </a:p>
        </p:txBody>
      </p:sp>
      <p:sp>
        <p:nvSpPr>
          <p:cNvPr id="19" name="Text 16"/>
          <p:cNvSpPr txBox="1"/>
          <p:nvPr/>
        </p:nvSpPr>
        <p:spPr>
          <a:xfrm>
            <a:off x="548640" y="5669280"/>
            <a:ext cx="6583680" cy="548640"/>
          </a:xfrm>
          <a:prstGeom prst="rect">
            <a:avLst/>
          </a:prstGeom>
          <a:noFill/>
          <a:ln/>
        </p:spPr>
        <p:txBody>
          <a:bodyPr wrap="square" lIns="0" tIns="0" rIns="0" bIns="0" rtlCol="0" anchor="t"/>
          <a:lstStyle/>
          <a:p>
            <a:pPr algn="l" indent="0" marL="0">
              <a:spcAft>
                <a:spcPts val="400"/>
              </a:spcAft>
              <a:buNone/>
            </a:pPr>
            <a:r>
              <a:rPr lang="en-US" sz="900" b="1" dirty="0">
                <a:solidFill>
                  <a:srgbClr val="000000"/>
                </a:solidFill>
                <a:latin typeface="Helvetica Neue" pitchFamily="34" charset="0"/>
                <a:ea typeface="Helvetica Neue" pitchFamily="34" charset="-122"/>
                <a:cs typeface="Helvetica Neue" pitchFamily="34" charset="-120"/>
              </a:rPr>
              <a:t>Plus the episodic layer, already priced: Ukraine explosive-hazard management need $27.6B for 2026–2035 (RDNA5) ²⁰ - ~$2.8B/yr on average, sitting on top of the forming annual market.</a:t>
            </a:r>
            <a:endParaRPr lang="en-US" sz="900" dirty="0"/>
          </a:p>
        </p:txBody>
      </p:sp>
      <p:sp>
        <p:nvSpPr>
          <p:cNvPr id="20" name="Shape 17"/>
          <p:cNvSpPr/>
          <p:nvPr/>
        </p:nvSpPr>
        <p:spPr>
          <a:xfrm>
            <a:off x="7589520" y="2148840"/>
            <a:ext cx="4069080" cy="4023360"/>
          </a:xfrm>
          <a:prstGeom prst="rect">
            <a:avLst/>
          </a:prstGeom>
          <a:solidFill>
            <a:srgbClr val="F1F3F0"/>
          </a:solidFill>
          <a:ln w="12700">
            <a:solidFill>
              <a:srgbClr val="F1F3F0"/>
            </a:solidFill>
            <a:prstDash val="solid"/>
          </a:ln>
        </p:spPr>
      </p:sp>
      <p:sp>
        <p:nvSpPr>
          <p:cNvPr id="21" name="Text 18"/>
          <p:cNvSpPr txBox="1"/>
          <p:nvPr/>
        </p:nvSpPr>
        <p:spPr>
          <a:xfrm>
            <a:off x="7772400" y="2286000"/>
            <a:ext cx="374904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HOW THE TAM IS BUILT (USD M / YR, 2026)</a:t>
            </a:r>
            <a:endParaRPr lang="en-US" sz="700" dirty="0"/>
          </a:p>
        </p:txBody>
      </p:sp>
      <p:sp>
        <p:nvSpPr>
          <p:cNvPr id="22" name="Text 19"/>
          <p:cNvSpPr txBox="1"/>
          <p:nvPr/>
        </p:nvSpPr>
        <p:spPr>
          <a:xfrm>
            <a:off x="7772400" y="2560320"/>
            <a:ext cx="2514600" cy="34747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US Army conventional demil line (FY26)</a:t>
            </a:r>
            <a:endParaRPr lang="en-US" sz="800" dirty="0"/>
          </a:p>
        </p:txBody>
      </p:sp>
      <p:sp>
        <p:nvSpPr>
          <p:cNvPr id="23" name="Text 20"/>
          <p:cNvSpPr txBox="1"/>
          <p:nvPr/>
        </p:nvSpPr>
        <p:spPr>
          <a:xfrm>
            <a:off x="10287000" y="2560320"/>
            <a:ext cx="548640" cy="347472"/>
          </a:xfrm>
          <a:prstGeom prst="rect">
            <a:avLst/>
          </a:prstGeom>
          <a:noFill/>
          <a:ln/>
        </p:spPr>
        <p:txBody>
          <a:bodyPr wrap="square" lIns="0" tIns="0" rIns="0" bIns="0" rtlCol="0" anchor="t"/>
          <a:lstStyle/>
          <a:p>
            <a:pPr algn="r" indent="0" marL="0">
              <a:spcAft>
                <a:spcPts val="400"/>
              </a:spcAft>
              <a:buNone/>
            </a:pPr>
            <a:r>
              <a:rPr lang="en-US" sz="800" b="1" dirty="0">
                <a:solidFill>
                  <a:srgbClr val="33332F"/>
                </a:solidFill>
                <a:latin typeface="Helvetica Neue" pitchFamily="34" charset="0"/>
                <a:ea typeface="Helvetica Neue" pitchFamily="34" charset="-122"/>
                <a:cs typeface="Helvetica Neue" pitchFamily="34" charset="-120"/>
              </a:rPr>
              <a:t>155</a:t>
            </a:r>
            <a:endParaRPr lang="en-US" sz="800" dirty="0"/>
          </a:p>
        </p:txBody>
      </p:sp>
      <p:sp>
        <p:nvSpPr>
          <p:cNvPr id="24" name="Text 21"/>
          <p:cNvSpPr txBox="1"/>
          <p:nvPr/>
        </p:nvSpPr>
        <p:spPr>
          <a:xfrm>
            <a:off x="10881360" y="2560320"/>
            <a:ext cx="777240" cy="347472"/>
          </a:xfrm>
          <a:prstGeom prst="rect">
            <a:avLst/>
          </a:prstGeom>
          <a:noFill/>
          <a:ln/>
        </p:spPr>
        <p:txBody>
          <a:bodyPr wrap="square" lIns="0" tIns="0" rIns="0" bIns="0" rtlCol="0" anchor="t"/>
          <a:lstStyle/>
          <a:p>
            <a:pPr algn="l" indent="0" marL="0">
              <a:spcAft>
                <a:spcPts val="400"/>
              </a:spcAft>
              <a:buNone/>
            </a:pPr>
            <a:r>
              <a:rPr lang="en-US" sz="650" dirty="0">
                <a:solidFill>
                  <a:srgbClr val="6E6C66"/>
                </a:solidFill>
                <a:latin typeface="Helvetica Neue" pitchFamily="34" charset="0"/>
                <a:ea typeface="Helvetica Neue" pitchFamily="34" charset="-122"/>
                <a:cs typeface="Helvetica Neue" pitchFamily="34" charset="-120"/>
              </a:rPr>
              <a:t>sourced ¹⁸</a:t>
            </a:r>
            <a:endParaRPr lang="en-US" sz="650" dirty="0"/>
          </a:p>
        </p:txBody>
      </p:sp>
      <p:sp>
        <p:nvSpPr>
          <p:cNvPr id="25" name="Text 22"/>
          <p:cNvSpPr txBox="1"/>
          <p:nvPr/>
        </p:nvSpPr>
        <p:spPr>
          <a:xfrm>
            <a:off x="7772400" y="2926080"/>
            <a:ext cx="2514600" cy="34747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Other US DoD / federal destruction &amp; demil services</a:t>
            </a:r>
            <a:endParaRPr lang="en-US" sz="800" dirty="0"/>
          </a:p>
        </p:txBody>
      </p:sp>
      <p:sp>
        <p:nvSpPr>
          <p:cNvPr id="26" name="Text 23"/>
          <p:cNvSpPr txBox="1"/>
          <p:nvPr/>
        </p:nvSpPr>
        <p:spPr>
          <a:xfrm>
            <a:off x="10287000" y="2926080"/>
            <a:ext cx="548640" cy="347472"/>
          </a:xfrm>
          <a:prstGeom prst="rect">
            <a:avLst/>
          </a:prstGeom>
          <a:noFill/>
          <a:ln/>
        </p:spPr>
        <p:txBody>
          <a:bodyPr wrap="square" lIns="0" tIns="0" rIns="0" bIns="0" rtlCol="0" anchor="t"/>
          <a:lstStyle/>
          <a:p>
            <a:pPr algn="r" indent="0" marL="0">
              <a:spcAft>
                <a:spcPts val="400"/>
              </a:spcAft>
              <a:buNone/>
            </a:pPr>
            <a:r>
              <a:rPr lang="en-US" sz="800" b="1" dirty="0">
                <a:solidFill>
                  <a:srgbClr val="33332F"/>
                </a:solidFill>
                <a:latin typeface="Helvetica Neue" pitchFamily="34" charset="0"/>
                <a:ea typeface="Helvetica Neue" pitchFamily="34" charset="-122"/>
                <a:cs typeface="Helvetica Neue" pitchFamily="34" charset="-120"/>
              </a:rPr>
              <a:t>150</a:t>
            </a:r>
            <a:endParaRPr lang="en-US" sz="800" dirty="0"/>
          </a:p>
        </p:txBody>
      </p:sp>
      <p:sp>
        <p:nvSpPr>
          <p:cNvPr id="27" name="Text 24"/>
          <p:cNvSpPr txBox="1"/>
          <p:nvPr/>
        </p:nvSpPr>
        <p:spPr>
          <a:xfrm>
            <a:off x="10881360" y="2926080"/>
            <a:ext cx="777240" cy="347472"/>
          </a:xfrm>
          <a:prstGeom prst="rect">
            <a:avLst/>
          </a:prstGeom>
          <a:noFill/>
          <a:ln/>
        </p:spPr>
        <p:txBody>
          <a:bodyPr wrap="square" lIns="0" tIns="0" rIns="0" bIns="0" rtlCol="0" anchor="t"/>
          <a:lstStyle/>
          <a:p>
            <a:pPr algn="l" indent="0" marL="0">
              <a:spcAft>
                <a:spcPts val="400"/>
              </a:spcAft>
              <a:buNone/>
            </a:pPr>
            <a:r>
              <a:rPr lang="en-US" sz="650" dirty="0">
                <a:solidFill>
                  <a:srgbClr val="6E6C66"/>
                </a:solidFill>
                <a:latin typeface="Helvetica Neue" pitchFamily="34" charset="0"/>
                <a:ea typeface="Helvetica Neue" pitchFamily="34" charset="-122"/>
                <a:cs typeface="Helvetica Neue" pitchFamily="34" charset="-120"/>
              </a:rPr>
              <a:t>assumed</a:t>
            </a:r>
            <a:endParaRPr lang="en-US" sz="650" dirty="0"/>
          </a:p>
        </p:txBody>
      </p:sp>
      <p:sp>
        <p:nvSpPr>
          <p:cNvPr id="28" name="Text 25"/>
          <p:cNvSpPr txBox="1"/>
          <p:nvPr/>
        </p:nvSpPr>
        <p:spPr>
          <a:xfrm>
            <a:off x="7772400" y="3291840"/>
            <a:ext cx="2514600" cy="34747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Allied national demil &amp; stockpile-destruction budgets</a:t>
            </a:r>
            <a:endParaRPr lang="en-US" sz="800" dirty="0"/>
          </a:p>
        </p:txBody>
      </p:sp>
      <p:sp>
        <p:nvSpPr>
          <p:cNvPr id="29" name="Text 26"/>
          <p:cNvSpPr txBox="1"/>
          <p:nvPr/>
        </p:nvSpPr>
        <p:spPr>
          <a:xfrm>
            <a:off x="10287000" y="3291840"/>
            <a:ext cx="548640" cy="347472"/>
          </a:xfrm>
          <a:prstGeom prst="rect">
            <a:avLst/>
          </a:prstGeom>
          <a:noFill/>
          <a:ln/>
        </p:spPr>
        <p:txBody>
          <a:bodyPr wrap="square" lIns="0" tIns="0" rIns="0" bIns="0" rtlCol="0" anchor="t"/>
          <a:lstStyle/>
          <a:p>
            <a:pPr algn="r" indent="0" marL="0">
              <a:spcAft>
                <a:spcPts val="400"/>
              </a:spcAft>
              <a:buNone/>
            </a:pPr>
            <a:r>
              <a:rPr lang="en-US" sz="800" b="1" dirty="0">
                <a:solidFill>
                  <a:srgbClr val="33332F"/>
                </a:solidFill>
                <a:latin typeface="Helvetica Neue" pitchFamily="34" charset="0"/>
                <a:ea typeface="Helvetica Neue" pitchFamily="34" charset="-122"/>
                <a:cs typeface="Helvetica Neue" pitchFamily="34" charset="-120"/>
              </a:rPr>
              <a:t>450</a:t>
            </a:r>
            <a:endParaRPr lang="en-US" sz="800" dirty="0"/>
          </a:p>
        </p:txBody>
      </p:sp>
      <p:sp>
        <p:nvSpPr>
          <p:cNvPr id="30" name="Text 27"/>
          <p:cNvSpPr txBox="1"/>
          <p:nvPr/>
        </p:nvSpPr>
        <p:spPr>
          <a:xfrm>
            <a:off x="10881360" y="3291840"/>
            <a:ext cx="777240" cy="347472"/>
          </a:xfrm>
          <a:prstGeom prst="rect">
            <a:avLst/>
          </a:prstGeom>
          <a:noFill/>
          <a:ln/>
        </p:spPr>
        <p:txBody>
          <a:bodyPr wrap="square" lIns="0" tIns="0" rIns="0" bIns="0" rtlCol="0" anchor="t"/>
          <a:lstStyle/>
          <a:p>
            <a:pPr algn="l" indent="0" marL="0">
              <a:spcAft>
                <a:spcPts val="400"/>
              </a:spcAft>
              <a:buNone/>
            </a:pPr>
            <a:r>
              <a:rPr lang="en-US" sz="650" dirty="0">
                <a:solidFill>
                  <a:srgbClr val="6E6C66"/>
                </a:solidFill>
                <a:latin typeface="Helvetica Neue" pitchFamily="34" charset="0"/>
                <a:ea typeface="Helvetica Neue" pitchFamily="34" charset="-122"/>
                <a:cs typeface="Helvetica Neue" pitchFamily="34" charset="-120"/>
              </a:rPr>
              <a:t>assumed</a:t>
            </a:r>
            <a:endParaRPr lang="en-US" sz="650" dirty="0"/>
          </a:p>
        </p:txBody>
      </p:sp>
      <p:sp>
        <p:nvSpPr>
          <p:cNvPr id="31" name="Text 28"/>
          <p:cNvSpPr txBox="1"/>
          <p:nvPr/>
        </p:nvSpPr>
        <p:spPr>
          <a:xfrm>
            <a:off x="7772400" y="3657600"/>
            <a:ext cx="2514600" cy="34747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LE, civil &amp; commercial secure destruction (NA + EU)</a:t>
            </a:r>
            <a:endParaRPr lang="en-US" sz="800" dirty="0"/>
          </a:p>
        </p:txBody>
      </p:sp>
      <p:sp>
        <p:nvSpPr>
          <p:cNvPr id="32" name="Text 29"/>
          <p:cNvSpPr txBox="1"/>
          <p:nvPr/>
        </p:nvSpPr>
        <p:spPr>
          <a:xfrm>
            <a:off x="10287000" y="3657600"/>
            <a:ext cx="548640" cy="347472"/>
          </a:xfrm>
          <a:prstGeom prst="rect">
            <a:avLst/>
          </a:prstGeom>
          <a:noFill/>
          <a:ln/>
        </p:spPr>
        <p:txBody>
          <a:bodyPr wrap="square" lIns="0" tIns="0" rIns="0" bIns="0" rtlCol="0" anchor="t"/>
          <a:lstStyle/>
          <a:p>
            <a:pPr algn="r" indent="0" marL="0">
              <a:spcAft>
                <a:spcPts val="400"/>
              </a:spcAft>
              <a:buNone/>
            </a:pPr>
            <a:r>
              <a:rPr lang="en-US" sz="800" b="1" dirty="0">
                <a:solidFill>
                  <a:srgbClr val="33332F"/>
                </a:solidFill>
                <a:latin typeface="Helvetica Neue" pitchFamily="34" charset="0"/>
                <a:ea typeface="Helvetica Neue" pitchFamily="34" charset="-122"/>
                <a:cs typeface="Helvetica Neue" pitchFamily="34" charset="-120"/>
              </a:rPr>
              <a:t>100</a:t>
            </a:r>
            <a:endParaRPr lang="en-US" sz="800" dirty="0"/>
          </a:p>
        </p:txBody>
      </p:sp>
      <p:sp>
        <p:nvSpPr>
          <p:cNvPr id="33" name="Text 30"/>
          <p:cNvSpPr txBox="1"/>
          <p:nvPr/>
        </p:nvSpPr>
        <p:spPr>
          <a:xfrm>
            <a:off x="10881360" y="3657600"/>
            <a:ext cx="777240" cy="347472"/>
          </a:xfrm>
          <a:prstGeom prst="rect">
            <a:avLst/>
          </a:prstGeom>
          <a:noFill/>
          <a:ln/>
        </p:spPr>
        <p:txBody>
          <a:bodyPr wrap="square" lIns="0" tIns="0" rIns="0" bIns="0" rtlCol="0" anchor="t"/>
          <a:lstStyle/>
          <a:p>
            <a:pPr algn="l" indent="0" marL="0">
              <a:spcAft>
                <a:spcPts val="400"/>
              </a:spcAft>
              <a:buNone/>
            </a:pPr>
            <a:r>
              <a:rPr lang="en-US" sz="650" dirty="0">
                <a:solidFill>
                  <a:srgbClr val="6E6C66"/>
                </a:solidFill>
                <a:latin typeface="Helvetica Neue" pitchFamily="34" charset="0"/>
                <a:ea typeface="Helvetica Neue" pitchFamily="34" charset="-122"/>
                <a:cs typeface="Helvetica Neue" pitchFamily="34" charset="-120"/>
              </a:rPr>
              <a:t>assumed</a:t>
            </a:r>
            <a:endParaRPr lang="en-US" sz="650" dirty="0"/>
          </a:p>
        </p:txBody>
      </p:sp>
      <p:sp>
        <p:nvSpPr>
          <p:cNvPr id="34" name="Text 31"/>
          <p:cNvSpPr txBox="1"/>
          <p:nvPr/>
        </p:nvSpPr>
        <p:spPr>
          <a:xfrm>
            <a:off x="7772400" y="4023360"/>
            <a:ext cx="2514600" cy="34747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EOD services share of the $8.55bn EOD market (30%)</a:t>
            </a:r>
            <a:endParaRPr lang="en-US" sz="800" dirty="0"/>
          </a:p>
        </p:txBody>
      </p:sp>
      <p:sp>
        <p:nvSpPr>
          <p:cNvPr id="35" name="Text 32"/>
          <p:cNvSpPr txBox="1"/>
          <p:nvPr/>
        </p:nvSpPr>
        <p:spPr>
          <a:xfrm>
            <a:off x="10287000" y="4023360"/>
            <a:ext cx="548640" cy="347472"/>
          </a:xfrm>
          <a:prstGeom prst="rect">
            <a:avLst/>
          </a:prstGeom>
          <a:noFill/>
          <a:ln/>
        </p:spPr>
        <p:txBody>
          <a:bodyPr wrap="square" lIns="0" tIns="0" rIns="0" bIns="0" rtlCol="0" anchor="t"/>
          <a:lstStyle/>
          <a:p>
            <a:pPr algn="r" indent="0" marL="0">
              <a:spcAft>
                <a:spcPts val="400"/>
              </a:spcAft>
              <a:buNone/>
            </a:pPr>
            <a:r>
              <a:rPr lang="en-US" sz="800" b="1" dirty="0">
                <a:solidFill>
                  <a:srgbClr val="33332F"/>
                </a:solidFill>
                <a:latin typeface="Helvetica Neue" pitchFamily="34" charset="0"/>
                <a:ea typeface="Helvetica Neue" pitchFamily="34" charset="-122"/>
                <a:cs typeface="Helvetica Neue" pitchFamily="34" charset="-120"/>
              </a:rPr>
              <a:t>2,565</a:t>
            </a:r>
            <a:endParaRPr lang="en-US" sz="800" dirty="0"/>
          </a:p>
        </p:txBody>
      </p:sp>
      <p:sp>
        <p:nvSpPr>
          <p:cNvPr id="36" name="Text 33"/>
          <p:cNvSpPr txBox="1"/>
          <p:nvPr/>
        </p:nvSpPr>
        <p:spPr>
          <a:xfrm>
            <a:off x="10881360" y="4023360"/>
            <a:ext cx="777240" cy="347472"/>
          </a:xfrm>
          <a:prstGeom prst="rect">
            <a:avLst/>
          </a:prstGeom>
          <a:noFill/>
          <a:ln/>
        </p:spPr>
        <p:txBody>
          <a:bodyPr wrap="square" lIns="0" tIns="0" rIns="0" bIns="0" rtlCol="0" anchor="t"/>
          <a:lstStyle/>
          <a:p>
            <a:pPr algn="l" indent="0" marL="0">
              <a:spcAft>
                <a:spcPts val="400"/>
              </a:spcAft>
              <a:buNone/>
            </a:pPr>
            <a:r>
              <a:rPr lang="en-US" sz="650" dirty="0">
                <a:solidFill>
                  <a:srgbClr val="6E6C66"/>
                </a:solidFill>
                <a:latin typeface="Helvetica Neue" pitchFamily="34" charset="0"/>
                <a:ea typeface="Helvetica Neue" pitchFamily="34" charset="-122"/>
                <a:cs typeface="Helvetica Neue" pitchFamily="34" charset="-120"/>
              </a:rPr>
              <a:t>size sourced ²⁹</a:t>
            </a:r>
            <a:endParaRPr lang="en-US" sz="650" dirty="0"/>
          </a:p>
        </p:txBody>
      </p:sp>
      <p:sp>
        <p:nvSpPr>
          <p:cNvPr id="37" name="Text 34"/>
          <p:cNvSpPr txBox="1"/>
          <p:nvPr/>
        </p:nvSpPr>
        <p:spPr>
          <a:xfrm>
            <a:off x="7772400" y="4389120"/>
            <a:ext cx="2514600" cy="34747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Humanitarian mine action funding</a:t>
            </a:r>
            <a:endParaRPr lang="en-US" sz="800" dirty="0"/>
          </a:p>
        </p:txBody>
      </p:sp>
      <p:sp>
        <p:nvSpPr>
          <p:cNvPr id="38" name="Text 35"/>
          <p:cNvSpPr txBox="1"/>
          <p:nvPr/>
        </p:nvSpPr>
        <p:spPr>
          <a:xfrm>
            <a:off x="10287000" y="4389120"/>
            <a:ext cx="548640" cy="347472"/>
          </a:xfrm>
          <a:prstGeom prst="rect">
            <a:avLst/>
          </a:prstGeom>
          <a:noFill/>
          <a:ln/>
        </p:spPr>
        <p:txBody>
          <a:bodyPr wrap="square" lIns="0" tIns="0" rIns="0" bIns="0" rtlCol="0" anchor="t"/>
          <a:lstStyle/>
          <a:p>
            <a:pPr algn="r" indent="0" marL="0">
              <a:spcAft>
                <a:spcPts val="400"/>
              </a:spcAft>
              <a:buNone/>
            </a:pPr>
            <a:r>
              <a:rPr lang="en-US" sz="800" b="1" dirty="0">
                <a:solidFill>
                  <a:srgbClr val="33332F"/>
                </a:solidFill>
                <a:latin typeface="Helvetica Neue" pitchFamily="34" charset="0"/>
                <a:ea typeface="Helvetica Neue" pitchFamily="34" charset="-122"/>
                <a:cs typeface="Helvetica Neue" pitchFamily="34" charset="-120"/>
              </a:rPr>
              <a:t>1,070</a:t>
            </a:r>
            <a:endParaRPr lang="en-US" sz="800" dirty="0"/>
          </a:p>
        </p:txBody>
      </p:sp>
      <p:sp>
        <p:nvSpPr>
          <p:cNvPr id="39" name="Text 36"/>
          <p:cNvSpPr txBox="1"/>
          <p:nvPr/>
        </p:nvSpPr>
        <p:spPr>
          <a:xfrm>
            <a:off x="10881360" y="4389120"/>
            <a:ext cx="777240" cy="347472"/>
          </a:xfrm>
          <a:prstGeom prst="rect">
            <a:avLst/>
          </a:prstGeom>
          <a:noFill/>
          <a:ln/>
        </p:spPr>
        <p:txBody>
          <a:bodyPr wrap="square" lIns="0" tIns="0" rIns="0" bIns="0" rtlCol="0" anchor="t"/>
          <a:lstStyle/>
          <a:p>
            <a:pPr algn="l" indent="0" marL="0">
              <a:spcAft>
                <a:spcPts val="400"/>
              </a:spcAft>
              <a:buNone/>
            </a:pPr>
            <a:r>
              <a:rPr lang="en-US" sz="650" dirty="0">
                <a:solidFill>
                  <a:srgbClr val="6E6C66"/>
                </a:solidFill>
                <a:latin typeface="Helvetica Neue" pitchFamily="34" charset="0"/>
                <a:ea typeface="Helvetica Neue" pitchFamily="34" charset="-122"/>
                <a:cs typeface="Helvetica Neue" pitchFamily="34" charset="-120"/>
              </a:rPr>
              <a:t>sourced ³⁰</a:t>
            </a:r>
            <a:endParaRPr lang="en-US" sz="650" dirty="0"/>
          </a:p>
        </p:txBody>
      </p:sp>
      <p:sp>
        <p:nvSpPr>
          <p:cNvPr id="40" name="Text 37"/>
          <p:cNvSpPr txBox="1"/>
          <p:nvPr/>
        </p:nvSpPr>
        <p:spPr>
          <a:xfrm>
            <a:off x="7772400" y="4754880"/>
            <a:ext cx="2514600" cy="34747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Sovereign end-of-life facility engineering</a:t>
            </a:r>
            <a:endParaRPr lang="en-US" sz="800" dirty="0"/>
          </a:p>
        </p:txBody>
      </p:sp>
      <p:sp>
        <p:nvSpPr>
          <p:cNvPr id="41" name="Text 38"/>
          <p:cNvSpPr txBox="1"/>
          <p:nvPr/>
        </p:nvSpPr>
        <p:spPr>
          <a:xfrm>
            <a:off x="10287000" y="4754880"/>
            <a:ext cx="548640" cy="347472"/>
          </a:xfrm>
          <a:prstGeom prst="rect">
            <a:avLst/>
          </a:prstGeom>
          <a:noFill/>
          <a:ln/>
        </p:spPr>
        <p:txBody>
          <a:bodyPr wrap="square" lIns="0" tIns="0" rIns="0" bIns="0" rtlCol="0" anchor="t"/>
          <a:lstStyle/>
          <a:p>
            <a:pPr algn="r" indent="0" marL="0">
              <a:spcAft>
                <a:spcPts val="400"/>
              </a:spcAft>
              <a:buNone/>
            </a:pPr>
            <a:r>
              <a:rPr lang="en-US" sz="800" b="1" dirty="0">
                <a:solidFill>
                  <a:srgbClr val="33332F"/>
                </a:solidFill>
                <a:latin typeface="Helvetica Neue" pitchFamily="34" charset="0"/>
                <a:ea typeface="Helvetica Neue" pitchFamily="34" charset="-122"/>
                <a:cs typeface="Helvetica Neue" pitchFamily="34" charset="-120"/>
              </a:rPr>
              <a:t>500</a:t>
            </a:r>
            <a:endParaRPr lang="en-US" sz="800" dirty="0"/>
          </a:p>
        </p:txBody>
      </p:sp>
      <p:sp>
        <p:nvSpPr>
          <p:cNvPr id="42" name="Text 39"/>
          <p:cNvSpPr txBox="1"/>
          <p:nvPr/>
        </p:nvSpPr>
        <p:spPr>
          <a:xfrm>
            <a:off x="10881360" y="4754880"/>
            <a:ext cx="777240" cy="347472"/>
          </a:xfrm>
          <a:prstGeom prst="rect">
            <a:avLst/>
          </a:prstGeom>
          <a:noFill/>
          <a:ln/>
        </p:spPr>
        <p:txBody>
          <a:bodyPr wrap="square" lIns="0" tIns="0" rIns="0" bIns="0" rtlCol="0" anchor="t"/>
          <a:lstStyle/>
          <a:p>
            <a:pPr algn="l" indent="0" marL="0">
              <a:spcAft>
                <a:spcPts val="400"/>
              </a:spcAft>
              <a:buNone/>
            </a:pPr>
            <a:r>
              <a:rPr lang="en-US" sz="650" dirty="0">
                <a:solidFill>
                  <a:srgbClr val="6E6C66"/>
                </a:solidFill>
                <a:latin typeface="Helvetica Neue" pitchFamily="34" charset="0"/>
                <a:ea typeface="Helvetica Neue" pitchFamily="34" charset="-122"/>
                <a:cs typeface="Helvetica Neue" pitchFamily="34" charset="-120"/>
              </a:rPr>
              <a:t>assumed</a:t>
            </a:r>
            <a:endParaRPr lang="en-US" sz="650" dirty="0"/>
          </a:p>
        </p:txBody>
      </p:sp>
      <p:sp>
        <p:nvSpPr>
          <p:cNvPr id="43" name="Text 40"/>
          <p:cNvSpPr txBox="1"/>
          <p:nvPr/>
        </p:nvSpPr>
        <p:spPr>
          <a:xfrm>
            <a:off x="7772400" y="5120640"/>
            <a:ext cx="2514600" cy="34747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Recovered materials sold into secondary markets</a:t>
            </a:r>
            <a:endParaRPr lang="en-US" sz="800" dirty="0"/>
          </a:p>
        </p:txBody>
      </p:sp>
      <p:sp>
        <p:nvSpPr>
          <p:cNvPr id="44" name="Text 41"/>
          <p:cNvSpPr txBox="1"/>
          <p:nvPr/>
        </p:nvSpPr>
        <p:spPr>
          <a:xfrm>
            <a:off x="10287000" y="5120640"/>
            <a:ext cx="548640" cy="347472"/>
          </a:xfrm>
          <a:prstGeom prst="rect">
            <a:avLst/>
          </a:prstGeom>
          <a:noFill/>
          <a:ln/>
        </p:spPr>
        <p:txBody>
          <a:bodyPr wrap="square" lIns="0" tIns="0" rIns="0" bIns="0" rtlCol="0" anchor="t"/>
          <a:lstStyle/>
          <a:p>
            <a:pPr algn="r" indent="0" marL="0">
              <a:spcAft>
                <a:spcPts val="400"/>
              </a:spcAft>
              <a:buNone/>
            </a:pPr>
            <a:r>
              <a:rPr lang="en-US" sz="800" b="1" dirty="0">
                <a:solidFill>
                  <a:srgbClr val="33332F"/>
                </a:solidFill>
                <a:latin typeface="Helvetica Neue" pitchFamily="34" charset="0"/>
                <a:ea typeface="Helvetica Neue" pitchFamily="34" charset="-122"/>
                <a:cs typeface="Helvetica Neue" pitchFamily="34" charset="-120"/>
              </a:rPr>
              <a:t>250</a:t>
            </a:r>
            <a:endParaRPr lang="en-US" sz="800" dirty="0"/>
          </a:p>
        </p:txBody>
      </p:sp>
      <p:sp>
        <p:nvSpPr>
          <p:cNvPr id="45" name="Text 42"/>
          <p:cNvSpPr txBox="1"/>
          <p:nvPr/>
        </p:nvSpPr>
        <p:spPr>
          <a:xfrm>
            <a:off x="10881360" y="5120640"/>
            <a:ext cx="777240" cy="347472"/>
          </a:xfrm>
          <a:prstGeom prst="rect">
            <a:avLst/>
          </a:prstGeom>
          <a:noFill/>
          <a:ln/>
        </p:spPr>
        <p:txBody>
          <a:bodyPr wrap="square" lIns="0" tIns="0" rIns="0" bIns="0" rtlCol="0" anchor="t"/>
          <a:lstStyle/>
          <a:p>
            <a:pPr algn="l" indent="0" marL="0">
              <a:spcAft>
                <a:spcPts val="400"/>
              </a:spcAft>
              <a:buNone/>
            </a:pPr>
            <a:r>
              <a:rPr lang="en-US" sz="650" dirty="0">
                <a:solidFill>
                  <a:srgbClr val="6E6C66"/>
                </a:solidFill>
                <a:latin typeface="Helvetica Neue" pitchFamily="34" charset="0"/>
                <a:ea typeface="Helvetica Neue" pitchFamily="34" charset="-122"/>
                <a:cs typeface="Helvetica Neue" pitchFamily="34" charset="-120"/>
              </a:rPr>
              <a:t>assumed</a:t>
            </a:r>
            <a:endParaRPr lang="en-US" sz="650" dirty="0"/>
          </a:p>
        </p:txBody>
      </p:sp>
      <p:sp>
        <p:nvSpPr>
          <p:cNvPr id="46" name="Shape 43"/>
          <p:cNvSpPr/>
          <p:nvPr/>
        </p:nvSpPr>
        <p:spPr>
          <a:xfrm>
            <a:off x="7772400" y="5550408"/>
            <a:ext cx="3749040" cy="0"/>
          </a:xfrm>
          <a:prstGeom prst="line">
            <a:avLst/>
          </a:prstGeom>
          <a:noFill/>
          <a:ln w="9525">
            <a:solidFill>
              <a:srgbClr val="D3D9D0"/>
            </a:solidFill>
            <a:prstDash val="solid"/>
          </a:ln>
        </p:spPr>
      </p:sp>
      <p:sp>
        <p:nvSpPr>
          <p:cNvPr id="47" name="Text 44"/>
          <p:cNvSpPr txBox="1"/>
          <p:nvPr/>
        </p:nvSpPr>
        <p:spPr>
          <a:xfrm>
            <a:off x="7772400" y="5623560"/>
            <a:ext cx="2560320" cy="274320"/>
          </a:xfrm>
          <a:prstGeom prst="rect">
            <a:avLst/>
          </a:prstGeom>
          <a:noFill/>
          <a:ln/>
        </p:spPr>
        <p:txBody>
          <a:bodyPr wrap="square" lIns="0" tIns="0" rIns="0" bIns="0" rtlCol="0" anchor="t"/>
          <a:lstStyle/>
          <a:p>
            <a:pPr algn="l" indent="0" marL="0">
              <a:spcAft>
                <a:spcPts val="400"/>
              </a:spcAft>
              <a:buNone/>
            </a:pPr>
            <a:r>
              <a:rPr lang="en-US" sz="850" b="1" dirty="0">
                <a:solidFill>
                  <a:srgbClr val="33332F"/>
                </a:solidFill>
                <a:latin typeface="Helvetica Neue" pitchFamily="34" charset="0"/>
                <a:ea typeface="Helvetica Neue" pitchFamily="34" charset="-122"/>
                <a:cs typeface="Helvetica Neue" pitchFamily="34" charset="-120"/>
              </a:rPr>
              <a:t>TAM forming, blended growth ~3%/yr</a:t>
            </a:r>
            <a:endParaRPr lang="en-US" sz="850" dirty="0"/>
          </a:p>
        </p:txBody>
      </p:sp>
      <p:sp>
        <p:nvSpPr>
          <p:cNvPr id="48" name="Text 45"/>
          <p:cNvSpPr txBox="1"/>
          <p:nvPr/>
        </p:nvSpPr>
        <p:spPr>
          <a:xfrm>
            <a:off x="10287000" y="5623560"/>
            <a:ext cx="548640" cy="274320"/>
          </a:xfrm>
          <a:prstGeom prst="rect">
            <a:avLst/>
          </a:prstGeom>
          <a:noFill/>
          <a:ln/>
        </p:spPr>
        <p:txBody>
          <a:bodyPr wrap="square" lIns="0" tIns="0" rIns="0" bIns="0" rtlCol="0" anchor="t"/>
          <a:lstStyle/>
          <a:p>
            <a:pPr algn="r" indent="0" marL="0">
              <a:spcAft>
                <a:spcPts val="400"/>
              </a:spcAft>
              <a:buNone/>
            </a:pPr>
            <a:r>
              <a:rPr lang="en-US" sz="850" b="1" dirty="0">
                <a:solidFill>
                  <a:srgbClr val="33332F"/>
                </a:solidFill>
                <a:latin typeface="Helvetica Neue" pitchFamily="34" charset="0"/>
                <a:ea typeface="Helvetica Neue" pitchFamily="34" charset="-122"/>
                <a:cs typeface="Helvetica Neue" pitchFamily="34" charset="-120"/>
              </a:rPr>
              <a:t>5,240</a:t>
            </a:r>
            <a:endParaRPr lang="en-US" sz="850" dirty="0"/>
          </a:p>
        </p:txBody>
      </p:sp>
      <p:sp>
        <p:nvSpPr>
          <p:cNvPr id="49" name="Text 46"/>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²⁹ Global Growth Insights, EOD market $8.55bn (2025), 3.03% CAGR.  ³⁰ Landmine Monitor 2025 ($1.07bn, 2024).  All "assumed" layers are placeholders to be hardened in diligence - Market tab of the model.</a:t>
            </a:r>
            <a:endParaRPr lang="en-US" sz="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15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PROOF POINT: THE BUYER IS SPENDING</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The world's largest demil buyer is recapitalising - and buying the fixed-site model</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Verified US budget lines and awards behind the constructed market. The Army funds a dedicated demil line every year, is recompeting its commercial demil vehicle in 2026, and just signed a 20-year depot contract.</a:t>
            </a:r>
            <a:endParaRPr lang="en-US" sz="1100" dirty="0"/>
          </a:p>
        </p:txBody>
      </p:sp>
      <p:sp>
        <p:nvSpPr>
          <p:cNvPr id="7" name="Text 4"/>
          <p:cNvSpPr txBox="1"/>
          <p:nvPr/>
        </p:nvSpPr>
        <p:spPr>
          <a:xfrm>
            <a:off x="548640" y="2103120"/>
            <a:ext cx="3108960" cy="822960"/>
          </a:xfrm>
          <a:prstGeom prst="rect">
            <a:avLst/>
          </a:prstGeom>
          <a:noFill/>
          <a:ln/>
        </p:spPr>
        <p:txBody>
          <a:bodyPr wrap="square" lIns="0" tIns="0" rIns="0" bIns="0" rtlCol="0" anchor="t"/>
          <a:lstStyle/>
          <a:p>
            <a:pPr indent="0" marL="0">
              <a:buNone/>
            </a:pPr>
            <a:r>
              <a:rPr lang="en-US" sz="4800" spc="-134" kern="0" dirty="0">
                <a:solidFill>
                  <a:srgbClr val="000000"/>
                </a:solidFill>
                <a:latin typeface="Helvetica Neue" pitchFamily="34" charset="0"/>
                <a:ea typeface="Helvetica Neue" pitchFamily="34" charset="-122"/>
                <a:cs typeface="Helvetica Neue" pitchFamily="34" charset="-120"/>
              </a:rPr>
              <a:t>$161M</a:t>
            </a:r>
            <a:endParaRPr lang="en-US" sz="4800" dirty="0"/>
          </a:p>
        </p:txBody>
      </p:sp>
      <p:sp>
        <p:nvSpPr>
          <p:cNvPr id="8" name="Text 5"/>
          <p:cNvSpPr txBox="1"/>
          <p:nvPr/>
        </p:nvSpPr>
        <p:spPr>
          <a:xfrm>
            <a:off x="548640" y="2926080"/>
            <a:ext cx="3108960" cy="54864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US ARMY CONVENTIONAL MUNITIONS DEMILITARIZATION LINE, FY2027 REQUEST ($155.1M FY2026) - 31,475 TONS FUNDED ¹⁸</a:t>
            </a:r>
            <a:endParaRPr lang="en-US" sz="700" dirty="0"/>
          </a:p>
        </p:txBody>
      </p:sp>
      <p:sp>
        <p:nvSpPr>
          <p:cNvPr id="9" name="Shape 6"/>
          <p:cNvSpPr/>
          <p:nvPr/>
        </p:nvSpPr>
        <p:spPr>
          <a:xfrm>
            <a:off x="4023360" y="2103120"/>
            <a:ext cx="3749040" cy="1645920"/>
          </a:xfrm>
          <a:prstGeom prst="rect">
            <a:avLst/>
          </a:prstGeom>
          <a:solidFill>
            <a:srgbClr val="F1F3F0"/>
          </a:solidFill>
          <a:ln w="12700">
            <a:solidFill>
              <a:srgbClr val="F1F3F0"/>
            </a:solidFill>
            <a:prstDash val="solid"/>
          </a:ln>
        </p:spPr>
      </p:sp>
      <p:sp>
        <p:nvSpPr>
          <p:cNvPr id="10" name="Text 7"/>
          <p:cNvSpPr txBox="1"/>
          <p:nvPr/>
        </p:nvSpPr>
        <p:spPr>
          <a:xfrm>
            <a:off x="4187952" y="2249424"/>
            <a:ext cx="341985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COMMERCIAL DEMIL VEHICLE</a:t>
            </a:r>
            <a:endParaRPr lang="en-US" sz="700" dirty="0"/>
          </a:p>
        </p:txBody>
      </p:sp>
      <p:sp>
        <p:nvSpPr>
          <p:cNvPr id="11" name="Text 8"/>
          <p:cNvSpPr txBox="1"/>
          <p:nvPr/>
        </p:nvSpPr>
        <p:spPr>
          <a:xfrm>
            <a:off x="4187952" y="2468880"/>
            <a:ext cx="3419856" cy="365760"/>
          </a:xfrm>
          <a:prstGeom prst="rect">
            <a:avLst/>
          </a:prstGeom>
          <a:noFill/>
          <a:ln/>
        </p:spPr>
        <p:txBody>
          <a:bodyPr wrap="square" lIns="0" tIns="0" rIns="0" bIns="0" rtlCol="0" anchor="t"/>
          <a:lstStyle/>
          <a:p>
            <a:pPr indent="0" marL="0">
              <a:buNone/>
            </a:pPr>
            <a:r>
              <a:rPr lang="en-US" sz="1800" spc="-34" kern="0" dirty="0">
                <a:solidFill>
                  <a:srgbClr val="000000"/>
                </a:solidFill>
                <a:latin typeface="Helvetica Neue" pitchFamily="34" charset="0"/>
                <a:ea typeface="Helvetica Neue" pitchFamily="34" charset="-122"/>
                <a:cs typeface="Helvetica Neue" pitchFamily="34" charset="-120"/>
              </a:rPr>
              <a:t>~$30M / yr</a:t>
            </a:r>
            <a:endParaRPr lang="en-US" sz="1800" dirty="0"/>
          </a:p>
        </p:txBody>
      </p:sp>
      <p:sp>
        <p:nvSpPr>
          <p:cNvPr id="12" name="Text 9"/>
          <p:cNvSpPr txBox="1"/>
          <p:nvPr/>
        </p:nvSpPr>
        <p:spPr>
          <a:xfrm>
            <a:off x="4187952" y="2880360"/>
            <a:ext cx="3419856" cy="75895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PM Demil plans a competitive Conventional Ammunition Demil IDIQ for 2026–2030; the prior $110.1M three-awardee contract (GD-OTS, EnviroSafe Demil, Expal USA) ended May 2026 ³¹.</a:t>
            </a:r>
            <a:endParaRPr lang="en-US" sz="800" dirty="0"/>
          </a:p>
        </p:txBody>
      </p:sp>
      <p:sp>
        <p:nvSpPr>
          <p:cNvPr id="13" name="Shape 10"/>
          <p:cNvSpPr/>
          <p:nvPr/>
        </p:nvSpPr>
        <p:spPr>
          <a:xfrm>
            <a:off x="7909560" y="2103120"/>
            <a:ext cx="3749040" cy="1645920"/>
          </a:xfrm>
          <a:prstGeom prst="rect">
            <a:avLst/>
          </a:prstGeom>
          <a:solidFill>
            <a:srgbClr val="F1F3F0"/>
          </a:solidFill>
          <a:ln w="12700">
            <a:solidFill>
              <a:srgbClr val="F1F3F0"/>
            </a:solidFill>
            <a:prstDash val="solid"/>
          </a:ln>
        </p:spPr>
      </p:sp>
      <p:sp>
        <p:nvSpPr>
          <p:cNvPr id="14" name="Text 11"/>
          <p:cNvSpPr txBox="1"/>
          <p:nvPr/>
        </p:nvSpPr>
        <p:spPr>
          <a:xfrm>
            <a:off x="8074152" y="2249424"/>
            <a:ext cx="341985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HAWTHORNE ARMY DEPOT</a:t>
            </a:r>
            <a:endParaRPr lang="en-US" sz="700" dirty="0"/>
          </a:p>
        </p:txBody>
      </p:sp>
      <p:sp>
        <p:nvSpPr>
          <p:cNvPr id="15" name="Text 12"/>
          <p:cNvSpPr txBox="1"/>
          <p:nvPr/>
        </p:nvSpPr>
        <p:spPr>
          <a:xfrm>
            <a:off x="8074152" y="2468880"/>
            <a:ext cx="3419856" cy="365760"/>
          </a:xfrm>
          <a:prstGeom prst="rect">
            <a:avLst/>
          </a:prstGeom>
          <a:noFill/>
          <a:ln/>
        </p:spPr>
        <p:txBody>
          <a:bodyPr wrap="square" lIns="0" tIns="0" rIns="0" bIns="0" rtlCol="0" anchor="t"/>
          <a:lstStyle/>
          <a:p>
            <a:pPr indent="0" marL="0">
              <a:buNone/>
            </a:pPr>
            <a:r>
              <a:rPr lang="en-US" sz="1800" spc="-34" kern="0" dirty="0">
                <a:solidFill>
                  <a:srgbClr val="000000"/>
                </a:solidFill>
                <a:latin typeface="Helvetica Neue" pitchFamily="34" charset="0"/>
                <a:ea typeface="Helvetica Neue" pitchFamily="34" charset="-122"/>
                <a:cs typeface="Helvetica Neue" pitchFamily="34" charset="-120"/>
              </a:rPr>
              <a:t>$2.30B / 20 yrs</a:t>
            </a:r>
            <a:endParaRPr lang="en-US" sz="1800" dirty="0"/>
          </a:p>
        </p:txBody>
      </p:sp>
      <p:sp>
        <p:nvSpPr>
          <p:cNvPr id="16" name="Text 13"/>
          <p:cNvSpPr txBox="1"/>
          <p:nvPr/>
        </p:nvSpPr>
        <p:spPr>
          <a:xfrm>
            <a:off x="8074152" y="2880360"/>
            <a:ext cx="3419856" cy="75895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Day &amp; Zimmermann, June 2026: operation, maintenance and modernisation of the depot including demil of specified ammunition families, to December 2046 ³² - the incumbent fixed-site model, priced.</a:t>
            </a:r>
            <a:endParaRPr lang="en-US" sz="800" dirty="0"/>
          </a:p>
        </p:txBody>
      </p:sp>
      <p:sp>
        <p:nvSpPr>
          <p:cNvPr id="17" name="Shape 14"/>
          <p:cNvSpPr/>
          <p:nvPr/>
        </p:nvSpPr>
        <p:spPr>
          <a:xfrm>
            <a:off x="4023360" y="3886200"/>
            <a:ext cx="3749040" cy="1645920"/>
          </a:xfrm>
          <a:prstGeom prst="rect">
            <a:avLst/>
          </a:prstGeom>
          <a:solidFill>
            <a:srgbClr val="F1F3F0"/>
          </a:solidFill>
          <a:ln w="12700">
            <a:solidFill>
              <a:srgbClr val="F1F3F0"/>
            </a:solidFill>
            <a:prstDash val="solid"/>
          </a:ln>
        </p:spPr>
      </p:sp>
      <p:sp>
        <p:nvSpPr>
          <p:cNvPr id="18" name="Text 15"/>
          <p:cNvSpPr txBox="1"/>
          <p:nvPr/>
        </p:nvSpPr>
        <p:spPr>
          <a:xfrm>
            <a:off x="4187952" y="4032504"/>
            <a:ext cx="341985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REGULATION</a:t>
            </a:r>
            <a:endParaRPr lang="en-US" sz="700" dirty="0"/>
          </a:p>
        </p:txBody>
      </p:sp>
      <p:sp>
        <p:nvSpPr>
          <p:cNvPr id="19" name="Text 16"/>
          <p:cNvSpPr txBox="1"/>
          <p:nvPr/>
        </p:nvSpPr>
        <p:spPr>
          <a:xfrm>
            <a:off x="4187952" y="4251960"/>
            <a:ext cx="3419856" cy="365760"/>
          </a:xfrm>
          <a:prstGeom prst="rect">
            <a:avLst/>
          </a:prstGeom>
          <a:noFill/>
          <a:ln/>
        </p:spPr>
        <p:txBody>
          <a:bodyPr wrap="square" lIns="0" tIns="0" rIns="0" bIns="0" rtlCol="0" anchor="t"/>
          <a:lstStyle/>
          <a:p>
            <a:pPr indent="0" marL="0">
              <a:buNone/>
            </a:pPr>
            <a:r>
              <a:rPr lang="en-US" sz="1800" spc="-34" kern="0" dirty="0">
                <a:solidFill>
                  <a:srgbClr val="000000"/>
                </a:solidFill>
                <a:latin typeface="Helvetica Neue" pitchFamily="34" charset="0"/>
                <a:ea typeface="Helvetica Neue" pitchFamily="34" charset="-122"/>
                <a:cs typeface="Helvetica Neue" pitchFamily="34" charset="-120"/>
              </a:rPr>
              <a:t>67 facilities</a:t>
            </a:r>
            <a:endParaRPr lang="en-US" sz="1800" dirty="0"/>
          </a:p>
        </p:txBody>
      </p:sp>
      <p:sp>
        <p:nvSpPr>
          <p:cNvPr id="20" name="Text 17"/>
          <p:cNvSpPr txBox="1"/>
          <p:nvPr/>
        </p:nvSpPr>
        <p:spPr>
          <a:xfrm>
            <a:off x="4187952" y="4663440"/>
            <a:ext cx="3419856" cy="75895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EPA's proposed OB/OD rule identifies 67 facilities with operating open-burn/open-detonation units; final rule projected 2026 ²³. The cheapest incumbent method is being closed.</a:t>
            </a:r>
            <a:endParaRPr lang="en-US" sz="800" dirty="0"/>
          </a:p>
        </p:txBody>
      </p:sp>
      <p:sp>
        <p:nvSpPr>
          <p:cNvPr id="21" name="Shape 18"/>
          <p:cNvSpPr/>
          <p:nvPr/>
        </p:nvSpPr>
        <p:spPr>
          <a:xfrm>
            <a:off x="7909560" y="3886200"/>
            <a:ext cx="3749040" cy="1645920"/>
          </a:xfrm>
          <a:prstGeom prst="rect">
            <a:avLst/>
          </a:prstGeom>
          <a:solidFill>
            <a:srgbClr val="F1F3F0"/>
          </a:solidFill>
          <a:ln w="12700">
            <a:solidFill>
              <a:srgbClr val="F1F3F0"/>
            </a:solidFill>
            <a:prstDash val="solid"/>
          </a:ln>
        </p:spPr>
      </p:sp>
      <p:sp>
        <p:nvSpPr>
          <p:cNvPr id="22" name="Text 19"/>
          <p:cNvSpPr txBox="1"/>
          <p:nvPr/>
        </p:nvSpPr>
        <p:spPr>
          <a:xfrm>
            <a:off x="8074152" y="4032504"/>
            <a:ext cx="341985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ALLIED &amp; MULTILATERAL</a:t>
            </a:r>
            <a:endParaRPr lang="en-US" sz="700" dirty="0"/>
          </a:p>
        </p:txBody>
      </p:sp>
      <p:sp>
        <p:nvSpPr>
          <p:cNvPr id="23" name="Text 20"/>
          <p:cNvSpPr txBox="1"/>
          <p:nvPr/>
        </p:nvSpPr>
        <p:spPr>
          <a:xfrm>
            <a:off x="8074152" y="4251960"/>
            <a:ext cx="3419856" cy="365760"/>
          </a:xfrm>
          <a:prstGeom prst="rect">
            <a:avLst/>
          </a:prstGeom>
          <a:noFill/>
          <a:ln/>
        </p:spPr>
        <p:txBody>
          <a:bodyPr wrap="square" lIns="0" tIns="0" rIns="0" bIns="0" rtlCol="0" anchor="t"/>
          <a:lstStyle/>
          <a:p>
            <a:pPr indent="0" marL="0">
              <a:buNone/>
            </a:pPr>
            <a:r>
              <a:rPr lang="en-US" sz="1800" spc="-34" kern="0" dirty="0">
                <a:solidFill>
                  <a:srgbClr val="000000"/>
                </a:solidFill>
                <a:latin typeface="Helvetica Neue" pitchFamily="34" charset="0"/>
                <a:ea typeface="Helvetica Neue" pitchFamily="34" charset="-122"/>
                <a:cs typeface="Helvetica Neue" pitchFamily="34" charset="-120"/>
              </a:rPr>
              <a:t>UN · NATO · MoDs</a:t>
            </a:r>
            <a:endParaRPr lang="en-US" sz="1800" dirty="0"/>
          </a:p>
        </p:txBody>
      </p:sp>
      <p:sp>
        <p:nvSpPr>
          <p:cNvPr id="24" name="Text 21"/>
          <p:cNvSpPr txBox="1"/>
          <p:nvPr/>
        </p:nvSpPr>
        <p:spPr>
          <a:xfrm>
            <a:off x="8074152" y="4663440"/>
            <a:ext cx="3419856" cy="758952"/>
          </a:xfrm>
          <a:prstGeom prst="rect">
            <a:avLst/>
          </a:prstGeom>
          <a:noFill/>
          <a:ln/>
        </p:spPr>
        <p:txBody>
          <a:bodyPr wrap="square" lIns="0" tIns="0" rIns="0" bIns="0" rtlCol="0" anchor="t"/>
          <a:lstStyle/>
          <a:p>
            <a:pPr algn="l" indent="0" marL="0">
              <a:spcAft>
                <a:spcPts val="400"/>
              </a:spcAft>
              <a:buNone/>
            </a:pPr>
            <a:r>
              <a:rPr lang="en-US" sz="800" dirty="0">
                <a:solidFill>
                  <a:srgbClr val="33332F"/>
                </a:solidFill>
                <a:latin typeface="Helvetica Neue" pitchFamily="34" charset="0"/>
                <a:ea typeface="Helvetica Neue" pitchFamily="34" charset="-122"/>
                <a:cs typeface="Helvetica Neue" pitchFamily="34" charset="-120"/>
              </a:rPr>
              <a:t>UN procurements for containerised mobile ammunition destruction in 2025 ²¹; NATO $145bn munitions requirements ¹⁹; UK MoD EOD &amp; Search framework pipeline £23M ³³.</a:t>
            </a:r>
            <a:endParaRPr lang="en-US" sz="800" dirty="0"/>
          </a:p>
        </p:txBody>
      </p:sp>
      <p:sp>
        <p:nvSpPr>
          <p:cNvPr id="25" name="Text 22"/>
          <p:cNvSpPr txBox="1"/>
          <p:nvPr/>
        </p:nvSpPr>
        <p:spPr>
          <a:xfrm>
            <a:off x="548640" y="5715000"/>
            <a:ext cx="10972800" cy="411480"/>
          </a:xfrm>
          <a:prstGeom prst="rect">
            <a:avLst/>
          </a:prstGeom>
          <a:noFill/>
          <a:ln/>
        </p:spPr>
        <p:txBody>
          <a:bodyPr wrap="square" lIns="0" tIns="0" rIns="0" bIns="0" rtlCol="0" anchor="t"/>
          <a:lstStyle/>
          <a:p>
            <a:pPr algn="l" indent="0" marL="0">
              <a:spcAft>
                <a:spcPts val="400"/>
              </a:spcAft>
              <a:buNone/>
            </a:pPr>
            <a:r>
              <a:rPr lang="en-US" sz="800" i="1" dirty="0">
                <a:solidFill>
                  <a:srgbClr val="6E6C66"/>
                </a:solidFill>
                <a:latin typeface="Helvetica Neue" pitchFamily="34" charset="0"/>
                <a:ea typeface="Helvetica Neue" pitchFamily="34" charset="-122"/>
                <a:cs typeface="Helvetica Neue" pitchFamily="34" charset="-120"/>
              </a:rPr>
              <a:t>Every figure on this slide is a primary-source budget line, award or procurement notice; the platform does not claim any of these vehicles today.</a:t>
            </a:r>
            <a:endParaRPr lang="en-US" sz="800" dirty="0"/>
          </a:p>
        </p:txBody>
      </p:sp>
      <p:sp>
        <p:nvSpPr>
          <p:cNvPr id="26" name="Text 23"/>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³¹ Hrycak, PD Demil, NDIA Global Demil Symposium (Oct 2025); DoD contract announcement 21 May 2021.  ³² DoD Contracts for 9 Jun 2026 (W519TC-26-D-A018).  ³³ Defence Online, 27 Aug 2026.</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66705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FFFFFF"/>
                </a:solidFill>
                <a:latin typeface="IBM Plex Mono" pitchFamily="34" charset="0"/>
                <a:ea typeface="IBM Plex Mono" pitchFamily="34" charset="-122"/>
                <a:cs typeface="IBM Plex Mono" pitchFamily="34" charset="-120"/>
              </a:rPr>
              <a:t>16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1463040"/>
            <a:ext cx="3657600" cy="1097280"/>
          </a:xfrm>
          <a:prstGeom prst="rect">
            <a:avLst/>
          </a:prstGeom>
          <a:noFill/>
          <a:ln/>
        </p:spPr>
        <p:txBody>
          <a:bodyPr wrap="square" lIns="0" tIns="0" rIns="0" bIns="0" rtlCol="0" anchor="ctr"/>
          <a:lstStyle/>
          <a:p>
            <a:pPr indent="0" marL="0">
              <a:buNone/>
            </a:pPr>
            <a:r>
              <a:rPr lang="en-US" sz="8000" spc="-224" kern="0" dirty="0">
                <a:solidFill>
                  <a:srgbClr val="D3D9D0"/>
                </a:solidFill>
                <a:latin typeface="Helvetica Neue" pitchFamily="34" charset="0"/>
                <a:ea typeface="Helvetica Neue" pitchFamily="34" charset="-122"/>
                <a:cs typeface="Helvetica Neue" pitchFamily="34" charset="-120"/>
              </a:rPr>
              <a:t>03</a:t>
            </a:r>
            <a:endParaRPr lang="en-US" sz="8000" dirty="0"/>
          </a:p>
        </p:txBody>
      </p:sp>
      <p:sp>
        <p:nvSpPr>
          <p:cNvPr id="5" name="Text 2"/>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FFFFFF"/>
                </a:solidFill>
                <a:latin typeface="IBM Plex Mono" pitchFamily="34" charset="0"/>
                <a:ea typeface="IBM Plex Mono" pitchFamily="34" charset="-122"/>
                <a:cs typeface="IBM Plex Mono" pitchFamily="34" charset="-120"/>
              </a:rPr>
              <a:t>WHAT THE COMPANY CAN BECOME - AND HOW WE GET THERE</a:t>
            </a:r>
            <a:endParaRPr lang="en-US" sz="800" dirty="0"/>
          </a:p>
        </p:txBody>
      </p:sp>
      <p:sp>
        <p:nvSpPr>
          <p:cNvPr id="6" name="Text 3"/>
          <p:cNvSpPr txBox="1"/>
          <p:nvPr/>
        </p:nvSpPr>
        <p:spPr>
          <a:xfrm>
            <a:off x="548640" y="2834640"/>
            <a:ext cx="10058400" cy="1097280"/>
          </a:xfrm>
          <a:prstGeom prst="rect">
            <a:avLst/>
          </a:prstGeom>
          <a:noFill/>
          <a:ln/>
        </p:spPr>
        <p:txBody>
          <a:bodyPr wrap="square" lIns="0" tIns="0" rIns="0" bIns="0" rtlCol="0" anchor="t"/>
          <a:lstStyle/>
          <a:p>
            <a:pPr indent="0" marL="0">
              <a:buNone/>
            </a:pPr>
            <a:r>
              <a:rPr lang="en-US" sz="3400" spc="-65" kern="0" dirty="0">
                <a:solidFill>
                  <a:srgbClr val="FFFFFF"/>
                </a:solidFill>
                <a:latin typeface="Helvetica Neue" pitchFamily="34" charset="0"/>
                <a:ea typeface="Helvetica Neue" pitchFamily="34" charset="-122"/>
                <a:cs typeface="Helvetica Neue" pitchFamily="34" charset="-120"/>
              </a:rPr>
              <a:t>The platform.</a:t>
            </a:r>
            <a:endParaRPr lang="en-US" sz="3400" dirty="0"/>
          </a:p>
        </p:txBody>
      </p:sp>
      <p:sp>
        <p:nvSpPr>
          <p:cNvPr id="7" name="Text 4"/>
          <p:cNvSpPr txBox="1"/>
          <p:nvPr/>
        </p:nvSpPr>
        <p:spPr>
          <a:xfrm>
            <a:off x="548640" y="4114800"/>
            <a:ext cx="8686800" cy="822960"/>
          </a:xfrm>
          <a:prstGeom prst="rect">
            <a:avLst/>
          </a:prstGeom>
          <a:noFill/>
          <a:ln/>
        </p:spPr>
        <p:txBody>
          <a:bodyPr wrap="square" lIns="0" tIns="0" rIns="0" bIns="0" rtlCol="0" anchor="t"/>
          <a:lstStyle/>
          <a:p>
            <a:pPr indent="0" marL="0">
              <a:buNone/>
            </a:pPr>
            <a:r>
              <a:rPr lang="en-US" sz="1300" dirty="0">
                <a:solidFill>
                  <a:srgbClr val="F1F3F0"/>
                </a:solidFill>
                <a:latin typeface="Helvetica Neue" pitchFamily="34" charset="0"/>
                <a:ea typeface="Helvetica Neue" pitchFamily="34" charset="-122"/>
                <a:cs typeface="Helvetica Neue" pitchFamily="34" charset="-120"/>
              </a:rPr>
              <a:t>Acquire, partner and develop the scattered capability of munitions end-of-life into one counterparty that an allied government can call - with the foothold's custody doctrine running through all of it.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66705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FFFFFF"/>
                </a:solidFill>
                <a:latin typeface="IBM Plex Mono" pitchFamily="34" charset="0"/>
                <a:ea typeface="IBM Plex Mono" pitchFamily="34" charset="-122"/>
                <a:cs typeface="IBM Plex Mono" pitchFamily="34" charset="-120"/>
              </a:rPr>
              <a:t>17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FFFFFF"/>
                </a:solidFill>
                <a:latin typeface="IBM Plex Mono" pitchFamily="34" charset="0"/>
                <a:ea typeface="IBM Plex Mono" pitchFamily="34" charset="-122"/>
                <a:cs typeface="IBM Plex Mono" pitchFamily="34" charset="-120"/>
              </a:rPr>
              <a:t>THE PLATFORM</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FFFFFF"/>
                </a:solidFill>
                <a:latin typeface="Helvetica Neue" pitchFamily="34" charset="0"/>
                <a:ea typeface="Helvetica Neue" pitchFamily="34" charset="-122"/>
                <a:cs typeface="Helvetica Neue" pitchFamily="34" charset="-120"/>
              </a:rPr>
              <a:t>Assemble the platform: full service, one counterparty</a:t>
            </a:r>
            <a:endParaRPr lang="en-US" sz="2200" dirty="0"/>
          </a:p>
        </p:txBody>
      </p:sp>
      <p:sp>
        <p:nvSpPr>
          <p:cNvPr id="6" name="Text 3"/>
          <p:cNvSpPr txBox="1"/>
          <p:nvPr/>
        </p:nvSpPr>
        <p:spPr>
          <a:xfrm>
            <a:off x="548640" y="1417320"/>
            <a:ext cx="10789920" cy="548640"/>
          </a:xfrm>
          <a:prstGeom prst="rect">
            <a:avLst/>
          </a:prstGeom>
          <a:noFill/>
          <a:ln/>
        </p:spPr>
        <p:txBody>
          <a:bodyPr wrap="square" lIns="0" tIns="0" rIns="0" bIns="0" rtlCol="0" anchor="t"/>
          <a:lstStyle/>
          <a:p>
            <a:pPr indent="0" marL="0">
              <a:buNone/>
            </a:pPr>
            <a:r>
              <a:rPr lang="en-US" sz="1200" dirty="0">
                <a:solidFill>
                  <a:srgbClr val="F1F3F0"/>
                </a:solidFill>
                <a:latin typeface="Helvetica Neue" pitchFamily="34" charset="0"/>
                <a:ea typeface="Helvetica Neue" pitchFamily="34" charset="-122"/>
                <a:cs typeface="Helvetica Neue" pitchFamily="34" charset="-120"/>
              </a:rPr>
              <a:t>The capability to unmake the world's munitions already exists - scattered across founder-held specialists, most founded in the 1980s and 90s, each holding one capability, one site, one generation of know-how. What has never existed is the company.</a:t>
            </a:r>
            <a:endParaRPr lang="en-US" sz="1200" dirty="0"/>
          </a:p>
        </p:txBody>
      </p:sp>
      <p:sp>
        <p:nvSpPr>
          <p:cNvPr id="7" name="Shape 4"/>
          <p:cNvSpPr/>
          <p:nvPr/>
        </p:nvSpPr>
        <p:spPr>
          <a:xfrm>
            <a:off x="548640" y="2331720"/>
            <a:ext cx="3611880" cy="1417320"/>
          </a:xfrm>
          <a:prstGeom prst="rect">
            <a:avLst/>
          </a:prstGeom>
          <a:solidFill>
            <a:srgbClr val="000000"/>
          </a:solidFill>
          <a:ln w="6350">
            <a:solidFill>
              <a:srgbClr val="8A9585"/>
            </a:solidFill>
            <a:prstDash val="solid"/>
          </a:ln>
        </p:spPr>
      </p:sp>
      <p:sp>
        <p:nvSpPr>
          <p:cNvPr id="8" name="Text 5"/>
          <p:cNvSpPr txBox="1"/>
          <p:nvPr/>
        </p:nvSpPr>
        <p:spPr>
          <a:xfrm>
            <a:off x="713232" y="2395728"/>
            <a:ext cx="3200400" cy="365760"/>
          </a:xfrm>
          <a:prstGeom prst="rect">
            <a:avLst/>
          </a:prstGeom>
          <a:noFill/>
          <a:ln/>
        </p:spPr>
        <p:txBody>
          <a:bodyPr wrap="square" lIns="0" tIns="0" rIns="0" bIns="0" rtlCol="0" anchor="ctr"/>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Acquire</a:t>
            </a:r>
            <a:endParaRPr lang="en-US" sz="1800" dirty="0"/>
          </a:p>
        </p:txBody>
      </p:sp>
      <p:sp>
        <p:nvSpPr>
          <p:cNvPr id="9" name="Text 6"/>
          <p:cNvSpPr txBox="1"/>
          <p:nvPr/>
        </p:nvSpPr>
        <p:spPr>
          <a:xfrm>
            <a:off x="713232" y="2788920"/>
            <a:ext cx="3291840" cy="914400"/>
          </a:xfrm>
          <a:prstGeom prst="rect">
            <a:avLst/>
          </a:prstGeom>
          <a:noFill/>
          <a:ln/>
        </p:spPr>
        <p:txBody>
          <a:bodyPr wrap="square" lIns="0" tIns="0" rIns="0" bIns="0" rtlCol="0" anchor="t"/>
          <a:lstStyle/>
          <a:p>
            <a:pPr algn="l" indent="0" marL="0">
              <a:spcAft>
                <a:spcPts val="400"/>
              </a:spcAft>
              <a:buNone/>
            </a:pPr>
            <a:r>
              <a:rPr lang="en-US" sz="850" dirty="0">
                <a:solidFill>
                  <a:srgbClr val="F1F3F0"/>
                </a:solidFill>
                <a:latin typeface="Helvetica Neue" pitchFamily="34" charset="0"/>
                <a:ea typeface="Helvetica Neue" pitchFamily="34" charset="-122"/>
                <a:cs typeface="Helvetica Neue" pitchFamily="34" charset="-120"/>
              </a:rPr>
              <a:t>Buy the back of the lifecycle while it is cheap. Founder-held specialists at a succession cliff; permits, past performance and tribal knowledge priced like plumbing at 4–7x EBITDA ³⁴.</a:t>
            </a:r>
            <a:endParaRPr lang="en-US" sz="850" dirty="0"/>
          </a:p>
        </p:txBody>
      </p:sp>
      <p:sp>
        <p:nvSpPr>
          <p:cNvPr id="10" name="Shape 7"/>
          <p:cNvSpPr/>
          <p:nvPr/>
        </p:nvSpPr>
        <p:spPr>
          <a:xfrm>
            <a:off x="4297680" y="2331720"/>
            <a:ext cx="3611880" cy="1417320"/>
          </a:xfrm>
          <a:prstGeom prst="rect">
            <a:avLst/>
          </a:prstGeom>
          <a:solidFill>
            <a:srgbClr val="000000"/>
          </a:solidFill>
          <a:ln w="6350">
            <a:solidFill>
              <a:srgbClr val="8A9585"/>
            </a:solidFill>
            <a:prstDash val="solid"/>
          </a:ln>
        </p:spPr>
      </p:sp>
      <p:sp>
        <p:nvSpPr>
          <p:cNvPr id="11" name="Text 8"/>
          <p:cNvSpPr txBox="1"/>
          <p:nvPr/>
        </p:nvSpPr>
        <p:spPr>
          <a:xfrm>
            <a:off x="4462272" y="2395728"/>
            <a:ext cx="3200400" cy="365760"/>
          </a:xfrm>
          <a:prstGeom prst="rect">
            <a:avLst/>
          </a:prstGeom>
          <a:noFill/>
          <a:ln/>
        </p:spPr>
        <p:txBody>
          <a:bodyPr wrap="square" lIns="0" tIns="0" rIns="0" bIns="0" rtlCol="0" anchor="ctr"/>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Partner</a:t>
            </a:r>
            <a:endParaRPr lang="en-US" sz="1800" dirty="0"/>
          </a:p>
        </p:txBody>
      </p:sp>
      <p:sp>
        <p:nvSpPr>
          <p:cNvPr id="12" name="Text 9"/>
          <p:cNvSpPr txBox="1"/>
          <p:nvPr/>
        </p:nvSpPr>
        <p:spPr>
          <a:xfrm>
            <a:off x="4462272" y="2788920"/>
            <a:ext cx="3291840" cy="914400"/>
          </a:xfrm>
          <a:prstGeom prst="rect">
            <a:avLst/>
          </a:prstGeom>
          <a:noFill/>
          <a:ln/>
        </p:spPr>
        <p:txBody>
          <a:bodyPr wrap="square" lIns="0" tIns="0" rIns="0" bIns="0" rtlCol="0" anchor="t"/>
          <a:lstStyle/>
          <a:p>
            <a:pPr algn="l" indent="0" marL="0">
              <a:spcAft>
                <a:spcPts val="400"/>
              </a:spcAft>
              <a:buNone/>
            </a:pPr>
            <a:r>
              <a:rPr lang="en-US" sz="850" dirty="0">
                <a:solidFill>
                  <a:srgbClr val="F1F3F0"/>
                </a:solidFill>
                <a:latin typeface="Helvetica Neue" pitchFamily="34" charset="0"/>
                <a:ea typeface="Helvetica Neue" pitchFamily="34" charset="-122"/>
                <a:cs typeface="Helvetica Neue" pitchFamily="34" charset="-120"/>
              </a:rPr>
              <a:t>Import what the industry never had: robotics off the most dangerous work, universities for sensing and materials science, technologies from outside demilitarization entirely.</a:t>
            </a:r>
            <a:endParaRPr lang="en-US" sz="850" dirty="0"/>
          </a:p>
        </p:txBody>
      </p:sp>
      <p:sp>
        <p:nvSpPr>
          <p:cNvPr id="13" name="Shape 10"/>
          <p:cNvSpPr/>
          <p:nvPr/>
        </p:nvSpPr>
        <p:spPr>
          <a:xfrm>
            <a:off x="8046720" y="2331720"/>
            <a:ext cx="3611880" cy="1417320"/>
          </a:xfrm>
          <a:prstGeom prst="rect">
            <a:avLst/>
          </a:prstGeom>
          <a:solidFill>
            <a:srgbClr val="000000"/>
          </a:solidFill>
          <a:ln w="6350">
            <a:solidFill>
              <a:srgbClr val="8A9585"/>
            </a:solidFill>
            <a:prstDash val="solid"/>
          </a:ln>
        </p:spPr>
      </p:sp>
      <p:sp>
        <p:nvSpPr>
          <p:cNvPr id="14" name="Text 11"/>
          <p:cNvSpPr txBox="1"/>
          <p:nvPr/>
        </p:nvSpPr>
        <p:spPr>
          <a:xfrm>
            <a:off x="8211312" y="2395728"/>
            <a:ext cx="3200400" cy="365760"/>
          </a:xfrm>
          <a:prstGeom prst="rect">
            <a:avLst/>
          </a:prstGeom>
          <a:noFill/>
          <a:ln/>
        </p:spPr>
        <p:txBody>
          <a:bodyPr wrap="square" lIns="0" tIns="0" rIns="0" bIns="0" rtlCol="0" anchor="ctr"/>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Develop</a:t>
            </a:r>
            <a:endParaRPr lang="en-US" sz="1800" dirty="0"/>
          </a:p>
        </p:txBody>
      </p:sp>
      <p:sp>
        <p:nvSpPr>
          <p:cNvPr id="15" name="Text 12"/>
          <p:cNvSpPr txBox="1"/>
          <p:nvPr/>
        </p:nvSpPr>
        <p:spPr>
          <a:xfrm>
            <a:off x="8211312" y="2788920"/>
            <a:ext cx="3291840" cy="914400"/>
          </a:xfrm>
          <a:prstGeom prst="rect">
            <a:avLst/>
          </a:prstGeom>
          <a:noFill/>
          <a:ln/>
        </p:spPr>
        <p:txBody>
          <a:bodyPr wrap="square" lIns="0" tIns="0" rIns="0" bIns="0" rtlCol="0" anchor="t"/>
          <a:lstStyle/>
          <a:p>
            <a:pPr algn="l" indent="0" marL="0">
              <a:spcAft>
                <a:spcPts val="400"/>
              </a:spcAft>
              <a:buNone/>
            </a:pPr>
            <a:r>
              <a:rPr lang="en-US" sz="850" dirty="0">
                <a:solidFill>
                  <a:srgbClr val="F1F3F0"/>
                </a:solidFill>
                <a:latin typeface="Helvetica Neue" pitchFamily="34" charset="0"/>
                <a:ea typeface="Helvetica Neue" pitchFamily="34" charset="-122"/>
                <a:cs typeface="Helvetica Neue" pitchFamily="34" charset="-120"/>
              </a:rPr>
              <a:t>Build what the market does not sell: extend our own destruction technology up the calibre ladder and into containerised and fixed formats, and own the certification and custody-data layer.</a:t>
            </a:r>
            <a:endParaRPr lang="en-US" sz="850" dirty="0"/>
          </a:p>
        </p:txBody>
      </p:sp>
      <p:sp>
        <p:nvSpPr>
          <p:cNvPr id="16" name="Text 13"/>
          <p:cNvSpPr txBox="1"/>
          <p:nvPr/>
        </p:nvSpPr>
        <p:spPr>
          <a:xfrm>
            <a:off x="548640" y="3931920"/>
            <a:ext cx="7315200" cy="201168"/>
          </a:xfrm>
          <a:prstGeom prst="rect">
            <a:avLst/>
          </a:prstGeom>
          <a:noFill/>
          <a:ln/>
        </p:spPr>
        <p:txBody>
          <a:bodyPr wrap="square" lIns="0" tIns="0" rIns="0" bIns="0" rtlCol="0" anchor="t"/>
          <a:lstStyle/>
          <a:p>
            <a:pPr indent="0" marL="0">
              <a:buNone/>
            </a:pPr>
            <a:r>
              <a:rPr lang="en-US" sz="700" spc="150" kern="0" dirty="0">
                <a:solidFill>
                  <a:srgbClr val="FFFFFF"/>
                </a:solidFill>
                <a:latin typeface="IBM Plex Mono" pitchFamily="34" charset="0"/>
                <a:ea typeface="IBM Plex Mono" pitchFamily="34" charset="-122"/>
                <a:cs typeface="IBM Plex Mono" pitchFamily="34" charset="-120"/>
              </a:rPr>
              <a:t>THE FULL-SERVICE CATALOGUE - SIX LINES, ONE COUNTERPARTY</a:t>
            </a:r>
            <a:endParaRPr lang="en-US" sz="700" dirty="0"/>
          </a:p>
        </p:txBody>
      </p:sp>
      <p:sp>
        <p:nvSpPr>
          <p:cNvPr id="17" name="Shape 14"/>
          <p:cNvSpPr/>
          <p:nvPr/>
        </p:nvSpPr>
        <p:spPr>
          <a:xfrm>
            <a:off x="548640" y="4206240"/>
            <a:ext cx="3611880" cy="621792"/>
          </a:xfrm>
          <a:prstGeom prst="rect">
            <a:avLst/>
          </a:prstGeom>
          <a:solidFill>
            <a:srgbClr val="FFFFFF"/>
          </a:solidFill>
          <a:ln w="12700">
            <a:solidFill>
              <a:srgbClr val="FFFFFF"/>
            </a:solidFill>
            <a:prstDash val="solid"/>
          </a:ln>
        </p:spPr>
      </p:sp>
      <p:sp>
        <p:nvSpPr>
          <p:cNvPr id="18" name="Text 15"/>
          <p:cNvSpPr txBox="1"/>
          <p:nvPr/>
        </p:nvSpPr>
        <p:spPr>
          <a:xfrm>
            <a:off x="685800" y="4279392"/>
            <a:ext cx="3383280" cy="256032"/>
          </a:xfrm>
          <a:prstGeom prst="rect">
            <a:avLst/>
          </a:prstGeom>
          <a:noFill/>
          <a:ln/>
        </p:spPr>
        <p:txBody>
          <a:bodyPr wrap="square" lIns="0" tIns="0" rIns="0" bIns="0" rtlCol="0" anchor="t"/>
          <a:lstStyle/>
          <a:p>
            <a:pPr algn="l" indent="0" marL="0">
              <a:spcAft>
                <a:spcPts val="400"/>
              </a:spcAft>
              <a:buNone/>
            </a:pPr>
            <a:r>
              <a:rPr lang="en-US" sz="950" b="1" dirty="0">
                <a:solidFill>
                  <a:srgbClr val="000000"/>
                </a:solidFill>
                <a:latin typeface="Helvetica Neue" pitchFamily="34" charset="0"/>
                <a:ea typeface="Helvetica Neue" pitchFamily="34" charset="-122"/>
                <a:cs typeface="Helvetica Neue" pitchFamily="34" charset="-120"/>
              </a:rPr>
              <a:t>Deployable custody destruction</a:t>
            </a:r>
            <a:endParaRPr lang="en-US" sz="950" dirty="0"/>
          </a:p>
        </p:txBody>
      </p:sp>
      <p:sp>
        <p:nvSpPr>
          <p:cNvPr id="19" name="Text 16"/>
          <p:cNvSpPr txBox="1"/>
          <p:nvPr/>
        </p:nvSpPr>
        <p:spPr>
          <a:xfrm>
            <a:off x="685800" y="4517136"/>
            <a:ext cx="3383280" cy="27432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Mobile, on-site, same-day, inside the owner's perimeter - operating today</a:t>
            </a:r>
            <a:endParaRPr lang="en-US" sz="750" dirty="0"/>
          </a:p>
        </p:txBody>
      </p:sp>
      <p:sp>
        <p:nvSpPr>
          <p:cNvPr id="20" name="Shape 17"/>
          <p:cNvSpPr/>
          <p:nvPr/>
        </p:nvSpPr>
        <p:spPr>
          <a:xfrm>
            <a:off x="4297680" y="4206240"/>
            <a:ext cx="3611880" cy="621792"/>
          </a:xfrm>
          <a:prstGeom prst="rect">
            <a:avLst/>
          </a:prstGeom>
          <a:solidFill>
            <a:srgbClr val="FFFFFF"/>
          </a:solidFill>
          <a:ln w="12700">
            <a:solidFill>
              <a:srgbClr val="FFFFFF"/>
            </a:solidFill>
            <a:prstDash val="solid"/>
          </a:ln>
        </p:spPr>
      </p:sp>
      <p:sp>
        <p:nvSpPr>
          <p:cNvPr id="21" name="Text 18"/>
          <p:cNvSpPr txBox="1"/>
          <p:nvPr/>
        </p:nvSpPr>
        <p:spPr>
          <a:xfrm>
            <a:off x="4434840" y="4279392"/>
            <a:ext cx="3383280" cy="256032"/>
          </a:xfrm>
          <a:prstGeom prst="rect">
            <a:avLst/>
          </a:prstGeom>
          <a:noFill/>
          <a:ln/>
        </p:spPr>
        <p:txBody>
          <a:bodyPr wrap="square" lIns="0" tIns="0" rIns="0" bIns="0" rtlCol="0" anchor="t"/>
          <a:lstStyle/>
          <a:p>
            <a:pPr algn="l" indent="0" marL="0">
              <a:spcAft>
                <a:spcPts val="400"/>
              </a:spcAft>
              <a:buNone/>
            </a:pPr>
            <a:r>
              <a:rPr lang="en-US" sz="950" b="1" dirty="0">
                <a:solidFill>
                  <a:srgbClr val="000000"/>
                </a:solidFill>
                <a:latin typeface="Helvetica Neue" pitchFamily="34" charset="0"/>
                <a:ea typeface="Helvetica Neue" pitchFamily="34" charset="-122"/>
                <a:cs typeface="Helvetica Neue" pitchFamily="34" charset="-120"/>
              </a:rPr>
              <a:t>Large-calibre &amp; artillery demilitarization</a:t>
            </a:r>
            <a:endParaRPr lang="en-US" sz="950" dirty="0"/>
          </a:p>
        </p:txBody>
      </p:sp>
      <p:sp>
        <p:nvSpPr>
          <p:cNvPr id="22" name="Text 19"/>
          <p:cNvSpPr txBox="1"/>
          <p:nvPr/>
        </p:nvSpPr>
        <p:spPr>
          <a:xfrm>
            <a:off x="4434840" y="4517136"/>
            <a:ext cx="3383280" cy="27432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The tonnage end of the market, up the calibre ladder</a:t>
            </a:r>
            <a:endParaRPr lang="en-US" sz="750" dirty="0"/>
          </a:p>
        </p:txBody>
      </p:sp>
      <p:sp>
        <p:nvSpPr>
          <p:cNvPr id="23" name="Shape 20"/>
          <p:cNvSpPr/>
          <p:nvPr/>
        </p:nvSpPr>
        <p:spPr>
          <a:xfrm>
            <a:off x="8046720" y="4206240"/>
            <a:ext cx="3611880" cy="621792"/>
          </a:xfrm>
          <a:prstGeom prst="rect">
            <a:avLst/>
          </a:prstGeom>
          <a:solidFill>
            <a:srgbClr val="FFFFFF"/>
          </a:solidFill>
          <a:ln w="12700">
            <a:solidFill>
              <a:srgbClr val="FFFFFF"/>
            </a:solidFill>
            <a:prstDash val="solid"/>
          </a:ln>
        </p:spPr>
      </p:sp>
      <p:sp>
        <p:nvSpPr>
          <p:cNvPr id="24" name="Text 21"/>
          <p:cNvSpPr txBox="1"/>
          <p:nvPr/>
        </p:nvSpPr>
        <p:spPr>
          <a:xfrm>
            <a:off x="8183880" y="4279392"/>
            <a:ext cx="3383280" cy="256032"/>
          </a:xfrm>
          <a:prstGeom prst="rect">
            <a:avLst/>
          </a:prstGeom>
          <a:noFill/>
          <a:ln/>
        </p:spPr>
        <p:txBody>
          <a:bodyPr wrap="square" lIns="0" tIns="0" rIns="0" bIns="0" rtlCol="0" anchor="t"/>
          <a:lstStyle/>
          <a:p>
            <a:pPr algn="l" indent="0" marL="0">
              <a:spcAft>
                <a:spcPts val="400"/>
              </a:spcAft>
              <a:buNone/>
            </a:pPr>
            <a:r>
              <a:rPr lang="en-US" sz="950" b="1" dirty="0">
                <a:solidFill>
                  <a:srgbClr val="000000"/>
                </a:solidFill>
                <a:latin typeface="Helvetica Neue" pitchFamily="34" charset="0"/>
                <a:ea typeface="Helvetica Neue" pitchFamily="34" charset="-122"/>
                <a:cs typeface="Helvetica Neue" pitchFamily="34" charset="-120"/>
              </a:rPr>
              <a:t>Materials recovery &amp; reclamation</a:t>
            </a:r>
            <a:endParaRPr lang="en-US" sz="950" dirty="0"/>
          </a:p>
        </p:txBody>
      </p:sp>
      <p:sp>
        <p:nvSpPr>
          <p:cNvPr id="25" name="Text 22"/>
          <p:cNvSpPr txBox="1"/>
          <p:nvPr/>
        </p:nvSpPr>
        <p:spPr>
          <a:xfrm>
            <a:off x="8183880" y="4517136"/>
            <a:ext cx="3383280" cy="27432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Critical minerals returned to allied supply</a:t>
            </a:r>
            <a:endParaRPr lang="en-US" sz="750" dirty="0"/>
          </a:p>
        </p:txBody>
      </p:sp>
      <p:sp>
        <p:nvSpPr>
          <p:cNvPr id="26" name="Shape 23"/>
          <p:cNvSpPr/>
          <p:nvPr/>
        </p:nvSpPr>
        <p:spPr>
          <a:xfrm>
            <a:off x="548640" y="4919472"/>
            <a:ext cx="3611880" cy="621792"/>
          </a:xfrm>
          <a:prstGeom prst="rect">
            <a:avLst/>
          </a:prstGeom>
          <a:solidFill>
            <a:srgbClr val="FFFFFF"/>
          </a:solidFill>
          <a:ln w="12700">
            <a:solidFill>
              <a:srgbClr val="FFFFFF"/>
            </a:solidFill>
            <a:prstDash val="solid"/>
          </a:ln>
        </p:spPr>
      </p:sp>
      <p:sp>
        <p:nvSpPr>
          <p:cNvPr id="27" name="Text 24"/>
          <p:cNvSpPr txBox="1"/>
          <p:nvPr/>
        </p:nvSpPr>
        <p:spPr>
          <a:xfrm>
            <a:off x="685800" y="4992624"/>
            <a:ext cx="3383280" cy="256032"/>
          </a:xfrm>
          <a:prstGeom prst="rect">
            <a:avLst/>
          </a:prstGeom>
          <a:noFill/>
          <a:ln/>
        </p:spPr>
        <p:txBody>
          <a:bodyPr wrap="square" lIns="0" tIns="0" rIns="0" bIns="0" rtlCol="0" anchor="t"/>
          <a:lstStyle/>
          <a:p>
            <a:pPr algn="l" indent="0" marL="0">
              <a:spcAft>
                <a:spcPts val="400"/>
              </a:spcAft>
              <a:buNone/>
            </a:pPr>
            <a:r>
              <a:rPr lang="en-US" sz="950" b="1" dirty="0">
                <a:solidFill>
                  <a:srgbClr val="000000"/>
                </a:solidFill>
                <a:latin typeface="Helvetica Neue" pitchFamily="34" charset="0"/>
                <a:ea typeface="Helvetica Neue" pitchFamily="34" charset="-122"/>
                <a:cs typeface="Helvetica Neue" pitchFamily="34" charset="-120"/>
              </a:rPr>
              <a:t>Plant &amp; equipment engineering</a:t>
            </a:r>
            <a:endParaRPr lang="en-US" sz="950" dirty="0"/>
          </a:p>
        </p:txBody>
      </p:sp>
      <p:sp>
        <p:nvSpPr>
          <p:cNvPr id="28" name="Text 25"/>
          <p:cNvSpPr txBox="1"/>
          <p:nvPr/>
        </p:nvSpPr>
        <p:spPr>
          <a:xfrm>
            <a:off x="685800" y="5230368"/>
            <a:ext cx="3383280" cy="27432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Design-build of sovereign end-of-life facilities</a:t>
            </a:r>
            <a:endParaRPr lang="en-US" sz="750" dirty="0"/>
          </a:p>
        </p:txBody>
      </p:sp>
      <p:sp>
        <p:nvSpPr>
          <p:cNvPr id="29" name="Shape 26"/>
          <p:cNvSpPr/>
          <p:nvPr/>
        </p:nvSpPr>
        <p:spPr>
          <a:xfrm>
            <a:off x="4297680" y="4919472"/>
            <a:ext cx="3611880" cy="621792"/>
          </a:xfrm>
          <a:prstGeom prst="rect">
            <a:avLst/>
          </a:prstGeom>
          <a:solidFill>
            <a:srgbClr val="FFFFFF"/>
          </a:solidFill>
          <a:ln w="12700">
            <a:solidFill>
              <a:srgbClr val="FFFFFF"/>
            </a:solidFill>
            <a:prstDash val="solid"/>
          </a:ln>
        </p:spPr>
      </p:sp>
      <p:sp>
        <p:nvSpPr>
          <p:cNvPr id="30" name="Text 27"/>
          <p:cNvSpPr txBox="1"/>
          <p:nvPr/>
        </p:nvSpPr>
        <p:spPr>
          <a:xfrm>
            <a:off x="4434840" y="4992624"/>
            <a:ext cx="3383280" cy="256032"/>
          </a:xfrm>
          <a:prstGeom prst="rect">
            <a:avLst/>
          </a:prstGeom>
          <a:noFill/>
          <a:ln/>
        </p:spPr>
        <p:txBody>
          <a:bodyPr wrap="square" lIns="0" tIns="0" rIns="0" bIns="0" rtlCol="0" anchor="t"/>
          <a:lstStyle/>
          <a:p>
            <a:pPr algn="l" indent="0" marL="0">
              <a:spcAft>
                <a:spcPts val="400"/>
              </a:spcAft>
              <a:buNone/>
            </a:pPr>
            <a:r>
              <a:rPr lang="en-US" sz="950" b="1" dirty="0">
                <a:solidFill>
                  <a:srgbClr val="000000"/>
                </a:solidFill>
                <a:latin typeface="Helvetica Neue" pitchFamily="34" charset="0"/>
                <a:ea typeface="Helvetica Neue" pitchFamily="34" charset="-122"/>
                <a:cs typeface="Helvetica Neue" pitchFamily="34" charset="-120"/>
              </a:rPr>
              <a:t>Automated &amp; unmanned processing</a:t>
            </a:r>
            <a:endParaRPr lang="en-US" sz="950" dirty="0"/>
          </a:p>
        </p:txBody>
      </p:sp>
      <p:sp>
        <p:nvSpPr>
          <p:cNvPr id="31" name="Text 28"/>
          <p:cNvSpPr txBox="1"/>
          <p:nvPr/>
        </p:nvSpPr>
        <p:spPr>
          <a:xfrm>
            <a:off x="4434840" y="5230368"/>
            <a:ext cx="3383280" cy="27432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Robotics and sensing over the dangerous work</a:t>
            </a:r>
            <a:endParaRPr lang="en-US" sz="750" dirty="0"/>
          </a:p>
        </p:txBody>
      </p:sp>
      <p:sp>
        <p:nvSpPr>
          <p:cNvPr id="32" name="Shape 29"/>
          <p:cNvSpPr/>
          <p:nvPr/>
        </p:nvSpPr>
        <p:spPr>
          <a:xfrm>
            <a:off x="8046720" y="4919472"/>
            <a:ext cx="3611880" cy="621792"/>
          </a:xfrm>
          <a:prstGeom prst="rect">
            <a:avLst/>
          </a:prstGeom>
          <a:solidFill>
            <a:srgbClr val="FFFFFF"/>
          </a:solidFill>
          <a:ln w="12700">
            <a:solidFill>
              <a:srgbClr val="FFFFFF"/>
            </a:solidFill>
            <a:prstDash val="solid"/>
          </a:ln>
        </p:spPr>
      </p:sp>
      <p:sp>
        <p:nvSpPr>
          <p:cNvPr id="33" name="Text 30"/>
          <p:cNvSpPr txBox="1"/>
          <p:nvPr/>
        </p:nvSpPr>
        <p:spPr>
          <a:xfrm>
            <a:off x="8183880" y="4992624"/>
            <a:ext cx="3383280" cy="256032"/>
          </a:xfrm>
          <a:prstGeom prst="rect">
            <a:avLst/>
          </a:prstGeom>
          <a:noFill/>
          <a:ln/>
        </p:spPr>
        <p:txBody>
          <a:bodyPr wrap="square" lIns="0" tIns="0" rIns="0" bIns="0" rtlCol="0" anchor="t"/>
          <a:lstStyle/>
          <a:p>
            <a:pPr algn="l" indent="0" marL="0">
              <a:spcAft>
                <a:spcPts val="400"/>
              </a:spcAft>
              <a:buNone/>
            </a:pPr>
            <a:r>
              <a:rPr lang="en-US" sz="950" b="1" dirty="0">
                <a:solidFill>
                  <a:srgbClr val="000000"/>
                </a:solidFill>
                <a:latin typeface="Helvetica Neue" pitchFamily="34" charset="0"/>
                <a:ea typeface="Helvetica Neue" pitchFamily="34" charset="-122"/>
                <a:cs typeface="Helvetica Neue" pitchFamily="34" charset="-120"/>
              </a:rPr>
              <a:t>Certification &amp; chain-of-custody data</a:t>
            </a:r>
            <a:endParaRPr lang="en-US" sz="950" dirty="0"/>
          </a:p>
        </p:txBody>
      </p:sp>
      <p:sp>
        <p:nvSpPr>
          <p:cNvPr id="34" name="Text 31"/>
          <p:cNvSpPr txBox="1"/>
          <p:nvPr/>
        </p:nvSpPr>
        <p:spPr>
          <a:xfrm>
            <a:off x="8183880" y="5230368"/>
            <a:ext cx="3383280" cy="27432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The audit standard for the category</a:t>
            </a:r>
            <a:endParaRPr lang="en-US" sz="750" dirty="0"/>
          </a:p>
        </p:txBody>
      </p:sp>
      <p:sp>
        <p:nvSpPr>
          <p:cNvPr id="35" name="Text 32"/>
          <p:cNvSpPr txBox="1"/>
          <p:nvPr/>
        </p:nvSpPr>
        <p:spPr>
          <a:xfrm>
            <a:off x="548640" y="5760720"/>
            <a:ext cx="10972800" cy="411480"/>
          </a:xfrm>
          <a:prstGeom prst="rect">
            <a:avLst/>
          </a:prstGeom>
          <a:noFill/>
          <a:ln/>
        </p:spPr>
        <p:txBody>
          <a:bodyPr wrap="square" lIns="0" tIns="0" rIns="0" bIns="0" rtlCol="0" anchor="t"/>
          <a:lstStyle/>
          <a:p>
            <a:pPr algn="l" indent="0" marL="0">
              <a:spcAft>
                <a:spcPts val="400"/>
              </a:spcAft>
              <a:buNone/>
            </a:pPr>
            <a:r>
              <a:rPr lang="en-US" sz="900" i="1" dirty="0">
                <a:solidFill>
                  <a:srgbClr val="F1F3F0"/>
                </a:solidFill>
                <a:latin typeface="Helvetica Neue" pitchFamily="34" charset="0"/>
                <a:ea typeface="Helvetica Neue" pitchFamily="34" charset="-122"/>
                <a:cs typeface="Helvetica Neue" pitchFamily="34" charset="-120"/>
              </a:rPr>
              <a:t>Governments already buy every line - separately, from single-capability vendors. The platform sells the lifecycle. Capability categories only at this stage; the target work is done and held for diligence.</a:t>
            </a:r>
            <a:endParaRPr lang="en-US" sz="900" dirty="0"/>
          </a:p>
        </p:txBody>
      </p:sp>
      <p:sp>
        <p:nvSpPr>
          <p:cNvPr id="36" name="Text 33"/>
          <p:cNvSpPr txBox="1"/>
          <p:nvPr/>
        </p:nvSpPr>
        <p:spPr>
          <a:xfrm>
            <a:off x="548640" y="6144768"/>
            <a:ext cx="9997135" cy="274320"/>
          </a:xfrm>
          <a:prstGeom prst="rect">
            <a:avLst/>
          </a:prstGeom>
          <a:noFill/>
          <a:ln/>
        </p:spPr>
        <p:txBody>
          <a:bodyPr wrap="square" lIns="0" tIns="0" rIns="0" bIns="0" rtlCol="0" anchor="b"/>
          <a:lstStyle/>
          <a:p>
            <a:pPr indent="0" marL="0">
              <a:buNone/>
            </a:pPr>
            <a:endParaRPr lang="en-US" sz="650" dirty="0"/>
          </a:p>
        </p:txBody>
      </p:sp>
      <p:sp>
        <p:nvSpPr>
          <p:cNvPr id="37" name="Text 34"/>
          <p:cNvSpPr txBox="1"/>
          <p:nvPr/>
        </p:nvSpPr>
        <p:spPr>
          <a:xfrm>
            <a:off x="548640" y="6144768"/>
            <a:ext cx="10515600" cy="274320"/>
          </a:xfrm>
          <a:prstGeom prst="rect">
            <a:avLst/>
          </a:prstGeom>
          <a:noFill/>
          <a:ln/>
        </p:spPr>
        <p:txBody>
          <a:bodyPr wrap="square" lIns="0" tIns="0" rIns="0" bIns="0" rtlCol="0" anchor="b"/>
          <a:lstStyle/>
          <a:p>
            <a:pPr indent="0" marL="0">
              <a:buNone/>
            </a:pPr>
            <a:r>
              <a:rPr lang="en-US" sz="650" dirty="0">
                <a:solidFill>
                  <a:srgbClr val="D3D9D0"/>
                </a:solidFill>
                <a:latin typeface="IBM Plex Mono" pitchFamily="34" charset="0"/>
                <a:ea typeface="IBM Plex Mono" pitchFamily="34" charset="-122"/>
                <a:cs typeface="IBM Plex Mono" pitchFamily="34" charset="-120"/>
              </a:rPr>
              <a:t>³⁴ GF Data 2025 (sub-$10M TEV 5.5x; $10–25M 6.4x); Pepperdine PCMR 2025 (4.0–8.3x). Disclosed sector transactions 2023–26 cleared 1.5–3.4x revenue (Cadre, Rheinmetall–Expal).</a:t>
            </a:r>
            <a:endParaRPr lang="en-US" sz="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18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ROADMAP</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Technology roadmap: from small arms to full-spectrum demilitarization</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Each stage bolts onto the mobile closed-chamber platform rather than replacing it - added through partnerships, acquisitions and internal engineering. Enabling tracks run continuously underneath.</a:t>
            </a:r>
            <a:endParaRPr lang="en-US" sz="1100" dirty="0"/>
          </a:p>
        </p:txBody>
      </p:sp>
      <p:sp>
        <p:nvSpPr>
          <p:cNvPr id="7" name="Text 4"/>
          <p:cNvSpPr txBox="1"/>
          <p:nvPr/>
        </p:nvSpPr>
        <p:spPr>
          <a:xfrm>
            <a:off x="548640" y="2103120"/>
            <a:ext cx="20116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TODAY · 2026</a:t>
            </a:r>
            <a:endParaRPr lang="en-US" sz="700" dirty="0"/>
          </a:p>
        </p:txBody>
      </p:sp>
      <p:sp>
        <p:nvSpPr>
          <p:cNvPr id="8" name="Shape 5"/>
          <p:cNvSpPr/>
          <p:nvPr/>
        </p:nvSpPr>
        <p:spPr>
          <a:xfrm>
            <a:off x="548640" y="2331720"/>
            <a:ext cx="2121408" cy="2148840"/>
          </a:xfrm>
          <a:prstGeom prst="rect">
            <a:avLst/>
          </a:prstGeom>
          <a:solidFill>
            <a:srgbClr val="66705F"/>
          </a:solidFill>
          <a:ln w="12700">
            <a:solidFill>
              <a:srgbClr val="66705F"/>
            </a:solidFill>
            <a:prstDash val="solid"/>
          </a:ln>
        </p:spPr>
      </p:sp>
      <p:sp>
        <p:nvSpPr>
          <p:cNvPr id="9" name="Text 6"/>
          <p:cNvSpPr txBox="1"/>
          <p:nvPr/>
        </p:nvSpPr>
        <p:spPr>
          <a:xfrm>
            <a:off x="685800" y="2423160"/>
            <a:ext cx="1874520" cy="457200"/>
          </a:xfrm>
          <a:prstGeom prst="rect">
            <a:avLst/>
          </a:prstGeom>
          <a:noFill/>
          <a:ln/>
        </p:spPr>
        <p:txBody>
          <a:bodyPr wrap="square" lIns="0" tIns="0" rIns="0" bIns="0" rtlCol="0" anchor="t"/>
          <a:lstStyle/>
          <a:p>
            <a:pPr algn="l" indent="0" marL="0">
              <a:spcAft>
                <a:spcPts val="400"/>
              </a:spcAft>
              <a:buNone/>
            </a:pPr>
            <a:r>
              <a:rPr lang="en-US" sz="1100" b="1" dirty="0">
                <a:solidFill>
                  <a:srgbClr val="FFFFFF"/>
                </a:solidFill>
                <a:latin typeface="Helvetica Neue" pitchFamily="34" charset="0"/>
                <a:ea typeface="Helvetica Neue" pitchFamily="34" charset="-122"/>
                <a:cs typeface="Helvetica Neue" pitchFamily="34" charset="-120"/>
              </a:rPr>
              <a:t>Small arms through .50 cal</a:t>
            </a:r>
            <a:endParaRPr lang="en-US" sz="1100" dirty="0"/>
          </a:p>
        </p:txBody>
      </p:sp>
      <p:sp>
        <p:nvSpPr>
          <p:cNvPr id="10" name="Text 7"/>
          <p:cNvSpPr txBox="1"/>
          <p:nvPr/>
        </p:nvSpPr>
        <p:spPr>
          <a:xfrm>
            <a:off x="685800" y="2926080"/>
            <a:ext cx="1874520" cy="1508760"/>
          </a:xfrm>
          <a:prstGeom prst="rect">
            <a:avLst/>
          </a:prstGeom>
          <a:noFill/>
          <a:ln/>
        </p:spPr>
        <p:txBody>
          <a:bodyPr wrap="square" lIns="0" tIns="0" rIns="0" bIns="0" rtlCol="0" anchor="t"/>
          <a:lstStyle/>
          <a:p>
            <a:pPr algn="l" indent="0" marL="0">
              <a:spcAft>
                <a:spcPts val="400"/>
              </a:spcAft>
              <a:buNone/>
            </a:pPr>
            <a:r>
              <a:rPr lang="en-US" sz="750" dirty="0">
                <a:solidFill>
                  <a:srgbClr val="F1F3F0"/>
                </a:solidFill>
                <a:latin typeface="Helvetica Neue" pitchFamily="34" charset="0"/>
                <a:ea typeface="Helvetica Neue" pitchFamily="34" charset="-122"/>
                <a:cs typeface="Helvetica Neue" pitchFamily="34" charset="-120"/>
              </a:rPr>
              <a:t>Mobile two-stage closed chamber (eMACS) · metals recovery: lead, brass, copper, steel · police and military customers on four continents</a:t>
            </a:r>
            <a:endParaRPr lang="en-US" sz="750" dirty="0"/>
          </a:p>
        </p:txBody>
      </p:sp>
      <p:sp>
        <p:nvSpPr>
          <p:cNvPr id="11" name="Text 8"/>
          <p:cNvSpPr txBox="1"/>
          <p:nvPr/>
        </p:nvSpPr>
        <p:spPr>
          <a:xfrm>
            <a:off x="2798064" y="2103120"/>
            <a:ext cx="20116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YEAR 1 · 2027</a:t>
            </a:r>
            <a:endParaRPr lang="en-US" sz="700" dirty="0"/>
          </a:p>
        </p:txBody>
      </p:sp>
      <p:sp>
        <p:nvSpPr>
          <p:cNvPr id="12" name="Shape 9"/>
          <p:cNvSpPr/>
          <p:nvPr/>
        </p:nvSpPr>
        <p:spPr>
          <a:xfrm>
            <a:off x="2798064" y="2331720"/>
            <a:ext cx="2121408" cy="2148840"/>
          </a:xfrm>
          <a:prstGeom prst="rect">
            <a:avLst/>
          </a:prstGeom>
          <a:solidFill>
            <a:srgbClr val="F1F3F0"/>
          </a:solidFill>
          <a:ln w="12700">
            <a:solidFill>
              <a:srgbClr val="F1F3F0"/>
            </a:solidFill>
            <a:prstDash val="solid"/>
          </a:ln>
        </p:spPr>
      </p:sp>
      <p:sp>
        <p:nvSpPr>
          <p:cNvPr id="13" name="Text 10"/>
          <p:cNvSpPr txBox="1"/>
          <p:nvPr/>
        </p:nvSpPr>
        <p:spPr>
          <a:xfrm>
            <a:off x="2935224" y="2423160"/>
            <a:ext cx="18745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Large-calibre &amp; bombs</a:t>
            </a:r>
            <a:endParaRPr lang="en-US" sz="1100" dirty="0"/>
          </a:p>
        </p:txBody>
      </p:sp>
      <p:sp>
        <p:nvSpPr>
          <p:cNvPr id="14" name="Text 11"/>
          <p:cNvSpPr txBox="1"/>
          <p:nvPr/>
        </p:nvSpPr>
        <p:spPr>
          <a:xfrm>
            <a:off x="2935224" y="2926080"/>
            <a:ext cx="1874520" cy="150876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Separation front end licensed from an academic partner isolates explosive fill from casing; the thermal unit treats residues. Opens conventional demil scope.</a:t>
            </a:r>
            <a:endParaRPr lang="en-US" sz="750" dirty="0"/>
          </a:p>
        </p:txBody>
      </p:sp>
      <p:sp>
        <p:nvSpPr>
          <p:cNvPr id="15" name="Text 12"/>
          <p:cNvSpPr txBox="1"/>
          <p:nvPr/>
        </p:nvSpPr>
        <p:spPr>
          <a:xfrm>
            <a:off x="5047488" y="2103120"/>
            <a:ext cx="20116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YEAR 2 · 2028</a:t>
            </a:r>
            <a:endParaRPr lang="en-US" sz="700" dirty="0"/>
          </a:p>
        </p:txBody>
      </p:sp>
      <p:sp>
        <p:nvSpPr>
          <p:cNvPr id="16" name="Shape 13"/>
          <p:cNvSpPr/>
          <p:nvPr/>
        </p:nvSpPr>
        <p:spPr>
          <a:xfrm>
            <a:off x="5047488" y="2331720"/>
            <a:ext cx="2121408" cy="2148840"/>
          </a:xfrm>
          <a:prstGeom prst="rect">
            <a:avLst/>
          </a:prstGeom>
          <a:solidFill>
            <a:srgbClr val="F1F3F0"/>
          </a:solidFill>
          <a:ln w="12700">
            <a:solidFill>
              <a:srgbClr val="F1F3F0"/>
            </a:solidFill>
            <a:prstDash val="solid"/>
          </a:ln>
        </p:spPr>
      </p:sp>
      <p:sp>
        <p:nvSpPr>
          <p:cNvPr id="17" name="Text 14"/>
          <p:cNvSpPr txBox="1"/>
          <p:nvPr/>
        </p:nvSpPr>
        <p:spPr>
          <a:xfrm>
            <a:off x="5184648" y="2423160"/>
            <a:ext cx="18745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Mines, propellants &amp; tactical kit</a:t>
            </a:r>
            <a:endParaRPr lang="en-US" sz="1100" dirty="0"/>
          </a:p>
        </p:txBody>
      </p:sp>
      <p:sp>
        <p:nvSpPr>
          <p:cNvPr id="18" name="Text 15"/>
          <p:cNvSpPr txBox="1"/>
          <p:nvPr/>
        </p:nvSpPr>
        <p:spPr>
          <a:xfrm>
            <a:off x="5184648" y="2926080"/>
            <a:ext cx="1874520" cy="150876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Propellant and rocket-motor demil - different chemistry from HE fill · metals-discrimination sensing added · tactical equipment line for EOD and mine-action teams</a:t>
            </a:r>
            <a:endParaRPr lang="en-US" sz="750" dirty="0"/>
          </a:p>
        </p:txBody>
      </p:sp>
      <p:sp>
        <p:nvSpPr>
          <p:cNvPr id="19" name="Text 16"/>
          <p:cNvSpPr txBox="1"/>
          <p:nvPr/>
        </p:nvSpPr>
        <p:spPr>
          <a:xfrm>
            <a:off x="7296912" y="2103120"/>
            <a:ext cx="20116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YEAR 3 · 2029</a:t>
            </a:r>
            <a:endParaRPr lang="en-US" sz="700" dirty="0"/>
          </a:p>
        </p:txBody>
      </p:sp>
      <p:sp>
        <p:nvSpPr>
          <p:cNvPr id="20" name="Shape 17"/>
          <p:cNvSpPr/>
          <p:nvPr/>
        </p:nvSpPr>
        <p:spPr>
          <a:xfrm>
            <a:off x="7296912" y="2331720"/>
            <a:ext cx="2121408" cy="2148840"/>
          </a:xfrm>
          <a:prstGeom prst="rect">
            <a:avLst/>
          </a:prstGeom>
          <a:solidFill>
            <a:srgbClr val="F1F3F0"/>
          </a:solidFill>
          <a:ln w="12700">
            <a:solidFill>
              <a:srgbClr val="F1F3F0"/>
            </a:solidFill>
            <a:prstDash val="solid"/>
          </a:ln>
        </p:spPr>
      </p:sp>
      <p:sp>
        <p:nvSpPr>
          <p:cNvPr id="21" name="Text 18"/>
          <p:cNvSpPr txBox="1"/>
          <p:nvPr/>
        </p:nvSpPr>
        <p:spPr>
          <a:xfrm>
            <a:off x="7434072" y="2423160"/>
            <a:ext cx="18745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Remote handling</a:t>
            </a:r>
            <a:endParaRPr lang="en-US" sz="1100" dirty="0"/>
          </a:p>
        </p:txBody>
      </p:sp>
      <p:sp>
        <p:nvSpPr>
          <p:cNvPr id="22" name="Text 19"/>
          <p:cNvSpPr txBox="1"/>
          <p:nvPr/>
        </p:nvSpPr>
        <p:spPr>
          <a:xfrm>
            <a:off x="7434072" y="2926080"/>
            <a:ext cx="1874520" cy="150876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Robotic feed and cutting for large-calibre and UXO · unattended, field-safe operation at volume · supports post-conflict clearance tenders</a:t>
            </a:r>
            <a:endParaRPr lang="en-US" sz="750" dirty="0"/>
          </a:p>
        </p:txBody>
      </p:sp>
      <p:sp>
        <p:nvSpPr>
          <p:cNvPr id="23" name="Text 20"/>
          <p:cNvSpPr txBox="1"/>
          <p:nvPr/>
        </p:nvSpPr>
        <p:spPr>
          <a:xfrm>
            <a:off x="9546336" y="2103120"/>
            <a:ext cx="20116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YEAR 5+ · 2031</a:t>
            </a:r>
            <a:endParaRPr lang="en-US" sz="700" dirty="0"/>
          </a:p>
        </p:txBody>
      </p:sp>
      <p:sp>
        <p:nvSpPr>
          <p:cNvPr id="24" name="Shape 21"/>
          <p:cNvSpPr/>
          <p:nvPr/>
        </p:nvSpPr>
        <p:spPr>
          <a:xfrm>
            <a:off x="9546336" y="2331720"/>
            <a:ext cx="2121408" cy="2148840"/>
          </a:xfrm>
          <a:prstGeom prst="rect">
            <a:avLst/>
          </a:prstGeom>
          <a:solidFill>
            <a:srgbClr val="F1F3F0"/>
          </a:solidFill>
          <a:ln w="12700">
            <a:solidFill>
              <a:srgbClr val="F1F3F0"/>
            </a:solidFill>
            <a:prstDash val="solid"/>
          </a:ln>
        </p:spPr>
      </p:sp>
      <p:sp>
        <p:nvSpPr>
          <p:cNvPr id="25" name="Text 22"/>
          <p:cNvSpPr txBox="1"/>
          <p:nvPr/>
        </p:nvSpPr>
        <p:spPr>
          <a:xfrm>
            <a:off x="9683496" y="2423160"/>
            <a:ext cx="18745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Sovereign facilities</a:t>
            </a:r>
            <a:endParaRPr lang="en-US" sz="1100" dirty="0"/>
          </a:p>
        </p:txBody>
      </p:sp>
      <p:sp>
        <p:nvSpPr>
          <p:cNvPr id="26" name="Text 23"/>
          <p:cNvSpPr txBox="1"/>
          <p:nvPr/>
        </p:nvSpPr>
        <p:spPr>
          <a:xfrm>
            <a:off x="9683496" y="2926080"/>
            <a:ext cx="1874520" cy="1508760"/>
          </a:xfrm>
          <a:prstGeom prst="rect">
            <a:avLst/>
          </a:prstGeom>
          <a:noFill/>
          <a:ln/>
        </p:spPr>
        <p:txBody>
          <a:bodyPr wrap="square" lIns="0" tIns="0" rIns="0" bIns="0" rtlCol="0" anchor="t"/>
          <a:lstStyle/>
          <a:p>
            <a:pPr algn="l" indent="0" marL="0">
              <a:spcAft>
                <a:spcPts val="400"/>
              </a:spcAft>
              <a:buNone/>
            </a:pPr>
            <a:r>
              <a:rPr lang="en-US" sz="750" dirty="0">
                <a:solidFill>
                  <a:srgbClr val="33332F"/>
                </a:solidFill>
                <a:latin typeface="Helvetica Neue" pitchFamily="34" charset="0"/>
                <a:ea typeface="Helvetica Neue" pitchFamily="34" charset="-122"/>
                <a:cs typeface="Helvetica Neue" pitchFamily="34" charset="-120"/>
              </a:rPr>
              <a:t>Containerised and fixed-site formats; design-build-operate-certify of national end-of-life capability inside allied borders</a:t>
            </a:r>
            <a:endParaRPr lang="en-US" sz="750" dirty="0"/>
          </a:p>
        </p:txBody>
      </p:sp>
      <p:sp>
        <p:nvSpPr>
          <p:cNvPr id="27" name="Text 24"/>
          <p:cNvSpPr txBox="1"/>
          <p:nvPr/>
        </p:nvSpPr>
        <p:spPr>
          <a:xfrm>
            <a:off x="548640" y="4617720"/>
            <a:ext cx="548640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ENABLING TRACKS - CONTINUOUS</a:t>
            </a:r>
            <a:endParaRPr lang="en-US" sz="700" dirty="0"/>
          </a:p>
        </p:txBody>
      </p:sp>
      <p:sp>
        <p:nvSpPr>
          <p:cNvPr id="28" name="Text 25"/>
          <p:cNvSpPr txBox="1"/>
          <p:nvPr/>
        </p:nvSpPr>
        <p:spPr>
          <a:xfrm>
            <a:off x="548640" y="4846320"/>
            <a:ext cx="2103120" cy="219456"/>
          </a:xfrm>
          <a:prstGeom prst="rect">
            <a:avLst/>
          </a:prstGeom>
          <a:noFill/>
          <a:ln/>
        </p:spPr>
        <p:txBody>
          <a:bodyPr wrap="square" lIns="0" tIns="0" rIns="0" bIns="0" rtlCol="0" anchor="t"/>
          <a:lstStyle/>
          <a:p>
            <a:pPr algn="l" indent="0" marL="0">
              <a:spcAft>
                <a:spcPts val="400"/>
              </a:spcAft>
              <a:buNone/>
            </a:pPr>
            <a:r>
              <a:rPr lang="en-US" sz="800" b="1" dirty="0">
                <a:solidFill>
                  <a:srgbClr val="000000"/>
                </a:solidFill>
                <a:latin typeface="Helvetica Neue" pitchFamily="34" charset="0"/>
                <a:ea typeface="Helvetica Neue" pitchFamily="34" charset="-122"/>
                <a:cs typeface="Helvetica Neue" pitchFamily="34" charset="-120"/>
              </a:rPr>
              <a:t>Certification &amp; permitting</a:t>
            </a:r>
            <a:endParaRPr lang="en-US" sz="800" dirty="0"/>
          </a:p>
        </p:txBody>
      </p:sp>
      <p:sp>
        <p:nvSpPr>
          <p:cNvPr id="29" name="Text 26"/>
          <p:cNvSpPr txBox="1"/>
          <p:nvPr/>
        </p:nvSpPr>
        <p:spPr>
          <a:xfrm>
            <a:off x="548640" y="5056632"/>
            <a:ext cx="2148840" cy="365760"/>
          </a:xfrm>
          <a:prstGeom prst="rect">
            <a:avLst/>
          </a:prstGeom>
          <a:noFill/>
          <a:ln/>
        </p:spPr>
        <p:txBody>
          <a:bodyPr wrap="square" lIns="0" tIns="0" rIns="0" bIns="0" rtlCol="0" anchor="t"/>
          <a:lstStyle/>
          <a:p>
            <a:pPr algn="l" indent="0" marL="0">
              <a:spcAft>
                <a:spcPts val="400"/>
              </a:spcAft>
              <a:buNone/>
            </a:pPr>
            <a:r>
              <a:rPr lang="en-US" sz="680" dirty="0">
                <a:solidFill>
                  <a:srgbClr val="33332F"/>
                </a:solidFill>
                <a:latin typeface="Helvetica Neue" pitchFamily="34" charset="0"/>
                <a:ea typeface="Helvetica Neue" pitchFamily="34" charset="-122"/>
                <a:cs typeface="Helvetica Neue" pitchFamily="34" charset="-120"/>
              </a:rPr>
              <a:t>EPA/MECP · NATO STANAG · export control</a:t>
            </a:r>
            <a:endParaRPr lang="en-US" sz="680" dirty="0"/>
          </a:p>
        </p:txBody>
      </p:sp>
      <p:sp>
        <p:nvSpPr>
          <p:cNvPr id="30" name="Text 27"/>
          <p:cNvSpPr txBox="1"/>
          <p:nvPr/>
        </p:nvSpPr>
        <p:spPr>
          <a:xfrm>
            <a:off x="2798064" y="4846320"/>
            <a:ext cx="2103120" cy="219456"/>
          </a:xfrm>
          <a:prstGeom prst="rect">
            <a:avLst/>
          </a:prstGeom>
          <a:noFill/>
          <a:ln/>
        </p:spPr>
        <p:txBody>
          <a:bodyPr wrap="square" lIns="0" tIns="0" rIns="0" bIns="0" rtlCol="0" anchor="t"/>
          <a:lstStyle/>
          <a:p>
            <a:pPr algn="l" indent="0" marL="0">
              <a:spcAft>
                <a:spcPts val="400"/>
              </a:spcAft>
              <a:buNone/>
            </a:pPr>
            <a:r>
              <a:rPr lang="en-US" sz="800" b="1" dirty="0">
                <a:solidFill>
                  <a:srgbClr val="000000"/>
                </a:solidFill>
                <a:latin typeface="Helvetica Neue" pitchFamily="34" charset="0"/>
                <a:ea typeface="Helvetica Neue" pitchFamily="34" charset="-122"/>
                <a:cs typeface="Helvetica Neue" pitchFamily="34" charset="-120"/>
              </a:rPr>
              <a:t>Metals recovery scale-up</a:t>
            </a:r>
            <a:endParaRPr lang="en-US" sz="800" dirty="0"/>
          </a:p>
        </p:txBody>
      </p:sp>
      <p:sp>
        <p:nvSpPr>
          <p:cNvPr id="31" name="Text 28"/>
          <p:cNvSpPr txBox="1"/>
          <p:nvPr/>
        </p:nvSpPr>
        <p:spPr>
          <a:xfrm>
            <a:off x="2798064" y="5056632"/>
            <a:ext cx="2148840" cy="365760"/>
          </a:xfrm>
          <a:prstGeom prst="rect">
            <a:avLst/>
          </a:prstGeom>
          <a:noFill/>
          <a:ln/>
        </p:spPr>
        <p:txBody>
          <a:bodyPr wrap="square" lIns="0" tIns="0" rIns="0" bIns="0" rtlCol="0" anchor="t"/>
          <a:lstStyle/>
          <a:p>
            <a:pPr algn="l" indent="0" marL="0">
              <a:spcAft>
                <a:spcPts val="400"/>
              </a:spcAft>
              <a:buNone/>
            </a:pPr>
            <a:r>
              <a:rPr lang="en-US" sz="680" dirty="0">
                <a:solidFill>
                  <a:srgbClr val="33332F"/>
                </a:solidFill>
                <a:latin typeface="Helvetica Neue" pitchFamily="34" charset="0"/>
                <a:ea typeface="Helvetica Neue" pitchFamily="34" charset="-122"/>
                <a:cs typeface="Helvetica Neue" pitchFamily="34" charset="-120"/>
              </a:rPr>
              <a:t>Sorting/grading capacity grows with calibre</a:t>
            </a:r>
            <a:endParaRPr lang="en-US" sz="680" dirty="0"/>
          </a:p>
        </p:txBody>
      </p:sp>
      <p:sp>
        <p:nvSpPr>
          <p:cNvPr id="32" name="Text 29"/>
          <p:cNvSpPr txBox="1"/>
          <p:nvPr/>
        </p:nvSpPr>
        <p:spPr>
          <a:xfrm>
            <a:off x="5047488" y="4846320"/>
            <a:ext cx="2103120" cy="219456"/>
          </a:xfrm>
          <a:prstGeom prst="rect">
            <a:avLst/>
          </a:prstGeom>
          <a:noFill/>
          <a:ln/>
        </p:spPr>
        <p:txBody>
          <a:bodyPr wrap="square" lIns="0" tIns="0" rIns="0" bIns="0" rtlCol="0" anchor="t"/>
          <a:lstStyle/>
          <a:p>
            <a:pPr algn="l" indent="0" marL="0">
              <a:spcAft>
                <a:spcPts val="400"/>
              </a:spcAft>
              <a:buNone/>
            </a:pPr>
            <a:r>
              <a:rPr lang="en-US" sz="800" b="1" dirty="0">
                <a:solidFill>
                  <a:srgbClr val="000000"/>
                </a:solidFill>
                <a:latin typeface="Helvetica Neue" pitchFamily="34" charset="0"/>
                <a:ea typeface="Helvetica Neue" pitchFamily="34" charset="-122"/>
                <a:cs typeface="Helvetica Neue" pitchFamily="34" charset="-120"/>
              </a:rPr>
              <a:t>Residuals pathway</a:t>
            </a:r>
            <a:endParaRPr lang="en-US" sz="800" dirty="0"/>
          </a:p>
        </p:txBody>
      </p:sp>
      <p:sp>
        <p:nvSpPr>
          <p:cNvPr id="33" name="Text 30"/>
          <p:cNvSpPr txBox="1"/>
          <p:nvPr/>
        </p:nvSpPr>
        <p:spPr>
          <a:xfrm>
            <a:off x="5047488" y="5056632"/>
            <a:ext cx="2148840" cy="365760"/>
          </a:xfrm>
          <a:prstGeom prst="rect">
            <a:avLst/>
          </a:prstGeom>
          <a:noFill/>
          <a:ln/>
        </p:spPr>
        <p:txBody>
          <a:bodyPr wrap="square" lIns="0" tIns="0" rIns="0" bIns="0" rtlCol="0" anchor="t"/>
          <a:lstStyle/>
          <a:p>
            <a:pPr algn="l" indent="0" marL="0">
              <a:spcAft>
                <a:spcPts val="400"/>
              </a:spcAft>
              <a:buNone/>
            </a:pPr>
            <a:r>
              <a:rPr lang="en-US" sz="680" dirty="0">
                <a:solidFill>
                  <a:srgbClr val="33332F"/>
                </a:solidFill>
                <a:latin typeface="Helvetica Neue" pitchFamily="34" charset="0"/>
                <a:ea typeface="Helvetica Neue" pitchFamily="34" charset="-122"/>
                <a:cs typeface="Helvetica Neue" pitchFamily="34" charset="-120"/>
              </a:rPr>
              <a:t>Dissolution effluent, ash, off-gas treatment</a:t>
            </a:r>
            <a:endParaRPr lang="en-US" sz="680" dirty="0"/>
          </a:p>
        </p:txBody>
      </p:sp>
      <p:sp>
        <p:nvSpPr>
          <p:cNvPr id="34" name="Text 31"/>
          <p:cNvSpPr txBox="1"/>
          <p:nvPr/>
        </p:nvSpPr>
        <p:spPr>
          <a:xfrm>
            <a:off x="7296912" y="4846320"/>
            <a:ext cx="2103120" cy="219456"/>
          </a:xfrm>
          <a:prstGeom prst="rect">
            <a:avLst/>
          </a:prstGeom>
          <a:noFill/>
          <a:ln/>
        </p:spPr>
        <p:txBody>
          <a:bodyPr wrap="square" lIns="0" tIns="0" rIns="0" bIns="0" rtlCol="0" anchor="t"/>
          <a:lstStyle/>
          <a:p>
            <a:pPr algn="l" indent="0" marL="0">
              <a:spcAft>
                <a:spcPts val="400"/>
              </a:spcAft>
              <a:buNone/>
            </a:pPr>
            <a:r>
              <a:rPr lang="en-US" sz="800" b="1" dirty="0">
                <a:solidFill>
                  <a:srgbClr val="000000"/>
                </a:solidFill>
                <a:latin typeface="Helvetica Neue" pitchFamily="34" charset="0"/>
                <a:ea typeface="Helvetica Neue" pitchFamily="34" charset="-122"/>
                <a:cs typeface="Helvetica Neue" pitchFamily="34" charset="-120"/>
              </a:rPr>
              <a:t>Data &amp; traceability</a:t>
            </a:r>
            <a:endParaRPr lang="en-US" sz="800" dirty="0"/>
          </a:p>
        </p:txBody>
      </p:sp>
      <p:sp>
        <p:nvSpPr>
          <p:cNvPr id="35" name="Text 32"/>
          <p:cNvSpPr txBox="1"/>
          <p:nvPr/>
        </p:nvSpPr>
        <p:spPr>
          <a:xfrm>
            <a:off x="7296912" y="5056632"/>
            <a:ext cx="2148840" cy="365760"/>
          </a:xfrm>
          <a:prstGeom prst="rect">
            <a:avLst/>
          </a:prstGeom>
          <a:noFill/>
          <a:ln/>
        </p:spPr>
        <p:txBody>
          <a:bodyPr wrap="square" lIns="0" tIns="0" rIns="0" bIns="0" rtlCol="0" anchor="t"/>
          <a:lstStyle/>
          <a:p>
            <a:pPr algn="l" indent="0" marL="0">
              <a:spcAft>
                <a:spcPts val="400"/>
              </a:spcAft>
              <a:buNone/>
            </a:pPr>
            <a:r>
              <a:rPr lang="en-US" sz="680" dirty="0">
                <a:solidFill>
                  <a:srgbClr val="33332F"/>
                </a:solidFill>
                <a:latin typeface="Helvetica Neue" pitchFamily="34" charset="0"/>
                <a:ea typeface="Helvetica Neue" pitchFamily="34" charset="-122"/>
                <a:cs typeface="Helvetica Neue" pitchFamily="34" charset="-120"/>
              </a:rPr>
              <a:t>Custody, weight-in/out, emissions, certificates</a:t>
            </a:r>
            <a:endParaRPr lang="en-US" sz="680" dirty="0"/>
          </a:p>
        </p:txBody>
      </p:sp>
      <p:sp>
        <p:nvSpPr>
          <p:cNvPr id="36" name="Text 33"/>
          <p:cNvSpPr txBox="1"/>
          <p:nvPr/>
        </p:nvSpPr>
        <p:spPr>
          <a:xfrm>
            <a:off x="9546336" y="4846320"/>
            <a:ext cx="2103120" cy="219456"/>
          </a:xfrm>
          <a:prstGeom prst="rect">
            <a:avLst/>
          </a:prstGeom>
          <a:noFill/>
          <a:ln/>
        </p:spPr>
        <p:txBody>
          <a:bodyPr wrap="square" lIns="0" tIns="0" rIns="0" bIns="0" rtlCol="0" anchor="t"/>
          <a:lstStyle/>
          <a:p>
            <a:pPr algn="l" indent="0" marL="0">
              <a:spcAft>
                <a:spcPts val="400"/>
              </a:spcAft>
              <a:buNone/>
            </a:pPr>
            <a:r>
              <a:rPr lang="en-US" sz="800" b="1" dirty="0">
                <a:solidFill>
                  <a:srgbClr val="000000"/>
                </a:solidFill>
                <a:latin typeface="Helvetica Neue" pitchFamily="34" charset="0"/>
                <a:ea typeface="Helvetica Neue" pitchFamily="34" charset="-122"/>
                <a:cs typeface="Helvetica Neue" pitchFamily="34" charset="-120"/>
              </a:rPr>
              <a:t>Training &amp; services</a:t>
            </a:r>
            <a:endParaRPr lang="en-US" sz="800" dirty="0"/>
          </a:p>
        </p:txBody>
      </p:sp>
      <p:sp>
        <p:nvSpPr>
          <p:cNvPr id="37" name="Text 34"/>
          <p:cNvSpPr txBox="1"/>
          <p:nvPr/>
        </p:nvSpPr>
        <p:spPr>
          <a:xfrm>
            <a:off x="9546336" y="5056632"/>
            <a:ext cx="2148840" cy="365760"/>
          </a:xfrm>
          <a:prstGeom prst="rect">
            <a:avLst/>
          </a:prstGeom>
          <a:noFill/>
          <a:ln/>
        </p:spPr>
        <p:txBody>
          <a:bodyPr wrap="square" lIns="0" tIns="0" rIns="0" bIns="0" rtlCol="0" anchor="t"/>
          <a:lstStyle/>
          <a:p>
            <a:pPr algn="l" indent="0" marL="0">
              <a:spcAft>
                <a:spcPts val="400"/>
              </a:spcAft>
              <a:buNone/>
            </a:pPr>
            <a:r>
              <a:rPr lang="en-US" sz="680" dirty="0">
                <a:solidFill>
                  <a:srgbClr val="33332F"/>
                </a:solidFill>
                <a:latin typeface="Helvetica Neue" pitchFamily="34" charset="0"/>
                <a:ea typeface="Helvetica Neue" pitchFamily="34" charset="-122"/>
                <a:cs typeface="Helvetica Neue" pitchFamily="34" charset="-120"/>
              </a:rPr>
              <a:t>Operator certification · DaaS · agent sales</a:t>
            </a:r>
            <a:endParaRPr lang="en-US" sz="680" dirty="0"/>
          </a:p>
        </p:txBody>
      </p:sp>
      <p:sp>
        <p:nvSpPr>
          <p:cNvPr id="38" name="Text 35"/>
          <p:cNvSpPr txBox="1"/>
          <p:nvPr/>
        </p:nvSpPr>
        <p:spPr>
          <a:xfrm>
            <a:off x="548640" y="5486400"/>
            <a:ext cx="3657600" cy="201168"/>
          </a:xfrm>
          <a:prstGeom prst="rect">
            <a:avLst/>
          </a:prstGeom>
          <a:noFill/>
          <a:ln/>
        </p:spPr>
        <p:txBody>
          <a:bodyPr wrap="square" lIns="0" tIns="0" rIns="0" bIns="0" rtlCol="0" anchor="t"/>
          <a:lstStyle/>
          <a:p>
            <a:pPr indent="0" marL="0">
              <a:buNone/>
            </a:pPr>
            <a:r>
              <a:rPr lang="en-US" sz="650" spc="150" kern="0" dirty="0">
                <a:solidFill>
                  <a:srgbClr val="66705F"/>
                </a:solidFill>
                <a:latin typeface="IBM Plex Mono" pitchFamily="34" charset="0"/>
                <a:ea typeface="IBM Plex Mono" pitchFamily="34" charset="-122"/>
                <a:cs typeface="IBM Plex Mono" pitchFamily="34" charset="-120"/>
              </a:rPr>
              <a:t>WHERE THE PLATFORM SELLS THIS</a:t>
            </a:r>
            <a:endParaRPr lang="en-US" sz="650" dirty="0"/>
          </a:p>
        </p:txBody>
      </p:sp>
      <p:sp>
        <p:nvSpPr>
          <p:cNvPr id="39" name="Text 36"/>
          <p:cNvSpPr txBox="1"/>
          <p:nvPr/>
        </p:nvSpPr>
        <p:spPr>
          <a:xfrm>
            <a:off x="548640" y="5632704"/>
            <a:ext cx="2651760" cy="182880"/>
          </a:xfrm>
          <a:prstGeom prst="rect">
            <a:avLst/>
          </a:prstGeom>
          <a:noFill/>
          <a:ln/>
        </p:spPr>
        <p:txBody>
          <a:bodyPr wrap="square" lIns="0" tIns="0" rIns="0" bIns="0" rtlCol="0" anchor="t"/>
          <a:lstStyle/>
          <a:p>
            <a:pPr algn="l" indent="0" marL="0">
              <a:spcAft>
                <a:spcPts val="400"/>
              </a:spcAft>
              <a:buNone/>
            </a:pPr>
            <a:r>
              <a:rPr lang="en-US" sz="700" b="1" dirty="0">
                <a:solidFill>
                  <a:srgbClr val="000000"/>
                </a:solidFill>
                <a:latin typeface="Helvetica Neue" pitchFamily="34" charset="0"/>
                <a:ea typeface="Helvetica Neue" pitchFamily="34" charset="-122"/>
                <a:cs typeface="Helvetica Neue" pitchFamily="34" charset="-120"/>
              </a:rPr>
              <a:t>Canada &amp; USA</a:t>
            </a:r>
            <a:endParaRPr lang="en-US" sz="700" dirty="0"/>
          </a:p>
        </p:txBody>
      </p:sp>
      <p:sp>
        <p:nvSpPr>
          <p:cNvPr id="40" name="Text 37"/>
          <p:cNvSpPr txBox="1"/>
          <p:nvPr/>
        </p:nvSpPr>
        <p:spPr>
          <a:xfrm>
            <a:off x="548640" y="5806440"/>
            <a:ext cx="2651760" cy="365760"/>
          </a:xfrm>
          <a:prstGeom prst="rect">
            <a:avLst/>
          </a:prstGeom>
          <a:noFill/>
          <a:ln/>
        </p:spPr>
        <p:txBody>
          <a:bodyPr wrap="square" lIns="0" tIns="0" rIns="0" bIns="0" rtlCol="0" anchor="t"/>
          <a:lstStyle/>
          <a:p>
            <a:pPr algn="l" indent="0" marL="0">
              <a:spcAft>
                <a:spcPts val="400"/>
              </a:spcAft>
              <a:buNone/>
            </a:pPr>
            <a:r>
              <a:rPr lang="en-US" sz="630" dirty="0">
                <a:solidFill>
                  <a:srgbClr val="6E6C66"/>
                </a:solidFill>
                <a:latin typeface="Helvetica Neue" pitchFamily="34" charset="0"/>
                <a:ea typeface="Helvetica Neue" pitchFamily="34" charset="-122"/>
                <a:cs typeface="Helvetica Neue" pitchFamily="34" charset="-120"/>
              </a:rPr>
              <a:t>Today - RCMP JV, US LE, US entity, DFARS qualifying country ²</a:t>
            </a:r>
            <a:endParaRPr lang="en-US" sz="630" dirty="0"/>
          </a:p>
        </p:txBody>
      </p:sp>
      <p:sp>
        <p:nvSpPr>
          <p:cNvPr id="41" name="Text 38"/>
          <p:cNvSpPr txBox="1"/>
          <p:nvPr/>
        </p:nvSpPr>
        <p:spPr>
          <a:xfrm>
            <a:off x="3364992" y="5632704"/>
            <a:ext cx="2651760" cy="182880"/>
          </a:xfrm>
          <a:prstGeom prst="rect">
            <a:avLst/>
          </a:prstGeom>
          <a:noFill/>
          <a:ln/>
        </p:spPr>
        <p:txBody>
          <a:bodyPr wrap="square" lIns="0" tIns="0" rIns="0" bIns="0" rtlCol="0" anchor="t"/>
          <a:lstStyle/>
          <a:p>
            <a:pPr algn="l" indent="0" marL="0">
              <a:spcAft>
                <a:spcPts val="400"/>
              </a:spcAft>
              <a:buNone/>
            </a:pPr>
            <a:r>
              <a:rPr lang="en-US" sz="700" b="1" dirty="0">
                <a:solidFill>
                  <a:srgbClr val="000000"/>
                </a:solidFill>
                <a:latin typeface="Helvetica Neue" pitchFamily="34" charset="0"/>
                <a:ea typeface="Helvetica Neue" pitchFamily="34" charset="-122"/>
                <a:cs typeface="Helvetica Neue" pitchFamily="34" charset="-120"/>
              </a:rPr>
              <a:t>Europe / NATO</a:t>
            </a:r>
            <a:endParaRPr lang="en-US" sz="700" dirty="0"/>
          </a:p>
        </p:txBody>
      </p:sp>
      <p:sp>
        <p:nvSpPr>
          <p:cNvPr id="42" name="Text 39"/>
          <p:cNvSpPr txBox="1"/>
          <p:nvPr/>
        </p:nvSpPr>
        <p:spPr>
          <a:xfrm>
            <a:off x="3364992" y="5806440"/>
            <a:ext cx="2651760" cy="365760"/>
          </a:xfrm>
          <a:prstGeom prst="rect">
            <a:avLst/>
          </a:prstGeom>
          <a:noFill/>
          <a:ln/>
        </p:spPr>
        <p:txBody>
          <a:bodyPr wrap="square" lIns="0" tIns="0" rIns="0" bIns="0" rtlCol="0" anchor="t"/>
          <a:lstStyle/>
          <a:p>
            <a:pPr algn="l" indent="0" marL="0">
              <a:spcAft>
                <a:spcPts val="400"/>
              </a:spcAft>
              <a:buNone/>
            </a:pPr>
            <a:r>
              <a:rPr lang="en-US" sz="630" dirty="0">
                <a:solidFill>
                  <a:srgbClr val="6E6C66"/>
                </a:solidFill>
                <a:latin typeface="Helvetica Neue" pitchFamily="34" charset="0"/>
                <a:ea typeface="Helvetica Neue" pitchFamily="34" charset="-122"/>
                <a:cs typeface="Helvetica Neue" pitchFamily="34" charset="-120"/>
              </a:rPr>
              <a:t>From 2028 - Nordic/Baltic agent network already in place</a:t>
            </a:r>
            <a:endParaRPr lang="en-US" sz="630" dirty="0"/>
          </a:p>
        </p:txBody>
      </p:sp>
      <p:sp>
        <p:nvSpPr>
          <p:cNvPr id="43" name="Text 40"/>
          <p:cNvSpPr txBox="1"/>
          <p:nvPr/>
        </p:nvSpPr>
        <p:spPr>
          <a:xfrm>
            <a:off x="6181344" y="5632704"/>
            <a:ext cx="2651760" cy="182880"/>
          </a:xfrm>
          <a:prstGeom prst="rect">
            <a:avLst/>
          </a:prstGeom>
          <a:noFill/>
          <a:ln/>
        </p:spPr>
        <p:txBody>
          <a:bodyPr wrap="square" lIns="0" tIns="0" rIns="0" bIns="0" rtlCol="0" anchor="t"/>
          <a:lstStyle/>
          <a:p>
            <a:pPr algn="l" indent="0" marL="0">
              <a:spcAft>
                <a:spcPts val="400"/>
              </a:spcAft>
              <a:buNone/>
            </a:pPr>
            <a:r>
              <a:rPr lang="en-US" sz="700" b="1" dirty="0">
                <a:solidFill>
                  <a:srgbClr val="000000"/>
                </a:solidFill>
                <a:latin typeface="Helvetica Neue" pitchFamily="34" charset="0"/>
                <a:ea typeface="Helvetica Neue" pitchFamily="34" charset="-122"/>
                <a:cs typeface="Helvetica Neue" pitchFamily="34" charset="-120"/>
              </a:rPr>
              <a:t>Post-conflict programmes</a:t>
            </a:r>
            <a:endParaRPr lang="en-US" sz="700" dirty="0"/>
          </a:p>
        </p:txBody>
      </p:sp>
      <p:sp>
        <p:nvSpPr>
          <p:cNvPr id="44" name="Text 41"/>
          <p:cNvSpPr txBox="1"/>
          <p:nvPr/>
        </p:nvSpPr>
        <p:spPr>
          <a:xfrm>
            <a:off x="6181344" y="5806440"/>
            <a:ext cx="2651760" cy="365760"/>
          </a:xfrm>
          <a:prstGeom prst="rect">
            <a:avLst/>
          </a:prstGeom>
          <a:noFill/>
          <a:ln/>
        </p:spPr>
        <p:txBody>
          <a:bodyPr wrap="square" lIns="0" tIns="0" rIns="0" bIns="0" rtlCol="0" anchor="t"/>
          <a:lstStyle/>
          <a:p>
            <a:pPr algn="l" indent="0" marL="0">
              <a:spcAft>
                <a:spcPts val="400"/>
              </a:spcAft>
              <a:buNone/>
            </a:pPr>
            <a:r>
              <a:rPr lang="en-US" sz="630" dirty="0">
                <a:solidFill>
                  <a:srgbClr val="6E6C66"/>
                </a:solidFill>
                <a:latin typeface="Helvetica Neue" pitchFamily="34" charset="0"/>
                <a:ea typeface="Helvetica Neue" pitchFamily="34" charset="-122"/>
                <a:cs typeface="Helvetica Neue" pitchFamily="34" charset="-120"/>
              </a:rPr>
              <a:t>From 2029 - Ukraine EHM $27.6bn need, 2026–35 (RDNA5) ²⁰</a:t>
            </a:r>
            <a:endParaRPr lang="en-US" sz="630" dirty="0"/>
          </a:p>
        </p:txBody>
      </p:sp>
      <p:sp>
        <p:nvSpPr>
          <p:cNvPr id="45" name="Text 42"/>
          <p:cNvSpPr txBox="1"/>
          <p:nvPr/>
        </p:nvSpPr>
        <p:spPr>
          <a:xfrm>
            <a:off x="8997696" y="5632704"/>
            <a:ext cx="2651760" cy="182880"/>
          </a:xfrm>
          <a:prstGeom prst="rect">
            <a:avLst/>
          </a:prstGeom>
          <a:noFill/>
          <a:ln/>
        </p:spPr>
        <p:txBody>
          <a:bodyPr wrap="square" lIns="0" tIns="0" rIns="0" bIns="0" rtlCol="0" anchor="t"/>
          <a:lstStyle/>
          <a:p>
            <a:pPr algn="l" indent="0" marL="0">
              <a:spcAft>
                <a:spcPts val="400"/>
              </a:spcAft>
              <a:buNone/>
            </a:pPr>
            <a:r>
              <a:rPr lang="en-US" sz="700" b="1" dirty="0">
                <a:solidFill>
                  <a:srgbClr val="000000"/>
                </a:solidFill>
                <a:latin typeface="Helvetica Neue" pitchFamily="34" charset="0"/>
                <a:ea typeface="Helvetica Neue" pitchFamily="34" charset="-122"/>
                <a:cs typeface="Helvetica Neue" pitchFamily="34" charset="-120"/>
              </a:rPr>
              <a:t>Middle East &amp; allied</a:t>
            </a:r>
            <a:endParaRPr lang="en-US" sz="700" dirty="0"/>
          </a:p>
        </p:txBody>
      </p:sp>
      <p:sp>
        <p:nvSpPr>
          <p:cNvPr id="46" name="Text 43"/>
          <p:cNvSpPr txBox="1"/>
          <p:nvPr/>
        </p:nvSpPr>
        <p:spPr>
          <a:xfrm>
            <a:off x="8997696" y="5806440"/>
            <a:ext cx="2651760" cy="365760"/>
          </a:xfrm>
          <a:prstGeom prst="rect">
            <a:avLst/>
          </a:prstGeom>
          <a:noFill/>
          <a:ln/>
        </p:spPr>
        <p:txBody>
          <a:bodyPr wrap="square" lIns="0" tIns="0" rIns="0" bIns="0" rtlCol="0" anchor="t"/>
          <a:lstStyle/>
          <a:p>
            <a:pPr algn="l" indent="0" marL="0">
              <a:spcAft>
                <a:spcPts val="400"/>
              </a:spcAft>
              <a:buNone/>
            </a:pPr>
            <a:r>
              <a:rPr lang="en-US" sz="630" dirty="0">
                <a:solidFill>
                  <a:srgbClr val="6E6C66"/>
                </a:solidFill>
                <a:latin typeface="Helvetica Neue" pitchFamily="34" charset="0"/>
                <a:ea typeface="Helvetica Neue" pitchFamily="34" charset="-122"/>
                <a:cs typeface="Helvetica Neue" pitchFamily="34" charset="-120"/>
              </a:rPr>
              <a:t>Later years - building on existing AU/NZ/Saudi deployments</a:t>
            </a:r>
            <a:endParaRPr lang="en-US" sz="630" dirty="0"/>
          </a:p>
        </p:txBody>
      </p:sp>
      <p:sp>
        <p:nvSpPr>
          <p:cNvPr id="47" name="Text 44"/>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Roadmap and geographic sequencing: company plan (projection). Academic separation licence: in discussion; sensing partner: to be confirmed. Chemical-weapons demil (August-plan optionality) withdrawn: OPCW-controlled, off-strategy. Delivery mode per stage set deal by deal.</a:t>
            </a:r>
            <a:endParaRPr lang="en-US" sz="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19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ROADMAP</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Foothold to full service in three phases - each phase funds and de-risks the next</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The phase ladder is the use-of-proceeds logic. Capital required per phase is the equity the model draws to keep the plan funded, on a fully equity-funded basis (no acquisition debt).</a:t>
            </a:r>
            <a:endParaRPr lang="en-US" sz="1100" dirty="0"/>
          </a:p>
        </p:txBody>
      </p:sp>
      <p:sp>
        <p:nvSpPr>
          <p:cNvPr id="7" name="Shape 4"/>
          <p:cNvSpPr/>
          <p:nvPr/>
        </p:nvSpPr>
        <p:spPr>
          <a:xfrm>
            <a:off x="548640" y="2148840"/>
            <a:ext cx="3611880" cy="2880360"/>
          </a:xfrm>
          <a:prstGeom prst="rect">
            <a:avLst/>
          </a:prstGeom>
          <a:solidFill>
            <a:srgbClr val="F1F3F0"/>
          </a:solidFill>
          <a:ln w="12700">
            <a:solidFill>
              <a:srgbClr val="F1F3F0"/>
            </a:solidFill>
            <a:prstDash val="solid"/>
          </a:ln>
        </p:spPr>
      </p:sp>
      <p:sp>
        <p:nvSpPr>
          <p:cNvPr id="8" name="Text 5"/>
          <p:cNvSpPr txBox="1"/>
          <p:nvPr/>
        </p:nvSpPr>
        <p:spPr>
          <a:xfrm>
            <a:off x="713232" y="2194560"/>
            <a:ext cx="914400" cy="731520"/>
          </a:xfrm>
          <a:prstGeom prst="rect">
            <a:avLst/>
          </a:prstGeom>
          <a:noFill/>
          <a:ln/>
        </p:spPr>
        <p:txBody>
          <a:bodyPr wrap="square" lIns="0" tIns="0" rIns="0" bIns="0" rtlCol="0" anchor="ctr"/>
          <a:lstStyle/>
          <a:p>
            <a:pPr indent="0" marL="0">
              <a:buNone/>
            </a:pPr>
            <a:r>
              <a:rPr lang="en-US" sz="4400" dirty="0">
                <a:solidFill>
                  <a:srgbClr val="788274"/>
                </a:solidFill>
                <a:latin typeface="Helvetica Neue" pitchFamily="34" charset="0"/>
                <a:ea typeface="Helvetica Neue" pitchFamily="34" charset="-122"/>
                <a:cs typeface="Helvetica Neue" pitchFamily="34" charset="-120"/>
              </a:rPr>
              <a:t>1</a:t>
            </a:r>
            <a:endParaRPr lang="en-US" sz="4400" dirty="0"/>
          </a:p>
        </p:txBody>
      </p:sp>
      <p:sp>
        <p:nvSpPr>
          <p:cNvPr id="9" name="Text 6"/>
          <p:cNvSpPr txBox="1"/>
          <p:nvPr/>
        </p:nvSpPr>
        <p:spPr>
          <a:xfrm>
            <a:off x="1463040" y="2395728"/>
            <a:ext cx="265176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NOW – 18 MONTHS · 2026–27</a:t>
            </a:r>
            <a:endParaRPr lang="en-US" sz="700" dirty="0"/>
          </a:p>
        </p:txBody>
      </p:sp>
      <p:sp>
        <p:nvSpPr>
          <p:cNvPr id="10" name="Text 7"/>
          <p:cNvSpPr txBox="1"/>
          <p:nvPr/>
        </p:nvSpPr>
        <p:spPr>
          <a:xfrm>
            <a:off x="713232" y="2971800"/>
            <a:ext cx="3291840" cy="365760"/>
          </a:xfrm>
          <a:prstGeom prst="rect">
            <a:avLst/>
          </a:prstGeom>
          <a:noFill/>
          <a:ln/>
        </p:spPr>
        <p:txBody>
          <a:bodyPr wrap="square" lIns="0" tIns="0" rIns="0" bIns="0" rtlCol="0" anchor="t"/>
          <a:lstStyle/>
          <a:p>
            <a:pPr algn="l" indent="0" marL="0">
              <a:spcAft>
                <a:spcPts val="400"/>
              </a:spcAft>
              <a:buNone/>
            </a:pPr>
            <a:r>
              <a:rPr lang="en-US" sz="1400" b="1" dirty="0">
                <a:solidFill>
                  <a:srgbClr val="000000"/>
                </a:solidFill>
                <a:latin typeface="Helvetica Neue" pitchFamily="34" charset="0"/>
                <a:ea typeface="Helvetica Neue" pitchFamily="34" charset="-122"/>
                <a:cs typeface="Helvetica Neue" pitchFamily="34" charset="-120"/>
              </a:rPr>
              <a:t>Operate the foothold</a:t>
            </a:r>
            <a:endParaRPr lang="en-US" sz="1400" dirty="0"/>
          </a:p>
        </p:txBody>
      </p:sp>
      <p:sp>
        <p:nvSpPr>
          <p:cNvPr id="11" name="Text 8"/>
          <p:cNvSpPr txBox="1"/>
          <p:nvPr/>
        </p:nvSpPr>
        <p:spPr>
          <a:xfrm>
            <a:off x="713232" y="3383280"/>
            <a:ext cx="3291840" cy="91440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Revenue from what runs today - custody destruction for law enforcement and defence, North America first, first allied programmes. Fleet build-out, platform team, certification layer; first acquisitions negotiated.</a:t>
            </a:r>
            <a:endParaRPr lang="en-US" sz="850" dirty="0"/>
          </a:p>
        </p:txBody>
      </p:sp>
      <p:sp>
        <p:nvSpPr>
          <p:cNvPr id="12" name="Shape 9"/>
          <p:cNvSpPr/>
          <p:nvPr/>
        </p:nvSpPr>
        <p:spPr>
          <a:xfrm>
            <a:off x="713232" y="4279392"/>
            <a:ext cx="3291840" cy="0"/>
          </a:xfrm>
          <a:prstGeom prst="line">
            <a:avLst/>
          </a:prstGeom>
          <a:noFill/>
          <a:ln w="9525">
            <a:solidFill>
              <a:srgbClr val="D3D9D0"/>
            </a:solidFill>
            <a:prstDash val="solid"/>
          </a:ln>
        </p:spPr>
      </p:sp>
      <p:sp>
        <p:nvSpPr>
          <p:cNvPr id="13" name="Text 10"/>
          <p:cNvSpPr txBox="1"/>
          <p:nvPr/>
        </p:nvSpPr>
        <p:spPr>
          <a:xfrm>
            <a:off x="713232" y="4343400"/>
            <a:ext cx="329184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CAPITAL REQUIRED (MODEL, BASE CASE)</a:t>
            </a:r>
            <a:endParaRPr lang="en-US" sz="700" dirty="0"/>
          </a:p>
        </p:txBody>
      </p:sp>
      <p:sp>
        <p:nvSpPr>
          <p:cNvPr id="14" name="Text 11"/>
          <p:cNvSpPr txBox="1"/>
          <p:nvPr/>
        </p:nvSpPr>
        <p:spPr>
          <a:xfrm>
            <a:off x="713232" y="4526280"/>
            <a:ext cx="3291840" cy="457200"/>
          </a:xfrm>
          <a:prstGeom prst="rect">
            <a:avLst/>
          </a:prstGeom>
          <a:noFill/>
          <a:ln/>
        </p:spPr>
        <p:txBody>
          <a:bodyPr wrap="square" lIns="0" tIns="0" rIns="0" bIns="0" rtlCol="0" anchor="ctr"/>
          <a:lstStyle/>
          <a:p>
            <a:pPr indent="0" marL="0">
              <a:buNone/>
            </a:pPr>
            <a:r>
              <a:rPr lang="en-US" sz="2200" dirty="0">
                <a:solidFill>
                  <a:srgbClr val="000000"/>
                </a:solidFill>
                <a:latin typeface="Helvetica Neue" pitchFamily="34" charset="0"/>
                <a:ea typeface="Helvetica Neue" pitchFamily="34" charset="-122"/>
                <a:cs typeface="Helvetica Neue" pitchFamily="34" charset="-120"/>
              </a:rPr>
              <a:t>$2.0M</a:t>
            </a:r>
            <a:endParaRPr lang="en-US" sz="2200" dirty="0"/>
          </a:p>
        </p:txBody>
      </p:sp>
      <p:sp>
        <p:nvSpPr>
          <p:cNvPr id="15" name="Shape 12"/>
          <p:cNvSpPr/>
          <p:nvPr/>
        </p:nvSpPr>
        <p:spPr>
          <a:xfrm>
            <a:off x="4297680" y="2148840"/>
            <a:ext cx="3611880" cy="2880360"/>
          </a:xfrm>
          <a:prstGeom prst="rect">
            <a:avLst/>
          </a:prstGeom>
          <a:solidFill>
            <a:srgbClr val="F1F3F0"/>
          </a:solidFill>
          <a:ln w="12700">
            <a:solidFill>
              <a:srgbClr val="F1F3F0"/>
            </a:solidFill>
            <a:prstDash val="solid"/>
          </a:ln>
        </p:spPr>
      </p:sp>
      <p:sp>
        <p:nvSpPr>
          <p:cNvPr id="16" name="Text 13"/>
          <p:cNvSpPr txBox="1"/>
          <p:nvPr/>
        </p:nvSpPr>
        <p:spPr>
          <a:xfrm>
            <a:off x="4462272" y="2194560"/>
            <a:ext cx="914400" cy="731520"/>
          </a:xfrm>
          <a:prstGeom prst="rect">
            <a:avLst/>
          </a:prstGeom>
          <a:noFill/>
          <a:ln/>
        </p:spPr>
        <p:txBody>
          <a:bodyPr wrap="square" lIns="0" tIns="0" rIns="0" bIns="0" rtlCol="0" anchor="ctr"/>
          <a:lstStyle/>
          <a:p>
            <a:pPr indent="0" marL="0">
              <a:buNone/>
            </a:pPr>
            <a:r>
              <a:rPr lang="en-US" sz="4400" dirty="0">
                <a:solidFill>
                  <a:srgbClr val="788274"/>
                </a:solidFill>
                <a:latin typeface="Helvetica Neue" pitchFamily="34" charset="0"/>
                <a:ea typeface="Helvetica Neue" pitchFamily="34" charset="-122"/>
                <a:cs typeface="Helvetica Neue" pitchFamily="34" charset="-120"/>
              </a:rPr>
              <a:t>2</a:t>
            </a:r>
            <a:endParaRPr lang="en-US" sz="4400" dirty="0"/>
          </a:p>
        </p:txBody>
      </p:sp>
      <p:sp>
        <p:nvSpPr>
          <p:cNvPr id="17" name="Text 14"/>
          <p:cNvSpPr txBox="1"/>
          <p:nvPr/>
        </p:nvSpPr>
        <p:spPr>
          <a:xfrm>
            <a:off x="5212080" y="2395728"/>
            <a:ext cx="265176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18 MONTHS – 3 YEARS · 2028–29</a:t>
            </a:r>
            <a:endParaRPr lang="en-US" sz="700" dirty="0"/>
          </a:p>
        </p:txBody>
      </p:sp>
      <p:sp>
        <p:nvSpPr>
          <p:cNvPr id="18" name="Text 15"/>
          <p:cNvSpPr txBox="1"/>
          <p:nvPr/>
        </p:nvSpPr>
        <p:spPr>
          <a:xfrm>
            <a:off x="4462272" y="2971800"/>
            <a:ext cx="3291840" cy="365760"/>
          </a:xfrm>
          <a:prstGeom prst="rect">
            <a:avLst/>
          </a:prstGeom>
          <a:noFill/>
          <a:ln/>
        </p:spPr>
        <p:txBody>
          <a:bodyPr wrap="square" lIns="0" tIns="0" rIns="0" bIns="0" rtlCol="0" anchor="t"/>
          <a:lstStyle/>
          <a:p>
            <a:pPr algn="l" indent="0" marL="0">
              <a:spcAft>
                <a:spcPts val="400"/>
              </a:spcAft>
              <a:buNone/>
            </a:pPr>
            <a:r>
              <a:rPr lang="en-US" sz="1400" b="1" dirty="0">
                <a:solidFill>
                  <a:srgbClr val="000000"/>
                </a:solidFill>
                <a:latin typeface="Helvetica Neue" pitchFamily="34" charset="0"/>
                <a:ea typeface="Helvetica Neue" pitchFamily="34" charset="-122"/>
                <a:cs typeface="Helvetica Neue" pitchFamily="34" charset="-120"/>
              </a:rPr>
              <a:t>Assemble the core</a:t>
            </a:r>
            <a:endParaRPr lang="en-US" sz="1400" dirty="0"/>
          </a:p>
        </p:txBody>
      </p:sp>
      <p:sp>
        <p:nvSpPr>
          <p:cNvPr id="19" name="Text 16"/>
          <p:cNvSpPr txBox="1"/>
          <p:nvPr/>
        </p:nvSpPr>
        <p:spPr>
          <a:xfrm>
            <a:off x="4462272" y="3383280"/>
            <a:ext cx="3291840" cy="91440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First capability acquisitions - large-calibre and artillery demil, metals recovery, plant engineering - plus the first robotics and university partnerships. The platform starts selling capabilities no single-capability firm can.</a:t>
            </a:r>
            <a:endParaRPr lang="en-US" sz="850" dirty="0"/>
          </a:p>
        </p:txBody>
      </p:sp>
      <p:sp>
        <p:nvSpPr>
          <p:cNvPr id="20" name="Shape 17"/>
          <p:cNvSpPr/>
          <p:nvPr/>
        </p:nvSpPr>
        <p:spPr>
          <a:xfrm>
            <a:off x="4462272" y="4279392"/>
            <a:ext cx="3291840" cy="0"/>
          </a:xfrm>
          <a:prstGeom prst="line">
            <a:avLst/>
          </a:prstGeom>
          <a:noFill/>
          <a:ln w="9525">
            <a:solidFill>
              <a:srgbClr val="D3D9D0"/>
            </a:solidFill>
            <a:prstDash val="solid"/>
          </a:ln>
        </p:spPr>
      </p:sp>
      <p:sp>
        <p:nvSpPr>
          <p:cNvPr id="21" name="Text 18"/>
          <p:cNvSpPr txBox="1"/>
          <p:nvPr/>
        </p:nvSpPr>
        <p:spPr>
          <a:xfrm>
            <a:off x="4462272" y="4343400"/>
            <a:ext cx="329184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CAPITAL REQUIRED (MODEL, BASE CASE)</a:t>
            </a:r>
            <a:endParaRPr lang="en-US" sz="700" dirty="0"/>
          </a:p>
        </p:txBody>
      </p:sp>
      <p:sp>
        <p:nvSpPr>
          <p:cNvPr id="22" name="Text 19"/>
          <p:cNvSpPr txBox="1"/>
          <p:nvPr/>
        </p:nvSpPr>
        <p:spPr>
          <a:xfrm>
            <a:off x="4462272" y="4526280"/>
            <a:ext cx="3291840" cy="457200"/>
          </a:xfrm>
          <a:prstGeom prst="rect">
            <a:avLst/>
          </a:prstGeom>
          <a:noFill/>
          <a:ln/>
        </p:spPr>
        <p:txBody>
          <a:bodyPr wrap="square" lIns="0" tIns="0" rIns="0" bIns="0" rtlCol="0" anchor="ctr"/>
          <a:lstStyle/>
          <a:p>
            <a:pPr indent="0" marL="0">
              <a:buNone/>
            </a:pPr>
            <a:r>
              <a:rPr lang="en-US" sz="2200" dirty="0">
                <a:solidFill>
                  <a:srgbClr val="000000"/>
                </a:solidFill>
                <a:latin typeface="Helvetica Neue" pitchFamily="34" charset="0"/>
                <a:ea typeface="Helvetica Neue" pitchFamily="34" charset="-122"/>
                <a:cs typeface="Helvetica Neue" pitchFamily="34" charset="-120"/>
              </a:rPr>
              <a:t>$41.5M</a:t>
            </a:r>
            <a:endParaRPr lang="en-US" sz="2200" dirty="0"/>
          </a:p>
        </p:txBody>
      </p:sp>
      <p:sp>
        <p:nvSpPr>
          <p:cNvPr id="23" name="Shape 20"/>
          <p:cNvSpPr/>
          <p:nvPr/>
        </p:nvSpPr>
        <p:spPr>
          <a:xfrm>
            <a:off x="8046720" y="2148840"/>
            <a:ext cx="3611880" cy="2880360"/>
          </a:xfrm>
          <a:prstGeom prst="rect">
            <a:avLst/>
          </a:prstGeom>
          <a:solidFill>
            <a:srgbClr val="F1F3F0"/>
          </a:solidFill>
          <a:ln w="12700">
            <a:solidFill>
              <a:srgbClr val="F1F3F0"/>
            </a:solidFill>
            <a:prstDash val="solid"/>
          </a:ln>
        </p:spPr>
      </p:sp>
      <p:sp>
        <p:nvSpPr>
          <p:cNvPr id="24" name="Text 21"/>
          <p:cNvSpPr txBox="1"/>
          <p:nvPr/>
        </p:nvSpPr>
        <p:spPr>
          <a:xfrm>
            <a:off x="8211312" y="2194560"/>
            <a:ext cx="914400" cy="731520"/>
          </a:xfrm>
          <a:prstGeom prst="rect">
            <a:avLst/>
          </a:prstGeom>
          <a:noFill/>
          <a:ln/>
        </p:spPr>
        <p:txBody>
          <a:bodyPr wrap="square" lIns="0" tIns="0" rIns="0" bIns="0" rtlCol="0" anchor="ctr"/>
          <a:lstStyle/>
          <a:p>
            <a:pPr indent="0" marL="0">
              <a:buNone/>
            </a:pPr>
            <a:r>
              <a:rPr lang="en-US" sz="4400" dirty="0">
                <a:solidFill>
                  <a:srgbClr val="788274"/>
                </a:solidFill>
                <a:latin typeface="Helvetica Neue" pitchFamily="34" charset="0"/>
                <a:ea typeface="Helvetica Neue" pitchFamily="34" charset="-122"/>
                <a:cs typeface="Helvetica Neue" pitchFamily="34" charset="-120"/>
              </a:rPr>
              <a:t>3</a:t>
            </a:r>
            <a:endParaRPr lang="en-US" sz="4400" dirty="0"/>
          </a:p>
        </p:txBody>
      </p:sp>
      <p:sp>
        <p:nvSpPr>
          <p:cNvPr id="25" name="Text 22"/>
          <p:cNvSpPr txBox="1"/>
          <p:nvPr/>
        </p:nvSpPr>
        <p:spPr>
          <a:xfrm>
            <a:off x="8961120" y="2395728"/>
            <a:ext cx="265176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3 – 5 YEARS · 2030–31</a:t>
            </a:r>
            <a:endParaRPr lang="en-US" sz="700" dirty="0"/>
          </a:p>
        </p:txBody>
      </p:sp>
      <p:sp>
        <p:nvSpPr>
          <p:cNvPr id="26" name="Text 23"/>
          <p:cNvSpPr txBox="1"/>
          <p:nvPr/>
        </p:nvSpPr>
        <p:spPr>
          <a:xfrm>
            <a:off x="8211312" y="2971800"/>
            <a:ext cx="3291840" cy="365760"/>
          </a:xfrm>
          <a:prstGeom prst="rect">
            <a:avLst/>
          </a:prstGeom>
          <a:noFill/>
          <a:ln/>
        </p:spPr>
        <p:txBody>
          <a:bodyPr wrap="square" lIns="0" tIns="0" rIns="0" bIns="0" rtlCol="0" anchor="t"/>
          <a:lstStyle/>
          <a:p>
            <a:pPr algn="l" indent="0" marL="0">
              <a:spcAft>
                <a:spcPts val="400"/>
              </a:spcAft>
              <a:buNone/>
            </a:pPr>
            <a:r>
              <a:rPr lang="en-US" sz="1400" b="1" dirty="0">
                <a:solidFill>
                  <a:srgbClr val="000000"/>
                </a:solidFill>
                <a:latin typeface="Helvetica Neue" pitchFamily="34" charset="0"/>
                <a:ea typeface="Helvetica Neue" pitchFamily="34" charset="-122"/>
                <a:cs typeface="Helvetica Neue" pitchFamily="34" charset="-120"/>
              </a:rPr>
              <a:t>The sovereign full-service offer</a:t>
            </a:r>
            <a:endParaRPr lang="en-US" sz="1400" dirty="0"/>
          </a:p>
        </p:txBody>
      </p:sp>
      <p:sp>
        <p:nvSpPr>
          <p:cNvPr id="27" name="Text 24"/>
          <p:cNvSpPr txBox="1"/>
          <p:nvPr/>
        </p:nvSpPr>
        <p:spPr>
          <a:xfrm>
            <a:off x="8211312" y="3383280"/>
            <a:ext cx="3291840" cy="91440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Design, build, operate and certify national munitions end-of-life capability inside allied borders - machines, plants, recovery, certification, post-conflict programmes. Secure-destruction and European acquisitions.</a:t>
            </a:r>
            <a:endParaRPr lang="en-US" sz="850" dirty="0"/>
          </a:p>
        </p:txBody>
      </p:sp>
      <p:sp>
        <p:nvSpPr>
          <p:cNvPr id="28" name="Shape 25"/>
          <p:cNvSpPr/>
          <p:nvPr/>
        </p:nvSpPr>
        <p:spPr>
          <a:xfrm>
            <a:off x="8211312" y="4279392"/>
            <a:ext cx="3291840" cy="0"/>
          </a:xfrm>
          <a:prstGeom prst="line">
            <a:avLst/>
          </a:prstGeom>
          <a:noFill/>
          <a:ln w="9525">
            <a:solidFill>
              <a:srgbClr val="D3D9D0"/>
            </a:solidFill>
            <a:prstDash val="solid"/>
          </a:ln>
        </p:spPr>
      </p:sp>
      <p:sp>
        <p:nvSpPr>
          <p:cNvPr id="29" name="Text 26"/>
          <p:cNvSpPr txBox="1"/>
          <p:nvPr/>
        </p:nvSpPr>
        <p:spPr>
          <a:xfrm>
            <a:off x="8211312" y="4343400"/>
            <a:ext cx="329184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CAPITAL REQUIRED (MODEL, BASE CASE)</a:t>
            </a:r>
            <a:endParaRPr lang="en-US" sz="700" dirty="0"/>
          </a:p>
        </p:txBody>
      </p:sp>
      <p:sp>
        <p:nvSpPr>
          <p:cNvPr id="30" name="Text 27"/>
          <p:cNvSpPr txBox="1"/>
          <p:nvPr/>
        </p:nvSpPr>
        <p:spPr>
          <a:xfrm>
            <a:off x="8211312" y="4526280"/>
            <a:ext cx="3291840" cy="457200"/>
          </a:xfrm>
          <a:prstGeom prst="rect">
            <a:avLst/>
          </a:prstGeom>
          <a:noFill/>
          <a:ln/>
        </p:spPr>
        <p:txBody>
          <a:bodyPr wrap="square" lIns="0" tIns="0" rIns="0" bIns="0" rtlCol="0" anchor="ctr"/>
          <a:lstStyle/>
          <a:p>
            <a:pPr indent="0" marL="0">
              <a:buNone/>
            </a:pPr>
            <a:r>
              <a:rPr lang="en-US" sz="2200" dirty="0">
                <a:solidFill>
                  <a:srgbClr val="000000"/>
                </a:solidFill>
                <a:latin typeface="Helvetica Neue" pitchFamily="34" charset="0"/>
                <a:ea typeface="Helvetica Neue" pitchFamily="34" charset="-122"/>
                <a:cs typeface="Helvetica Neue" pitchFamily="34" charset="-120"/>
              </a:rPr>
              <a:t>$5.8M</a:t>
            </a:r>
            <a:endParaRPr lang="en-US" sz="2200" dirty="0"/>
          </a:p>
        </p:txBody>
      </p:sp>
      <p:sp>
        <p:nvSpPr>
          <p:cNvPr id="31" name="Text 28"/>
          <p:cNvSpPr txBox="1"/>
          <p:nvPr/>
        </p:nvSpPr>
        <p:spPr>
          <a:xfrm>
            <a:off x="548640" y="5230368"/>
            <a:ext cx="1097280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CAPITAL BUILD-UP - FULL PLAN, 2026–36 (RAISED EQUITY PLUS SELF-FUNDED OPERATING CASH FLOW)</a:t>
            </a:r>
            <a:endParaRPr lang="en-US" sz="700" dirty="0"/>
          </a:p>
        </p:txBody>
      </p:sp>
      <p:sp>
        <p:nvSpPr>
          <p:cNvPr id="32" name="Text 29"/>
          <p:cNvSpPr txBox="1"/>
          <p:nvPr/>
        </p:nvSpPr>
        <p:spPr>
          <a:xfrm>
            <a:off x="548640" y="5486400"/>
            <a:ext cx="1711909" cy="201168"/>
          </a:xfrm>
          <a:prstGeom prst="rect">
            <a:avLst/>
          </a:prstGeom>
          <a:noFill/>
          <a:ln/>
        </p:spPr>
        <p:txBody>
          <a:bodyPr wrap="square" lIns="0" tIns="0" rIns="0" bIns="0" rtlCol="0" anchor="t"/>
          <a:lstStyle/>
          <a:p>
            <a:pPr indent="0" marL="0">
              <a:buNone/>
            </a:pPr>
            <a:r>
              <a:rPr lang="en-US" sz="630" spc="150" kern="0" dirty="0">
                <a:solidFill>
                  <a:srgbClr val="6E6C66"/>
                </a:solidFill>
                <a:latin typeface="IBM Plex Mono" pitchFamily="34" charset="0"/>
                <a:ea typeface="IBM Plex Mono" pitchFamily="34" charset="-122"/>
                <a:cs typeface="IBM Plex Mono" pitchFamily="34" charset="-120"/>
              </a:rPr>
              <a:t>ACQUISITIONS</a:t>
            </a:r>
            <a:endParaRPr lang="en-US" sz="630" dirty="0"/>
          </a:p>
        </p:txBody>
      </p:sp>
      <p:sp>
        <p:nvSpPr>
          <p:cNvPr id="33" name="Text 30"/>
          <p:cNvSpPr txBox="1"/>
          <p:nvPr/>
        </p:nvSpPr>
        <p:spPr>
          <a:xfrm>
            <a:off x="548640" y="5650992"/>
            <a:ext cx="1711909" cy="310896"/>
          </a:xfrm>
          <a:prstGeom prst="rect">
            <a:avLst/>
          </a:prstGeom>
          <a:noFill/>
          <a:ln/>
        </p:spPr>
        <p:txBody>
          <a:bodyPr wrap="square" lIns="0" tIns="0" rIns="0" bIns="0" rtlCol="0" anchor="ctr"/>
          <a:lstStyle/>
          <a:p>
            <a:pPr indent="0" marL="0">
              <a:buNone/>
            </a:pPr>
            <a:r>
              <a:rPr lang="en-US" sz="1400" dirty="0">
                <a:solidFill>
                  <a:srgbClr val="000000"/>
                </a:solidFill>
                <a:latin typeface="Helvetica Neue" pitchFamily="34" charset="0"/>
                <a:ea typeface="Helvetica Neue" pitchFamily="34" charset="-122"/>
                <a:cs typeface="Helvetica Neue" pitchFamily="34" charset="-120"/>
              </a:rPr>
              <a:t>$82.7M</a:t>
            </a:r>
            <a:endParaRPr lang="en-US" sz="1400" dirty="0"/>
          </a:p>
        </p:txBody>
      </p:sp>
      <p:sp>
        <p:nvSpPr>
          <p:cNvPr id="34" name="Text 31"/>
          <p:cNvSpPr txBox="1"/>
          <p:nvPr/>
        </p:nvSpPr>
        <p:spPr>
          <a:xfrm>
            <a:off x="2397709" y="5486400"/>
            <a:ext cx="1711909" cy="201168"/>
          </a:xfrm>
          <a:prstGeom prst="rect">
            <a:avLst/>
          </a:prstGeom>
          <a:noFill/>
          <a:ln/>
        </p:spPr>
        <p:txBody>
          <a:bodyPr wrap="square" lIns="0" tIns="0" rIns="0" bIns="0" rtlCol="0" anchor="t"/>
          <a:lstStyle/>
          <a:p>
            <a:pPr indent="0" marL="0">
              <a:buNone/>
            </a:pPr>
            <a:r>
              <a:rPr lang="en-US" sz="630" spc="150" kern="0" dirty="0">
                <a:solidFill>
                  <a:srgbClr val="6E6C66"/>
                </a:solidFill>
                <a:latin typeface="IBM Plex Mono" pitchFamily="34" charset="0"/>
                <a:ea typeface="IBM Plex Mono" pitchFamily="34" charset="-122"/>
                <a:cs typeface="IBM Plex Mono" pitchFamily="34" charset="-120"/>
              </a:rPr>
              <a:t>INTEGRATION</a:t>
            </a:r>
            <a:endParaRPr lang="en-US" sz="630" dirty="0"/>
          </a:p>
        </p:txBody>
      </p:sp>
      <p:sp>
        <p:nvSpPr>
          <p:cNvPr id="35" name="Text 32"/>
          <p:cNvSpPr txBox="1"/>
          <p:nvPr/>
        </p:nvSpPr>
        <p:spPr>
          <a:xfrm>
            <a:off x="2397709" y="5650992"/>
            <a:ext cx="1711909" cy="310896"/>
          </a:xfrm>
          <a:prstGeom prst="rect">
            <a:avLst/>
          </a:prstGeom>
          <a:noFill/>
          <a:ln/>
        </p:spPr>
        <p:txBody>
          <a:bodyPr wrap="square" lIns="0" tIns="0" rIns="0" bIns="0" rtlCol="0" anchor="ctr"/>
          <a:lstStyle/>
          <a:p>
            <a:pPr indent="0" marL="0">
              <a:buNone/>
            </a:pPr>
            <a:r>
              <a:rPr lang="en-US" sz="1400" dirty="0">
                <a:solidFill>
                  <a:srgbClr val="000000"/>
                </a:solidFill>
                <a:latin typeface="Helvetica Neue" pitchFamily="34" charset="0"/>
                <a:ea typeface="Helvetica Neue" pitchFamily="34" charset="-122"/>
                <a:cs typeface="Helvetica Neue" pitchFamily="34" charset="-120"/>
              </a:rPr>
              <a:t>$8.3M</a:t>
            </a:r>
            <a:endParaRPr lang="en-US" sz="1400" dirty="0"/>
          </a:p>
        </p:txBody>
      </p:sp>
      <p:sp>
        <p:nvSpPr>
          <p:cNvPr id="36" name="Text 33"/>
          <p:cNvSpPr txBox="1"/>
          <p:nvPr/>
        </p:nvSpPr>
        <p:spPr>
          <a:xfrm>
            <a:off x="4246778" y="5486400"/>
            <a:ext cx="1711909" cy="201168"/>
          </a:xfrm>
          <a:prstGeom prst="rect">
            <a:avLst/>
          </a:prstGeom>
          <a:noFill/>
          <a:ln/>
        </p:spPr>
        <p:txBody>
          <a:bodyPr wrap="square" lIns="0" tIns="0" rIns="0" bIns="0" rtlCol="0" anchor="t"/>
          <a:lstStyle/>
          <a:p>
            <a:pPr indent="0" marL="0">
              <a:buNone/>
            </a:pPr>
            <a:r>
              <a:rPr lang="en-US" sz="630" spc="150" kern="0" dirty="0">
                <a:solidFill>
                  <a:srgbClr val="6E6C66"/>
                </a:solidFill>
                <a:latin typeface="IBM Plex Mono" pitchFamily="34" charset="0"/>
                <a:ea typeface="IBM Plex Mono" pitchFamily="34" charset="-122"/>
                <a:cs typeface="IBM Plex Mono" pitchFamily="34" charset="-120"/>
              </a:rPr>
              <a:t>FLEET &amp; CAPEX</a:t>
            </a:r>
            <a:endParaRPr lang="en-US" sz="630" dirty="0"/>
          </a:p>
        </p:txBody>
      </p:sp>
      <p:sp>
        <p:nvSpPr>
          <p:cNvPr id="37" name="Text 34"/>
          <p:cNvSpPr txBox="1"/>
          <p:nvPr/>
        </p:nvSpPr>
        <p:spPr>
          <a:xfrm>
            <a:off x="4246778" y="5650992"/>
            <a:ext cx="1711909" cy="310896"/>
          </a:xfrm>
          <a:prstGeom prst="rect">
            <a:avLst/>
          </a:prstGeom>
          <a:noFill/>
          <a:ln/>
        </p:spPr>
        <p:txBody>
          <a:bodyPr wrap="square" lIns="0" tIns="0" rIns="0" bIns="0" rtlCol="0" anchor="ctr"/>
          <a:lstStyle/>
          <a:p>
            <a:pPr indent="0" marL="0">
              <a:buNone/>
            </a:pPr>
            <a:r>
              <a:rPr lang="en-US" sz="1400" dirty="0">
                <a:solidFill>
                  <a:srgbClr val="000000"/>
                </a:solidFill>
                <a:latin typeface="Helvetica Neue" pitchFamily="34" charset="0"/>
                <a:ea typeface="Helvetica Neue" pitchFamily="34" charset="-122"/>
                <a:cs typeface="Helvetica Neue" pitchFamily="34" charset="-120"/>
              </a:rPr>
              <a:t>$50.3M</a:t>
            </a:r>
            <a:endParaRPr lang="en-US" sz="1400" dirty="0"/>
          </a:p>
        </p:txBody>
      </p:sp>
      <p:sp>
        <p:nvSpPr>
          <p:cNvPr id="38" name="Text 35"/>
          <p:cNvSpPr txBox="1"/>
          <p:nvPr/>
        </p:nvSpPr>
        <p:spPr>
          <a:xfrm>
            <a:off x="6095848" y="5486400"/>
            <a:ext cx="1711909" cy="201168"/>
          </a:xfrm>
          <a:prstGeom prst="rect">
            <a:avLst/>
          </a:prstGeom>
          <a:noFill/>
          <a:ln/>
        </p:spPr>
        <p:txBody>
          <a:bodyPr wrap="square" lIns="0" tIns="0" rIns="0" bIns="0" rtlCol="0" anchor="t"/>
          <a:lstStyle/>
          <a:p>
            <a:pPr indent="0" marL="0">
              <a:buNone/>
            </a:pPr>
            <a:r>
              <a:rPr lang="en-US" sz="630" spc="150" kern="0" dirty="0">
                <a:solidFill>
                  <a:srgbClr val="6E6C66"/>
                </a:solidFill>
                <a:latin typeface="IBM Plex Mono" pitchFamily="34" charset="0"/>
                <a:ea typeface="IBM Plex Mono" pitchFamily="34" charset="-122"/>
                <a:cs typeface="IBM Plex Mono" pitchFamily="34" charset="-120"/>
              </a:rPr>
              <a:t>DEVELOPMENT</a:t>
            </a:r>
            <a:endParaRPr lang="en-US" sz="630" dirty="0"/>
          </a:p>
        </p:txBody>
      </p:sp>
      <p:sp>
        <p:nvSpPr>
          <p:cNvPr id="39" name="Text 36"/>
          <p:cNvSpPr txBox="1"/>
          <p:nvPr/>
        </p:nvSpPr>
        <p:spPr>
          <a:xfrm>
            <a:off x="6095848" y="5650992"/>
            <a:ext cx="1711909" cy="310896"/>
          </a:xfrm>
          <a:prstGeom prst="rect">
            <a:avLst/>
          </a:prstGeom>
          <a:noFill/>
          <a:ln/>
        </p:spPr>
        <p:txBody>
          <a:bodyPr wrap="square" lIns="0" tIns="0" rIns="0" bIns="0" rtlCol="0" anchor="ctr"/>
          <a:lstStyle/>
          <a:p>
            <a:pPr indent="0" marL="0">
              <a:buNone/>
            </a:pPr>
            <a:r>
              <a:rPr lang="en-US" sz="1400" dirty="0">
                <a:solidFill>
                  <a:srgbClr val="000000"/>
                </a:solidFill>
                <a:latin typeface="Helvetica Neue" pitchFamily="34" charset="0"/>
                <a:ea typeface="Helvetica Neue" pitchFamily="34" charset="-122"/>
                <a:cs typeface="Helvetica Neue" pitchFamily="34" charset="-120"/>
              </a:rPr>
              <a:t>$21.6M</a:t>
            </a:r>
            <a:endParaRPr lang="en-US" sz="1400" dirty="0"/>
          </a:p>
        </p:txBody>
      </p:sp>
      <p:sp>
        <p:nvSpPr>
          <p:cNvPr id="40" name="Text 37"/>
          <p:cNvSpPr txBox="1"/>
          <p:nvPr/>
        </p:nvSpPr>
        <p:spPr>
          <a:xfrm>
            <a:off x="7944917" y="5486400"/>
            <a:ext cx="1711909" cy="201168"/>
          </a:xfrm>
          <a:prstGeom prst="rect">
            <a:avLst/>
          </a:prstGeom>
          <a:noFill/>
          <a:ln/>
        </p:spPr>
        <p:txBody>
          <a:bodyPr wrap="square" lIns="0" tIns="0" rIns="0" bIns="0" rtlCol="0" anchor="t"/>
          <a:lstStyle/>
          <a:p>
            <a:pPr indent="0" marL="0">
              <a:buNone/>
            </a:pPr>
            <a:r>
              <a:rPr lang="en-US" sz="630" spc="150" kern="0" dirty="0">
                <a:solidFill>
                  <a:srgbClr val="6E6C66"/>
                </a:solidFill>
                <a:latin typeface="IBM Plex Mono" pitchFamily="34" charset="0"/>
                <a:ea typeface="IBM Plex Mono" pitchFamily="34" charset="-122"/>
                <a:cs typeface="IBM Plex Mono" pitchFamily="34" charset="-120"/>
              </a:rPr>
              <a:t>WORKING CAPITAL</a:t>
            </a:r>
            <a:endParaRPr lang="en-US" sz="630" dirty="0"/>
          </a:p>
        </p:txBody>
      </p:sp>
      <p:sp>
        <p:nvSpPr>
          <p:cNvPr id="41" name="Text 38"/>
          <p:cNvSpPr txBox="1"/>
          <p:nvPr/>
        </p:nvSpPr>
        <p:spPr>
          <a:xfrm>
            <a:off x="7944917" y="5650992"/>
            <a:ext cx="1711909" cy="310896"/>
          </a:xfrm>
          <a:prstGeom prst="rect">
            <a:avLst/>
          </a:prstGeom>
          <a:noFill/>
          <a:ln/>
        </p:spPr>
        <p:txBody>
          <a:bodyPr wrap="square" lIns="0" tIns="0" rIns="0" bIns="0" rtlCol="0" anchor="ctr"/>
          <a:lstStyle/>
          <a:p>
            <a:pPr indent="0" marL="0">
              <a:buNone/>
            </a:pPr>
            <a:r>
              <a:rPr lang="en-US" sz="1400" dirty="0">
                <a:solidFill>
                  <a:srgbClr val="000000"/>
                </a:solidFill>
                <a:latin typeface="Helvetica Neue" pitchFamily="34" charset="0"/>
                <a:ea typeface="Helvetica Neue" pitchFamily="34" charset="-122"/>
                <a:cs typeface="Helvetica Neue" pitchFamily="34" charset="-120"/>
              </a:rPr>
              <a:t>$40.9M</a:t>
            </a:r>
            <a:endParaRPr lang="en-US" sz="1400" dirty="0"/>
          </a:p>
        </p:txBody>
      </p:sp>
      <p:sp>
        <p:nvSpPr>
          <p:cNvPr id="42" name="Text 39"/>
          <p:cNvSpPr txBox="1"/>
          <p:nvPr/>
        </p:nvSpPr>
        <p:spPr>
          <a:xfrm>
            <a:off x="9793986" y="5486400"/>
            <a:ext cx="1711909" cy="201168"/>
          </a:xfrm>
          <a:prstGeom prst="rect">
            <a:avLst/>
          </a:prstGeom>
          <a:noFill/>
          <a:ln/>
        </p:spPr>
        <p:txBody>
          <a:bodyPr wrap="square" lIns="0" tIns="0" rIns="0" bIns="0" rtlCol="0" anchor="t"/>
          <a:lstStyle/>
          <a:p>
            <a:pPr indent="0" marL="0">
              <a:buNone/>
            </a:pPr>
            <a:r>
              <a:rPr lang="en-US" sz="630" spc="150" kern="0" dirty="0">
                <a:solidFill>
                  <a:srgbClr val="6E6C66"/>
                </a:solidFill>
                <a:latin typeface="IBM Plex Mono" pitchFamily="34" charset="0"/>
                <a:ea typeface="IBM Plex Mono" pitchFamily="34" charset="-122"/>
                <a:cs typeface="IBM Plex Mono" pitchFamily="34" charset="-120"/>
              </a:rPr>
              <a:t>CORPORATE PLATFORM</a:t>
            </a:r>
            <a:endParaRPr lang="en-US" sz="630" dirty="0"/>
          </a:p>
        </p:txBody>
      </p:sp>
      <p:sp>
        <p:nvSpPr>
          <p:cNvPr id="43" name="Text 40"/>
          <p:cNvSpPr txBox="1"/>
          <p:nvPr/>
        </p:nvSpPr>
        <p:spPr>
          <a:xfrm>
            <a:off x="9793986" y="5650992"/>
            <a:ext cx="1711909" cy="310896"/>
          </a:xfrm>
          <a:prstGeom prst="rect">
            <a:avLst/>
          </a:prstGeom>
          <a:noFill/>
          <a:ln/>
        </p:spPr>
        <p:txBody>
          <a:bodyPr wrap="square" lIns="0" tIns="0" rIns="0" bIns="0" rtlCol="0" anchor="ctr"/>
          <a:lstStyle/>
          <a:p>
            <a:pPr indent="0" marL="0">
              <a:buNone/>
            </a:pPr>
            <a:r>
              <a:rPr lang="en-US" sz="1400" dirty="0">
                <a:solidFill>
                  <a:srgbClr val="000000"/>
                </a:solidFill>
                <a:latin typeface="Helvetica Neue" pitchFamily="34" charset="0"/>
                <a:ea typeface="Helvetica Neue" pitchFamily="34" charset="-122"/>
                <a:cs typeface="Helvetica Neue" pitchFamily="34" charset="-120"/>
              </a:rPr>
              <a:t>$3.3M</a:t>
            </a:r>
            <a:endParaRPr lang="en-US" sz="1400" dirty="0"/>
          </a:p>
        </p:txBody>
      </p:sp>
      <p:sp>
        <p:nvSpPr>
          <p:cNvPr id="44" name="Text 41"/>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Projection - TWB financial model, P&amp;L &amp; Capital tab (equity funding drawn by phase; use-of-funds build-up by category). Total equity drawn 2026–2036 in the base case: $49M; the balance of the build-up is self-funded from platform cash flow. Acquisition consideration priced at 5.0–6.0x EBITDA; at a 2.0x-revenue stress price the programme costs $180M rather than $83M.</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66705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FFFFFF"/>
                </a:solidFill>
                <a:latin typeface="IBM Plex Mono" pitchFamily="34" charset="0"/>
                <a:ea typeface="IBM Plex Mono" pitchFamily="34" charset="-122"/>
                <a:cs typeface="IBM Plex Mono" pitchFamily="34" charset="-120"/>
              </a:rPr>
              <a:t>20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1463040"/>
            <a:ext cx="3657600" cy="1097280"/>
          </a:xfrm>
          <a:prstGeom prst="rect">
            <a:avLst/>
          </a:prstGeom>
          <a:noFill/>
          <a:ln/>
        </p:spPr>
        <p:txBody>
          <a:bodyPr wrap="square" lIns="0" tIns="0" rIns="0" bIns="0" rtlCol="0" anchor="ctr"/>
          <a:lstStyle/>
          <a:p>
            <a:pPr indent="0" marL="0">
              <a:buNone/>
            </a:pPr>
            <a:r>
              <a:rPr lang="en-US" sz="8000" spc="-224" kern="0" dirty="0">
                <a:solidFill>
                  <a:srgbClr val="D3D9D0"/>
                </a:solidFill>
                <a:latin typeface="Helvetica Neue" pitchFamily="34" charset="0"/>
                <a:ea typeface="Helvetica Neue" pitchFamily="34" charset="-122"/>
                <a:cs typeface="Helvetica Neue" pitchFamily="34" charset="-120"/>
              </a:rPr>
              <a:t>04</a:t>
            </a:r>
            <a:endParaRPr lang="en-US" sz="8000" dirty="0"/>
          </a:p>
        </p:txBody>
      </p:sp>
      <p:sp>
        <p:nvSpPr>
          <p:cNvPr id="5" name="Text 2"/>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FFFFFF"/>
                </a:solidFill>
                <a:latin typeface="IBM Plex Mono" pitchFamily="34" charset="0"/>
                <a:ea typeface="IBM Plex Mono" pitchFamily="34" charset="-122"/>
                <a:cs typeface="IBM Plex Mono" pitchFamily="34" charset="-120"/>
              </a:rPr>
              <a:t>WHY INVESTORS SHOULD BELIEVE</a:t>
            </a:r>
            <a:endParaRPr lang="en-US" sz="800" dirty="0"/>
          </a:p>
        </p:txBody>
      </p:sp>
      <p:sp>
        <p:nvSpPr>
          <p:cNvPr id="6" name="Text 3"/>
          <p:cNvSpPr txBox="1"/>
          <p:nvPr/>
        </p:nvSpPr>
        <p:spPr>
          <a:xfrm>
            <a:off x="548640" y="2834640"/>
            <a:ext cx="10058400" cy="1097280"/>
          </a:xfrm>
          <a:prstGeom prst="rect">
            <a:avLst/>
          </a:prstGeom>
          <a:noFill/>
          <a:ln/>
        </p:spPr>
        <p:txBody>
          <a:bodyPr wrap="square" lIns="0" tIns="0" rIns="0" bIns="0" rtlCol="0" anchor="t"/>
          <a:lstStyle/>
          <a:p>
            <a:pPr indent="0" marL="0">
              <a:buNone/>
            </a:pPr>
            <a:r>
              <a:rPr lang="en-US" sz="3400" spc="-65" kern="0" dirty="0">
                <a:solidFill>
                  <a:srgbClr val="FFFFFF"/>
                </a:solidFill>
                <a:latin typeface="Helvetica Neue" pitchFamily="34" charset="0"/>
                <a:ea typeface="Helvetica Neue" pitchFamily="34" charset="-122"/>
                <a:cs typeface="Helvetica Neue" pitchFamily="34" charset="-120"/>
              </a:rPr>
              <a:t>The investment case.</a:t>
            </a:r>
            <a:endParaRPr lang="en-US" sz="3400" dirty="0"/>
          </a:p>
        </p:txBody>
      </p:sp>
      <p:sp>
        <p:nvSpPr>
          <p:cNvPr id="7" name="Text 4"/>
          <p:cNvSpPr txBox="1"/>
          <p:nvPr/>
        </p:nvSpPr>
        <p:spPr>
          <a:xfrm>
            <a:off x="548640" y="4114800"/>
            <a:ext cx="8686800" cy="822960"/>
          </a:xfrm>
          <a:prstGeom prst="rect">
            <a:avLst/>
          </a:prstGeom>
          <a:noFill/>
          <a:ln/>
        </p:spPr>
        <p:txBody>
          <a:bodyPr wrap="square" lIns="0" tIns="0" rIns="0" bIns="0" rtlCol="0" anchor="t"/>
          <a:lstStyle/>
          <a:p>
            <a:pPr indent="0" marL="0">
              <a:buNone/>
            </a:pPr>
            <a:r>
              <a:rPr lang="en-US" sz="1300" dirty="0">
                <a:solidFill>
                  <a:srgbClr val="F1F3F0"/>
                </a:solidFill>
                <a:latin typeface="Helvetica Neue" pitchFamily="34" charset="0"/>
                <a:ea typeface="Helvetica Neue" pitchFamily="34" charset="-122"/>
                <a:cs typeface="Helvetica Neue" pitchFamily="34" charset="-120"/>
              </a:rPr>
              <a:t>A sourced market, an operating foothold, a capital plan priced at real multiples, and a returns case that does not depend on a mismatched discount window.</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21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10-YEAR PLAN</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Total revenue: build vs. buy - capabilities assembled to meet the corporate objective</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Two ways capability gets added to the platform: build it ourselves (fleet-driven custody services, equipment, allied and post-conflict programmes, metals recovery), or buy it - six capability acquisitions, priced at founder-scale multiples, adding the tonnage tiers a build-only path reaches too slowly.</a:t>
            </a:r>
            <a:endParaRPr lang="en-US" sz="1100" dirty="0"/>
          </a:p>
        </p:txBody>
      </p:sp>
      <p:graphicFrame>
        <p:nvGraphicFramePr>
          <p:cNvPr id="7" name="Chart 0" descr=""/>
          <p:cNvGraphicFramePr/>
          <p:nvPr/>
        </p:nvGraphicFramePr>
        <p:xfrm>
          <a:off x="548640" y="2103120"/>
          <a:ext cx="7406640" cy="36576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8229600" y="2103120"/>
            <a:ext cx="33832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YEAR-10 REVENUE (2036)</a:t>
            </a:r>
            <a:endParaRPr lang="en-US" sz="700" dirty="0"/>
          </a:p>
        </p:txBody>
      </p:sp>
      <p:sp>
        <p:nvSpPr>
          <p:cNvPr id="9" name="Text 5"/>
          <p:cNvSpPr txBox="1"/>
          <p:nvPr/>
        </p:nvSpPr>
        <p:spPr>
          <a:xfrm>
            <a:off x="8229600" y="2286000"/>
            <a:ext cx="3383280" cy="384048"/>
          </a:xfrm>
          <a:prstGeom prst="rect">
            <a:avLst/>
          </a:prstGeom>
          <a:noFill/>
          <a:ln/>
        </p:spPr>
        <p:txBody>
          <a:bodyPr wrap="square" lIns="0" tIns="0" rIns="0" bIns="0" rtlCol="0" anchor="ctr"/>
          <a:lstStyle/>
          <a:p>
            <a:pPr indent="0" marL="0">
              <a:buNone/>
            </a:pPr>
            <a:r>
              <a:rPr lang="en-US" sz="1500" dirty="0">
                <a:solidFill>
                  <a:srgbClr val="000000"/>
                </a:solidFill>
                <a:latin typeface="Helvetica Neue" pitchFamily="34" charset="0"/>
                <a:ea typeface="Helvetica Neue" pitchFamily="34" charset="-122"/>
                <a:cs typeface="Helvetica Neue" pitchFamily="34" charset="-120"/>
              </a:rPr>
              <a:t>$342M</a:t>
            </a:r>
            <a:endParaRPr lang="en-US" sz="1500" dirty="0"/>
          </a:p>
        </p:txBody>
      </p:sp>
      <p:sp>
        <p:nvSpPr>
          <p:cNvPr id="10" name="Text 6"/>
          <p:cNvSpPr txBox="1"/>
          <p:nvPr/>
        </p:nvSpPr>
        <p:spPr>
          <a:xfrm>
            <a:off x="8229600" y="2706624"/>
            <a:ext cx="33832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YEAR-5 REVENUE (2031)</a:t>
            </a:r>
            <a:endParaRPr lang="en-US" sz="700" dirty="0"/>
          </a:p>
        </p:txBody>
      </p:sp>
      <p:sp>
        <p:nvSpPr>
          <p:cNvPr id="11" name="Text 7"/>
          <p:cNvSpPr txBox="1"/>
          <p:nvPr/>
        </p:nvSpPr>
        <p:spPr>
          <a:xfrm>
            <a:off x="8229600" y="2889504"/>
            <a:ext cx="3383280" cy="384048"/>
          </a:xfrm>
          <a:prstGeom prst="rect">
            <a:avLst/>
          </a:prstGeom>
          <a:noFill/>
          <a:ln/>
        </p:spPr>
        <p:txBody>
          <a:bodyPr wrap="square" lIns="0" tIns="0" rIns="0" bIns="0" rtlCol="0" anchor="ctr"/>
          <a:lstStyle/>
          <a:p>
            <a:pPr indent="0" marL="0">
              <a:buNone/>
            </a:pPr>
            <a:r>
              <a:rPr lang="en-US" sz="1500" dirty="0">
                <a:solidFill>
                  <a:srgbClr val="000000"/>
                </a:solidFill>
                <a:latin typeface="Helvetica Neue" pitchFamily="34" charset="0"/>
                <a:ea typeface="Helvetica Neue" pitchFamily="34" charset="-122"/>
                <a:cs typeface="Helvetica Neue" pitchFamily="34" charset="-120"/>
              </a:rPr>
              <a:t>$137M</a:t>
            </a:r>
            <a:endParaRPr lang="en-US" sz="1500" dirty="0"/>
          </a:p>
        </p:txBody>
      </p:sp>
      <p:sp>
        <p:nvSpPr>
          <p:cNvPr id="12" name="Text 8"/>
          <p:cNvSpPr txBox="1"/>
          <p:nvPr/>
        </p:nvSpPr>
        <p:spPr>
          <a:xfrm>
            <a:off x="8229600" y="3310128"/>
            <a:ext cx="33832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ACQUIRED SHARE OF YEAR-10 REVENUE</a:t>
            </a:r>
            <a:endParaRPr lang="en-US" sz="700" dirty="0"/>
          </a:p>
        </p:txBody>
      </p:sp>
      <p:sp>
        <p:nvSpPr>
          <p:cNvPr id="13" name="Text 9"/>
          <p:cNvSpPr txBox="1"/>
          <p:nvPr/>
        </p:nvSpPr>
        <p:spPr>
          <a:xfrm>
            <a:off x="8229600" y="3493008"/>
            <a:ext cx="3383280" cy="384048"/>
          </a:xfrm>
          <a:prstGeom prst="rect">
            <a:avLst/>
          </a:prstGeom>
          <a:noFill/>
          <a:ln/>
        </p:spPr>
        <p:txBody>
          <a:bodyPr wrap="square" lIns="0" tIns="0" rIns="0" bIns="0" rtlCol="0" anchor="ctr"/>
          <a:lstStyle/>
          <a:p>
            <a:pPr indent="0" marL="0">
              <a:buNone/>
            </a:pPr>
            <a:r>
              <a:rPr lang="en-US" sz="1500" dirty="0">
                <a:solidFill>
                  <a:srgbClr val="000000"/>
                </a:solidFill>
                <a:latin typeface="Helvetica Neue" pitchFamily="34" charset="0"/>
                <a:ea typeface="Helvetica Neue" pitchFamily="34" charset="-122"/>
                <a:cs typeface="Helvetica Neue" pitchFamily="34" charset="-120"/>
              </a:rPr>
              <a:t>54%</a:t>
            </a:r>
            <a:endParaRPr lang="en-US" sz="1500" dirty="0"/>
          </a:p>
        </p:txBody>
      </p:sp>
      <p:sp>
        <p:nvSpPr>
          <p:cNvPr id="14" name="Text 10"/>
          <p:cNvSpPr txBox="1"/>
          <p:nvPr/>
        </p:nvSpPr>
        <p:spPr>
          <a:xfrm>
            <a:off x="8229600" y="3913632"/>
            <a:ext cx="33832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ACQUISITIONS IN PLAN</a:t>
            </a:r>
            <a:endParaRPr lang="en-US" sz="700" dirty="0"/>
          </a:p>
        </p:txBody>
      </p:sp>
      <p:sp>
        <p:nvSpPr>
          <p:cNvPr id="15" name="Text 11"/>
          <p:cNvSpPr txBox="1"/>
          <p:nvPr/>
        </p:nvSpPr>
        <p:spPr>
          <a:xfrm>
            <a:off x="8229600" y="4096512"/>
            <a:ext cx="3383280" cy="384048"/>
          </a:xfrm>
          <a:prstGeom prst="rect">
            <a:avLst/>
          </a:prstGeom>
          <a:noFill/>
          <a:ln/>
        </p:spPr>
        <p:txBody>
          <a:bodyPr wrap="square" lIns="0" tIns="0" rIns="0" bIns="0" rtlCol="0" anchor="ctr"/>
          <a:lstStyle/>
          <a:p>
            <a:pPr indent="0" marL="0">
              <a:buNone/>
            </a:pPr>
            <a:r>
              <a:rPr lang="en-US" sz="1500" dirty="0">
                <a:solidFill>
                  <a:srgbClr val="000000"/>
                </a:solidFill>
                <a:latin typeface="Helvetica Neue" pitchFamily="34" charset="0"/>
                <a:ea typeface="Helvetica Neue" pitchFamily="34" charset="-122"/>
                <a:cs typeface="Helvetica Neue" pitchFamily="34" charset="-120"/>
              </a:rPr>
              <a:t>6 capability deals, 2028–33</a:t>
            </a:r>
            <a:endParaRPr lang="en-US" sz="1500" dirty="0"/>
          </a:p>
        </p:txBody>
      </p:sp>
      <p:sp>
        <p:nvSpPr>
          <p:cNvPr id="16" name="Text 12"/>
          <p:cNvSpPr txBox="1"/>
          <p:nvPr/>
        </p:nvSpPr>
        <p:spPr>
          <a:xfrm>
            <a:off x="8229600" y="4517136"/>
            <a:ext cx="33832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YEAR-10 ADJUSTED EBITDA</a:t>
            </a:r>
            <a:endParaRPr lang="en-US" sz="700" dirty="0"/>
          </a:p>
        </p:txBody>
      </p:sp>
      <p:sp>
        <p:nvSpPr>
          <p:cNvPr id="17" name="Text 13"/>
          <p:cNvSpPr txBox="1"/>
          <p:nvPr/>
        </p:nvSpPr>
        <p:spPr>
          <a:xfrm>
            <a:off x="8229600" y="4700016"/>
            <a:ext cx="3383280" cy="384048"/>
          </a:xfrm>
          <a:prstGeom prst="rect">
            <a:avLst/>
          </a:prstGeom>
          <a:noFill/>
          <a:ln/>
        </p:spPr>
        <p:txBody>
          <a:bodyPr wrap="square" lIns="0" tIns="0" rIns="0" bIns="0" rtlCol="0" anchor="ctr"/>
          <a:lstStyle/>
          <a:p>
            <a:pPr indent="0" marL="0">
              <a:buNone/>
            </a:pPr>
            <a:r>
              <a:rPr lang="en-US" sz="1500" dirty="0">
                <a:solidFill>
                  <a:srgbClr val="000000"/>
                </a:solidFill>
                <a:latin typeface="Helvetica Neue" pitchFamily="34" charset="0"/>
                <a:ea typeface="Helvetica Neue" pitchFamily="34" charset="-122"/>
                <a:cs typeface="Helvetica Neue" pitchFamily="34" charset="-120"/>
              </a:rPr>
              <a:t>$120M · 35% margin</a:t>
            </a:r>
            <a:endParaRPr lang="en-US" sz="1500" dirty="0"/>
          </a:p>
        </p:txBody>
      </p:sp>
      <p:sp>
        <p:nvSpPr>
          <p:cNvPr id="18" name="Text 14"/>
          <p:cNvSpPr txBox="1"/>
          <p:nvPr/>
        </p:nvSpPr>
        <p:spPr>
          <a:xfrm>
            <a:off x="8229600" y="5120640"/>
            <a:ext cx="33832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YEAR-10 TEAM</a:t>
            </a:r>
            <a:endParaRPr lang="en-US" sz="700" dirty="0"/>
          </a:p>
        </p:txBody>
      </p:sp>
      <p:sp>
        <p:nvSpPr>
          <p:cNvPr id="19" name="Text 15"/>
          <p:cNvSpPr txBox="1"/>
          <p:nvPr/>
        </p:nvSpPr>
        <p:spPr>
          <a:xfrm>
            <a:off x="8229600" y="5303520"/>
            <a:ext cx="3383280" cy="384048"/>
          </a:xfrm>
          <a:prstGeom prst="rect">
            <a:avLst/>
          </a:prstGeom>
          <a:noFill/>
          <a:ln/>
        </p:spPr>
        <p:txBody>
          <a:bodyPr wrap="square" lIns="0" tIns="0" rIns="0" bIns="0" rtlCol="0" anchor="ctr"/>
          <a:lstStyle/>
          <a:p>
            <a:pPr indent="0" marL="0">
              <a:buNone/>
            </a:pPr>
            <a:r>
              <a:rPr lang="en-US" sz="1500" dirty="0">
                <a:solidFill>
                  <a:srgbClr val="000000"/>
                </a:solidFill>
                <a:latin typeface="Helvetica Neue" pitchFamily="34" charset="0"/>
                <a:ea typeface="Helvetica Neue" pitchFamily="34" charset="-122"/>
                <a:cs typeface="Helvetica Neue" pitchFamily="34" charset="-120"/>
              </a:rPr>
              <a:t>~2,000 FTE (majority via acquisition)</a:t>
            </a:r>
            <a:endParaRPr lang="en-US" sz="1500" dirty="0"/>
          </a:p>
        </p:txBody>
      </p:sp>
      <p:sp>
        <p:nvSpPr>
          <p:cNvPr id="20" name="Text 16"/>
          <p:cNvSpPr txBox="1"/>
          <p:nvPr/>
        </p:nvSpPr>
        <p:spPr>
          <a:xfrm>
            <a:off x="548640" y="5806440"/>
            <a:ext cx="7406640" cy="384048"/>
          </a:xfrm>
          <a:prstGeom prst="rect">
            <a:avLst/>
          </a:prstGeom>
          <a:noFill/>
          <a:ln/>
        </p:spPr>
        <p:txBody>
          <a:bodyPr wrap="square" lIns="0" tIns="0" rIns="0" bIns="0" rtlCol="0" anchor="t"/>
          <a:lstStyle/>
          <a:p>
            <a:pPr algn="l" indent="0" marL="0">
              <a:spcAft>
                <a:spcPts val="400"/>
              </a:spcAft>
              <a:buNone/>
            </a:pPr>
            <a:r>
              <a:rPr lang="en-US" sz="730" i="1" dirty="0">
                <a:solidFill>
                  <a:srgbClr val="6E6C66"/>
                </a:solidFill>
                <a:latin typeface="Helvetica Neue" pitchFamily="34" charset="0"/>
                <a:ea typeface="Helvetica Neue" pitchFamily="34" charset="-122"/>
                <a:cs typeface="Helvetica Neue" pitchFamily="34" charset="-120"/>
              </a:rPr>
              <a:t>Pace matters as much as volume: the downside case delays every deal a year and drops two - Year-10 revenue falls to $115M. Margin path: Adjusted EBITDA margin is modelled to reach 30% by Year 5 and 35% by Year 10 as fleet utilisation, acquisition integration and corporate operating leverage scale - a stated planning assumption (Tom, 3 Sep 2026), not a bottom-up cost build.</a:t>
            </a:r>
            <a:endParaRPr lang="en-US" sz="730" dirty="0"/>
          </a:p>
        </p:txBody>
      </p:sp>
      <p:sp>
        <p:nvSpPr>
          <p:cNvPr id="21" name="Text 17"/>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Projection - TWB financial model, base case (Outputs tab). Acquired revenue: entry revenue $10–20M per deal growing 12%/yr post-close. Margin path: company-directed planning assumption (30% by Year 5, 35% by Year 10), overriding the bottom-up corporate-cost build - see the model's Inputs tab. Every figure on this slide is a modelled assumption, not a forecast of results.</a:t>
            </a:r>
            <a:endParaRPr lang="en-US" sz="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22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CAPITAL REQUIRED</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Capital required - sized from the plan</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The model draws equity only when cash would otherwise go below zero. The programme is front-loaded into the acquisitions of Phase 2 and 3 and becomes self-funding by 2032 in the base case.</a:t>
            </a:r>
            <a:endParaRPr lang="en-US" sz="1100" dirty="0"/>
          </a:p>
        </p:txBody>
      </p:sp>
      <p:sp>
        <p:nvSpPr>
          <p:cNvPr id="7" name="Text 4"/>
          <p:cNvSpPr txBox="1"/>
          <p:nvPr/>
        </p:nvSpPr>
        <p:spPr>
          <a:xfrm>
            <a:off x="548640" y="2103120"/>
            <a:ext cx="3657600" cy="822960"/>
          </a:xfrm>
          <a:prstGeom prst="rect">
            <a:avLst/>
          </a:prstGeom>
          <a:noFill/>
          <a:ln/>
        </p:spPr>
        <p:txBody>
          <a:bodyPr wrap="square" lIns="0" tIns="0" rIns="0" bIns="0" rtlCol="0" anchor="t"/>
          <a:lstStyle/>
          <a:p>
            <a:pPr indent="0" marL="0">
              <a:buNone/>
            </a:pPr>
            <a:r>
              <a:rPr lang="en-US" sz="5400" spc="-151" kern="0" dirty="0">
                <a:solidFill>
                  <a:srgbClr val="000000"/>
                </a:solidFill>
                <a:latin typeface="Helvetica Neue" pitchFamily="34" charset="0"/>
                <a:ea typeface="Helvetica Neue" pitchFamily="34" charset="-122"/>
                <a:cs typeface="Helvetica Neue" pitchFamily="34" charset="-120"/>
              </a:rPr>
              <a:t>$49M</a:t>
            </a:r>
            <a:endParaRPr lang="en-US" sz="5400" dirty="0"/>
          </a:p>
        </p:txBody>
      </p:sp>
      <p:sp>
        <p:nvSpPr>
          <p:cNvPr id="8" name="Text 5"/>
          <p:cNvSpPr txBox="1"/>
          <p:nvPr/>
        </p:nvSpPr>
        <p:spPr>
          <a:xfrm>
            <a:off x="548640" y="2971800"/>
            <a:ext cx="3474720" cy="457200"/>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TOTAL EQUITY FUNDING DRAWN 2026–2036, BASE CASE - PEAK CUMULATIVE REQUIREMENT</a:t>
            </a:r>
            <a:endParaRPr lang="en-US" sz="700" dirty="0"/>
          </a:p>
        </p:txBody>
      </p:sp>
      <p:sp>
        <p:nvSpPr>
          <p:cNvPr id="9" name="Text 6"/>
          <p:cNvSpPr txBox="1"/>
          <p:nvPr/>
        </p:nvSpPr>
        <p:spPr>
          <a:xfrm>
            <a:off x="548640" y="3520440"/>
            <a:ext cx="384048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BY PHASE - 2026–27 · 2028–29 · 2030–31 · 2032–36</a:t>
            </a:r>
            <a:endParaRPr lang="en-US" sz="700" dirty="0"/>
          </a:p>
        </p:txBody>
      </p:sp>
      <p:sp>
        <p:nvSpPr>
          <p:cNvPr id="10" name="Shape 7"/>
          <p:cNvSpPr/>
          <p:nvPr/>
        </p:nvSpPr>
        <p:spPr>
          <a:xfrm>
            <a:off x="548640" y="3977640"/>
            <a:ext cx="1508760" cy="804672"/>
          </a:xfrm>
          <a:prstGeom prst="rect">
            <a:avLst/>
          </a:prstGeom>
          <a:solidFill>
            <a:srgbClr val="F1F3F0"/>
          </a:solidFill>
          <a:ln w="12700">
            <a:solidFill>
              <a:srgbClr val="F1F3F0"/>
            </a:solidFill>
            <a:prstDash val="solid"/>
          </a:ln>
        </p:spPr>
      </p:sp>
      <p:sp>
        <p:nvSpPr>
          <p:cNvPr id="11" name="Text 8"/>
          <p:cNvSpPr txBox="1"/>
          <p:nvPr/>
        </p:nvSpPr>
        <p:spPr>
          <a:xfrm>
            <a:off x="713232" y="4123944"/>
            <a:ext cx="117957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PHASE 1</a:t>
            </a:r>
            <a:endParaRPr lang="en-US" sz="700" dirty="0"/>
          </a:p>
        </p:txBody>
      </p:sp>
      <p:sp>
        <p:nvSpPr>
          <p:cNvPr id="12" name="Text 9"/>
          <p:cNvSpPr txBox="1"/>
          <p:nvPr/>
        </p:nvSpPr>
        <p:spPr>
          <a:xfrm>
            <a:off x="713232" y="4343400"/>
            <a:ext cx="1179576" cy="438912"/>
          </a:xfrm>
          <a:prstGeom prst="rect">
            <a:avLst/>
          </a:prstGeom>
          <a:noFill/>
          <a:ln/>
        </p:spPr>
        <p:txBody>
          <a:bodyPr wrap="square" lIns="0" tIns="0" rIns="0" bIns="0" rtlCol="0" anchor="t"/>
          <a:lstStyle/>
          <a:p>
            <a:pPr indent="0" marL="0">
              <a:buNone/>
            </a:pPr>
            <a:r>
              <a:rPr lang="en-US" sz="1500" spc="-28" kern="0" dirty="0">
                <a:solidFill>
                  <a:srgbClr val="000000"/>
                </a:solidFill>
                <a:latin typeface="Helvetica Neue" pitchFamily="34" charset="0"/>
                <a:ea typeface="Helvetica Neue" pitchFamily="34" charset="-122"/>
                <a:cs typeface="Helvetica Neue" pitchFamily="34" charset="-120"/>
              </a:rPr>
              <a:t>$2.0M</a:t>
            </a:r>
            <a:endParaRPr lang="en-US" sz="1500" dirty="0"/>
          </a:p>
        </p:txBody>
      </p:sp>
      <p:sp>
        <p:nvSpPr>
          <p:cNvPr id="13" name="Shape 10"/>
          <p:cNvSpPr/>
          <p:nvPr/>
        </p:nvSpPr>
        <p:spPr>
          <a:xfrm>
            <a:off x="2148840" y="3977640"/>
            <a:ext cx="1508760" cy="804672"/>
          </a:xfrm>
          <a:prstGeom prst="rect">
            <a:avLst/>
          </a:prstGeom>
          <a:solidFill>
            <a:srgbClr val="F1F3F0"/>
          </a:solidFill>
          <a:ln w="12700">
            <a:solidFill>
              <a:srgbClr val="F1F3F0"/>
            </a:solidFill>
            <a:prstDash val="solid"/>
          </a:ln>
        </p:spPr>
      </p:sp>
      <p:sp>
        <p:nvSpPr>
          <p:cNvPr id="14" name="Text 11"/>
          <p:cNvSpPr txBox="1"/>
          <p:nvPr/>
        </p:nvSpPr>
        <p:spPr>
          <a:xfrm>
            <a:off x="2313432" y="4123944"/>
            <a:ext cx="117957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PHASE 2</a:t>
            </a:r>
            <a:endParaRPr lang="en-US" sz="700" dirty="0"/>
          </a:p>
        </p:txBody>
      </p:sp>
      <p:sp>
        <p:nvSpPr>
          <p:cNvPr id="15" name="Text 12"/>
          <p:cNvSpPr txBox="1"/>
          <p:nvPr/>
        </p:nvSpPr>
        <p:spPr>
          <a:xfrm>
            <a:off x="2313432" y="4343400"/>
            <a:ext cx="1179576" cy="438912"/>
          </a:xfrm>
          <a:prstGeom prst="rect">
            <a:avLst/>
          </a:prstGeom>
          <a:noFill/>
          <a:ln/>
        </p:spPr>
        <p:txBody>
          <a:bodyPr wrap="square" lIns="0" tIns="0" rIns="0" bIns="0" rtlCol="0" anchor="t"/>
          <a:lstStyle/>
          <a:p>
            <a:pPr indent="0" marL="0">
              <a:buNone/>
            </a:pPr>
            <a:r>
              <a:rPr lang="en-US" sz="1500" spc="-28" kern="0" dirty="0">
                <a:solidFill>
                  <a:srgbClr val="000000"/>
                </a:solidFill>
                <a:latin typeface="Helvetica Neue" pitchFamily="34" charset="0"/>
                <a:ea typeface="Helvetica Neue" pitchFamily="34" charset="-122"/>
                <a:cs typeface="Helvetica Neue" pitchFamily="34" charset="-120"/>
              </a:rPr>
              <a:t>$41.5M</a:t>
            </a:r>
            <a:endParaRPr lang="en-US" sz="1500" dirty="0"/>
          </a:p>
        </p:txBody>
      </p:sp>
      <p:sp>
        <p:nvSpPr>
          <p:cNvPr id="16" name="Shape 13"/>
          <p:cNvSpPr/>
          <p:nvPr/>
        </p:nvSpPr>
        <p:spPr>
          <a:xfrm>
            <a:off x="3749040" y="3977640"/>
            <a:ext cx="1508760" cy="804672"/>
          </a:xfrm>
          <a:prstGeom prst="rect">
            <a:avLst/>
          </a:prstGeom>
          <a:solidFill>
            <a:srgbClr val="F1F3F0"/>
          </a:solidFill>
          <a:ln w="12700">
            <a:solidFill>
              <a:srgbClr val="F1F3F0"/>
            </a:solidFill>
            <a:prstDash val="solid"/>
          </a:ln>
        </p:spPr>
      </p:sp>
      <p:sp>
        <p:nvSpPr>
          <p:cNvPr id="17" name="Text 14"/>
          <p:cNvSpPr txBox="1"/>
          <p:nvPr/>
        </p:nvSpPr>
        <p:spPr>
          <a:xfrm>
            <a:off x="3913632" y="4123944"/>
            <a:ext cx="117957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PHASE 3</a:t>
            </a:r>
            <a:endParaRPr lang="en-US" sz="700" dirty="0"/>
          </a:p>
        </p:txBody>
      </p:sp>
      <p:sp>
        <p:nvSpPr>
          <p:cNvPr id="18" name="Text 15"/>
          <p:cNvSpPr txBox="1"/>
          <p:nvPr/>
        </p:nvSpPr>
        <p:spPr>
          <a:xfrm>
            <a:off x="3913632" y="4343400"/>
            <a:ext cx="1179576" cy="438912"/>
          </a:xfrm>
          <a:prstGeom prst="rect">
            <a:avLst/>
          </a:prstGeom>
          <a:noFill/>
          <a:ln/>
        </p:spPr>
        <p:txBody>
          <a:bodyPr wrap="square" lIns="0" tIns="0" rIns="0" bIns="0" rtlCol="0" anchor="t"/>
          <a:lstStyle/>
          <a:p>
            <a:pPr indent="0" marL="0">
              <a:buNone/>
            </a:pPr>
            <a:r>
              <a:rPr lang="en-US" sz="1500" spc="-28" kern="0" dirty="0">
                <a:solidFill>
                  <a:srgbClr val="000000"/>
                </a:solidFill>
                <a:latin typeface="Helvetica Neue" pitchFamily="34" charset="0"/>
                <a:ea typeface="Helvetica Neue" pitchFamily="34" charset="-122"/>
                <a:cs typeface="Helvetica Neue" pitchFamily="34" charset="-120"/>
              </a:rPr>
              <a:t>$5.8M</a:t>
            </a:r>
            <a:endParaRPr lang="en-US" sz="1500" dirty="0"/>
          </a:p>
        </p:txBody>
      </p:sp>
      <p:sp>
        <p:nvSpPr>
          <p:cNvPr id="19" name="Shape 16"/>
          <p:cNvSpPr/>
          <p:nvPr/>
        </p:nvSpPr>
        <p:spPr>
          <a:xfrm>
            <a:off x="5349240" y="3977640"/>
            <a:ext cx="1508760" cy="804672"/>
          </a:xfrm>
          <a:prstGeom prst="rect">
            <a:avLst/>
          </a:prstGeom>
          <a:solidFill>
            <a:srgbClr val="F1F3F0"/>
          </a:solidFill>
          <a:ln w="12700">
            <a:solidFill>
              <a:srgbClr val="F1F3F0"/>
            </a:solidFill>
            <a:prstDash val="solid"/>
          </a:ln>
        </p:spPr>
      </p:sp>
      <p:sp>
        <p:nvSpPr>
          <p:cNvPr id="20" name="Text 17"/>
          <p:cNvSpPr txBox="1"/>
          <p:nvPr/>
        </p:nvSpPr>
        <p:spPr>
          <a:xfrm>
            <a:off x="5513832" y="4123944"/>
            <a:ext cx="1179576"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LATER</a:t>
            </a:r>
            <a:endParaRPr lang="en-US" sz="700" dirty="0"/>
          </a:p>
        </p:txBody>
      </p:sp>
      <p:sp>
        <p:nvSpPr>
          <p:cNvPr id="21" name="Text 18"/>
          <p:cNvSpPr txBox="1"/>
          <p:nvPr/>
        </p:nvSpPr>
        <p:spPr>
          <a:xfrm>
            <a:off x="5513832" y="4343400"/>
            <a:ext cx="1179576" cy="438912"/>
          </a:xfrm>
          <a:prstGeom prst="rect">
            <a:avLst/>
          </a:prstGeom>
          <a:noFill/>
          <a:ln/>
        </p:spPr>
        <p:txBody>
          <a:bodyPr wrap="square" lIns="0" tIns="0" rIns="0" bIns="0" rtlCol="0" anchor="t"/>
          <a:lstStyle/>
          <a:p>
            <a:pPr indent="0" marL="0">
              <a:buNone/>
            </a:pPr>
            <a:r>
              <a:rPr lang="en-US" sz="1500" spc="-28" kern="0" dirty="0">
                <a:solidFill>
                  <a:srgbClr val="000000"/>
                </a:solidFill>
                <a:latin typeface="Helvetica Neue" pitchFamily="34" charset="0"/>
                <a:ea typeface="Helvetica Neue" pitchFamily="34" charset="-122"/>
                <a:cs typeface="Helvetica Neue" pitchFamily="34" charset="-120"/>
              </a:rPr>
              <a:t>$0.0M</a:t>
            </a:r>
            <a:endParaRPr lang="en-US" sz="1500" dirty="0"/>
          </a:p>
        </p:txBody>
      </p:sp>
      <p:sp>
        <p:nvSpPr>
          <p:cNvPr id="22" name="Shape 19"/>
          <p:cNvSpPr/>
          <p:nvPr/>
        </p:nvSpPr>
        <p:spPr>
          <a:xfrm>
            <a:off x="548640" y="5029200"/>
            <a:ext cx="11094415" cy="1024128"/>
          </a:xfrm>
          <a:prstGeom prst="rect">
            <a:avLst/>
          </a:prstGeom>
          <a:solidFill>
            <a:srgbClr val="66705F"/>
          </a:solidFill>
          <a:ln w="12700">
            <a:solidFill>
              <a:srgbClr val="66705F"/>
            </a:solidFill>
            <a:prstDash val="solid"/>
          </a:ln>
        </p:spPr>
      </p:sp>
      <p:sp>
        <p:nvSpPr>
          <p:cNvPr id="23" name="Text 20"/>
          <p:cNvSpPr txBox="1"/>
          <p:nvPr/>
        </p:nvSpPr>
        <p:spPr>
          <a:xfrm>
            <a:off x="777240" y="5138928"/>
            <a:ext cx="5486400" cy="201168"/>
          </a:xfrm>
          <a:prstGeom prst="rect">
            <a:avLst/>
          </a:prstGeom>
          <a:noFill/>
          <a:ln/>
        </p:spPr>
        <p:txBody>
          <a:bodyPr wrap="square" lIns="0" tIns="0" rIns="0" bIns="0" rtlCol="0" anchor="t"/>
          <a:lstStyle/>
          <a:p>
            <a:pPr indent="0" marL="0">
              <a:buNone/>
            </a:pPr>
            <a:r>
              <a:rPr lang="en-US" sz="700" spc="150" kern="0" dirty="0">
                <a:solidFill>
                  <a:srgbClr val="FFFFFF"/>
                </a:solidFill>
                <a:latin typeface="IBM Plex Mono" pitchFamily="34" charset="0"/>
                <a:ea typeface="IBM Plex Mono" pitchFamily="34" charset="-122"/>
                <a:cs typeface="IBM Plex Mono" pitchFamily="34" charset="-120"/>
              </a:rPr>
              <a:t>THE INITIAL RAISE IS SIZED AGAINST PHASE 1</a:t>
            </a:r>
            <a:endParaRPr lang="en-US" sz="700" dirty="0"/>
          </a:p>
        </p:txBody>
      </p:sp>
      <p:sp>
        <p:nvSpPr>
          <p:cNvPr id="24" name="Text 21"/>
          <p:cNvSpPr txBox="1"/>
          <p:nvPr/>
        </p:nvSpPr>
        <p:spPr>
          <a:xfrm>
            <a:off x="777240" y="5358384"/>
            <a:ext cx="10515600" cy="658368"/>
          </a:xfrm>
          <a:prstGeom prst="rect">
            <a:avLst/>
          </a:prstGeom>
          <a:noFill/>
          <a:ln/>
        </p:spPr>
        <p:txBody>
          <a:bodyPr wrap="square" lIns="0" tIns="0" rIns="0" bIns="0" rtlCol="0" anchor="t"/>
          <a:lstStyle/>
          <a:p>
            <a:pPr algn="l" indent="0" marL="0">
              <a:spcAft>
                <a:spcPts val="400"/>
              </a:spcAft>
              <a:buNone/>
            </a:pPr>
            <a:r>
              <a:rPr lang="en-US" sz="950" dirty="0">
                <a:solidFill>
                  <a:srgbClr val="FFFFFF"/>
                </a:solidFill>
                <a:latin typeface="Helvetica Neue" pitchFamily="34" charset="0"/>
                <a:ea typeface="Helvetica Neue" pitchFamily="34" charset="-122"/>
                <a:cs typeface="Helvetica Neue" pitchFamily="34" charset="-120"/>
              </a:rPr>
              <a:t>The full $49M equity requirement runs through Year 10; $10M is confirmed now as the initial raise. Structure, use of proceeds and milestones funded - next slide. Stress case: at 2.0x revenue the acquisition programme costs $180M rather than $83M.</a:t>
            </a:r>
            <a:endParaRPr lang="en-US" sz="950" dirty="0"/>
          </a:p>
        </p:txBody>
      </p:sp>
      <p:sp>
        <p:nvSpPr>
          <p:cNvPr id="25" name="Text 22"/>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Projection - TWB financial model, P&amp;L &amp; Capital tab. Fully equity-funded basis; acquisition debt or seller paper would reduce the equity requirement.</a:t>
            </a:r>
            <a:endParaRPr lang="en-US" sz="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23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THE ASK</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The ask: $10M initial raise - this gets us from foothold to first acquisition</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Confirmed 2 September 2026. This capital funds Phase 1 in full and reserves toward diligence and a first-acquisition LOI - it does not fund an acquisition close. Six-deal, ten-year plan is the upside this raise sets up, not what it buys outright.</a:t>
            </a:r>
            <a:endParaRPr lang="en-US" sz="1100" dirty="0"/>
          </a:p>
        </p:txBody>
      </p:sp>
      <p:sp>
        <p:nvSpPr>
          <p:cNvPr id="7" name="Text 4"/>
          <p:cNvSpPr txBox="1"/>
          <p:nvPr/>
        </p:nvSpPr>
        <p:spPr>
          <a:xfrm>
            <a:off x="548640" y="2084832"/>
            <a:ext cx="3017520" cy="822960"/>
          </a:xfrm>
          <a:prstGeom prst="rect">
            <a:avLst/>
          </a:prstGeom>
          <a:noFill/>
          <a:ln/>
        </p:spPr>
        <p:txBody>
          <a:bodyPr wrap="square" lIns="0" tIns="0" rIns="0" bIns="0" rtlCol="0" anchor="t"/>
          <a:lstStyle/>
          <a:p>
            <a:pPr indent="0" marL="0">
              <a:buNone/>
            </a:pPr>
            <a:r>
              <a:rPr lang="en-US" sz="6400" spc="-179" kern="0" dirty="0">
                <a:solidFill>
                  <a:srgbClr val="000000"/>
                </a:solidFill>
                <a:latin typeface="Helvetica Neue" pitchFamily="34" charset="0"/>
                <a:ea typeface="Helvetica Neue" pitchFamily="34" charset="-122"/>
                <a:cs typeface="Helvetica Neue" pitchFamily="34" charset="-120"/>
              </a:rPr>
              <a:t>$10M</a:t>
            </a:r>
            <a:endParaRPr lang="en-US" sz="6400" dirty="0"/>
          </a:p>
        </p:txBody>
      </p:sp>
      <p:sp>
        <p:nvSpPr>
          <p:cNvPr id="8" name="Shape 5"/>
          <p:cNvSpPr/>
          <p:nvPr/>
        </p:nvSpPr>
        <p:spPr>
          <a:xfrm>
            <a:off x="501777" y="2037969"/>
            <a:ext cx="57150" cy="0"/>
          </a:xfrm>
          <a:prstGeom prst="line">
            <a:avLst/>
          </a:prstGeom>
          <a:noFill/>
          <a:ln w="9525">
            <a:solidFill>
              <a:srgbClr val="788274"/>
            </a:solidFill>
            <a:prstDash val="solid"/>
          </a:ln>
        </p:spPr>
      </p:sp>
      <p:sp>
        <p:nvSpPr>
          <p:cNvPr id="9" name="Shape 6"/>
          <p:cNvSpPr/>
          <p:nvPr/>
        </p:nvSpPr>
        <p:spPr>
          <a:xfrm>
            <a:off x="501777" y="2037969"/>
            <a:ext cx="0" cy="57150"/>
          </a:xfrm>
          <a:prstGeom prst="line">
            <a:avLst/>
          </a:prstGeom>
          <a:noFill/>
          <a:ln w="9525">
            <a:solidFill>
              <a:srgbClr val="788274"/>
            </a:solidFill>
            <a:prstDash val="solid"/>
          </a:ln>
        </p:spPr>
      </p:sp>
      <p:sp>
        <p:nvSpPr>
          <p:cNvPr id="10" name="Shape 7"/>
          <p:cNvSpPr/>
          <p:nvPr/>
        </p:nvSpPr>
        <p:spPr>
          <a:xfrm>
            <a:off x="2833497" y="2037969"/>
            <a:ext cx="57150" cy="0"/>
          </a:xfrm>
          <a:prstGeom prst="line">
            <a:avLst/>
          </a:prstGeom>
          <a:noFill/>
          <a:ln w="9525">
            <a:solidFill>
              <a:srgbClr val="788274"/>
            </a:solidFill>
            <a:prstDash val="solid"/>
          </a:ln>
        </p:spPr>
      </p:sp>
      <p:sp>
        <p:nvSpPr>
          <p:cNvPr id="11" name="Shape 8"/>
          <p:cNvSpPr/>
          <p:nvPr/>
        </p:nvSpPr>
        <p:spPr>
          <a:xfrm>
            <a:off x="2890647" y="2037969"/>
            <a:ext cx="0" cy="57150"/>
          </a:xfrm>
          <a:prstGeom prst="line">
            <a:avLst/>
          </a:prstGeom>
          <a:noFill/>
          <a:ln w="9525">
            <a:solidFill>
              <a:srgbClr val="788274"/>
            </a:solidFill>
            <a:prstDash val="solid"/>
          </a:ln>
        </p:spPr>
      </p:sp>
      <p:sp>
        <p:nvSpPr>
          <p:cNvPr id="12" name="Shape 9"/>
          <p:cNvSpPr/>
          <p:nvPr/>
        </p:nvSpPr>
        <p:spPr>
          <a:xfrm>
            <a:off x="501777" y="2918079"/>
            <a:ext cx="57150" cy="0"/>
          </a:xfrm>
          <a:prstGeom prst="line">
            <a:avLst/>
          </a:prstGeom>
          <a:noFill/>
          <a:ln w="9525">
            <a:solidFill>
              <a:srgbClr val="788274"/>
            </a:solidFill>
            <a:prstDash val="solid"/>
          </a:ln>
        </p:spPr>
      </p:sp>
      <p:sp>
        <p:nvSpPr>
          <p:cNvPr id="13" name="Shape 10"/>
          <p:cNvSpPr/>
          <p:nvPr/>
        </p:nvSpPr>
        <p:spPr>
          <a:xfrm>
            <a:off x="501777" y="2860929"/>
            <a:ext cx="0" cy="57150"/>
          </a:xfrm>
          <a:prstGeom prst="line">
            <a:avLst/>
          </a:prstGeom>
          <a:noFill/>
          <a:ln w="9525">
            <a:solidFill>
              <a:srgbClr val="788274"/>
            </a:solidFill>
            <a:prstDash val="solid"/>
          </a:ln>
        </p:spPr>
      </p:sp>
      <p:sp>
        <p:nvSpPr>
          <p:cNvPr id="14" name="Shape 11"/>
          <p:cNvSpPr/>
          <p:nvPr/>
        </p:nvSpPr>
        <p:spPr>
          <a:xfrm>
            <a:off x="2833497" y="2918079"/>
            <a:ext cx="57150" cy="0"/>
          </a:xfrm>
          <a:prstGeom prst="line">
            <a:avLst/>
          </a:prstGeom>
          <a:noFill/>
          <a:ln w="9525">
            <a:solidFill>
              <a:srgbClr val="788274"/>
            </a:solidFill>
            <a:prstDash val="solid"/>
          </a:ln>
        </p:spPr>
      </p:sp>
      <p:sp>
        <p:nvSpPr>
          <p:cNvPr id="15" name="Shape 12"/>
          <p:cNvSpPr/>
          <p:nvPr/>
        </p:nvSpPr>
        <p:spPr>
          <a:xfrm>
            <a:off x="2890647" y="2860929"/>
            <a:ext cx="0" cy="57150"/>
          </a:xfrm>
          <a:prstGeom prst="line">
            <a:avLst/>
          </a:prstGeom>
          <a:noFill/>
          <a:ln w="9525">
            <a:solidFill>
              <a:srgbClr val="788274"/>
            </a:solidFill>
            <a:prstDash val="solid"/>
          </a:ln>
        </p:spPr>
      </p:sp>
      <p:sp>
        <p:nvSpPr>
          <p:cNvPr id="16" name="Text 13"/>
          <p:cNvSpPr txBox="1"/>
          <p:nvPr/>
        </p:nvSpPr>
        <p:spPr>
          <a:xfrm>
            <a:off x="548640" y="3145536"/>
            <a:ext cx="2926080" cy="292608"/>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INITIAL RAISE - ROUND 1 · CONFIRMED AMOUNT</a:t>
            </a:r>
            <a:endParaRPr lang="en-US" sz="700" dirty="0"/>
          </a:p>
        </p:txBody>
      </p:sp>
      <p:sp>
        <p:nvSpPr>
          <p:cNvPr id="17" name="Shape 14"/>
          <p:cNvSpPr/>
          <p:nvPr/>
        </p:nvSpPr>
        <p:spPr>
          <a:xfrm>
            <a:off x="548640" y="3529584"/>
            <a:ext cx="1051560" cy="219456"/>
          </a:xfrm>
          <a:prstGeom prst="rect">
            <a:avLst/>
          </a:prstGeom>
          <a:solidFill>
            <a:srgbClr val="FFFFFF"/>
          </a:solidFill>
          <a:ln w="9525">
            <a:solidFill>
              <a:srgbClr val="66705F"/>
            </a:solidFill>
            <a:prstDash val="solid"/>
          </a:ln>
        </p:spPr>
      </p:sp>
      <p:sp>
        <p:nvSpPr>
          <p:cNvPr id="18" name="Shape 15"/>
          <p:cNvSpPr/>
          <p:nvPr/>
        </p:nvSpPr>
        <p:spPr>
          <a:xfrm>
            <a:off x="640080" y="3621024"/>
            <a:ext cx="41148" cy="41148"/>
          </a:xfrm>
          <a:prstGeom prst="rect">
            <a:avLst/>
          </a:prstGeom>
          <a:solidFill>
            <a:srgbClr val="66705F"/>
          </a:solidFill>
          <a:ln w="12700">
            <a:solidFill>
              <a:srgbClr val="66705F"/>
            </a:solidFill>
            <a:prstDash val="solid"/>
          </a:ln>
        </p:spPr>
      </p:sp>
      <p:sp>
        <p:nvSpPr>
          <p:cNvPr id="19" name="Text 16"/>
          <p:cNvSpPr txBox="1"/>
          <p:nvPr/>
        </p:nvSpPr>
        <p:spPr>
          <a:xfrm>
            <a:off x="713232" y="3529584"/>
            <a:ext cx="886968" cy="219456"/>
          </a:xfrm>
          <a:prstGeom prst="rect">
            <a:avLst/>
          </a:prstGeom>
          <a:noFill/>
          <a:ln/>
        </p:spPr>
        <p:txBody>
          <a:bodyPr wrap="none" lIns="0" tIns="0" rIns="0" bIns="0" rtlCol="0" anchor="ctr"/>
          <a:lstStyle/>
          <a:p>
            <a:pPr indent="0" marL="0">
              <a:buNone/>
            </a:pPr>
            <a:r>
              <a:rPr lang="en-US" sz="650" b="1" spc="59" kern="0" dirty="0">
                <a:solidFill>
                  <a:srgbClr val="66705F"/>
                </a:solidFill>
                <a:latin typeface="IBM Plex Mono" pitchFamily="34" charset="0"/>
                <a:ea typeface="IBM Plex Mono" pitchFamily="34" charset="-122"/>
                <a:cs typeface="IBM Plex Mono" pitchFamily="34" charset="-120"/>
              </a:rPr>
              <a:t>CONFIRMED</a:t>
            </a:r>
            <a:endParaRPr lang="en-US" sz="650" dirty="0"/>
          </a:p>
        </p:txBody>
      </p:sp>
      <p:sp>
        <p:nvSpPr>
          <p:cNvPr id="20" name="Text 17"/>
          <p:cNvSpPr txBox="1"/>
          <p:nvPr/>
        </p:nvSpPr>
        <p:spPr>
          <a:xfrm>
            <a:off x="548640" y="3950208"/>
            <a:ext cx="105156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INSTRUMENT</a:t>
            </a:r>
            <a:endParaRPr lang="en-US" sz="700" dirty="0"/>
          </a:p>
        </p:txBody>
      </p:sp>
      <p:sp>
        <p:nvSpPr>
          <p:cNvPr id="21" name="Shape 18"/>
          <p:cNvSpPr/>
          <p:nvPr/>
        </p:nvSpPr>
        <p:spPr>
          <a:xfrm>
            <a:off x="1737360" y="3931920"/>
            <a:ext cx="868680" cy="219456"/>
          </a:xfrm>
          <a:prstGeom prst="rect">
            <a:avLst/>
          </a:prstGeom>
          <a:solidFill>
            <a:srgbClr val="FFFFFF"/>
          </a:solidFill>
          <a:ln w="9525">
            <a:solidFill>
              <a:srgbClr val="66705F"/>
            </a:solidFill>
            <a:prstDash val="solid"/>
          </a:ln>
        </p:spPr>
      </p:sp>
      <p:sp>
        <p:nvSpPr>
          <p:cNvPr id="22" name="Shape 19"/>
          <p:cNvSpPr/>
          <p:nvPr/>
        </p:nvSpPr>
        <p:spPr>
          <a:xfrm>
            <a:off x="1828800" y="4023360"/>
            <a:ext cx="41148" cy="41148"/>
          </a:xfrm>
          <a:prstGeom prst="rect">
            <a:avLst/>
          </a:prstGeom>
          <a:solidFill>
            <a:srgbClr val="66705F"/>
          </a:solidFill>
          <a:ln w="12700">
            <a:solidFill>
              <a:srgbClr val="66705F"/>
            </a:solidFill>
            <a:prstDash val="solid"/>
          </a:ln>
        </p:spPr>
      </p:sp>
      <p:sp>
        <p:nvSpPr>
          <p:cNvPr id="23" name="Text 20"/>
          <p:cNvSpPr txBox="1"/>
          <p:nvPr/>
        </p:nvSpPr>
        <p:spPr>
          <a:xfrm>
            <a:off x="1901952" y="3931920"/>
            <a:ext cx="704088" cy="219456"/>
          </a:xfrm>
          <a:prstGeom prst="rect">
            <a:avLst/>
          </a:prstGeom>
          <a:noFill/>
          <a:ln/>
        </p:spPr>
        <p:txBody>
          <a:bodyPr wrap="none" lIns="0" tIns="0" rIns="0" bIns="0" rtlCol="0" anchor="ctr"/>
          <a:lstStyle/>
          <a:p>
            <a:pPr indent="0" marL="0">
              <a:buNone/>
            </a:pPr>
            <a:r>
              <a:rPr lang="en-US" sz="650" b="1" spc="59" kern="0" dirty="0">
                <a:solidFill>
                  <a:srgbClr val="66705F"/>
                </a:solidFill>
                <a:latin typeface="IBM Plex Mono" pitchFamily="34" charset="0"/>
                <a:ea typeface="IBM Plex Mono" pitchFamily="34" charset="-122"/>
                <a:cs typeface="IBM Plex Mono" pitchFamily="34" charset="-120"/>
              </a:rPr>
              <a:t>PENDING</a:t>
            </a:r>
            <a:endParaRPr lang="en-US" sz="650" dirty="0"/>
          </a:p>
        </p:txBody>
      </p:sp>
      <p:sp>
        <p:nvSpPr>
          <p:cNvPr id="24" name="Text 21"/>
          <p:cNvSpPr txBox="1"/>
          <p:nvPr/>
        </p:nvSpPr>
        <p:spPr>
          <a:xfrm>
            <a:off x="548640" y="4169664"/>
            <a:ext cx="2971800" cy="384048"/>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Equity - structure (common / preferred / convertible) to be finalized with the lead investor. Working assumption only; not yet set by the company.</a:t>
            </a:r>
            <a:endParaRPr lang="en-US" sz="700" dirty="0"/>
          </a:p>
        </p:txBody>
      </p:sp>
      <p:sp>
        <p:nvSpPr>
          <p:cNvPr id="25" name="Text 22"/>
          <p:cNvSpPr txBox="1"/>
          <p:nvPr/>
        </p:nvSpPr>
        <p:spPr>
          <a:xfrm>
            <a:off x="548640" y="4590288"/>
            <a:ext cx="105156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VALUATION</a:t>
            </a:r>
            <a:endParaRPr lang="en-US" sz="700" dirty="0"/>
          </a:p>
        </p:txBody>
      </p:sp>
      <p:sp>
        <p:nvSpPr>
          <p:cNvPr id="26" name="Shape 23"/>
          <p:cNvSpPr/>
          <p:nvPr/>
        </p:nvSpPr>
        <p:spPr>
          <a:xfrm>
            <a:off x="1737360" y="4572000"/>
            <a:ext cx="868680" cy="219456"/>
          </a:xfrm>
          <a:prstGeom prst="rect">
            <a:avLst/>
          </a:prstGeom>
          <a:solidFill>
            <a:srgbClr val="FFFFFF"/>
          </a:solidFill>
          <a:ln w="9525">
            <a:solidFill>
              <a:srgbClr val="66705F"/>
            </a:solidFill>
            <a:prstDash val="solid"/>
          </a:ln>
        </p:spPr>
      </p:sp>
      <p:sp>
        <p:nvSpPr>
          <p:cNvPr id="27" name="Shape 24"/>
          <p:cNvSpPr/>
          <p:nvPr/>
        </p:nvSpPr>
        <p:spPr>
          <a:xfrm>
            <a:off x="1828800" y="4663440"/>
            <a:ext cx="41148" cy="41148"/>
          </a:xfrm>
          <a:prstGeom prst="rect">
            <a:avLst/>
          </a:prstGeom>
          <a:solidFill>
            <a:srgbClr val="66705F"/>
          </a:solidFill>
          <a:ln w="12700">
            <a:solidFill>
              <a:srgbClr val="66705F"/>
            </a:solidFill>
            <a:prstDash val="solid"/>
          </a:ln>
        </p:spPr>
      </p:sp>
      <p:sp>
        <p:nvSpPr>
          <p:cNvPr id="28" name="Text 25"/>
          <p:cNvSpPr txBox="1"/>
          <p:nvPr/>
        </p:nvSpPr>
        <p:spPr>
          <a:xfrm>
            <a:off x="1901952" y="4572000"/>
            <a:ext cx="704088" cy="219456"/>
          </a:xfrm>
          <a:prstGeom prst="rect">
            <a:avLst/>
          </a:prstGeom>
          <a:noFill/>
          <a:ln/>
        </p:spPr>
        <p:txBody>
          <a:bodyPr wrap="none" lIns="0" tIns="0" rIns="0" bIns="0" rtlCol="0" anchor="ctr"/>
          <a:lstStyle/>
          <a:p>
            <a:pPr indent="0" marL="0">
              <a:buNone/>
            </a:pPr>
            <a:r>
              <a:rPr lang="en-US" sz="650" b="1" spc="59" kern="0" dirty="0">
                <a:solidFill>
                  <a:srgbClr val="66705F"/>
                </a:solidFill>
                <a:latin typeface="IBM Plex Mono" pitchFamily="34" charset="0"/>
                <a:ea typeface="IBM Plex Mono" pitchFamily="34" charset="-122"/>
                <a:cs typeface="IBM Plex Mono" pitchFamily="34" charset="-120"/>
              </a:rPr>
              <a:t>PENDING</a:t>
            </a:r>
            <a:endParaRPr lang="en-US" sz="650" dirty="0"/>
          </a:p>
        </p:txBody>
      </p:sp>
      <p:sp>
        <p:nvSpPr>
          <p:cNvPr id="29" name="Text 26"/>
          <p:cNvSpPr txBox="1"/>
          <p:nvPr/>
        </p:nvSpPr>
        <p:spPr>
          <a:xfrm>
            <a:off x="548640" y="4809744"/>
            <a:ext cx="2971800" cy="384048"/>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To be set through negotiation with the lead investor. The returns-case and comp framework (this deck) is offered as the reference point, not a quoted price.</a:t>
            </a:r>
            <a:endParaRPr lang="en-US" sz="700" dirty="0"/>
          </a:p>
        </p:txBody>
      </p:sp>
      <p:sp>
        <p:nvSpPr>
          <p:cNvPr id="30" name="Text 27"/>
          <p:cNvSpPr txBox="1"/>
          <p:nvPr/>
        </p:nvSpPr>
        <p:spPr>
          <a:xfrm>
            <a:off x="548640" y="5230368"/>
            <a:ext cx="105156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TARGET CLOSE</a:t>
            </a:r>
            <a:endParaRPr lang="en-US" sz="700" dirty="0"/>
          </a:p>
        </p:txBody>
      </p:sp>
      <p:sp>
        <p:nvSpPr>
          <p:cNvPr id="31" name="Shape 28"/>
          <p:cNvSpPr/>
          <p:nvPr/>
        </p:nvSpPr>
        <p:spPr>
          <a:xfrm>
            <a:off x="1737360" y="5212080"/>
            <a:ext cx="868680" cy="219456"/>
          </a:xfrm>
          <a:prstGeom prst="rect">
            <a:avLst/>
          </a:prstGeom>
          <a:solidFill>
            <a:srgbClr val="FFFFFF"/>
          </a:solidFill>
          <a:ln w="9525">
            <a:solidFill>
              <a:srgbClr val="66705F"/>
            </a:solidFill>
            <a:prstDash val="solid"/>
          </a:ln>
        </p:spPr>
      </p:sp>
      <p:sp>
        <p:nvSpPr>
          <p:cNvPr id="32" name="Shape 29"/>
          <p:cNvSpPr/>
          <p:nvPr/>
        </p:nvSpPr>
        <p:spPr>
          <a:xfrm>
            <a:off x="1828800" y="5303520"/>
            <a:ext cx="41148" cy="41148"/>
          </a:xfrm>
          <a:prstGeom prst="rect">
            <a:avLst/>
          </a:prstGeom>
          <a:solidFill>
            <a:srgbClr val="66705F"/>
          </a:solidFill>
          <a:ln w="12700">
            <a:solidFill>
              <a:srgbClr val="66705F"/>
            </a:solidFill>
            <a:prstDash val="solid"/>
          </a:ln>
        </p:spPr>
      </p:sp>
      <p:sp>
        <p:nvSpPr>
          <p:cNvPr id="33" name="Text 30"/>
          <p:cNvSpPr txBox="1"/>
          <p:nvPr/>
        </p:nvSpPr>
        <p:spPr>
          <a:xfrm>
            <a:off x="1901952" y="5212080"/>
            <a:ext cx="704088" cy="219456"/>
          </a:xfrm>
          <a:prstGeom prst="rect">
            <a:avLst/>
          </a:prstGeom>
          <a:noFill/>
          <a:ln/>
        </p:spPr>
        <p:txBody>
          <a:bodyPr wrap="none" lIns="0" tIns="0" rIns="0" bIns="0" rtlCol="0" anchor="ctr"/>
          <a:lstStyle/>
          <a:p>
            <a:pPr indent="0" marL="0">
              <a:buNone/>
            </a:pPr>
            <a:r>
              <a:rPr lang="en-US" sz="650" b="1" spc="59" kern="0" dirty="0">
                <a:solidFill>
                  <a:srgbClr val="66705F"/>
                </a:solidFill>
                <a:latin typeface="IBM Plex Mono" pitchFamily="34" charset="0"/>
                <a:ea typeface="IBM Plex Mono" pitchFamily="34" charset="-122"/>
                <a:cs typeface="IBM Plex Mono" pitchFamily="34" charset="-120"/>
              </a:rPr>
              <a:t>PENDING</a:t>
            </a:r>
            <a:endParaRPr lang="en-US" sz="650" dirty="0"/>
          </a:p>
        </p:txBody>
      </p:sp>
      <p:sp>
        <p:nvSpPr>
          <p:cNvPr id="34" name="Text 31"/>
          <p:cNvSpPr txBox="1"/>
          <p:nvPr/>
        </p:nvSpPr>
        <p:spPr>
          <a:xfrm>
            <a:off x="548640" y="5449824"/>
            <a:ext cx="2971800" cy="384048"/>
          </a:xfrm>
          <a:prstGeom prst="rect">
            <a:avLst/>
          </a:prstGeom>
          <a:noFill/>
          <a:ln/>
        </p:spPr>
        <p:txBody>
          <a:bodyPr wrap="square" lIns="0" tIns="0" rIns="0" bIns="0" rtlCol="0" anchor="t"/>
          <a:lstStyle/>
          <a:p>
            <a:pPr algn="l" indent="0" marL="0">
              <a:spcAft>
                <a:spcPts val="400"/>
              </a:spcAft>
              <a:buNone/>
            </a:pPr>
            <a:r>
              <a:rPr lang="en-US" sz="700" dirty="0">
                <a:solidFill>
                  <a:srgbClr val="33332F"/>
                </a:solidFill>
                <a:latin typeface="Helvetica Neue" pitchFamily="34" charset="0"/>
                <a:ea typeface="Helvetica Neue" pitchFamily="34" charset="-122"/>
                <a:cs typeface="Helvetica Neue" pitchFamily="34" charset="-120"/>
              </a:rPr>
              <a:t>To be confirmed once a lead investor is identified. No date is fixed at this stage.</a:t>
            </a:r>
            <a:endParaRPr lang="en-US" sz="700" dirty="0"/>
          </a:p>
        </p:txBody>
      </p:sp>
      <p:sp>
        <p:nvSpPr>
          <p:cNvPr id="35" name="Shape 32"/>
          <p:cNvSpPr/>
          <p:nvPr/>
        </p:nvSpPr>
        <p:spPr>
          <a:xfrm>
            <a:off x="4160520" y="2103120"/>
            <a:ext cx="3703320" cy="3977640"/>
          </a:xfrm>
          <a:prstGeom prst="rect">
            <a:avLst/>
          </a:prstGeom>
          <a:solidFill>
            <a:srgbClr val="F1F3F0"/>
          </a:solidFill>
          <a:ln w="12700">
            <a:solidFill>
              <a:srgbClr val="F1F3F0"/>
            </a:solidFill>
            <a:prstDash val="solid"/>
          </a:ln>
        </p:spPr>
      </p:sp>
      <p:sp>
        <p:nvSpPr>
          <p:cNvPr id="36" name="Text 33"/>
          <p:cNvSpPr txBox="1"/>
          <p:nvPr/>
        </p:nvSpPr>
        <p:spPr>
          <a:xfrm>
            <a:off x="4343400" y="2240280"/>
            <a:ext cx="329184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USE OF PROCEEDS</a:t>
            </a:r>
            <a:endParaRPr lang="en-US" sz="700" dirty="0"/>
          </a:p>
        </p:txBody>
      </p:sp>
      <p:sp>
        <p:nvSpPr>
          <p:cNvPr id="37" name="Text 34"/>
          <p:cNvSpPr txBox="1"/>
          <p:nvPr/>
        </p:nvSpPr>
        <p:spPr>
          <a:xfrm>
            <a:off x="4343400" y="2560320"/>
            <a:ext cx="3200400" cy="365760"/>
          </a:xfrm>
          <a:prstGeom prst="rect">
            <a:avLst/>
          </a:prstGeom>
          <a:noFill/>
          <a:ln/>
        </p:spPr>
        <p:txBody>
          <a:bodyPr wrap="square" lIns="0" tIns="0" rIns="0" bIns="0" rtlCol="0" anchor="t"/>
          <a:lstStyle/>
          <a:p>
            <a:pPr algn="l" indent="0" marL="0">
              <a:spcAft>
                <a:spcPts val="400"/>
              </a:spcAft>
              <a:buNone/>
            </a:pPr>
            <a:r>
              <a:rPr lang="en-US" sz="950" b="1" dirty="0">
                <a:solidFill>
                  <a:srgbClr val="000000"/>
                </a:solidFill>
                <a:latin typeface="Helvetica Neue" pitchFamily="34" charset="0"/>
                <a:ea typeface="Helvetica Neue" pitchFamily="34" charset="-122"/>
                <a:cs typeface="Helvetica Neue" pitchFamily="34" charset="-120"/>
              </a:rPr>
              <a:t>Working capital</a:t>
            </a:r>
            <a:endParaRPr lang="en-US" sz="950" dirty="0"/>
          </a:p>
        </p:txBody>
      </p:sp>
      <p:sp>
        <p:nvSpPr>
          <p:cNvPr id="38" name="Text 35"/>
          <p:cNvSpPr txBox="1"/>
          <p:nvPr/>
        </p:nvSpPr>
        <p:spPr>
          <a:xfrm>
            <a:off x="4343400" y="2852928"/>
            <a:ext cx="1828800" cy="365760"/>
          </a:xfrm>
          <a:prstGeom prst="rect">
            <a:avLst/>
          </a:prstGeom>
          <a:noFill/>
          <a:ln/>
        </p:spPr>
        <p:txBody>
          <a:bodyPr wrap="square" lIns="0" tIns="0" rIns="0" bIns="0" rtlCol="0" anchor="ctr"/>
          <a:lstStyle/>
          <a:p>
            <a:pPr indent="0" marL="0">
              <a:buNone/>
            </a:pPr>
            <a:r>
              <a:rPr lang="en-US" sz="2000" dirty="0">
                <a:solidFill>
                  <a:srgbClr val="000000"/>
                </a:solidFill>
                <a:latin typeface="Helvetica Neue" pitchFamily="34" charset="0"/>
                <a:ea typeface="Helvetica Neue" pitchFamily="34" charset="-122"/>
                <a:cs typeface="Helvetica Neue" pitchFamily="34" charset="-120"/>
              </a:rPr>
              <a:t>$1.97M</a:t>
            </a:r>
            <a:endParaRPr lang="en-US" sz="2000" dirty="0"/>
          </a:p>
        </p:txBody>
      </p:sp>
      <p:sp>
        <p:nvSpPr>
          <p:cNvPr id="39" name="Text 36"/>
          <p:cNvSpPr txBox="1"/>
          <p:nvPr/>
        </p:nvSpPr>
        <p:spPr>
          <a:xfrm>
            <a:off x="4343400" y="3310128"/>
            <a:ext cx="3337560" cy="868680"/>
          </a:xfrm>
          <a:prstGeom prst="rect">
            <a:avLst/>
          </a:prstGeom>
          <a:noFill/>
          <a:ln/>
        </p:spPr>
        <p:txBody>
          <a:bodyPr wrap="square" lIns="0" tIns="0" rIns="0" bIns="0" rtlCol="0" anchor="t"/>
          <a:lstStyle/>
          <a:p>
            <a:pPr algn="l" indent="0" marL="0">
              <a:spcAft>
                <a:spcPts val="400"/>
              </a:spcAft>
              <a:buNone/>
            </a:pPr>
            <a:r>
              <a:rPr lang="en-US" sz="780" dirty="0">
                <a:solidFill>
                  <a:srgbClr val="33332F"/>
                </a:solidFill>
                <a:latin typeface="Helvetica Neue" pitchFamily="34" charset="0"/>
                <a:ea typeface="Helvetica Neue" pitchFamily="34" charset="-122"/>
                <a:cs typeface="Helvetica Neue" pitchFamily="34" charset="-120"/>
              </a:rPr>
              <a:t>Fleet build-out, platform team, certification layer, first allied-programme delivery - fully funds the model's Phase 1 (2026–27) requirement.</a:t>
            </a:r>
            <a:endParaRPr lang="en-US" sz="780" dirty="0"/>
          </a:p>
        </p:txBody>
      </p:sp>
      <p:sp>
        <p:nvSpPr>
          <p:cNvPr id="40" name="Text 37"/>
          <p:cNvSpPr txBox="1"/>
          <p:nvPr/>
        </p:nvSpPr>
        <p:spPr>
          <a:xfrm>
            <a:off x="4343400" y="4251960"/>
            <a:ext cx="3200400" cy="365760"/>
          </a:xfrm>
          <a:prstGeom prst="rect">
            <a:avLst/>
          </a:prstGeom>
          <a:noFill/>
          <a:ln/>
        </p:spPr>
        <p:txBody>
          <a:bodyPr wrap="square" lIns="0" tIns="0" rIns="0" bIns="0" rtlCol="0" anchor="t"/>
          <a:lstStyle/>
          <a:p>
            <a:pPr algn="l" indent="0" marL="0">
              <a:spcAft>
                <a:spcPts val="400"/>
              </a:spcAft>
              <a:buNone/>
            </a:pPr>
            <a:r>
              <a:rPr lang="en-US" sz="950" b="1" dirty="0">
                <a:solidFill>
                  <a:srgbClr val="000000"/>
                </a:solidFill>
                <a:latin typeface="Helvetica Neue" pitchFamily="34" charset="0"/>
                <a:ea typeface="Helvetica Neue" pitchFamily="34" charset="-122"/>
                <a:cs typeface="Helvetica Neue" pitchFamily="34" charset="-120"/>
              </a:rPr>
              <a:t>US expansion &amp; scaling to larger-format munitions</a:t>
            </a:r>
            <a:endParaRPr lang="en-US" sz="950" dirty="0"/>
          </a:p>
        </p:txBody>
      </p:sp>
      <p:sp>
        <p:nvSpPr>
          <p:cNvPr id="41" name="Text 38"/>
          <p:cNvSpPr txBox="1"/>
          <p:nvPr/>
        </p:nvSpPr>
        <p:spPr>
          <a:xfrm>
            <a:off x="4343400" y="4544568"/>
            <a:ext cx="1828800" cy="365760"/>
          </a:xfrm>
          <a:prstGeom prst="rect">
            <a:avLst/>
          </a:prstGeom>
          <a:noFill/>
          <a:ln/>
        </p:spPr>
        <p:txBody>
          <a:bodyPr wrap="square" lIns="0" tIns="0" rIns="0" bIns="0" rtlCol="0" anchor="ctr"/>
          <a:lstStyle/>
          <a:p>
            <a:pPr indent="0" marL="0">
              <a:buNone/>
            </a:pPr>
            <a:r>
              <a:rPr lang="en-US" sz="2000" dirty="0">
                <a:solidFill>
                  <a:srgbClr val="000000"/>
                </a:solidFill>
                <a:latin typeface="Helvetica Neue" pitchFamily="34" charset="0"/>
                <a:ea typeface="Helvetica Neue" pitchFamily="34" charset="-122"/>
                <a:cs typeface="Helvetica Neue" pitchFamily="34" charset="-120"/>
              </a:rPr>
              <a:t>$8.03M</a:t>
            </a:r>
            <a:endParaRPr lang="en-US" sz="2000" dirty="0"/>
          </a:p>
        </p:txBody>
      </p:sp>
      <p:sp>
        <p:nvSpPr>
          <p:cNvPr id="42" name="Text 39"/>
          <p:cNvSpPr txBox="1"/>
          <p:nvPr/>
        </p:nvSpPr>
        <p:spPr>
          <a:xfrm>
            <a:off x="4343400" y="5001768"/>
            <a:ext cx="3337560" cy="868680"/>
          </a:xfrm>
          <a:prstGeom prst="rect">
            <a:avLst/>
          </a:prstGeom>
          <a:noFill/>
          <a:ln/>
        </p:spPr>
        <p:txBody>
          <a:bodyPr wrap="square" lIns="0" tIns="0" rIns="0" bIns="0" rtlCol="0" anchor="t"/>
          <a:lstStyle/>
          <a:p>
            <a:pPr algn="l" indent="0" marL="0">
              <a:spcAft>
                <a:spcPts val="400"/>
              </a:spcAft>
              <a:buNone/>
            </a:pPr>
            <a:r>
              <a:rPr lang="en-US" sz="780" dirty="0">
                <a:solidFill>
                  <a:srgbClr val="33332F"/>
                </a:solidFill>
                <a:latin typeface="Helvetica Neue" pitchFamily="34" charset="0"/>
                <a:ea typeface="Helvetica Neue" pitchFamily="34" charset="-122"/>
                <a:cs typeface="Helvetica Neue" pitchFamily="34" charset="-120"/>
              </a:rPr>
              <a:t>The first steps identified in the development plan: standing up the US entity's operating footprint, and moving up the calibre ladder toward large-calibre and artillery demil.</a:t>
            </a:r>
            <a:endParaRPr lang="en-US" sz="780" dirty="0"/>
          </a:p>
        </p:txBody>
      </p:sp>
      <p:sp>
        <p:nvSpPr>
          <p:cNvPr id="43" name="Shape 40"/>
          <p:cNvSpPr/>
          <p:nvPr/>
        </p:nvSpPr>
        <p:spPr>
          <a:xfrm>
            <a:off x="4343400" y="5669280"/>
            <a:ext cx="3337560" cy="0"/>
          </a:xfrm>
          <a:prstGeom prst="line">
            <a:avLst/>
          </a:prstGeom>
          <a:noFill/>
          <a:ln w="9525">
            <a:solidFill>
              <a:srgbClr val="D3D9D0"/>
            </a:solidFill>
            <a:prstDash val="solid"/>
          </a:ln>
        </p:spPr>
      </p:sp>
      <p:sp>
        <p:nvSpPr>
          <p:cNvPr id="44" name="Text 41"/>
          <p:cNvSpPr txBox="1"/>
          <p:nvPr/>
        </p:nvSpPr>
        <p:spPr>
          <a:xfrm>
            <a:off x="4343400" y="5742432"/>
            <a:ext cx="3337560" cy="320040"/>
          </a:xfrm>
          <a:prstGeom prst="rect">
            <a:avLst/>
          </a:prstGeom>
          <a:noFill/>
          <a:ln/>
        </p:spPr>
        <p:txBody>
          <a:bodyPr wrap="square" lIns="0" tIns="0" rIns="0" bIns="0" rtlCol="0" anchor="t"/>
          <a:lstStyle/>
          <a:p>
            <a:pPr algn="l" indent="0" marL="0">
              <a:spcAft>
                <a:spcPts val="400"/>
              </a:spcAft>
              <a:buNone/>
            </a:pPr>
            <a:r>
              <a:rPr lang="en-US" sz="720" i="1" dirty="0">
                <a:solidFill>
                  <a:srgbClr val="6E6C66"/>
                </a:solidFill>
                <a:latin typeface="Helvetica Neue" pitchFamily="34" charset="0"/>
                <a:ea typeface="Helvetica Neue" pitchFamily="34" charset="-122"/>
                <a:cs typeface="Helvetica Neue" pitchFamily="34" charset="-120"/>
              </a:rPr>
              <a:t>This raise is 23% of the full Phase 1 + Phase 2 requirement - it buys the next 18–24 months, not the acquisition programme.</a:t>
            </a:r>
            <a:endParaRPr lang="en-US" sz="720" dirty="0"/>
          </a:p>
        </p:txBody>
      </p:sp>
      <p:sp>
        <p:nvSpPr>
          <p:cNvPr id="45" name="Shape 42"/>
          <p:cNvSpPr/>
          <p:nvPr/>
        </p:nvSpPr>
        <p:spPr>
          <a:xfrm>
            <a:off x="8138160" y="2103120"/>
            <a:ext cx="3520440" cy="3977640"/>
          </a:xfrm>
          <a:prstGeom prst="rect">
            <a:avLst/>
          </a:prstGeom>
          <a:solidFill>
            <a:srgbClr val="66705F"/>
          </a:solidFill>
          <a:ln w="12700">
            <a:solidFill>
              <a:srgbClr val="66705F"/>
            </a:solidFill>
            <a:prstDash val="solid"/>
          </a:ln>
        </p:spPr>
      </p:sp>
      <p:sp>
        <p:nvSpPr>
          <p:cNvPr id="46" name="Text 43"/>
          <p:cNvSpPr txBox="1"/>
          <p:nvPr/>
        </p:nvSpPr>
        <p:spPr>
          <a:xfrm>
            <a:off x="8321040" y="2240280"/>
            <a:ext cx="3200400" cy="201168"/>
          </a:xfrm>
          <a:prstGeom prst="rect">
            <a:avLst/>
          </a:prstGeom>
          <a:noFill/>
          <a:ln/>
        </p:spPr>
        <p:txBody>
          <a:bodyPr wrap="square" lIns="0" tIns="0" rIns="0" bIns="0" rtlCol="0" anchor="t"/>
          <a:lstStyle/>
          <a:p>
            <a:pPr indent="0" marL="0">
              <a:buNone/>
            </a:pPr>
            <a:r>
              <a:rPr lang="en-US" sz="700" spc="150" kern="0" dirty="0">
                <a:solidFill>
                  <a:srgbClr val="FFFFFF"/>
                </a:solidFill>
                <a:latin typeface="IBM Plex Mono" pitchFamily="34" charset="0"/>
                <a:ea typeface="IBM Plex Mono" pitchFamily="34" charset="-122"/>
                <a:cs typeface="IBM Plex Mono" pitchFamily="34" charset="-120"/>
              </a:rPr>
              <a:t>MILESTONES THIS RAISE FUNDS</a:t>
            </a:r>
            <a:endParaRPr lang="en-US" sz="700" dirty="0"/>
          </a:p>
        </p:txBody>
      </p:sp>
      <p:sp>
        <p:nvSpPr>
          <p:cNvPr id="47" name="Text 44"/>
          <p:cNvSpPr txBox="1"/>
          <p:nvPr/>
        </p:nvSpPr>
        <p:spPr>
          <a:xfrm>
            <a:off x="8321040" y="2606040"/>
            <a:ext cx="3200400" cy="3291840"/>
          </a:xfrm>
          <a:prstGeom prst="rect">
            <a:avLst/>
          </a:prstGeom>
          <a:noFill/>
          <a:ln/>
        </p:spPr>
        <p:txBody>
          <a:bodyPr wrap="square" lIns="0" tIns="0" rIns="0" bIns="0" rtlCol="0" anchor="t"/>
          <a:lstStyle/>
          <a:p>
            <a:pPr marL="342900" indent="-342900">
              <a:spcAft>
                <a:spcPts val="800"/>
              </a:spcAft>
              <a:buSzPct val="100000"/>
              <a:buChar char="–"/>
            </a:pPr>
            <a:r>
              <a:rPr lang="en-US" sz="870" dirty="0">
                <a:solidFill>
                  <a:srgbClr val="F1F3F0"/>
                </a:solidFill>
                <a:latin typeface="Helvetica Neue" pitchFamily="34" charset="0"/>
                <a:ea typeface="Helvetica Neue" pitchFamily="34" charset="-122"/>
                <a:cs typeface="Helvetica Neue" pitchFamily="34" charset="-120"/>
              </a:rPr>
              <a:t>Phase 1 revenue growth on the existing fleet, US entity fully operational</a:t>
            </a:r>
            <a:endParaRPr lang="en-US" sz="870" dirty="0"/>
          </a:p>
          <a:p>
            <a:pPr marL="342900" indent="-342900">
              <a:spcAft>
                <a:spcPts val="800"/>
              </a:spcAft>
              <a:buSzPct val="100000"/>
              <a:buChar char="–"/>
            </a:pPr>
            <a:r>
              <a:rPr lang="en-US" sz="870" dirty="0">
                <a:solidFill>
                  <a:srgbClr val="F1F3F0"/>
                </a:solidFill>
                <a:latin typeface="Helvetica Neue" pitchFamily="34" charset="0"/>
                <a:ea typeface="Helvetica Neue" pitchFamily="34" charset="-122"/>
                <a:cs typeface="Helvetica Neue" pitchFamily="34" charset="-120"/>
              </a:rPr>
              <a:t>Third-party emissions/recovery-rate testing commissioned and published</a:t>
            </a:r>
            <a:endParaRPr lang="en-US" sz="870" dirty="0"/>
          </a:p>
          <a:p>
            <a:pPr marL="342900" indent="-342900">
              <a:spcAft>
                <a:spcPts val="800"/>
              </a:spcAft>
              <a:buSzPct val="100000"/>
              <a:buChar char="–"/>
            </a:pPr>
            <a:r>
              <a:rPr lang="en-US" sz="870" dirty="0">
                <a:solidFill>
                  <a:srgbClr val="F1F3F0"/>
                </a:solidFill>
                <a:latin typeface="Helvetica Neue" pitchFamily="34" charset="0"/>
                <a:ea typeface="Helvetica Neue" pitchFamily="34" charset="-122"/>
                <a:cs typeface="Helvetica Neue" pitchFamily="34" charset="-120"/>
              </a:rPr>
              <a:t>First allied or law-enforcement contract signed under the raise</a:t>
            </a:r>
            <a:endParaRPr lang="en-US" sz="870" dirty="0"/>
          </a:p>
          <a:p>
            <a:pPr marL="342900" indent="-342900">
              <a:spcAft>
                <a:spcPts val="800"/>
              </a:spcAft>
              <a:buSzPct val="100000"/>
              <a:buChar char="–"/>
            </a:pPr>
            <a:r>
              <a:rPr lang="en-US" sz="870" dirty="0">
                <a:solidFill>
                  <a:srgbClr val="F1F3F0"/>
                </a:solidFill>
                <a:latin typeface="Helvetica Neue" pitchFamily="34" charset="0"/>
                <a:ea typeface="Helvetica Neue" pitchFamily="34" charset="-122"/>
                <a:cs typeface="Helvetica Neue" pitchFamily="34" charset="-120"/>
              </a:rPr>
              <a:t>Diligence complete and LOI signed on the first acquisition (large-calibre &amp; artillery)</a:t>
            </a:r>
            <a:endParaRPr lang="en-US" sz="870" dirty="0"/>
          </a:p>
          <a:p>
            <a:pPr marL="342900" indent="-342900">
              <a:spcAft>
                <a:spcPts val="800"/>
              </a:spcAft>
              <a:buSzPct val="100000"/>
              <a:buChar char="–"/>
            </a:pPr>
            <a:r>
              <a:rPr lang="en-US" sz="870" dirty="0">
                <a:solidFill>
                  <a:srgbClr val="F1F3F0"/>
                </a:solidFill>
                <a:latin typeface="Helvetica Neue" pitchFamily="34" charset="0"/>
                <a:ea typeface="Helvetica Neue" pitchFamily="34" charset="-122"/>
                <a:cs typeface="Helvetica Neue" pitchFamily="34" charset="-120"/>
              </a:rPr>
              <a:t>Round 2 sized and launched against a priced, de-risked first deal</a:t>
            </a:r>
            <a:endParaRPr lang="en-US" sz="870" dirty="0"/>
          </a:p>
        </p:txBody>
      </p:sp>
      <p:sp>
        <p:nvSpPr>
          <p:cNvPr id="48" name="Text 45"/>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Raise amount: company-provided, confirmed by Tom (TWB Designs), 2 Sep 2026. Phase 1 / reserve split and acquisition pricing: TWB financial model, Outputs &amp; Acquisitions tabs (projection).</a:t>
            </a:r>
            <a:endParaRPr lang="en-US" sz="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24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APPLYING THE FRAMEWORK</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The comp universe: TWB's 2028 forecast, priced against a fundamentals anchor and a story anchor</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There is no liquid public comp for mobile ammunition destruction. Rather than fabricate a wide universe, the closest genuine proxies are used - TWB's own 2028 forecast is then run through each comp's multiple to show where the platform is priced today.</a:t>
            </a:r>
            <a:endParaRPr lang="en-US" sz="1100" dirty="0"/>
          </a:p>
        </p:txBody>
      </p:sp>
      <p:sp>
        <p:nvSpPr>
          <p:cNvPr id="7" name="Shape 4"/>
          <p:cNvSpPr/>
          <p:nvPr/>
        </p:nvSpPr>
        <p:spPr>
          <a:xfrm>
            <a:off x="548640" y="2103120"/>
            <a:ext cx="11094415" cy="932688"/>
          </a:xfrm>
          <a:prstGeom prst="rect">
            <a:avLst/>
          </a:prstGeom>
          <a:solidFill>
            <a:srgbClr val="F1F3F0"/>
          </a:solidFill>
          <a:ln w="12700">
            <a:solidFill>
              <a:srgbClr val="F1F3F0"/>
            </a:solidFill>
            <a:prstDash val="solid"/>
          </a:ln>
        </p:spPr>
      </p:sp>
      <p:sp>
        <p:nvSpPr>
          <p:cNvPr id="8" name="Text 5"/>
          <p:cNvSpPr txBox="1"/>
          <p:nvPr/>
        </p:nvSpPr>
        <p:spPr>
          <a:xfrm>
            <a:off x="731520" y="2176272"/>
            <a:ext cx="274320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2028 FORECAST</a:t>
            </a:r>
            <a:endParaRPr lang="en-US" sz="700" dirty="0"/>
          </a:p>
        </p:txBody>
      </p:sp>
      <p:sp>
        <p:nvSpPr>
          <p:cNvPr id="9" name="Text 6"/>
          <p:cNvSpPr txBox="1"/>
          <p:nvPr/>
        </p:nvSpPr>
        <p:spPr>
          <a:xfrm>
            <a:off x="731520" y="2340864"/>
            <a:ext cx="10698480" cy="274320"/>
          </a:xfrm>
          <a:prstGeom prst="rect">
            <a:avLst/>
          </a:prstGeom>
          <a:noFill/>
          <a:ln/>
        </p:spPr>
        <p:txBody>
          <a:bodyPr wrap="square" lIns="0" tIns="0" rIns="0" bIns="0" rtlCol="0" anchor="ctr"/>
          <a:lstStyle/>
          <a:p>
            <a:pPr indent="0" marL="0">
              <a:buNone/>
            </a:pPr>
            <a:r>
              <a:rPr lang="en-US" sz="1300" b="1" dirty="0">
                <a:solidFill>
                  <a:srgbClr val="000000"/>
                </a:solidFill>
                <a:latin typeface="Helvetica Neue" pitchFamily="34" charset="0"/>
                <a:ea typeface="Helvetica Neue" pitchFamily="34" charset="-122"/>
                <a:cs typeface="Helvetica Neue" pitchFamily="34" charset="-120"/>
              </a:rPr>
              <a:t>$36.0M revenue  ·  $2.7M adj. EBITDA (7.5% margin)</a:t>
            </a:r>
            <a:endParaRPr lang="en-US" sz="1300" dirty="0"/>
          </a:p>
        </p:txBody>
      </p:sp>
      <p:sp>
        <p:nvSpPr>
          <p:cNvPr id="10" name="Text 7"/>
          <p:cNvSpPr txBox="1"/>
          <p:nvPr/>
        </p:nvSpPr>
        <p:spPr>
          <a:xfrm>
            <a:off x="731520" y="2651760"/>
            <a:ext cx="10698480" cy="365760"/>
          </a:xfrm>
          <a:prstGeom prst="rect">
            <a:avLst/>
          </a:prstGeom>
          <a:noFill/>
          <a:ln/>
        </p:spPr>
        <p:txBody>
          <a:bodyPr wrap="square" lIns="0" tIns="0" rIns="0" bIns="0" rtlCol="0" anchor="t"/>
          <a:lstStyle/>
          <a:p>
            <a:pPr algn="l" indent="0" marL="0">
              <a:spcAft>
                <a:spcPts val="400"/>
              </a:spcAft>
              <a:buNone/>
            </a:pPr>
            <a:r>
              <a:rPr lang="en-US" sz="730" i="1" dirty="0">
                <a:solidFill>
                  <a:srgbClr val="6E6C66"/>
                </a:solidFill>
                <a:latin typeface="Helvetica Neue" pitchFamily="34" charset="0"/>
                <a:ea typeface="Helvetica Neue" pitchFamily="34" charset="-122"/>
                <a:cs typeface="Helvetica Neue" pitchFamily="34" charset="-120"/>
              </a:rPr>
              <a:t>At disclosed founder-scale revenue multiples (1.5–3.4x), the 2028 forecast implies $54M–$122M of enterprise value - in line with Cadre's own 2.36x and a steep discount to ABAT's 19.7x story premium. EBITDA margin is still well below the plan's long-run target at this stage (Phase 2 build-out, before the modelled ramp to 30% by Year 5); an earnings multiple only becomes meaningful once margin scales - see the valuation-framework reference slide for the Year-7 (2033) comparison at $68.4M adjusted EBITDA.</a:t>
            </a:r>
            <a:endParaRPr lang="en-US" sz="730" dirty="0"/>
          </a:p>
        </p:txBody>
      </p:sp>
      <p:sp>
        <p:nvSpPr>
          <p:cNvPr id="11" name="Shape 8"/>
          <p:cNvSpPr/>
          <p:nvPr/>
        </p:nvSpPr>
        <p:spPr>
          <a:xfrm>
            <a:off x="548640" y="3182112"/>
            <a:ext cx="3611880" cy="2880360"/>
          </a:xfrm>
          <a:prstGeom prst="rect">
            <a:avLst/>
          </a:prstGeom>
          <a:solidFill>
            <a:srgbClr val="F1F3F0"/>
          </a:solidFill>
          <a:ln w="12700">
            <a:solidFill>
              <a:srgbClr val="F1F3F0"/>
            </a:solidFill>
            <a:prstDash val="solid"/>
          </a:ln>
        </p:spPr>
      </p:sp>
      <p:sp>
        <p:nvSpPr>
          <p:cNvPr id="12" name="Text 9"/>
          <p:cNvSpPr txBox="1"/>
          <p:nvPr/>
        </p:nvSpPr>
        <p:spPr>
          <a:xfrm>
            <a:off x="713232" y="3255264"/>
            <a:ext cx="3291840" cy="411480"/>
          </a:xfrm>
          <a:prstGeom prst="rect">
            <a:avLst/>
          </a:prstGeom>
          <a:noFill/>
          <a:ln/>
        </p:spPr>
        <p:txBody>
          <a:bodyPr wrap="square" lIns="0" tIns="0" rIns="0" bIns="0" rtlCol="0" anchor="t"/>
          <a:lstStyle/>
          <a:p>
            <a:pPr algn="l" indent="0" marL="0">
              <a:spcAft>
                <a:spcPts val="400"/>
              </a:spcAft>
              <a:buNone/>
            </a:pPr>
            <a:r>
              <a:rPr lang="en-US" sz="1050" b="1" dirty="0">
                <a:solidFill>
                  <a:srgbClr val="000000"/>
                </a:solidFill>
                <a:latin typeface="Helvetica Neue" pitchFamily="34" charset="0"/>
                <a:ea typeface="Helvetica Neue" pitchFamily="34" charset="-122"/>
                <a:cs typeface="Helvetica Neue" pitchFamily="34" charset="-120"/>
              </a:rPr>
              <a:t>Cadre Holdings (NYSE: CDRE)</a:t>
            </a:r>
            <a:endParaRPr lang="en-US" sz="1050" dirty="0"/>
          </a:p>
        </p:txBody>
      </p:sp>
      <p:sp>
        <p:nvSpPr>
          <p:cNvPr id="13" name="Text 10"/>
          <p:cNvSpPr txBox="1"/>
          <p:nvPr/>
        </p:nvSpPr>
        <p:spPr>
          <a:xfrm>
            <a:off x="713232" y="3602736"/>
            <a:ext cx="329184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THE FUNDAMENTALS ANCHOR</a:t>
            </a:r>
            <a:endParaRPr lang="en-US" sz="700" dirty="0"/>
          </a:p>
        </p:txBody>
      </p:sp>
      <p:sp>
        <p:nvSpPr>
          <p:cNvPr id="14" name="Text 11"/>
          <p:cNvSpPr txBox="1"/>
          <p:nvPr/>
        </p:nvSpPr>
        <p:spPr>
          <a:xfrm>
            <a:off x="713232" y="3822192"/>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33332F"/>
                </a:solidFill>
                <a:latin typeface="Helvetica Neue" pitchFamily="34" charset="0"/>
                <a:ea typeface="Helvetica Neue" pitchFamily="34" charset="-122"/>
                <a:cs typeface="Helvetica Neue" pitchFamily="34" charset="-120"/>
              </a:rPr>
              <a:t>TTM revenue</a:t>
            </a:r>
            <a:endParaRPr lang="en-US" sz="740" dirty="0"/>
          </a:p>
        </p:txBody>
      </p:sp>
      <p:sp>
        <p:nvSpPr>
          <p:cNvPr id="15" name="Text 12"/>
          <p:cNvSpPr txBox="1"/>
          <p:nvPr/>
        </p:nvSpPr>
        <p:spPr>
          <a:xfrm>
            <a:off x="2377440" y="3776472"/>
            <a:ext cx="1645920" cy="347472"/>
          </a:xfrm>
          <a:prstGeom prst="rect">
            <a:avLst/>
          </a:prstGeom>
          <a:noFill/>
          <a:ln/>
        </p:spPr>
        <p:txBody>
          <a:bodyPr wrap="square" lIns="0" tIns="0" rIns="0" bIns="0" rtlCol="0" anchor="ctr"/>
          <a:lstStyle/>
          <a:p>
            <a:pPr algn="r" indent="0" marL="0">
              <a:buNone/>
            </a:pPr>
            <a:r>
              <a:rPr lang="en-US" sz="1250" dirty="0">
                <a:solidFill>
                  <a:srgbClr val="000000"/>
                </a:solidFill>
                <a:latin typeface="Helvetica Neue" pitchFamily="34" charset="0"/>
                <a:ea typeface="Helvetica Neue" pitchFamily="34" charset="-122"/>
                <a:cs typeface="Helvetica Neue" pitchFamily="34" charset="-120"/>
              </a:rPr>
              <a:t>$685.7M</a:t>
            </a:r>
            <a:endParaRPr lang="en-US" sz="1250" dirty="0"/>
          </a:p>
        </p:txBody>
      </p:sp>
      <p:sp>
        <p:nvSpPr>
          <p:cNvPr id="16" name="Text 13"/>
          <p:cNvSpPr txBox="1"/>
          <p:nvPr/>
        </p:nvSpPr>
        <p:spPr>
          <a:xfrm>
            <a:off x="713232" y="4160520"/>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33332F"/>
                </a:solidFill>
                <a:latin typeface="Helvetica Neue" pitchFamily="34" charset="0"/>
                <a:ea typeface="Helvetica Neue" pitchFamily="34" charset="-122"/>
                <a:cs typeface="Helvetica Neue" pitchFamily="34" charset="-120"/>
              </a:rPr>
              <a:t>EV / revenue</a:t>
            </a:r>
            <a:endParaRPr lang="en-US" sz="740" dirty="0"/>
          </a:p>
        </p:txBody>
      </p:sp>
      <p:sp>
        <p:nvSpPr>
          <p:cNvPr id="17" name="Text 14"/>
          <p:cNvSpPr txBox="1"/>
          <p:nvPr/>
        </p:nvSpPr>
        <p:spPr>
          <a:xfrm>
            <a:off x="2377440" y="4114800"/>
            <a:ext cx="1645920" cy="347472"/>
          </a:xfrm>
          <a:prstGeom prst="rect">
            <a:avLst/>
          </a:prstGeom>
          <a:noFill/>
          <a:ln/>
        </p:spPr>
        <p:txBody>
          <a:bodyPr wrap="square" lIns="0" tIns="0" rIns="0" bIns="0" rtlCol="0" anchor="ctr"/>
          <a:lstStyle/>
          <a:p>
            <a:pPr algn="r" indent="0" marL="0">
              <a:buNone/>
            </a:pPr>
            <a:r>
              <a:rPr lang="en-US" sz="1250" dirty="0">
                <a:solidFill>
                  <a:srgbClr val="000000"/>
                </a:solidFill>
                <a:latin typeface="Helvetica Neue" pitchFamily="34" charset="0"/>
                <a:ea typeface="Helvetica Neue" pitchFamily="34" charset="-122"/>
                <a:cs typeface="Helvetica Neue" pitchFamily="34" charset="-120"/>
              </a:rPr>
              <a:t>2.36x</a:t>
            </a:r>
            <a:endParaRPr lang="en-US" sz="1250" dirty="0"/>
          </a:p>
        </p:txBody>
      </p:sp>
      <p:sp>
        <p:nvSpPr>
          <p:cNvPr id="18" name="Text 15"/>
          <p:cNvSpPr txBox="1"/>
          <p:nvPr/>
        </p:nvSpPr>
        <p:spPr>
          <a:xfrm>
            <a:off x="713232" y="4498848"/>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33332F"/>
                </a:solidFill>
                <a:latin typeface="Helvetica Neue" pitchFamily="34" charset="0"/>
                <a:ea typeface="Helvetica Neue" pitchFamily="34" charset="-122"/>
                <a:cs typeface="Helvetica Neue" pitchFamily="34" charset="-120"/>
              </a:rPr>
              <a:t>EV / EBITDA</a:t>
            </a:r>
            <a:endParaRPr lang="en-US" sz="740" dirty="0"/>
          </a:p>
        </p:txBody>
      </p:sp>
      <p:sp>
        <p:nvSpPr>
          <p:cNvPr id="19" name="Text 16"/>
          <p:cNvSpPr txBox="1"/>
          <p:nvPr/>
        </p:nvSpPr>
        <p:spPr>
          <a:xfrm>
            <a:off x="2377440" y="4453128"/>
            <a:ext cx="1645920" cy="347472"/>
          </a:xfrm>
          <a:prstGeom prst="rect">
            <a:avLst/>
          </a:prstGeom>
          <a:noFill/>
          <a:ln/>
        </p:spPr>
        <p:txBody>
          <a:bodyPr wrap="square" lIns="0" tIns="0" rIns="0" bIns="0" rtlCol="0" anchor="ctr"/>
          <a:lstStyle/>
          <a:p>
            <a:pPr algn="r" indent="0" marL="0">
              <a:buNone/>
            </a:pPr>
            <a:r>
              <a:rPr lang="en-US" sz="1250" dirty="0">
                <a:solidFill>
                  <a:srgbClr val="000000"/>
                </a:solidFill>
                <a:latin typeface="Helvetica Neue" pitchFamily="34" charset="0"/>
                <a:ea typeface="Helvetica Neue" pitchFamily="34" charset="-122"/>
                <a:cs typeface="Helvetica Neue" pitchFamily="34" charset="-120"/>
              </a:rPr>
              <a:t>15.3x</a:t>
            </a:r>
            <a:endParaRPr lang="en-US" sz="1250" dirty="0"/>
          </a:p>
        </p:txBody>
      </p:sp>
      <p:sp>
        <p:nvSpPr>
          <p:cNvPr id="20" name="Text 17"/>
          <p:cNvSpPr txBox="1"/>
          <p:nvPr/>
        </p:nvSpPr>
        <p:spPr>
          <a:xfrm>
            <a:off x="713232" y="4837176"/>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33332F"/>
                </a:solidFill>
                <a:latin typeface="Helvetica Neue" pitchFamily="34" charset="0"/>
                <a:ea typeface="Helvetica Neue" pitchFamily="34" charset="-122"/>
                <a:cs typeface="Helvetica Neue" pitchFamily="34" charset="-120"/>
              </a:rPr>
              <a:t>P/E</a:t>
            </a:r>
            <a:endParaRPr lang="en-US" sz="740" dirty="0"/>
          </a:p>
        </p:txBody>
      </p:sp>
      <p:sp>
        <p:nvSpPr>
          <p:cNvPr id="21" name="Text 18"/>
          <p:cNvSpPr txBox="1"/>
          <p:nvPr/>
        </p:nvSpPr>
        <p:spPr>
          <a:xfrm>
            <a:off x="2377440" y="4791456"/>
            <a:ext cx="1645920" cy="347472"/>
          </a:xfrm>
          <a:prstGeom prst="rect">
            <a:avLst/>
          </a:prstGeom>
          <a:noFill/>
          <a:ln/>
        </p:spPr>
        <p:txBody>
          <a:bodyPr wrap="square" lIns="0" tIns="0" rIns="0" bIns="0" rtlCol="0" anchor="ctr"/>
          <a:lstStyle/>
          <a:p>
            <a:pPr algn="r" indent="0" marL="0">
              <a:buNone/>
            </a:pPr>
            <a:r>
              <a:rPr lang="en-US" sz="1250" dirty="0">
                <a:solidFill>
                  <a:srgbClr val="000000"/>
                </a:solidFill>
                <a:latin typeface="Helvetica Neue" pitchFamily="34" charset="0"/>
                <a:ea typeface="Helvetica Neue" pitchFamily="34" charset="-122"/>
                <a:cs typeface="Helvetica Neue" pitchFamily="34" charset="-120"/>
              </a:rPr>
              <a:t>36.3x</a:t>
            </a:r>
            <a:endParaRPr lang="en-US" sz="1250" dirty="0"/>
          </a:p>
        </p:txBody>
      </p:sp>
      <p:sp>
        <p:nvSpPr>
          <p:cNvPr id="22" name="Shape 19"/>
          <p:cNvSpPr/>
          <p:nvPr/>
        </p:nvSpPr>
        <p:spPr>
          <a:xfrm>
            <a:off x="713232" y="5230368"/>
            <a:ext cx="3291840" cy="0"/>
          </a:xfrm>
          <a:prstGeom prst="line">
            <a:avLst/>
          </a:prstGeom>
          <a:noFill/>
          <a:ln w="9525">
            <a:solidFill>
              <a:srgbClr val="D3D9D0"/>
            </a:solidFill>
            <a:prstDash val="solid"/>
          </a:ln>
        </p:spPr>
      </p:sp>
      <p:sp>
        <p:nvSpPr>
          <p:cNvPr id="23" name="Text 20"/>
          <p:cNvSpPr txBox="1"/>
          <p:nvPr/>
        </p:nvSpPr>
        <p:spPr>
          <a:xfrm>
            <a:off x="713232" y="5285232"/>
            <a:ext cx="3291840" cy="731520"/>
          </a:xfrm>
          <a:prstGeom prst="rect">
            <a:avLst/>
          </a:prstGeom>
          <a:noFill/>
          <a:ln/>
        </p:spPr>
        <p:txBody>
          <a:bodyPr wrap="square" lIns="0" tIns="0" rIns="0" bIns="0" rtlCol="0" anchor="t"/>
          <a:lstStyle/>
          <a:p>
            <a:pPr algn="l" indent="0" marL="0">
              <a:spcAft>
                <a:spcPts val="400"/>
              </a:spcAft>
              <a:buNone/>
            </a:pPr>
            <a:r>
              <a:rPr lang="en-US" sz="670" dirty="0">
                <a:solidFill>
                  <a:srgbClr val="33332F"/>
                </a:solidFill>
                <a:latin typeface="Helvetica Neue" pitchFamily="34" charset="0"/>
                <a:ea typeface="Helvetica Neue" pitchFamily="34" charset="-122"/>
                <a:cs typeface="Helvetica Neue" pitchFamily="34" charset="-120"/>
              </a:rPr>
              <a:t>EOD equipment, body armour, law-enforcement and first-responder markets; 18 acquisitions to date, including ICOR (EOD robots, Ottawa) at ~2.3x revenue. Profitable, trades on fundamentals - what the platform can look like after the story plays out ³⁶.</a:t>
            </a:r>
            <a:endParaRPr lang="en-US" sz="670" dirty="0"/>
          </a:p>
        </p:txBody>
      </p:sp>
      <p:sp>
        <p:nvSpPr>
          <p:cNvPr id="24" name="Shape 21"/>
          <p:cNvSpPr/>
          <p:nvPr/>
        </p:nvSpPr>
        <p:spPr>
          <a:xfrm>
            <a:off x="4297680" y="3182112"/>
            <a:ext cx="3611880" cy="2880360"/>
          </a:xfrm>
          <a:prstGeom prst="rect">
            <a:avLst/>
          </a:prstGeom>
          <a:solidFill>
            <a:srgbClr val="F1F3F0"/>
          </a:solidFill>
          <a:ln w="12700">
            <a:solidFill>
              <a:srgbClr val="F1F3F0"/>
            </a:solidFill>
            <a:prstDash val="solid"/>
          </a:ln>
        </p:spPr>
      </p:sp>
      <p:sp>
        <p:nvSpPr>
          <p:cNvPr id="25" name="Text 22"/>
          <p:cNvSpPr txBox="1"/>
          <p:nvPr/>
        </p:nvSpPr>
        <p:spPr>
          <a:xfrm>
            <a:off x="4462272" y="3255264"/>
            <a:ext cx="3291840" cy="411480"/>
          </a:xfrm>
          <a:prstGeom prst="rect">
            <a:avLst/>
          </a:prstGeom>
          <a:noFill/>
          <a:ln/>
        </p:spPr>
        <p:txBody>
          <a:bodyPr wrap="square" lIns="0" tIns="0" rIns="0" bIns="0" rtlCol="0" anchor="t"/>
          <a:lstStyle/>
          <a:p>
            <a:pPr algn="l" indent="0" marL="0">
              <a:spcAft>
                <a:spcPts val="400"/>
              </a:spcAft>
              <a:buNone/>
            </a:pPr>
            <a:r>
              <a:rPr lang="en-US" sz="1050" b="1" dirty="0">
                <a:solidFill>
                  <a:srgbClr val="000000"/>
                </a:solidFill>
                <a:latin typeface="Helvetica Neue" pitchFamily="34" charset="0"/>
                <a:ea typeface="Helvetica Neue" pitchFamily="34" charset="-122"/>
                <a:cs typeface="Helvetica Neue" pitchFamily="34" charset="-120"/>
              </a:rPr>
              <a:t>American Battery Technology (NASDAQ: ABAT)</a:t>
            </a:r>
            <a:endParaRPr lang="en-US" sz="1050" dirty="0"/>
          </a:p>
        </p:txBody>
      </p:sp>
      <p:sp>
        <p:nvSpPr>
          <p:cNvPr id="26" name="Text 23"/>
          <p:cNvSpPr txBox="1"/>
          <p:nvPr/>
        </p:nvSpPr>
        <p:spPr>
          <a:xfrm>
            <a:off x="4462272" y="3602736"/>
            <a:ext cx="3291840" cy="201168"/>
          </a:xfrm>
          <a:prstGeom prst="rect">
            <a:avLst/>
          </a:prstGeom>
          <a:noFill/>
          <a:ln/>
        </p:spPr>
        <p:txBody>
          <a:bodyPr wrap="square" lIns="0" tIns="0" rIns="0" bIns="0" rtlCol="0" anchor="t"/>
          <a:lstStyle/>
          <a:p>
            <a:pPr indent="0" marL="0">
              <a:buNone/>
            </a:pPr>
            <a:r>
              <a:rPr lang="en-US" sz="700" spc="150" kern="0" dirty="0">
                <a:solidFill>
                  <a:srgbClr val="66705F"/>
                </a:solidFill>
                <a:latin typeface="IBM Plex Mono" pitchFamily="34" charset="0"/>
                <a:ea typeface="IBM Plex Mono" pitchFamily="34" charset="-122"/>
                <a:cs typeface="IBM Plex Mono" pitchFamily="34" charset="-120"/>
              </a:rPr>
              <a:t>THE STORY-PREMIUM ANCHOR</a:t>
            </a:r>
            <a:endParaRPr lang="en-US" sz="700" dirty="0"/>
          </a:p>
        </p:txBody>
      </p:sp>
      <p:sp>
        <p:nvSpPr>
          <p:cNvPr id="27" name="Text 24"/>
          <p:cNvSpPr txBox="1"/>
          <p:nvPr/>
        </p:nvSpPr>
        <p:spPr>
          <a:xfrm>
            <a:off x="4462272" y="3822192"/>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33332F"/>
                </a:solidFill>
                <a:latin typeface="Helvetica Neue" pitchFamily="34" charset="0"/>
                <a:ea typeface="Helvetica Neue" pitchFamily="34" charset="-122"/>
                <a:cs typeface="Helvetica Neue" pitchFamily="34" charset="-120"/>
              </a:rPr>
              <a:t>TTM revenue</a:t>
            </a:r>
            <a:endParaRPr lang="en-US" sz="740" dirty="0"/>
          </a:p>
        </p:txBody>
      </p:sp>
      <p:sp>
        <p:nvSpPr>
          <p:cNvPr id="28" name="Text 25"/>
          <p:cNvSpPr txBox="1"/>
          <p:nvPr/>
        </p:nvSpPr>
        <p:spPr>
          <a:xfrm>
            <a:off x="6126480" y="3776472"/>
            <a:ext cx="1645920" cy="347472"/>
          </a:xfrm>
          <a:prstGeom prst="rect">
            <a:avLst/>
          </a:prstGeom>
          <a:noFill/>
          <a:ln/>
        </p:spPr>
        <p:txBody>
          <a:bodyPr wrap="square" lIns="0" tIns="0" rIns="0" bIns="0" rtlCol="0" anchor="ctr"/>
          <a:lstStyle/>
          <a:p>
            <a:pPr algn="r" indent="0" marL="0">
              <a:buNone/>
            </a:pPr>
            <a:r>
              <a:rPr lang="en-US" sz="1250" dirty="0">
                <a:solidFill>
                  <a:srgbClr val="000000"/>
                </a:solidFill>
                <a:latin typeface="Helvetica Neue" pitchFamily="34" charset="0"/>
                <a:ea typeface="Helvetica Neue" pitchFamily="34" charset="-122"/>
                <a:cs typeface="Helvetica Neue" pitchFamily="34" charset="-120"/>
              </a:rPr>
              <a:t>$16.3M</a:t>
            </a:r>
            <a:endParaRPr lang="en-US" sz="1250" dirty="0"/>
          </a:p>
        </p:txBody>
      </p:sp>
      <p:sp>
        <p:nvSpPr>
          <p:cNvPr id="29" name="Text 26"/>
          <p:cNvSpPr txBox="1"/>
          <p:nvPr/>
        </p:nvSpPr>
        <p:spPr>
          <a:xfrm>
            <a:off x="4462272" y="4160520"/>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33332F"/>
                </a:solidFill>
                <a:latin typeface="Helvetica Neue" pitchFamily="34" charset="0"/>
                <a:ea typeface="Helvetica Neue" pitchFamily="34" charset="-122"/>
                <a:cs typeface="Helvetica Neue" pitchFamily="34" charset="-120"/>
              </a:rPr>
              <a:t>EV / revenue</a:t>
            </a:r>
            <a:endParaRPr lang="en-US" sz="740" dirty="0"/>
          </a:p>
        </p:txBody>
      </p:sp>
      <p:sp>
        <p:nvSpPr>
          <p:cNvPr id="30" name="Text 27"/>
          <p:cNvSpPr txBox="1"/>
          <p:nvPr/>
        </p:nvSpPr>
        <p:spPr>
          <a:xfrm>
            <a:off x="6126480" y="4114800"/>
            <a:ext cx="1645920" cy="347472"/>
          </a:xfrm>
          <a:prstGeom prst="rect">
            <a:avLst/>
          </a:prstGeom>
          <a:noFill/>
          <a:ln/>
        </p:spPr>
        <p:txBody>
          <a:bodyPr wrap="square" lIns="0" tIns="0" rIns="0" bIns="0" rtlCol="0" anchor="ctr"/>
          <a:lstStyle/>
          <a:p>
            <a:pPr algn="r" indent="0" marL="0">
              <a:buNone/>
            </a:pPr>
            <a:r>
              <a:rPr lang="en-US" sz="1250" dirty="0">
                <a:solidFill>
                  <a:srgbClr val="000000"/>
                </a:solidFill>
                <a:latin typeface="Helvetica Neue" pitchFamily="34" charset="0"/>
                <a:ea typeface="Helvetica Neue" pitchFamily="34" charset="-122"/>
                <a:cs typeface="Helvetica Neue" pitchFamily="34" charset="-120"/>
              </a:rPr>
              <a:t>19.7x</a:t>
            </a:r>
            <a:endParaRPr lang="en-US" sz="1250" dirty="0"/>
          </a:p>
        </p:txBody>
      </p:sp>
      <p:sp>
        <p:nvSpPr>
          <p:cNvPr id="31" name="Text 28"/>
          <p:cNvSpPr txBox="1"/>
          <p:nvPr/>
        </p:nvSpPr>
        <p:spPr>
          <a:xfrm>
            <a:off x="4462272" y="4498848"/>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33332F"/>
                </a:solidFill>
                <a:latin typeface="Helvetica Neue" pitchFamily="34" charset="0"/>
                <a:ea typeface="Helvetica Neue" pitchFamily="34" charset="-122"/>
                <a:cs typeface="Helvetica Neue" pitchFamily="34" charset="-120"/>
              </a:rPr>
              <a:t>EBITDA</a:t>
            </a:r>
            <a:endParaRPr lang="en-US" sz="740" dirty="0"/>
          </a:p>
        </p:txBody>
      </p:sp>
      <p:sp>
        <p:nvSpPr>
          <p:cNvPr id="32" name="Text 29"/>
          <p:cNvSpPr txBox="1"/>
          <p:nvPr/>
        </p:nvSpPr>
        <p:spPr>
          <a:xfrm>
            <a:off x="6126480" y="4453128"/>
            <a:ext cx="1645920" cy="347472"/>
          </a:xfrm>
          <a:prstGeom prst="rect">
            <a:avLst/>
          </a:prstGeom>
          <a:noFill/>
          <a:ln/>
        </p:spPr>
        <p:txBody>
          <a:bodyPr wrap="square" lIns="0" tIns="0" rIns="0" bIns="0" rtlCol="0" anchor="ctr"/>
          <a:lstStyle/>
          <a:p>
            <a:pPr algn="r" indent="0" marL="0">
              <a:buNone/>
            </a:pPr>
            <a:r>
              <a:rPr lang="en-US" sz="1250" dirty="0">
                <a:solidFill>
                  <a:srgbClr val="000000"/>
                </a:solidFill>
                <a:latin typeface="Helvetica Neue" pitchFamily="34" charset="0"/>
                <a:ea typeface="Helvetica Neue" pitchFamily="34" charset="-122"/>
                <a:cs typeface="Helvetica Neue" pitchFamily="34" charset="-120"/>
              </a:rPr>
              <a:t>negative</a:t>
            </a:r>
            <a:endParaRPr lang="en-US" sz="1250" dirty="0"/>
          </a:p>
        </p:txBody>
      </p:sp>
      <p:sp>
        <p:nvSpPr>
          <p:cNvPr id="33" name="Text 30"/>
          <p:cNvSpPr txBox="1"/>
          <p:nvPr/>
        </p:nvSpPr>
        <p:spPr>
          <a:xfrm>
            <a:off x="4462272" y="4837176"/>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33332F"/>
                </a:solidFill>
                <a:latin typeface="Helvetica Neue" pitchFamily="34" charset="0"/>
                <a:ea typeface="Helvetica Neue" pitchFamily="34" charset="-122"/>
                <a:cs typeface="Helvetica Neue" pitchFamily="34" charset="-120"/>
              </a:rPr>
              <a:t>Net loss (TTM)</a:t>
            </a:r>
            <a:endParaRPr lang="en-US" sz="740" dirty="0"/>
          </a:p>
        </p:txBody>
      </p:sp>
      <p:sp>
        <p:nvSpPr>
          <p:cNvPr id="34" name="Text 31"/>
          <p:cNvSpPr txBox="1"/>
          <p:nvPr/>
        </p:nvSpPr>
        <p:spPr>
          <a:xfrm>
            <a:off x="6126480" y="4791456"/>
            <a:ext cx="1645920" cy="347472"/>
          </a:xfrm>
          <a:prstGeom prst="rect">
            <a:avLst/>
          </a:prstGeom>
          <a:noFill/>
          <a:ln/>
        </p:spPr>
        <p:txBody>
          <a:bodyPr wrap="square" lIns="0" tIns="0" rIns="0" bIns="0" rtlCol="0" anchor="ctr"/>
          <a:lstStyle/>
          <a:p>
            <a:pPr algn="r" indent="0" marL="0">
              <a:buNone/>
            </a:pPr>
            <a:r>
              <a:rPr lang="en-US" sz="1250" dirty="0">
                <a:solidFill>
                  <a:srgbClr val="000000"/>
                </a:solidFill>
                <a:latin typeface="Helvetica Neue" pitchFamily="34" charset="0"/>
                <a:ea typeface="Helvetica Neue" pitchFamily="34" charset="-122"/>
                <a:cs typeface="Helvetica Neue" pitchFamily="34" charset="-120"/>
              </a:rPr>
              <a:t>$63.6M</a:t>
            </a:r>
            <a:endParaRPr lang="en-US" sz="1250" dirty="0"/>
          </a:p>
        </p:txBody>
      </p:sp>
      <p:sp>
        <p:nvSpPr>
          <p:cNvPr id="35" name="Shape 32"/>
          <p:cNvSpPr/>
          <p:nvPr/>
        </p:nvSpPr>
        <p:spPr>
          <a:xfrm>
            <a:off x="4462272" y="5230368"/>
            <a:ext cx="3291840" cy="0"/>
          </a:xfrm>
          <a:prstGeom prst="line">
            <a:avLst/>
          </a:prstGeom>
          <a:noFill/>
          <a:ln w="9525">
            <a:solidFill>
              <a:srgbClr val="D3D9D0"/>
            </a:solidFill>
            <a:prstDash val="solid"/>
          </a:ln>
        </p:spPr>
      </p:sp>
      <p:sp>
        <p:nvSpPr>
          <p:cNvPr id="36" name="Text 33"/>
          <p:cNvSpPr txBox="1"/>
          <p:nvPr/>
        </p:nvSpPr>
        <p:spPr>
          <a:xfrm>
            <a:off x="4462272" y="5285232"/>
            <a:ext cx="3291840" cy="731520"/>
          </a:xfrm>
          <a:prstGeom prst="rect">
            <a:avLst/>
          </a:prstGeom>
          <a:noFill/>
          <a:ln/>
        </p:spPr>
        <p:txBody>
          <a:bodyPr wrap="square" lIns="0" tIns="0" rIns="0" bIns="0" rtlCol="0" anchor="t"/>
          <a:lstStyle/>
          <a:p>
            <a:pPr algn="l" indent="0" marL="0">
              <a:spcAft>
                <a:spcPts val="400"/>
              </a:spcAft>
              <a:buNone/>
            </a:pPr>
            <a:r>
              <a:rPr lang="en-US" sz="670" dirty="0">
                <a:solidFill>
                  <a:srgbClr val="33332F"/>
                </a:solidFill>
                <a:latin typeface="Helvetica Neue" pitchFamily="34" charset="0"/>
                <a:ea typeface="Helvetica Neue" pitchFamily="34" charset="-122"/>
                <a:cs typeface="Helvetica Neue" pitchFamily="34" charset="-120"/>
              </a:rPr>
              <a:t>Critical-minerals and battery recycling, richly valued on narrative and government backing. Shows how much multiple an early-stage critical-minerals story can command - and why this deck does not price itself that way ³⁷.</a:t>
            </a:r>
            <a:endParaRPr lang="en-US" sz="670" dirty="0"/>
          </a:p>
        </p:txBody>
      </p:sp>
      <p:sp>
        <p:nvSpPr>
          <p:cNvPr id="37" name="Shape 34"/>
          <p:cNvSpPr/>
          <p:nvPr/>
        </p:nvSpPr>
        <p:spPr>
          <a:xfrm>
            <a:off x="8046720" y="3182112"/>
            <a:ext cx="3611880" cy="2880360"/>
          </a:xfrm>
          <a:prstGeom prst="rect">
            <a:avLst/>
          </a:prstGeom>
          <a:solidFill>
            <a:srgbClr val="66705F"/>
          </a:solidFill>
          <a:ln w="12700">
            <a:solidFill>
              <a:srgbClr val="66705F"/>
            </a:solidFill>
            <a:prstDash val="solid"/>
          </a:ln>
        </p:spPr>
      </p:sp>
      <p:sp>
        <p:nvSpPr>
          <p:cNvPr id="38" name="Text 35"/>
          <p:cNvSpPr txBox="1"/>
          <p:nvPr/>
        </p:nvSpPr>
        <p:spPr>
          <a:xfrm>
            <a:off x="8211312" y="3255264"/>
            <a:ext cx="3291840" cy="411480"/>
          </a:xfrm>
          <a:prstGeom prst="rect">
            <a:avLst/>
          </a:prstGeom>
          <a:noFill/>
          <a:ln/>
        </p:spPr>
        <p:txBody>
          <a:bodyPr wrap="square" lIns="0" tIns="0" rIns="0" bIns="0" rtlCol="0" anchor="t"/>
          <a:lstStyle/>
          <a:p>
            <a:pPr algn="l" indent="0" marL="0">
              <a:spcAft>
                <a:spcPts val="400"/>
              </a:spcAft>
              <a:buNone/>
            </a:pPr>
            <a:r>
              <a:rPr lang="en-US" sz="1050" b="1" dirty="0">
                <a:solidFill>
                  <a:srgbClr val="FFFFFF"/>
                </a:solidFill>
                <a:latin typeface="Helvetica Neue" pitchFamily="34" charset="0"/>
                <a:ea typeface="Helvetica Neue" pitchFamily="34" charset="-122"/>
                <a:cs typeface="Helvetica Neue" pitchFamily="34" charset="-120"/>
              </a:rPr>
              <a:t>Founder-scale private market</a:t>
            </a:r>
            <a:endParaRPr lang="en-US" sz="1050" dirty="0"/>
          </a:p>
        </p:txBody>
      </p:sp>
      <p:sp>
        <p:nvSpPr>
          <p:cNvPr id="39" name="Text 36"/>
          <p:cNvSpPr txBox="1"/>
          <p:nvPr/>
        </p:nvSpPr>
        <p:spPr>
          <a:xfrm>
            <a:off x="8211312" y="3602736"/>
            <a:ext cx="3291840" cy="201168"/>
          </a:xfrm>
          <a:prstGeom prst="rect">
            <a:avLst/>
          </a:prstGeom>
          <a:noFill/>
          <a:ln/>
        </p:spPr>
        <p:txBody>
          <a:bodyPr wrap="square" lIns="0" tIns="0" rIns="0" bIns="0" rtlCol="0" anchor="t"/>
          <a:lstStyle/>
          <a:p>
            <a:pPr indent="0" marL="0">
              <a:buNone/>
            </a:pPr>
            <a:r>
              <a:rPr lang="en-US" sz="700" spc="150" kern="0" dirty="0">
                <a:solidFill>
                  <a:srgbClr val="F1F3F0"/>
                </a:solidFill>
                <a:latin typeface="IBM Plex Mono" pitchFamily="34" charset="0"/>
                <a:ea typeface="IBM Plex Mono" pitchFamily="34" charset="-122"/>
                <a:cs typeface="IBM Plex Mono" pitchFamily="34" charset="-120"/>
              </a:rPr>
              <a:t>WHERE THE ACQUISITIONS ARE PRICED</a:t>
            </a:r>
            <a:endParaRPr lang="en-US" sz="700" dirty="0"/>
          </a:p>
        </p:txBody>
      </p:sp>
      <p:sp>
        <p:nvSpPr>
          <p:cNvPr id="40" name="Text 37"/>
          <p:cNvSpPr txBox="1"/>
          <p:nvPr/>
        </p:nvSpPr>
        <p:spPr>
          <a:xfrm>
            <a:off x="8211312" y="3822192"/>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F1F3F0"/>
                </a:solidFill>
                <a:latin typeface="Helvetica Neue" pitchFamily="34" charset="0"/>
                <a:ea typeface="Helvetica Neue" pitchFamily="34" charset="-122"/>
                <a:cs typeface="Helvetica Neue" pitchFamily="34" charset="-120"/>
              </a:rPr>
              <a:t>Sub-$10M TEV</a:t>
            </a:r>
            <a:endParaRPr lang="en-US" sz="740" dirty="0"/>
          </a:p>
        </p:txBody>
      </p:sp>
      <p:sp>
        <p:nvSpPr>
          <p:cNvPr id="41" name="Text 38"/>
          <p:cNvSpPr txBox="1"/>
          <p:nvPr/>
        </p:nvSpPr>
        <p:spPr>
          <a:xfrm>
            <a:off x="9875520" y="3776472"/>
            <a:ext cx="1645920" cy="347472"/>
          </a:xfrm>
          <a:prstGeom prst="rect">
            <a:avLst/>
          </a:prstGeom>
          <a:noFill/>
          <a:ln/>
        </p:spPr>
        <p:txBody>
          <a:bodyPr wrap="square" lIns="0" tIns="0" rIns="0" bIns="0" rtlCol="0" anchor="ctr"/>
          <a:lstStyle/>
          <a:p>
            <a:pPr algn="r" indent="0" marL="0">
              <a:buNone/>
            </a:pPr>
            <a:r>
              <a:rPr lang="en-US" sz="1250" dirty="0">
                <a:solidFill>
                  <a:srgbClr val="FFFFFF"/>
                </a:solidFill>
                <a:latin typeface="Helvetica Neue" pitchFamily="34" charset="0"/>
                <a:ea typeface="Helvetica Neue" pitchFamily="34" charset="-122"/>
                <a:cs typeface="Helvetica Neue" pitchFamily="34" charset="-120"/>
              </a:rPr>
              <a:t>5.5x EBITDA</a:t>
            </a:r>
            <a:endParaRPr lang="en-US" sz="1250" dirty="0"/>
          </a:p>
        </p:txBody>
      </p:sp>
      <p:sp>
        <p:nvSpPr>
          <p:cNvPr id="42" name="Text 39"/>
          <p:cNvSpPr txBox="1"/>
          <p:nvPr/>
        </p:nvSpPr>
        <p:spPr>
          <a:xfrm>
            <a:off x="8211312" y="4160520"/>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F1F3F0"/>
                </a:solidFill>
                <a:latin typeface="Helvetica Neue" pitchFamily="34" charset="0"/>
                <a:ea typeface="Helvetica Neue" pitchFamily="34" charset="-122"/>
                <a:cs typeface="Helvetica Neue" pitchFamily="34" charset="-120"/>
              </a:rPr>
              <a:t>$10–25M TEV</a:t>
            </a:r>
            <a:endParaRPr lang="en-US" sz="740" dirty="0"/>
          </a:p>
        </p:txBody>
      </p:sp>
      <p:sp>
        <p:nvSpPr>
          <p:cNvPr id="43" name="Text 40"/>
          <p:cNvSpPr txBox="1"/>
          <p:nvPr/>
        </p:nvSpPr>
        <p:spPr>
          <a:xfrm>
            <a:off x="9875520" y="4114800"/>
            <a:ext cx="1645920" cy="347472"/>
          </a:xfrm>
          <a:prstGeom prst="rect">
            <a:avLst/>
          </a:prstGeom>
          <a:noFill/>
          <a:ln/>
        </p:spPr>
        <p:txBody>
          <a:bodyPr wrap="square" lIns="0" tIns="0" rIns="0" bIns="0" rtlCol="0" anchor="ctr"/>
          <a:lstStyle/>
          <a:p>
            <a:pPr algn="r" indent="0" marL="0">
              <a:buNone/>
            </a:pPr>
            <a:r>
              <a:rPr lang="en-US" sz="1250" dirty="0">
                <a:solidFill>
                  <a:srgbClr val="FFFFFF"/>
                </a:solidFill>
                <a:latin typeface="Helvetica Neue" pitchFamily="34" charset="0"/>
                <a:ea typeface="Helvetica Neue" pitchFamily="34" charset="-122"/>
                <a:cs typeface="Helvetica Neue" pitchFamily="34" charset="-120"/>
              </a:rPr>
              <a:t>6.4x EBITDA</a:t>
            </a:r>
            <a:endParaRPr lang="en-US" sz="1250" dirty="0"/>
          </a:p>
        </p:txBody>
      </p:sp>
      <p:sp>
        <p:nvSpPr>
          <p:cNvPr id="44" name="Text 41"/>
          <p:cNvSpPr txBox="1"/>
          <p:nvPr/>
        </p:nvSpPr>
        <p:spPr>
          <a:xfrm>
            <a:off x="8211312" y="4498848"/>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F1F3F0"/>
                </a:solidFill>
                <a:latin typeface="Helvetica Neue" pitchFamily="34" charset="0"/>
                <a:ea typeface="Helvetica Neue" pitchFamily="34" charset="-122"/>
                <a:cs typeface="Helvetica Neue" pitchFamily="34" charset="-120"/>
              </a:rPr>
              <a:t>Pepperdine 2025 range</a:t>
            </a:r>
            <a:endParaRPr lang="en-US" sz="740" dirty="0"/>
          </a:p>
        </p:txBody>
      </p:sp>
      <p:sp>
        <p:nvSpPr>
          <p:cNvPr id="45" name="Text 42"/>
          <p:cNvSpPr txBox="1"/>
          <p:nvPr/>
        </p:nvSpPr>
        <p:spPr>
          <a:xfrm>
            <a:off x="9875520" y="4453128"/>
            <a:ext cx="1645920" cy="347472"/>
          </a:xfrm>
          <a:prstGeom prst="rect">
            <a:avLst/>
          </a:prstGeom>
          <a:noFill/>
          <a:ln/>
        </p:spPr>
        <p:txBody>
          <a:bodyPr wrap="square" lIns="0" tIns="0" rIns="0" bIns="0" rtlCol="0" anchor="ctr"/>
          <a:lstStyle/>
          <a:p>
            <a:pPr algn="r" indent="0" marL="0">
              <a:buNone/>
            </a:pPr>
            <a:r>
              <a:rPr lang="en-US" sz="1250" dirty="0">
                <a:solidFill>
                  <a:srgbClr val="FFFFFF"/>
                </a:solidFill>
                <a:latin typeface="Helvetica Neue" pitchFamily="34" charset="0"/>
                <a:ea typeface="Helvetica Neue" pitchFamily="34" charset="-122"/>
                <a:cs typeface="Helvetica Neue" pitchFamily="34" charset="-120"/>
              </a:rPr>
              <a:t>4.0–8.3x</a:t>
            </a:r>
            <a:endParaRPr lang="en-US" sz="1250" dirty="0"/>
          </a:p>
        </p:txBody>
      </p:sp>
      <p:sp>
        <p:nvSpPr>
          <p:cNvPr id="46" name="Text 43"/>
          <p:cNvSpPr txBox="1"/>
          <p:nvPr/>
        </p:nvSpPr>
        <p:spPr>
          <a:xfrm>
            <a:off x="8211312" y="4837176"/>
            <a:ext cx="1737360" cy="320040"/>
          </a:xfrm>
          <a:prstGeom prst="rect">
            <a:avLst/>
          </a:prstGeom>
          <a:noFill/>
          <a:ln/>
        </p:spPr>
        <p:txBody>
          <a:bodyPr wrap="square" lIns="0" tIns="0" rIns="0" bIns="0" rtlCol="0" anchor="t"/>
          <a:lstStyle/>
          <a:p>
            <a:pPr algn="l" indent="0" marL="0">
              <a:spcAft>
                <a:spcPts val="400"/>
              </a:spcAft>
              <a:buNone/>
            </a:pPr>
            <a:r>
              <a:rPr lang="en-US" sz="740" dirty="0">
                <a:solidFill>
                  <a:srgbClr val="F1F3F0"/>
                </a:solidFill>
                <a:latin typeface="Helvetica Neue" pitchFamily="34" charset="0"/>
                <a:ea typeface="Helvetica Neue" pitchFamily="34" charset="-122"/>
                <a:cs typeface="Helvetica Neue" pitchFamily="34" charset="-120"/>
              </a:rPr>
              <a:t>Private A&amp;D deal median</a:t>
            </a:r>
            <a:endParaRPr lang="en-US" sz="740" dirty="0"/>
          </a:p>
        </p:txBody>
      </p:sp>
      <p:sp>
        <p:nvSpPr>
          <p:cNvPr id="47" name="Text 44"/>
          <p:cNvSpPr txBox="1"/>
          <p:nvPr/>
        </p:nvSpPr>
        <p:spPr>
          <a:xfrm>
            <a:off x="9875520" y="4791456"/>
            <a:ext cx="1645920" cy="347472"/>
          </a:xfrm>
          <a:prstGeom prst="rect">
            <a:avLst/>
          </a:prstGeom>
          <a:noFill/>
          <a:ln/>
        </p:spPr>
        <p:txBody>
          <a:bodyPr wrap="square" lIns="0" tIns="0" rIns="0" bIns="0" rtlCol="0" anchor="ctr"/>
          <a:lstStyle/>
          <a:p>
            <a:pPr algn="r" indent="0" marL="0">
              <a:buNone/>
            </a:pPr>
            <a:r>
              <a:rPr lang="en-US" sz="1250" dirty="0">
                <a:solidFill>
                  <a:srgbClr val="FFFFFF"/>
                </a:solidFill>
                <a:latin typeface="Helvetica Neue" pitchFamily="34" charset="0"/>
                <a:ea typeface="Helvetica Neue" pitchFamily="34" charset="-122"/>
                <a:cs typeface="Helvetica Neue" pitchFamily="34" charset="-120"/>
              </a:rPr>
              <a:t>19.0x (large)</a:t>
            </a:r>
            <a:endParaRPr lang="en-US" sz="1250" dirty="0"/>
          </a:p>
        </p:txBody>
      </p:sp>
      <p:sp>
        <p:nvSpPr>
          <p:cNvPr id="48" name="Shape 45"/>
          <p:cNvSpPr/>
          <p:nvPr/>
        </p:nvSpPr>
        <p:spPr>
          <a:xfrm>
            <a:off x="8211312" y="5230368"/>
            <a:ext cx="3291840" cy="0"/>
          </a:xfrm>
          <a:prstGeom prst="line">
            <a:avLst/>
          </a:prstGeom>
          <a:noFill/>
          <a:ln w="9525">
            <a:solidFill>
              <a:srgbClr val="8A9585"/>
            </a:solidFill>
            <a:prstDash val="solid"/>
          </a:ln>
        </p:spPr>
      </p:sp>
      <p:sp>
        <p:nvSpPr>
          <p:cNvPr id="49" name="Text 46"/>
          <p:cNvSpPr txBox="1"/>
          <p:nvPr/>
        </p:nvSpPr>
        <p:spPr>
          <a:xfrm>
            <a:off x="8211312" y="5285232"/>
            <a:ext cx="3291840" cy="731520"/>
          </a:xfrm>
          <a:prstGeom prst="rect">
            <a:avLst/>
          </a:prstGeom>
          <a:noFill/>
          <a:ln/>
        </p:spPr>
        <p:txBody>
          <a:bodyPr wrap="square" lIns="0" tIns="0" rIns="0" bIns="0" rtlCol="0" anchor="t"/>
          <a:lstStyle/>
          <a:p>
            <a:pPr algn="l" indent="0" marL="0">
              <a:spcAft>
                <a:spcPts val="400"/>
              </a:spcAft>
              <a:buNone/>
            </a:pPr>
            <a:r>
              <a:rPr lang="en-US" sz="670" dirty="0">
                <a:solidFill>
                  <a:srgbClr val="F1F3F0"/>
                </a:solidFill>
                <a:latin typeface="Helvetica Neue" pitchFamily="34" charset="0"/>
                <a:ea typeface="Helvetica Neue" pitchFamily="34" charset="-122"/>
                <a:cs typeface="Helvetica Neue" pitchFamily="34" charset="-120"/>
              </a:rPr>
              <a:t>The programme prices founder-held specialists at 5.0–6.0x EBITDA. Disclosed sector transactions 2023–26 (Cadre, Rheinmetall–Expal) cleared 1.5–3.4x revenue - the 2.0x stress case ³⁴ ³⁵.</a:t>
            </a:r>
            <a:endParaRPr lang="en-US" sz="670" dirty="0"/>
          </a:p>
        </p:txBody>
      </p:sp>
      <p:sp>
        <p:nvSpPr>
          <p:cNvPr id="50" name="Text 47"/>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Projection - TWB financial model, base case (Outputs tab), 2028 revenue and adjusted EBITDA. ³⁶ stockanalysis.com, Cadre Holdings statistics, 31 Aug 2026; Cadre press releases (ICOR, Alpha Safety, Carr's).  ³⁷ stockanalysis.com, ABAT statistics, 26 Aug 2026.  Private multiples: GF Data 2025 via CapitalPad; Pepperdine PCMR 2025; PCE Q2 2026.</a:t>
            </a:r>
            <a:endParaRPr lang="en-US" sz="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25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WHY NOW</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Four clocks, all running. None of them re-opens.</a:t>
            </a:r>
            <a:endParaRPr lang="en-US" sz="2200" dirty="0"/>
          </a:p>
        </p:txBody>
      </p:sp>
      <p:sp>
        <p:nvSpPr>
          <p:cNvPr id="6" name="Text 3"/>
          <p:cNvSpPr txBox="1"/>
          <p:nvPr/>
        </p:nvSpPr>
        <p:spPr>
          <a:xfrm>
            <a:off x="548640" y="1554480"/>
            <a:ext cx="2286000" cy="1737360"/>
          </a:xfrm>
          <a:prstGeom prst="rect">
            <a:avLst/>
          </a:prstGeom>
          <a:noFill/>
          <a:ln/>
        </p:spPr>
        <p:txBody>
          <a:bodyPr wrap="square" lIns="0" tIns="0" rIns="0" bIns="0" rtlCol="0" anchor="t"/>
          <a:lstStyle/>
          <a:p>
            <a:pPr indent="0" marL="0">
              <a:buNone/>
            </a:pPr>
            <a:r>
              <a:rPr lang="en-US" sz="12000" spc="-336" kern="0" dirty="0">
                <a:solidFill>
                  <a:srgbClr val="000000"/>
                </a:solidFill>
                <a:latin typeface="Helvetica Neue" pitchFamily="34" charset="0"/>
                <a:ea typeface="Helvetica Neue" pitchFamily="34" charset="-122"/>
                <a:cs typeface="Helvetica Neue" pitchFamily="34" charset="-120"/>
              </a:rPr>
              <a:t>4</a:t>
            </a:r>
            <a:endParaRPr lang="en-US" sz="12000" dirty="0"/>
          </a:p>
        </p:txBody>
      </p:sp>
      <p:sp>
        <p:nvSpPr>
          <p:cNvPr id="7" name="Text 4"/>
          <p:cNvSpPr txBox="1"/>
          <p:nvPr/>
        </p:nvSpPr>
        <p:spPr>
          <a:xfrm>
            <a:off x="548640" y="3337560"/>
            <a:ext cx="2286000" cy="201168"/>
          </a:xfrm>
          <a:prstGeom prst="rect">
            <a:avLst/>
          </a:prstGeom>
          <a:noFill/>
          <a:ln/>
        </p:spPr>
        <p:txBody>
          <a:bodyPr wrap="square" lIns="0" tIns="0" rIns="0" bIns="0" rtlCol="0" anchor="t"/>
          <a:lstStyle/>
          <a:p>
            <a:pPr indent="0" marL="0">
              <a:buNone/>
            </a:pPr>
            <a:r>
              <a:rPr lang="en-US" sz="700" spc="150" kern="0" dirty="0">
                <a:solidFill>
                  <a:srgbClr val="6E6C66"/>
                </a:solidFill>
                <a:latin typeface="IBM Plex Mono" pitchFamily="34" charset="0"/>
                <a:ea typeface="IBM Plex Mono" pitchFamily="34" charset="-122"/>
                <a:cs typeface="IBM Plex Mono" pitchFamily="34" charset="-120"/>
              </a:rPr>
              <a:t>CLOCKS CONVERGING</a:t>
            </a:r>
            <a:endParaRPr lang="en-US" sz="700" dirty="0"/>
          </a:p>
        </p:txBody>
      </p:sp>
      <p:sp>
        <p:nvSpPr>
          <p:cNvPr id="8" name="Shape 5"/>
          <p:cNvSpPr/>
          <p:nvPr/>
        </p:nvSpPr>
        <p:spPr>
          <a:xfrm>
            <a:off x="3291840" y="1600200"/>
            <a:ext cx="4069080" cy="1828800"/>
          </a:xfrm>
          <a:prstGeom prst="rect">
            <a:avLst/>
          </a:prstGeom>
          <a:solidFill>
            <a:srgbClr val="F1F3F0"/>
          </a:solidFill>
          <a:ln w="12700">
            <a:solidFill>
              <a:srgbClr val="F1F3F0"/>
            </a:solidFill>
            <a:prstDash val="solid"/>
          </a:ln>
        </p:spPr>
      </p:sp>
      <p:sp>
        <p:nvSpPr>
          <p:cNvPr id="9" name="Text 6"/>
          <p:cNvSpPr txBox="1"/>
          <p:nvPr/>
        </p:nvSpPr>
        <p:spPr>
          <a:xfrm>
            <a:off x="3474720" y="1737360"/>
            <a:ext cx="3657600" cy="365760"/>
          </a:xfrm>
          <a:prstGeom prst="rect">
            <a:avLst/>
          </a:prstGeom>
          <a:noFill/>
          <a:ln/>
        </p:spPr>
        <p:txBody>
          <a:bodyPr wrap="square" lIns="0" tIns="0" rIns="0" bIns="0" rtlCol="0" anchor="t"/>
          <a:lstStyle/>
          <a:p>
            <a:pPr algn="l" indent="0" marL="0">
              <a:spcAft>
                <a:spcPts val="400"/>
              </a:spcAft>
              <a:buNone/>
            </a:pPr>
            <a:r>
              <a:rPr lang="en-US" sz="1300" b="1" dirty="0">
                <a:solidFill>
                  <a:srgbClr val="000000"/>
                </a:solidFill>
                <a:latin typeface="Helvetica Neue" pitchFamily="34" charset="0"/>
                <a:ea typeface="Helvetica Neue" pitchFamily="34" charset="-122"/>
                <a:cs typeface="Helvetica Neue" pitchFamily="34" charset="-120"/>
              </a:rPr>
              <a:t>01 · Rearmament</a:t>
            </a:r>
            <a:endParaRPr lang="en-US" sz="1300" dirty="0"/>
          </a:p>
        </p:txBody>
      </p:sp>
      <p:sp>
        <p:nvSpPr>
          <p:cNvPr id="10" name="Text 7"/>
          <p:cNvSpPr txBox="1"/>
          <p:nvPr/>
        </p:nvSpPr>
        <p:spPr>
          <a:xfrm>
            <a:off x="3474720" y="2148840"/>
            <a:ext cx="3703320" cy="1188720"/>
          </a:xfrm>
          <a:prstGeom prst="rect">
            <a:avLst/>
          </a:prstGeom>
          <a:noFill/>
          <a:ln/>
        </p:spPr>
        <p:txBody>
          <a:bodyPr wrap="square" lIns="0" tIns="0" rIns="0" bIns="0" rtlCol="0" anchor="t"/>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Surge production is compounding allied stockpiles - today's shells are tomorrow's destruction queue. $2.88T spent in 2025; Europe doubled in a decade ¹⁶.</a:t>
            </a:r>
            <a:endParaRPr lang="en-US" sz="950" dirty="0"/>
          </a:p>
        </p:txBody>
      </p:sp>
      <p:sp>
        <p:nvSpPr>
          <p:cNvPr id="11" name="Shape 8"/>
          <p:cNvSpPr/>
          <p:nvPr/>
        </p:nvSpPr>
        <p:spPr>
          <a:xfrm>
            <a:off x="7498080" y="1600200"/>
            <a:ext cx="4069080" cy="1828800"/>
          </a:xfrm>
          <a:prstGeom prst="rect">
            <a:avLst/>
          </a:prstGeom>
          <a:solidFill>
            <a:srgbClr val="F1F3F0"/>
          </a:solidFill>
          <a:ln w="12700">
            <a:solidFill>
              <a:srgbClr val="F1F3F0"/>
            </a:solidFill>
            <a:prstDash val="solid"/>
          </a:ln>
        </p:spPr>
      </p:sp>
      <p:sp>
        <p:nvSpPr>
          <p:cNvPr id="12" name="Text 9"/>
          <p:cNvSpPr txBox="1"/>
          <p:nvPr/>
        </p:nvSpPr>
        <p:spPr>
          <a:xfrm>
            <a:off x="7680960" y="1737360"/>
            <a:ext cx="3657600" cy="365760"/>
          </a:xfrm>
          <a:prstGeom prst="rect">
            <a:avLst/>
          </a:prstGeom>
          <a:noFill/>
          <a:ln/>
        </p:spPr>
        <p:txBody>
          <a:bodyPr wrap="square" lIns="0" tIns="0" rIns="0" bIns="0" rtlCol="0" anchor="t"/>
          <a:lstStyle/>
          <a:p>
            <a:pPr algn="l" indent="0" marL="0">
              <a:spcAft>
                <a:spcPts val="400"/>
              </a:spcAft>
              <a:buNone/>
            </a:pPr>
            <a:r>
              <a:rPr lang="en-US" sz="1300" b="1" dirty="0">
                <a:solidFill>
                  <a:srgbClr val="000000"/>
                </a:solidFill>
                <a:latin typeface="Helvetica Neue" pitchFamily="34" charset="0"/>
                <a:ea typeface="Helvetica Neue" pitchFamily="34" charset="-122"/>
                <a:cs typeface="Helvetica Neue" pitchFamily="34" charset="-120"/>
              </a:rPr>
              <a:t>02 · Regulation</a:t>
            </a:r>
            <a:endParaRPr lang="en-US" sz="1300" dirty="0"/>
          </a:p>
        </p:txBody>
      </p:sp>
      <p:sp>
        <p:nvSpPr>
          <p:cNvPr id="13" name="Text 10"/>
          <p:cNvSpPr txBox="1"/>
          <p:nvPr/>
        </p:nvSpPr>
        <p:spPr>
          <a:xfrm>
            <a:off x="7680960" y="2148840"/>
            <a:ext cx="3703320" cy="1188720"/>
          </a:xfrm>
          <a:prstGeom prst="rect">
            <a:avLst/>
          </a:prstGeom>
          <a:noFill/>
          <a:ln/>
        </p:spPr>
        <p:txBody>
          <a:bodyPr wrap="square" lIns="0" tIns="0" rIns="0" bIns="0" rtlCol="0" anchor="t"/>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The EPA is closing open burn / open detonation - 67 facilities targeted, final rule projected 2026 ²³. The incumbent method is being outlawed in real time.</a:t>
            </a:r>
            <a:endParaRPr lang="en-US" sz="950" dirty="0"/>
          </a:p>
        </p:txBody>
      </p:sp>
      <p:sp>
        <p:nvSpPr>
          <p:cNvPr id="14" name="Shape 11"/>
          <p:cNvSpPr/>
          <p:nvPr/>
        </p:nvSpPr>
        <p:spPr>
          <a:xfrm>
            <a:off x="3291840" y="3566160"/>
            <a:ext cx="4069080" cy="1828800"/>
          </a:xfrm>
          <a:prstGeom prst="rect">
            <a:avLst/>
          </a:prstGeom>
          <a:solidFill>
            <a:srgbClr val="F1F3F0"/>
          </a:solidFill>
          <a:ln w="12700">
            <a:solidFill>
              <a:srgbClr val="F1F3F0"/>
            </a:solidFill>
            <a:prstDash val="solid"/>
          </a:ln>
        </p:spPr>
      </p:sp>
      <p:sp>
        <p:nvSpPr>
          <p:cNvPr id="15" name="Text 12"/>
          <p:cNvSpPr txBox="1"/>
          <p:nvPr/>
        </p:nvSpPr>
        <p:spPr>
          <a:xfrm>
            <a:off x="3474720" y="3703320"/>
            <a:ext cx="3657600" cy="365760"/>
          </a:xfrm>
          <a:prstGeom prst="rect">
            <a:avLst/>
          </a:prstGeom>
          <a:noFill/>
          <a:ln/>
        </p:spPr>
        <p:txBody>
          <a:bodyPr wrap="square" lIns="0" tIns="0" rIns="0" bIns="0" rtlCol="0" anchor="t"/>
          <a:lstStyle/>
          <a:p>
            <a:pPr algn="l" indent="0" marL="0">
              <a:spcAft>
                <a:spcPts val="400"/>
              </a:spcAft>
              <a:buNone/>
            </a:pPr>
            <a:r>
              <a:rPr lang="en-US" sz="1300" b="1" dirty="0">
                <a:solidFill>
                  <a:srgbClr val="000000"/>
                </a:solidFill>
                <a:latin typeface="Helvetica Neue" pitchFamily="34" charset="0"/>
                <a:ea typeface="Helvetica Neue" pitchFamily="34" charset="-122"/>
                <a:cs typeface="Helvetica Neue" pitchFamily="34" charset="-120"/>
              </a:rPr>
              <a:t>03 · Critical minerals</a:t>
            </a:r>
            <a:endParaRPr lang="en-US" sz="1300" dirty="0"/>
          </a:p>
        </p:txBody>
      </p:sp>
      <p:sp>
        <p:nvSpPr>
          <p:cNvPr id="16" name="Text 13"/>
          <p:cNvSpPr txBox="1"/>
          <p:nvPr/>
        </p:nvSpPr>
        <p:spPr>
          <a:xfrm>
            <a:off x="3474720" y="4114800"/>
            <a:ext cx="3703320" cy="1188720"/>
          </a:xfrm>
          <a:prstGeom prst="rect">
            <a:avLst/>
          </a:prstGeom>
          <a:noFill/>
          <a:ln/>
        </p:spPr>
        <p:txBody>
          <a:bodyPr wrap="square" lIns="0" tIns="0" rIns="0" bIns="0" rtlCol="0" anchor="t"/>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Copper and lead added to the US list in 2025, antimony repriced ~5x by policy ⁶ ²⁵ - the output of destruction became strategic feedstock.</a:t>
            </a:r>
            <a:endParaRPr lang="en-US" sz="950" dirty="0"/>
          </a:p>
        </p:txBody>
      </p:sp>
      <p:sp>
        <p:nvSpPr>
          <p:cNvPr id="17" name="Shape 14"/>
          <p:cNvSpPr/>
          <p:nvPr/>
        </p:nvSpPr>
        <p:spPr>
          <a:xfrm>
            <a:off x="7498080" y="3566160"/>
            <a:ext cx="4069080" cy="1828800"/>
          </a:xfrm>
          <a:prstGeom prst="rect">
            <a:avLst/>
          </a:prstGeom>
          <a:solidFill>
            <a:srgbClr val="F1F3F0"/>
          </a:solidFill>
          <a:ln w="12700">
            <a:solidFill>
              <a:srgbClr val="F1F3F0"/>
            </a:solidFill>
            <a:prstDash val="solid"/>
          </a:ln>
        </p:spPr>
      </p:sp>
      <p:sp>
        <p:nvSpPr>
          <p:cNvPr id="18" name="Text 15"/>
          <p:cNvSpPr txBox="1"/>
          <p:nvPr/>
        </p:nvSpPr>
        <p:spPr>
          <a:xfrm>
            <a:off x="7680960" y="3703320"/>
            <a:ext cx="3657600" cy="365760"/>
          </a:xfrm>
          <a:prstGeom prst="rect">
            <a:avLst/>
          </a:prstGeom>
          <a:noFill/>
          <a:ln/>
        </p:spPr>
        <p:txBody>
          <a:bodyPr wrap="square" lIns="0" tIns="0" rIns="0" bIns="0" rtlCol="0" anchor="t"/>
          <a:lstStyle/>
          <a:p>
            <a:pPr algn="l" indent="0" marL="0">
              <a:spcAft>
                <a:spcPts val="400"/>
              </a:spcAft>
              <a:buNone/>
            </a:pPr>
            <a:r>
              <a:rPr lang="en-US" sz="1300" b="1" dirty="0">
                <a:solidFill>
                  <a:srgbClr val="000000"/>
                </a:solidFill>
                <a:latin typeface="Helvetica Neue" pitchFamily="34" charset="0"/>
                <a:ea typeface="Helvetica Neue" pitchFamily="34" charset="-122"/>
                <a:cs typeface="Helvetica Neue" pitchFamily="34" charset="-120"/>
              </a:rPr>
              <a:t>04 · Succession</a:t>
            </a:r>
            <a:endParaRPr lang="en-US" sz="1300" dirty="0"/>
          </a:p>
        </p:txBody>
      </p:sp>
      <p:sp>
        <p:nvSpPr>
          <p:cNvPr id="19" name="Text 16"/>
          <p:cNvSpPr txBox="1"/>
          <p:nvPr/>
        </p:nvSpPr>
        <p:spPr>
          <a:xfrm>
            <a:off x="7680960" y="4114800"/>
            <a:ext cx="3703320" cy="1188720"/>
          </a:xfrm>
          <a:prstGeom prst="rect">
            <a:avLst/>
          </a:prstGeom>
          <a:noFill/>
          <a:ln/>
        </p:spPr>
        <p:txBody>
          <a:bodyPr wrap="square" lIns="0" tIns="0" rIns="0" bIns="0" rtlCol="0" anchor="t"/>
          <a:lstStyle/>
          <a:p>
            <a:pPr algn="l" indent="0" marL="0">
              <a:spcAft>
                <a:spcPts val="400"/>
              </a:spcAft>
              <a:buNone/>
            </a:pPr>
            <a:r>
              <a:rPr lang="en-US" sz="950" dirty="0">
                <a:solidFill>
                  <a:srgbClr val="33332F"/>
                </a:solidFill>
                <a:latin typeface="Helvetica Neue" pitchFamily="34" charset="0"/>
                <a:ea typeface="Helvetica Neue" pitchFamily="34" charset="-122"/>
                <a:cs typeface="Helvetica Neue" pitchFamily="34" charset="-120"/>
              </a:rPr>
              <a:t>The founder generation that holds the capability is retiring - pricing the M&amp;A at 4–7x EBITDA ³⁴, for now. Strategics are already buying the large end ³⁸.</a:t>
            </a:r>
            <a:endParaRPr lang="en-US" sz="950" dirty="0"/>
          </a:p>
        </p:txBody>
      </p:sp>
      <p:sp>
        <p:nvSpPr>
          <p:cNvPr id="20" name="Text 17"/>
          <p:cNvSpPr txBox="1"/>
          <p:nvPr/>
        </p:nvSpPr>
        <p:spPr>
          <a:xfrm>
            <a:off x="548640" y="5669280"/>
            <a:ext cx="10972800" cy="365760"/>
          </a:xfrm>
          <a:prstGeom prst="rect">
            <a:avLst/>
          </a:prstGeom>
          <a:noFill/>
          <a:ln/>
        </p:spPr>
        <p:txBody>
          <a:bodyPr wrap="square" lIns="0" tIns="0" rIns="0" bIns="0" rtlCol="0" anchor="t"/>
          <a:lstStyle/>
          <a:p>
            <a:pPr algn="l" indent="0" marL="0">
              <a:spcAft>
                <a:spcPts val="400"/>
              </a:spcAft>
              <a:buNone/>
            </a:pPr>
            <a:r>
              <a:rPr lang="en-US" sz="1200" b="1" dirty="0">
                <a:solidFill>
                  <a:srgbClr val="000000"/>
                </a:solidFill>
                <a:latin typeface="Helvetica Neue" pitchFamily="34" charset="0"/>
                <a:ea typeface="Helvetica Neue" pitchFamily="34" charset="-122"/>
                <a:cs typeface="Helvetica Neue" pitchFamily="34" charset="-120"/>
              </a:rPr>
              <a:t>Any one clock is a tailwind. All four at once is a category being born.</a:t>
            </a:r>
            <a:endParaRPr lang="en-US" sz="1200" dirty="0"/>
          </a:p>
        </p:txBody>
      </p:sp>
      <p:sp>
        <p:nvSpPr>
          <p:cNvPr id="21" name="Text 18"/>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³⁸ Diehl Defence–Tauber (Oct 2025), Diehl–EST Energetics (Jul 2026), Arca Defence–Esplodenti Sabino (Oct 2025), Rheinmetall–Expal (2023), Cadre (18 acquisitions).</a:t>
            </a:r>
            <a:endParaRPr lang="en-US" sz="6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66705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FFFFFF"/>
                </a:solidFill>
                <a:latin typeface="IBM Plex Mono" pitchFamily="34" charset="0"/>
                <a:ea typeface="IBM Plex Mono" pitchFamily="34" charset="-122"/>
                <a:cs typeface="IBM Plex Mono" pitchFamily="34" charset="-120"/>
              </a:rPr>
              <a:t>26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FFFFFF"/>
                </a:solidFill>
                <a:latin typeface="IBM Plex Mono" pitchFamily="34" charset="0"/>
                <a:ea typeface="IBM Plex Mono" pitchFamily="34" charset="-122"/>
                <a:cs typeface="IBM Plex Mono" pitchFamily="34" charset="-120"/>
              </a:rPr>
              <a:t>WHERE THIS LEAVES US</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FFFFFF"/>
                </a:solidFill>
                <a:latin typeface="Helvetica Neue" pitchFamily="34" charset="0"/>
                <a:ea typeface="Helvetica Neue" pitchFamily="34" charset="-122"/>
                <a:cs typeface="Helvetica Neue" pitchFamily="34" charset="-120"/>
              </a:rPr>
              <a:t>Every war ends. Every stockpile ages. Every round, one day, must be unmade.</a:t>
            </a:r>
            <a:endParaRPr lang="en-US" sz="2200" dirty="0"/>
          </a:p>
        </p:txBody>
      </p:sp>
      <p:sp>
        <p:nvSpPr>
          <p:cNvPr id="6" name="Text 3"/>
          <p:cNvSpPr txBox="1"/>
          <p:nvPr/>
        </p:nvSpPr>
        <p:spPr>
          <a:xfrm>
            <a:off x="548640" y="1691640"/>
            <a:ext cx="3566160" cy="32004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Helvetica Neue" pitchFamily="34" charset="0"/>
                <a:ea typeface="Helvetica Neue" pitchFamily="34" charset="-122"/>
                <a:cs typeface="Helvetica Neue" pitchFamily="34" charset="-120"/>
              </a:rPr>
              <a:t>The need</a:t>
            </a:r>
            <a:endParaRPr lang="en-US" sz="1200" dirty="0"/>
          </a:p>
        </p:txBody>
      </p:sp>
      <p:sp>
        <p:nvSpPr>
          <p:cNvPr id="7" name="Text 4"/>
          <p:cNvSpPr txBox="1"/>
          <p:nvPr/>
        </p:nvSpPr>
        <p:spPr>
          <a:xfrm>
            <a:off x="548640" y="2039112"/>
            <a:ext cx="3566160" cy="1371600"/>
          </a:xfrm>
          <a:prstGeom prst="rect">
            <a:avLst/>
          </a:prstGeom>
          <a:noFill/>
          <a:ln/>
        </p:spPr>
        <p:txBody>
          <a:bodyPr wrap="square" lIns="0" tIns="0" rIns="0" bIns="0" rtlCol="0" anchor="t"/>
          <a:lstStyle/>
          <a:p>
            <a:pPr algn="l" indent="0" marL="0">
              <a:spcAft>
                <a:spcPts val="400"/>
              </a:spcAft>
              <a:buNone/>
            </a:pPr>
            <a:r>
              <a:rPr lang="en-US" sz="900" dirty="0">
                <a:solidFill>
                  <a:srgbClr val="F1F3F0"/>
                </a:solidFill>
                <a:latin typeface="Helvetica Neue" pitchFamily="34" charset="0"/>
                <a:ea typeface="Helvetica Neue" pitchFamily="34" charset="-122"/>
                <a:cs typeface="Helvetica Neue" pitchFamily="34" charset="-120"/>
              </a:rPr>
              <a:t>Stockpiles rebuilt faster than the capacity to retire them; a fixed-plant industry being regulated out; the US alone funds $155–161M of demil a year and holds 296,534 tons in the queue.</a:t>
            </a:r>
            <a:endParaRPr lang="en-US" sz="900" dirty="0"/>
          </a:p>
        </p:txBody>
      </p:sp>
      <p:sp>
        <p:nvSpPr>
          <p:cNvPr id="8" name="Text 5"/>
          <p:cNvSpPr txBox="1"/>
          <p:nvPr/>
        </p:nvSpPr>
        <p:spPr>
          <a:xfrm>
            <a:off x="4297680" y="1691640"/>
            <a:ext cx="3566160" cy="32004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Helvetica Neue" pitchFamily="34" charset="0"/>
                <a:ea typeface="Helvetica Neue" pitchFamily="34" charset="-122"/>
                <a:cs typeface="Helvetica Neue" pitchFamily="34" charset="-120"/>
              </a:rPr>
              <a:t>The foundation</a:t>
            </a:r>
            <a:endParaRPr lang="en-US" sz="1200" dirty="0"/>
          </a:p>
        </p:txBody>
      </p:sp>
      <p:sp>
        <p:nvSpPr>
          <p:cNvPr id="9" name="Text 6"/>
          <p:cNvSpPr txBox="1"/>
          <p:nvPr/>
        </p:nvSpPr>
        <p:spPr>
          <a:xfrm>
            <a:off x="4297680" y="2039112"/>
            <a:ext cx="3566160" cy="1371600"/>
          </a:xfrm>
          <a:prstGeom prst="rect">
            <a:avLst/>
          </a:prstGeom>
          <a:noFill/>
          <a:ln/>
        </p:spPr>
        <p:txBody>
          <a:bodyPr wrap="square" lIns="0" tIns="0" rIns="0" bIns="0" rtlCol="0" anchor="t"/>
          <a:lstStyle/>
          <a:p>
            <a:pPr algn="l" indent="0" marL="0">
              <a:spcAft>
                <a:spcPts val="400"/>
              </a:spcAft>
              <a:buNone/>
            </a:pPr>
            <a:r>
              <a:rPr lang="en-US" sz="900" dirty="0">
                <a:solidFill>
                  <a:srgbClr val="F1F3F0"/>
                </a:solidFill>
                <a:latin typeface="Helvetica Neue" pitchFamily="34" charset="0"/>
                <a:ea typeface="Helvetica Neue" pitchFamily="34" charset="-122"/>
                <a:cs typeface="Helvetica Neue" pitchFamily="34" charset="-120"/>
              </a:rPr>
              <a:t>Field-proven since 2001; police, allied-military and agent relationships on four continents; a US entity established; a custody doctrine fixed-site incumbents cannot easily retrofit.</a:t>
            </a:r>
            <a:endParaRPr lang="en-US" sz="900" dirty="0"/>
          </a:p>
        </p:txBody>
      </p:sp>
      <p:sp>
        <p:nvSpPr>
          <p:cNvPr id="10" name="Text 7"/>
          <p:cNvSpPr txBox="1"/>
          <p:nvPr/>
        </p:nvSpPr>
        <p:spPr>
          <a:xfrm>
            <a:off x="8046720" y="1691640"/>
            <a:ext cx="3566160" cy="32004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Helvetica Neue" pitchFamily="34" charset="0"/>
                <a:ea typeface="Helvetica Neue" pitchFamily="34" charset="-122"/>
                <a:cs typeface="Helvetica Neue" pitchFamily="34" charset="-120"/>
              </a:rPr>
              <a:t>The platform</a:t>
            </a:r>
            <a:endParaRPr lang="en-US" sz="1200" dirty="0"/>
          </a:p>
        </p:txBody>
      </p:sp>
      <p:sp>
        <p:nvSpPr>
          <p:cNvPr id="11" name="Text 8"/>
          <p:cNvSpPr txBox="1"/>
          <p:nvPr/>
        </p:nvSpPr>
        <p:spPr>
          <a:xfrm>
            <a:off x="8046720" y="2039112"/>
            <a:ext cx="3566160" cy="1371600"/>
          </a:xfrm>
          <a:prstGeom prst="rect">
            <a:avLst/>
          </a:prstGeom>
          <a:noFill/>
          <a:ln/>
        </p:spPr>
        <p:txBody>
          <a:bodyPr wrap="square" lIns="0" tIns="0" rIns="0" bIns="0" rtlCol="0" anchor="t"/>
          <a:lstStyle/>
          <a:p>
            <a:pPr algn="l" indent="0" marL="0">
              <a:spcAft>
                <a:spcPts val="400"/>
              </a:spcAft>
              <a:buNone/>
            </a:pPr>
            <a:r>
              <a:rPr lang="en-US" sz="900" dirty="0">
                <a:solidFill>
                  <a:srgbClr val="F1F3F0"/>
                </a:solidFill>
                <a:latin typeface="Helvetica Neue" pitchFamily="34" charset="0"/>
                <a:ea typeface="Helvetica Neue" pitchFamily="34" charset="-122"/>
                <a:cs typeface="Helvetica Neue" pitchFamily="34" charset="-120"/>
              </a:rPr>
              <a:t>Acquire, partner and develop the scattered capability into one counterparty - six service lines, three phases, from foothold to the sovereign full-service offer.</a:t>
            </a:r>
            <a:endParaRPr lang="en-US" sz="900" dirty="0"/>
          </a:p>
        </p:txBody>
      </p:sp>
      <p:sp>
        <p:nvSpPr>
          <p:cNvPr id="12" name="Text 9"/>
          <p:cNvSpPr txBox="1"/>
          <p:nvPr/>
        </p:nvSpPr>
        <p:spPr>
          <a:xfrm>
            <a:off x="548640" y="3474720"/>
            <a:ext cx="3566160" cy="32004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Helvetica Neue" pitchFamily="34" charset="0"/>
                <a:ea typeface="Helvetica Neue" pitchFamily="34" charset="-122"/>
                <a:cs typeface="Helvetica Neue" pitchFamily="34" charset="-120"/>
              </a:rPr>
              <a:t>The plan</a:t>
            </a:r>
            <a:endParaRPr lang="en-US" sz="1200" dirty="0"/>
          </a:p>
        </p:txBody>
      </p:sp>
      <p:sp>
        <p:nvSpPr>
          <p:cNvPr id="13" name="Text 10"/>
          <p:cNvSpPr txBox="1"/>
          <p:nvPr/>
        </p:nvSpPr>
        <p:spPr>
          <a:xfrm>
            <a:off x="548640" y="3822192"/>
            <a:ext cx="3566160" cy="1371600"/>
          </a:xfrm>
          <a:prstGeom prst="rect">
            <a:avLst/>
          </a:prstGeom>
          <a:noFill/>
          <a:ln/>
        </p:spPr>
        <p:txBody>
          <a:bodyPr wrap="square" lIns="0" tIns="0" rIns="0" bIns="0" rtlCol="0" anchor="t"/>
          <a:lstStyle/>
          <a:p>
            <a:pPr algn="l" indent="0" marL="0">
              <a:spcAft>
                <a:spcPts val="400"/>
              </a:spcAft>
              <a:buNone/>
            </a:pPr>
            <a:r>
              <a:rPr lang="en-US" sz="900" dirty="0">
                <a:solidFill>
                  <a:srgbClr val="F1F3F0"/>
                </a:solidFill>
                <a:latin typeface="Helvetica Neue" pitchFamily="34" charset="0"/>
                <a:ea typeface="Helvetica Neue" pitchFamily="34" charset="-122"/>
                <a:cs typeface="Helvetica Neue" pitchFamily="34" charset="-120"/>
              </a:rPr>
              <a:t>Organic growth plus six capability acquisitions to $342M of revenue by Year 10 - the upside case; $49M of equity over the full plan, front-loaded into Phases 2–3, self-funding from 2032.</a:t>
            </a:r>
            <a:endParaRPr lang="en-US" sz="900" dirty="0"/>
          </a:p>
        </p:txBody>
      </p:sp>
      <p:sp>
        <p:nvSpPr>
          <p:cNvPr id="14" name="Text 11"/>
          <p:cNvSpPr txBox="1"/>
          <p:nvPr/>
        </p:nvSpPr>
        <p:spPr>
          <a:xfrm>
            <a:off x="4297680" y="3474720"/>
            <a:ext cx="3566160" cy="32004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Helvetica Neue" pitchFamily="34" charset="0"/>
                <a:ea typeface="Helvetica Neue" pitchFamily="34" charset="-122"/>
                <a:cs typeface="Helvetica Neue" pitchFamily="34" charset="-120"/>
              </a:rPr>
              <a:t>The returns</a:t>
            </a:r>
            <a:endParaRPr lang="en-US" sz="1200" dirty="0"/>
          </a:p>
        </p:txBody>
      </p:sp>
      <p:sp>
        <p:nvSpPr>
          <p:cNvPr id="15" name="Text 12"/>
          <p:cNvSpPr txBox="1"/>
          <p:nvPr/>
        </p:nvSpPr>
        <p:spPr>
          <a:xfrm>
            <a:off x="4297680" y="3822192"/>
            <a:ext cx="3566160" cy="1371600"/>
          </a:xfrm>
          <a:prstGeom prst="rect">
            <a:avLst/>
          </a:prstGeom>
          <a:noFill/>
          <a:ln/>
        </p:spPr>
        <p:txBody>
          <a:bodyPr wrap="square" lIns="0" tIns="0" rIns="0" bIns="0" rtlCol="0" anchor="t"/>
          <a:lstStyle/>
          <a:p>
            <a:pPr algn="l" indent="0" marL="0">
              <a:spcAft>
                <a:spcPts val="400"/>
              </a:spcAft>
              <a:buNone/>
            </a:pPr>
            <a:r>
              <a:rPr lang="en-US" sz="900" dirty="0">
                <a:solidFill>
                  <a:srgbClr val="F1F3F0"/>
                </a:solidFill>
                <a:latin typeface="Helvetica Neue" pitchFamily="34" charset="0"/>
                <a:ea typeface="Helvetica Neue" pitchFamily="34" charset="-122"/>
                <a:cs typeface="Helvetica Neue" pitchFamily="34" charset="-120"/>
              </a:rPr>
              <a:t>15.0x / 76% at a Year-7 exit on a 10x multiple in the base case - a sourced methodology applied on a matched horizon, without the mismatched discount window.</a:t>
            </a:r>
            <a:endParaRPr lang="en-US" sz="900" dirty="0"/>
          </a:p>
        </p:txBody>
      </p:sp>
      <p:sp>
        <p:nvSpPr>
          <p:cNvPr id="16" name="Text 13"/>
          <p:cNvSpPr txBox="1"/>
          <p:nvPr/>
        </p:nvSpPr>
        <p:spPr>
          <a:xfrm>
            <a:off x="8046720" y="3474720"/>
            <a:ext cx="3566160" cy="320040"/>
          </a:xfrm>
          <a:prstGeom prst="rect">
            <a:avLst/>
          </a:prstGeom>
          <a:noFill/>
          <a:ln/>
        </p:spPr>
        <p:txBody>
          <a:bodyPr wrap="square" lIns="0" tIns="0" rIns="0" bIns="0" rtlCol="0" anchor="t"/>
          <a:lstStyle/>
          <a:p>
            <a:pPr algn="l" indent="0" marL="0">
              <a:spcAft>
                <a:spcPts val="400"/>
              </a:spcAft>
              <a:buNone/>
            </a:pPr>
            <a:r>
              <a:rPr lang="en-US" sz="1200" b="1" dirty="0">
                <a:solidFill>
                  <a:srgbClr val="FFFFFF"/>
                </a:solidFill>
                <a:latin typeface="Helvetica Neue" pitchFamily="34" charset="0"/>
                <a:ea typeface="Helvetica Neue" pitchFamily="34" charset="-122"/>
                <a:cs typeface="Helvetica Neue" pitchFamily="34" charset="-120"/>
              </a:rPr>
              <a:t>The decision</a:t>
            </a:r>
            <a:endParaRPr lang="en-US" sz="1200" dirty="0"/>
          </a:p>
        </p:txBody>
      </p:sp>
      <p:sp>
        <p:nvSpPr>
          <p:cNvPr id="17" name="Text 14"/>
          <p:cNvSpPr txBox="1"/>
          <p:nvPr/>
        </p:nvSpPr>
        <p:spPr>
          <a:xfrm>
            <a:off x="8046720" y="3822192"/>
            <a:ext cx="3566160" cy="1371600"/>
          </a:xfrm>
          <a:prstGeom prst="rect">
            <a:avLst/>
          </a:prstGeom>
          <a:noFill/>
          <a:ln/>
        </p:spPr>
        <p:txBody>
          <a:bodyPr wrap="square" lIns="0" tIns="0" rIns="0" bIns="0" rtlCol="0" anchor="t"/>
          <a:lstStyle/>
          <a:p>
            <a:pPr algn="l" indent="0" marL="0">
              <a:spcAft>
                <a:spcPts val="400"/>
              </a:spcAft>
              <a:buNone/>
            </a:pPr>
            <a:r>
              <a:rPr lang="en-US" sz="900" dirty="0">
                <a:solidFill>
                  <a:srgbClr val="F1F3F0"/>
                </a:solidFill>
                <a:latin typeface="Helvetica Neue" pitchFamily="34" charset="0"/>
                <a:ea typeface="Helvetica Neue" pitchFamily="34" charset="-122"/>
                <a:cs typeface="Helvetica Neue" pitchFamily="34" charset="-120"/>
              </a:rPr>
              <a:t>A $10M initial raise, confirmed, that funds Phase 1 in full and reserves toward a first-acquisition LOI - the specific, near-term decision in front of an investor today.</a:t>
            </a:r>
            <a:endParaRPr lang="en-US" sz="900" dirty="0"/>
          </a:p>
        </p:txBody>
      </p:sp>
      <p:sp>
        <p:nvSpPr>
          <p:cNvPr id="18" name="Shape 15"/>
          <p:cNvSpPr/>
          <p:nvPr/>
        </p:nvSpPr>
        <p:spPr>
          <a:xfrm>
            <a:off x="548640" y="5257800"/>
            <a:ext cx="11094415" cy="914400"/>
          </a:xfrm>
          <a:prstGeom prst="rect">
            <a:avLst/>
          </a:prstGeom>
          <a:solidFill>
            <a:srgbClr val="000000"/>
          </a:solidFill>
          <a:ln w="6350">
            <a:solidFill>
              <a:srgbClr val="8A9585"/>
            </a:solidFill>
            <a:prstDash val="solid"/>
          </a:ln>
        </p:spPr>
      </p:sp>
      <p:sp>
        <p:nvSpPr>
          <p:cNvPr id="19" name="Text 16"/>
          <p:cNvSpPr txBox="1"/>
          <p:nvPr/>
        </p:nvSpPr>
        <p:spPr>
          <a:xfrm>
            <a:off x="749808" y="5376672"/>
            <a:ext cx="10972800" cy="320040"/>
          </a:xfrm>
          <a:prstGeom prst="rect">
            <a:avLst/>
          </a:prstGeom>
          <a:noFill/>
          <a:ln/>
        </p:spPr>
        <p:txBody>
          <a:bodyPr wrap="square" lIns="0" tIns="0" rIns="0" bIns="0" rtlCol="0" anchor="t"/>
          <a:lstStyle/>
          <a:p>
            <a:pPr algn="l" indent="0" marL="0">
              <a:spcAft>
                <a:spcPts val="400"/>
              </a:spcAft>
              <a:buNone/>
            </a:pPr>
            <a:r>
              <a:rPr lang="en-US" sz="1000" b="1" dirty="0">
                <a:solidFill>
                  <a:srgbClr val="FFFFFF"/>
                </a:solidFill>
                <a:latin typeface="Helvetica Neue" pitchFamily="34" charset="0"/>
                <a:ea typeface="Helvetica Neue" pitchFamily="34" charset="-122"/>
                <a:cs typeface="Helvetica Neue" pitchFamily="34" charset="-120"/>
              </a:rPr>
              <a:t>The round: $10M initial raise · funds Phase 1 + first-acquisition diligence/LOI · milestones set the Round-2 trigger · structure and close timing to be finalized with the lead investor.</a:t>
            </a:r>
            <a:endParaRPr lang="en-US" sz="1000" dirty="0"/>
          </a:p>
        </p:txBody>
      </p:sp>
      <p:sp>
        <p:nvSpPr>
          <p:cNvPr id="20" name="Text 17"/>
          <p:cNvSpPr txBox="1"/>
          <p:nvPr/>
        </p:nvSpPr>
        <p:spPr>
          <a:xfrm>
            <a:off x="749808" y="5687568"/>
            <a:ext cx="10972800" cy="384048"/>
          </a:xfrm>
          <a:prstGeom prst="rect">
            <a:avLst/>
          </a:prstGeom>
          <a:noFill/>
          <a:ln/>
        </p:spPr>
        <p:txBody>
          <a:bodyPr wrap="square" lIns="0" tIns="0" rIns="0" bIns="0" rtlCol="0" anchor="t"/>
          <a:lstStyle/>
          <a:p>
            <a:pPr algn="l" indent="0" marL="0">
              <a:spcAft>
                <a:spcPts val="400"/>
              </a:spcAft>
              <a:buNone/>
            </a:pPr>
            <a:r>
              <a:rPr lang="en-US" sz="900" dirty="0">
                <a:solidFill>
                  <a:srgbClr val="F1F3F0"/>
                </a:solidFill>
                <a:latin typeface="Helvetica Neue" pitchFamily="34" charset="0"/>
                <a:ea typeface="Helvetica Neue" pitchFamily="34" charset="-122"/>
                <a:cs typeface="Helvetica Neue" pitchFamily="34" charset="-120"/>
              </a:rPr>
              <a:t>The decision in front of you: back the operating foundation and the near-term milestone plan now, at the initial-raise size - the ten-year platform is what that decision compounds into.</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27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VALUATION FRAMEWORK - HELD IN RESERVE</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How we value the platform - and how we don't</a:t>
            </a:r>
            <a:endParaRPr lang="en-US" sz="2200" dirty="0"/>
          </a:p>
        </p:txBody>
      </p:sp>
      <p:sp>
        <p:nvSpPr>
          <p:cNvPr id="6" name="Text 3"/>
          <p:cNvSpPr txBox="1"/>
          <p:nvPr/>
        </p:nvSpPr>
        <p:spPr>
          <a:xfrm>
            <a:off x="548640" y="1536192"/>
            <a:ext cx="10607040" cy="548640"/>
          </a:xfrm>
          <a:prstGeom prst="rect">
            <a:avLst/>
          </a:prstGeom>
          <a:noFill/>
          <a:ln/>
        </p:spPr>
        <p:txBody>
          <a:bodyPr wrap="square" lIns="0" tIns="0" rIns="0" bIns="0" rtlCol="0" anchor="t"/>
          <a:lstStyle/>
          <a:p>
            <a:pPr indent="0" marL="0">
              <a:buNone/>
            </a:pPr>
            <a:r>
              <a:rPr lang="en-US" sz="1100" dirty="0">
                <a:solidFill>
                  <a:srgbClr val="33332F"/>
                </a:solidFill>
                <a:latin typeface="Helvetica Neue" pitchFamily="34" charset="0"/>
                <a:ea typeface="Helvetica Neue" pitchFamily="34" charset="-122"/>
                <a:cs typeface="Helvetica Neue" pitchFamily="34" charset="-120"/>
              </a:rPr>
              <a:t>A returns case first, a comp-anchored future value as a cross-check. The August method is retained, corrected: real multiples, a venture-grade discount rate, and a window matched to the horizon.</a:t>
            </a:r>
            <a:endParaRPr lang="en-US" sz="1100" dirty="0"/>
          </a:p>
        </p:txBody>
      </p:sp>
      <p:sp>
        <p:nvSpPr>
          <p:cNvPr id="7" name="Text 4"/>
          <p:cNvSpPr txBox="1"/>
          <p:nvPr/>
        </p:nvSpPr>
        <p:spPr>
          <a:xfrm>
            <a:off x="548640" y="2148840"/>
            <a:ext cx="914400" cy="640080"/>
          </a:xfrm>
          <a:prstGeom prst="rect">
            <a:avLst/>
          </a:prstGeom>
          <a:noFill/>
          <a:ln/>
        </p:spPr>
        <p:txBody>
          <a:bodyPr wrap="square" lIns="0" tIns="0" rIns="0" bIns="0" rtlCol="0" anchor="ctr"/>
          <a:lstStyle/>
          <a:p>
            <a:pPr indent="0" marL="0">
              <a:buNone/>
            </a:pPr>
            <a:r>
              <a:rPr lang="en-US" sz="3600" dirty="0">
                <a:solidFill>
                  <a:srgbClr val="788274"/>
                </a:solidFill>
                <a:latin typeface="Helvetica Neue" pitchFamily="34" charset="0"/>
                <a:ea typeface="Helvetica Neue" pitchFamily="34" charset="-122"/>
                <a:cs typeface="Helvetica Neue" pitchFamily="34" charset="-120"/>
              </a:rPr>
              <a:t>1</a:t>
            </a:r>
            <a:endParaRPr lang="en-US" sz="3600" dirty="0"/>
          </a:p>
        </p:txBody>
      </p:sp>
      <p:sp>
        <p:nvSpPr>
          <p:cNvPr id="8" name="Text 5"/>
          <p:cNvSpPr txBox="1"/>
          <p:nvPr/>
        </p:nvSpPr>
        <p:spPr>
          <a:xfrm>
            <a:off x="548640" y="2834640"/>
            <a:ext cx="21031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Build a comp universe</a:t>
            </a:r>
            <a:endParaRPr lang="en-US" sz="1100" dirty="0"/>
          </a:p>
        </p:txBody>
      </p:sp>
      <p:sp>
        <p:nvSpPr>
          <p:cNvPr id="9" name="Text 6"/>
          <p:cNvSpPr txBox="1"/>
          <p:nvPr/>
        </p:nvSpPr>
        <p:spPr>
          <a:xfrm>
            <a:off x="548640" y="3291840"/>
            <a:ext cx="2103120" cy="173736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Named public companies and disclosed transactions in defence services, EOD and secure destruction - plus the founder-scale private market where the acquisitions are actually priced.</a:t>
            </a:r>
            <a:endParaRPr lang="en-US" sz="850" dirty="0"/>
          </a:p>
        </p:txBody>
      </p:sp>
      <p:sp>
        <p:nvSpPr>
          <p:cNvPr id="10" name="Text 7"/>
          <p:cNvSpPr txBox="1"/>
          <p:nvPr/>
        </p:nvSpPr>
        <p:spPr>
          <a:xfrm>
            <a:off x="2798064" y="2148840"/>
            <a:ext cx="914400" cy="640080"/>
          </a:xfrm>
          <a:prstGeom prst="rect">
            <a:avLst/>
          </a:prstGeom>
          <a:noFill/>
          <a:ln/>
        </p:spPr>
        <p:txBody>
          <a:bodyPr wrap="square" lIns="0" tIns="0" rIns="0" bIns="0" rtlCol="0" anchor="ctr"/>
          <a:lstStyle/>
          <a:p>
            <a:pPr indent="0" marL="0">
              <a:buNone/>
            </a:pPr>
            <a:r>
              <a:rPr lang="en-US" sz="3600" dirty="0">
                <a:solidFill>
                  <a:srgbClr val="788274"/>
                </a:solidFill>
                <a:latin typeface="Helvetica Neue" pitchFamily="34" charset="0"/>
                <a:ea typeface="Helvetica Neue" pitchFamily="34" charset="-122"/>
                <a:cs typeface="Helvetica Neue" pitchFamily="34" charset="-120"/>
              </a:rPr>
              <a:t>2</a:t>
            </a:r>
            <a:endParaRPr lang="en-US" sz="3600" dirty="0"/>
          </a:p>
        </p:txBody>
      </p:sp>
      <p:sp>
        <p:nvSpPr>
          <p:cNvPr id="11" name="Text 8"/>
          <p:cNvSpPr txBox="1"/>
          <p:nvPr/>
        </p:nvSpPr>
        <p:spPr>
          <a:xfrm>
            <a:off x="2798064" y="2834640"/>
            <a:ext cx="21031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Take the multiples</a:t>
            </a:r>
            <a:endParaRPr lang="en-US" sz="1100" dirty="0"/>
          </a:p>
        </p:txBody>
      </p:sp>
      <p:sp>
        <p:nvSpPr>
          <p:cNvPr id="12" name="Text 9"/>
          <p:cNvSpPr txBox="1"/>
          <p:nvPr/>
        </p:nvSpPr>
        <p:spPr>
          <a:xfrm>
            <a:off x="2798064" y="3291840"/>
            <a:ext cx="2103120" cy="173736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Public A&amp;D government services ~11.2x EV/EBITDA (KPMG, end-2025); Cadre trades 15.3x; private A&amp;D deals 19.0x median (PCE) as an upper reference; lower-middle-market private 5.5–6.4x ³⁴ ³⁵.</a:t>
            </a:r>
            <a:endParaRPr lang="en-US" sz="850" dirty="0"/>
          </a:p>
        </p:txBody>
      </p:sp>
      <p:sp>
        <p:nvSpPr>
          <p:cNvPr id="13" name="Text 10"/>
          <p:cNvSpPr txBox="1"/>
          <p:nvPr/>
        </p:nvSpPr>
        <p:spPr>
          <a:xfrm>
            <a:off x="5047488" y="2148840"/>
            <a:ext cx="914400" cy="640080"/>
          </a:xfrm>
          <a:prstGeom prst="rect">
            <a:avLst/>
          </a:prstGeom>
          <a:noFill/>
          <a:ln/>
        </p:spPr>
        <p:txBody>
          <a:bodyPr wrap="square" lIns="0" tIns="0" rIns="0" bIns="0" rtlCol="0" anchor="ctr"/>
          <a:lstStyle/>
          <a:p>
            <a:pPr indent="0" marL="0">
              <a:buNone/>
            </a:pPr>
            <a:r>
              <a:rPr lang="en-US" sz="3600" dirty="0">
                <a:solidFill>
                  <a:srgbClr val="788274"/>
                </a:solidFill>
                <a:latin typeface="Helvetica Neue" pitchFamily="34" charset="0"/>
                <a:ea typeface="Helvetica Neue" pitchFamily="34" charset="-122"/>
                <a:cs typeface="Helvetica Neue" pitchFamily="34" charset="-120"/>
              </a:rPr>
              <a:t>3</a:t>
            </a:r>
            <a:endParaRPr lang="en-US" sz="3600" dirty="0"/>
          </a:p>
        </p:txBody>
      </p:sp>
      <p:sp>
        <p:nvSpPr>
          <p:cNvPr id="14" name="Text 11"/>
          <p:cNvSpPr txBox="1"/>
          <p:nvPr/>
        </p:nvSpPr>
        <p:spPr>
          <a:xfrm>
            <a:off x="5047488" y="2834640"/>
            <a:ext cx="21031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Run the returns case</a:t>
            </a:r>
            <a:endParaRPr lang="en-US" sz="1100" dirty="0"/>
          </a:p>
        </p:txBody>
      </p:sp>
      <p:sp>
        <p:nvSpPr>
          <p:cNvPr id="15" name="Text 12"/>
          <p:cNvSpPr txBox="1"/>
          <p:nvPr/>
        </p:nvSpPr>
        <p:spPr>
          <a:xfrm>
            <a:off x="5047488" y="3291840"/>
            <a:ext cx="2103120" cy="173736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Exit at Year 5 or Year 7 at 10x adjusted EBITDA (base). Equity funded per the capital plan, no leverage. MOIC and IRR against the capital actually drawn.</a:t>
            </a:r>
            <a:endParaRPr lang="en-US" sz="850" dirty="0"/>
          </a:p>
        </p:txBody>
      </p:sp>
      <p:sp>
        <p:nvSpPr>
          <p:cNvPr id="16" name="Text 13"/>
          <p:cNvSpPr txBox="1"/>
          <p:nvPr/>
        </p:nvSpPr>
        <p:spPr>
          <a:xfrm>
            <a:off x="7296912" y="2148840"/>
            <a:ext cx="914400" cy="640080"/>
          </a:xfrm>
          <a:prstGeom prst="rect">
            <a:avLst/>
          </a:prstGeom>
          <a:noFill/>
          <a:ln/>
        </p:spPr>
        <p:txBody>
          <a:bodyPr wrap="square" lIns="0" tIns="0" rIns="0" bIns="0" rtlCol="0" anchor="ctr"/>
          <a:lstStyle/>
          <a:p>
            <a:pPr indent="0" marL="0">
              <a:buNone/>
            </a:pPr>
            <a:r>
              <a:rPr lang="en-US" sz="3600" dirty="0">
                <a:solidFill>
                  <a:srgbClr val="788274"/>
                </a:solidFill>
                <a:latin typeface="Helvetica Neue" pitchFamily="34" charset="0"/>
                <a:ea typeface="Helvetica Neue" pitchFamily="34" charset="-122"/>
                <a:cs typeface="Helvetica Neue" pitchFamily="34" charset="-120"/>
              </a:rPr>
              <a:t>4</a:t>
            </a:r>
            <a:endParaRPr lang="en-US" sz="3600" dirty="0"/>
          </a:p>
        </p:txBody>
      </p:sp>
      <p:sp>
        <p:nvSpPr>
          <p:cNvPr id="17" name="Text 14"/>
          <p:cNvSpPr txBox="1"/>
          <p:nvPr/>
        </p:nvSpPr>
        <p:spPr>
          <a:xfrm>
            <a:off x="7296912" y="2834640"/>
            <a:ext cx="21031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Cross-check the future value</a:t>
            </a:r>
            <a:endParaRPr lang="en-US" sz="1100" dirty="0"/>
          </a:p>
        </p:txBody>
      </p:sp>
      <p:sp>
        <p:nvSpPr>
          <p:cNvPr id="18" name="Text 15"/>
          <p:cNvSpPr txBox="1"/>
          <p:nvPr/>
        </p:nvSpPr>
        <p:spPr>
          <a:xfrm>
            <a:off x="7296912" y="3291840"/>
            <a:ext cx="2103120" cy="173736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Year-10 EBITDA from the operating model - not a hard-coded 20% margin - times the comp range, discounted ten periods at 25%.</a:t>
            </a:r>
            <a:endParaRPr lang="en-US" sz="850" dirty="0"/>
          </a:p>
        </p:txBody>
      </p:sp>
      <p:sp>
        <p:nvSpPr>
          <p:cNvPr id="19" name="Text 16"/>
          <p:cNvSpPr txBox="1"/>
          <p:nvPr/>
        </p:nvSpPr>
        <p:spPr>
          <a:xfrm>
            <a:off x="9546336" y="2148840"/>
            <a:ext cx="914400" cy="640080"/>
          </a:xfrm>
          <a:prstGeom prst="rect">
            <a:avLst/>
          </a:prstGeom>
          <a:noFill/>
          <a:ln/>
        </p:spPr>
        <p:txBody>
          <a:bodyPr wrap="square" lIns="0" tIns="0" rIns="0" bIns="0" rtlCol="0" anchor="ctr"/>
          <a:lstStyle/>
          <a:p>
            <a:pPr indent="0" marL="0">
              <a:buNone/>
            </a:pPr>
            <a:r>
              <a:rPr lang="en-US" sz="3600" dirty="0">
                <a:solidFill>
                  <a:srgbClr val="788274"/>
                </a:solidFill>
                <a:latin typeface="Helvetica Neue" pitchFamily="34" charset="0"/>
                <a:ea typeface="Helvetica Neue" pitchFamily="34" charset="-122"/>
                <a:cs typeface="Helvetica Neue" pitchFamily="34" charset="-120"/>
              </a:rPr>
              <a:t>5</a:t>
            </a:r>
            <a:endParaRPr lang="en-US" sz="3600" dirty="0"/>
          </a:p>
        </p:txBody>
      </p:sp>
      <p:sp>
        <p:nvSpPr>
          <p:cNvPr id="20" name="Text 17"/>
          <p:cNvSpPr txBox="1"/>
          <p:nvPr/>
        </p:nvSpPr>
        <p:spPr>
          <a:xfrm>
            <a:off x="9546336" y="2834640"/>
            <a:ext cx="2103120" cy="457200"/>
          </a:xfrm>
          <a:prstGeom prst="rect">
            <a:avLst/>
          </a:prstGeom>
          <a:noFill/>
          <a:ln/>
        </p:spPr>
        <p:txBody>
          <a:bodyPr wrap="square" lIns="0" tIns="0" rIns="0" bIns="0" rtlCol="0" anchor="t"/>
          <a:lstStyle/>
          <a:p>
            <a:pPr algn="l" indent="0" marL="0">
              <a:spcAft>
                <a:spcPts val="400"/>
              </a:spcAft>
              <a:buNone/>
            </a:pPr>
            <a:r>
              <a:rPr lang="en-US" sz="1100" b="1" dirty="0">
                <a:solidFill>
                  <a:srgbClr val="000000"/>
                </a:solidFill>
                <a:latin typeface="Helvetica Neue" pitchFamily="34" charset="0"/>
                <a:ea typeface="Helvetica Neue" pitchFamily="34" charset="-122"/>
                <a:cs typeface="Helvetica Neue" pitchFamily="34" charset="-120"/>
              </a:rPr>
              <a:t>Use as the reference point</a:t>
            </a:r>
            <a:endParaRPr lang="en-US" sz="1100" dirty="0"/>
          </a:p>
        </p:txBody>
      </p:sp>
      <p:sp>
        <p:nvSpPr>
          <p:cNvPr id="21" name="Text 18"/>
          <p:cNvSpPr txBox="1"/>
          <p:nvPr/>
        </p:nvSpPr>
        <p:spPr>
          <a:xfrm>
            <a:off x="9546336" y="3291840"/>
            <a:ext cx="2103120" cy="1737360"/>
          </a:xfrm>
          <a:prstGeom prst="rect">
            <a:avLst/>
          </a:prstGeom>
          <a:noFill/>
          <a:ln/>
        </p:spPr>
        <p:txBody>
          <a:bodyPr wrap="square" lIns="0" tIns="0" rIns="0" bIns="0" rtlCol="0" anchor="t"/>
          <a:lstStyle/>
          <a:p>
            <a:pPr algn="l" indent="0" marL="0">
              <a:spcAft>
                <a:spcPts val="400"/>
              </a:spcAft>
              <a:buNone/>
            </a:pPr>
            <a:r>
              <a:rPr lang="en-US" sz="850" dirty="0">
                <a:solidFill>
                  <a:srgbClr val="33332F"/>
                </a:solidFill>
                <a:latin typeface="Helvetica Neue" pitchFamily="34" charset="0"/>
                <a:ea typeface="Helvetica Neue" pitchFamily="34" charset="-122"/>
                <a:cs typeface="Helvetica Neue" pitchFamily="34" charset="-120"/>
              </a:rPr>
              <a:t>The returns case sets the conversation; the discounted future value is the floor test. Neither is a deal price.</a:t>
            </a:r>
            <a:endParaRPr lang="en-US" sz="850" dirty="0"/>
          </a:p>
        </p:txBody>
      </p:sp>
      <p:sp>
        <p:nvSpPr>
          <p:cNvPr id="22" name="Shape 19"/>
          <p:cNvSpPr/>
          <p:nvPr/>
        </p:nvSpPr>
        <p:spPr>
          <a:xfrm>
            <a:off x="548640" y="5120640"/>
            <a:ext cx="11094415" cy="960120"/>
          </a:xfrm>
          <a:prstGeom prst="rect">
            <a:avLst/>
          </a:prstGeom>
          <a:solidFill>
            <a:srgbClr val="F1F3F0"/>
          </a:solidFill>
          <a:ln w="12700">
            <a:solidFill>
              <a:srgbClr val="F1F3F0"/>
            </a:solidFill>
            <a:prstDash val="solid"/>
          </a:ln>
        </p:spPr>
      </p:sp>
      <p:sp>
        <p:nvSpPr>
          <p:cNvPr id="23" name="Text 20"/>
          <p:cNvSpPr txBox="1"/>
          <p:nvPr/>
        </p:nvSpPr>
        <p:spPr>
          <a:xfrm>
            <a:off x="777240" y="5212080"/>
            <a:ext cx="10972800" cy="822960"/>
          </a:xfrm>
          <a:prstGeom prst="rect">
            <a:avLst/>
          </a:prstGeom>
          <a:noFill/>
          <a:ln/>
        </p:spPr>
        <p:txBody>
          <a:bodyPr wrap="square" lIns="0" tIns="0" rIns="0" bIns="0" rtlCol="0" anchor="t"/>
          <a:lstStyle/>
          <a:p>
            <a:pPr algn="l" indent="0" marL="0">
              <a:spcAft>
                <a:spcPts val="400"/>
              </a:spcAft>
              <a:buNone/>
            </a:pPr>
            <a:r>
              <a:rPr lang="en-US" sz="900" dirty="0">
                <a:solidFill>
                  <a:srgbClr val="33332F"/>
                </a:solidFill>
                <a:latin typeface="Helvetica Neue" pitchFamily="34" charset="0"/>
                <a:ea typeface="Helvetica Neue" pitchFamily="34" charset="-122"/>
                <a:cs typeface="Helvetica Neue" pitchFamily="34" charset="-120"/>
              </a:rPr>
              <a:t>Why the discount window matches the horizon: discounting a Year-10 estimate back fewer periods than the years actually projected mechanically inflates the implied value. At a venture-grade 25% over ten periods the cross-check is deliberately hard - which is why the returns case at a Year-7 exit, not the ten-year bridge, is the lens that fits a platform built by acquisition.</a:t>
            </a:r>
            <a:endParaRPr lang="en-US" sz="900" dirty="0"/>
          </a:p>
        </p:txBody>
      </p:sp>
      <p:sp>
        <p:nvSpPr>
          <p:cNvPr id="24" name="Text 21"/>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³⁵ KPMG Government Technology Solutions H2 2025; PCE Aerospace, Defense &amp; Government M&amp;A update Q2 2026; stockanalysis.com (Cadre, 31 Aug 2026).</a:t>
            </a:r>
            <a:endParaRPr lang="en-US" sz="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5486400" cy="228600"/>
          </a:xfrm>
          <a:prstGeom prst="rect">
            <a:avLst/>
          </a:prstGeom>
          <a:noFill/>
          <a:ln/>
        </p:spPr>
        <p:txBody>
          <a:bodyPr wrap="square" lIns="0" tIns="0" rIns="0" bIns="0" rtlCol="0" anchor="ctr"/>
          <a:lstStyle/>
          <a:p>
            <a:pPr indent="0" marL="0">
              <a:buNone/>
            </a:pPr>
            <a:r>
              <a:rPr lang="en-US" sz="700" spc="200" kern="0" dirty="0">
                <a:solidFill>
                  <a:srgbClr val="6E6C66"/>
                </a:solidFill>
                <a:latin typeface="IBM Plex Mono" pitchFamily="34" charset="0"/>
                <a:ea typeface="IBM Plex Mono" pitchFamily="34" charset="-122"/>
                <a:cs typeface="IBM Plex Mono" pitchFamily="34" charset="-120"/>
              </a:rPr>
              <a:t>28  ·  TWB DESIGNS - CONFIDENTIAL</a:t>
            </a:r>
            <a:endParaRPr lang="en-US" sz="700" dirty="0"/>
          </a:p>
        </p:txBody>
      </p:sp>
      <p:pic>
        <p:nvPicPr>
          <p:cNvPr id="3" name="Image 0" descr="preencoded.png">    </p:cNvPr>
          <p:cNvPicPr>
            <a:picLocks noChangeAspect="1"/>
          </p:cNvPicPr>
          <p:nvPr/>
        </p:nvPicPr>
        <p:blipFill>
          <a:blip r:embed="rId1"/>
          <a:stretch>
            <a:fillRect/>
          </a:stretch>
        </p:blipFill>
        <p:spPr>
          <a:xfrm>
            <a:off x="10957255" y="6428232"/>
            <a:ext cx="658368" cy="101498"/>
          </a:xfrm>
          <a:prstGeom prst="rect">
            <a:avLst/>
          </a:prstGeom>
        </p:spPr>
      </p:pic>
      <p:sp>
        <p:nvSpPr>
          <p:cNvPr id="4" name="Text 1"/>
          <p:cNvSpPr txBox="1"/>
          <p:nvPr/>
        </p:nvSpPr>
        <p:spPr>
          <a:xfrm>
            <a:off x="548640" y="411480"/>
            <a:ext cx="8229600" cy="228600"/>
          </a:xfrm>
          <a:prstGeom prst="rect">
            <a:avLst/>
          </a:prstGeom>
          <a:noFill/>
          <a:ln/>
        </p:spPr>
        <p:txBody>
          <a:bodyPr wrap="square" lIns="0" tIns="0" rIns="0" bIns="0" rtlCol="0" anchor="ctr"/>
          <a:lstStyle/>
          <a:p>
            <a:pPr indent="0" marL="0">
              <a:buNone/>
            </a:pPr>
            <a:r>
              <a:rPr lang="en-US" sz="800" spc="200" kern="0" dirty="0">
                <a:solidFill>
                  <a:srgbClr val="66705F"/>
                </a:solidFill>
                <a:latin typeface="IBM Plex Mono" pitchFamily="34" charset="0"/>
                <a:ea typeface="IBM Plex Mono" pitchFamily="34" charset="-122"/>
                <a:cs typeface="IBM Plex Mono" pitchFamily="34" charset="-120"/>
              </a:rPr>
              <a:t>REFERENCES</a:t>
            </a:r>
            <a:endParaRPr lang="en-US" sz="800" dirty="0"/>
          </a:p>
        </p:txBody>
      </p:sp>
      <p:sp>
        <p:nvSpPr>
          <p:cNvPr id="5" name="Text 2"/>
          <p:cNvSpPr txBox="1"/>
          <p:nvPr/>
        </p:nvSpPr>
        <p:spPr>
          <a:xfrm>
            <a:off x="548640" y="685800"/>
            <a:ext cx="10515600" cy="868680"/>
          </a:xfrm>
          <a:prstGeom prst="rect">
            <a:avLst/>
          </a:prstGeom>
          <a:noFill/>
          <a:ln/>
        </p:spPr>
        <p:txBody>
          <a:bodyPr wrap="square" lIns="0" tIns="0" rIns="0" bIns="0" rtlCol="0" anchor="t"/>
          <a:lstStyle/>
          <a:p>
            <a:pPr indent="0" marL="0">
              <a:buNone/>
            </a:pPr>
            <a:r>
              <a:rPr lang="en-US" sz="2200" spc="-42" kern="0" dirty="0">
                <a:solidFill>
                  <a:srgbClr val="000000"/>
                </a:solidFill>
                <a:latin typeface="Helvetica Neue" pitchFamily="34" charset="0"/>
                <a:ea typeface="Helvetica Neue" pitchFamily="34" charset="-122"/>
                <a:cs typeface="Helvetica Neue" pitchFamily="34" charset="-120"/>
              </a:rPr>
              <a:t>Every number on the page, traceable.</a:t>
            </a:r>
            <a:endParaRPr lang="en-US" sz="2200" dirty="0"/>
          </a:p>
        </p:txBody>
      </p:sp>
      <p:sp>
        <p:nvSpPr>
          <p:cNvPr id="6" name="Text 3"/>
          <p:cNvSpPr txBox="1"/>
          <p:nvPr/>
        </p:nvSpPr>
        <p:spPr>
          <a:xfrm>
            <a:off x="548640" y="1371600"/>
            <a:ext cx="10789920" cy="548640"/>
          </a:xfrm>
          <a:prstGeom prst="rect">
            <a:avLst/>
          </a:prstGeom>
          <a:noFill/>
          <a:ln/>
        </p:spPr>
        <p:txBody>
          <a:bodyPr wrap="square" lIns="0" tIns="0" rIns="0" bIns="0" rtlCol="0" anchor="t"/>
          <a:lstStyle/>
          <a:p>
            <a:pPr indent="0" marL="0">
              <a:buNone/>
            </a:pPr>
            <a:r>
              <a:rPr lang="en-US" sz="850" dirty="0">
                <a:solidFill>
                  <a:srgbClr val="33332F"/>
                </a:solidFill>
                <a:latin typeface="Helvetica Neue" pitchFamily="34" charset="0"/>
                <a:ea typeface="Helvetica Neue" pitchFamily="34" charset="-122"/>
                <a:cs typeface="Helvetica Neue" pitchFamily="34" charset="-120"/>
              </a:rPr>
              <a:t>Superscripts throughout the deck map to this list. Where a figure is our construction, a company figure or a projection, it is labelled as such on the slide it appears. Links are live; full citation detail is in the supporting memo and fact-check log.</a:t>
            </a:r>
            <a:endParaRPr lang="en-US" sz="850" dirty="0"/>
          </a:p>
        </p:txBody>
      </p:sp>
      <p:sp>
        <p:nvSpPr>
          <p:cNvPr id="7" name="Text 4"/>
          <p:cNvSpPr txBox="1"/>
          <p:nvPr/>
        </p:nvSpPr>
        <p:spPr>
          <a:xfrm>
            <a:off x="548640" y="1847088"/>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a:t>
            </a:r>
            <a:endParaRPr lang="en-US" sz="800" dirty="0"/>
          </a:p>
        </p:txBody>
      </p:sp>
      <p:sp>
        <p:nvSpPr>
          <p:cNvPr id="8" name="Text 5">
            <a:hlinkClick r:id="rId2" tooltip=""/>
          </p:cNvPr>
          <p:cNvSpPr txBox="1"/>
          <p:nvPr/>
        </p:nvSpPr>
        <p:spPr>
          <a:xfrm>
            <a:off x="822960" y="1856232"/>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 invalidUrl="" action="" tgtFrame="" tooltip="" history="1" highlightClick="0" endSnd="0">
                  <a:extLst>
                    <a:ext uri="{A12FA001-AC4F-418D-AE19-62706E023703}">
                      <ahyp:hlinkClr xmlns:ahyp="http://schemas.microsoft.com/office/drawing/2018/hyperlinkcolor" val="tx"/>
                    </a:ext>
                  </a:extLst>
                </a:hlinkClick>
              </a:rPr>
              <a:t>OFFICER.COM  ↗</a:t>
            </a:r>
            <a:endParaRPr lang="en-US" sz="530" dirty="0"/>
          </a:p>
        </p:txBody>
      </p:sp>
      <p:sp>
        <p:nvSpPr>
          <p:cNvPr id="9" name="Text 6"/>
          <p:cNvSpPr txBox="1"/>
          <p:nvPr/>
        </p:nvSpPr>
        <p:spPr>
          <a:xfrm>
            <a:off x="822960" y="2011680"/>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TWB Designs Inc. eMACS Ammo Burner - product listing…</a:t>
            </a:r>
            <a:endParaRPr lang="en-US" sz="570" dirty="0"/>
          </a:p>
        </p:txBody>
      </p:sp>
      <p:sp>
        <p:nvSpPr>
          <p:cNvPr id="10" name="Text 7"/>
          <p:cNvSpPr txBox="1"/>
          <p:nvPr/>
        </p:nvSpPr>
        <p:spPr>
          <a:xfrm>
            <a:off x="548640" y="2249424"/>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a:t>
            </a:r>
            <a:endParaRPr lang="en-US" sz="800" dirty="0"/>
          </a:p>
        </p:txBody>
      </p:sp>
      <p:sp>
        <p:nvSpPr>
          <p:cNvPr id="11" name="Text 8">
            <a:hlinkClick r:id="rId3" tooltip=""/>
          </p:cNvPr>
          <p:cNvSpPr txBox="1"/>
          <p:nvPr/>
        </p:nvSpPr>
        <p:spPr>
          <a:xfrm>
            <a:off x="822960" y="2258568"/>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 invalidUrl="" action="" tgtFrame="" tooltip="" history="1" highlightClick="0" endSnd="0">
                  <a:extLst>
                    <a:ext uri="{A12FA001-AC4F-418D-AE19-62706E023703}">
                      <ahyp:hlinkClr xmlns:ahyp="http://schemas.microsoft.com/office/drawing/2018/hyperlinkcolor" val="tx"/>
                    </a:ext>
                  </a:extLst>
                </a:hlinkClick>
              </a:rPr>
              <a:t>DFARS  ↗</a:t>
            </a:r>
            <a:endParaRPr lang="en-US" sz="530" dirty="0"/>
          </a:p>
        </p:txBody>
      </p:sp>
      <p:sp>
        <p:nvSpPr>
          <p:cNvPr id="12" name="Text 9"/>
          <p:cNvSpPr txBox="1"/>
          <p:nvPr/>
        </p:nvSpPr>
        <p:spPr>
          <a:xfrm>
            <a:off x="822960" y="2414016"/>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225.872-1 - Canada listed as a qualifying country; Bu…</a:t>
            </a:r>
            <a:endParaRPr lang="en-US" sz="570" dirty="0"/>
          </a:p>
        </p:txBody>
      </p:sp>
      <p:sp>
        <p:nvSpPr>
          <p:cNvPr id="13" name="Text 10"/>
          <p:cNvSpPr txBox="1"/>
          <p:nvPr/>
        </p:nvSpPr>
        <p:spPr>
          <a:xfrm>
            <a:off x="548640" y="2651760"/>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a:t>
            </a:r>
            <a:endParaRPr lang="en-US" sz="800" dirty="0"/>
          </a:p>
        </p:txBody>
      </p:sp>
      <p:sp>
        <p:nvSpPr>
          <p:cNvPr id="14" name="Text 11">
            <a:hlinkClick r:id="rId4" tooltip=""/>
          </p:cNvPr>
          <p:cNvSpPr txBox="1"/>
          <p:nvPr/>
        </p:nvSpPr>
        <p:spPr>
          <a:xfrm>
            <a:off x="822960" y="2660904"/>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4" invalidUrl="" action="" tgtFrame="" tooltip="" history="1" highlightClick="0" endSnd="0">
                  <a:extLst>
                    <a:ext uri="{A12FA001-AC4F-418D-AE19-62706E023703}">
                      <ahyp:hlinkClr xmlns:ahyp="http://schemas.microsoft.com/office/drawing/2018/hyperlinkcolor" val="tx"/>
                    </a:ext>
                  </a:extLst>
                </a:hlinkClick>
              </a:rPr>
              <a:t>ECFR  ↗</a:t>
            </a:r>
            <a:endParaRPr lang="en-US" sz="530" dirty="0"/>
          </a:p>
        </p:txBody>
      </p:sp>
      <p:sp>
        <p:nvSpPr>
          <p:cNvPr id="15" name="Text 12"/>
          <p:cNvSpPr txBox="1"/>
          <p:nvPr/>
        </p:nvSpPr>
        <p:spPr>
          <a:xfrm>
            <a:off x="822960" y="2816352"/>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40 CFR 260.10 - definition of open burning.</a:t>
            </a:r>
            <a:endParaRPr lang="en-US" sz="570" dirty="0"/>
          </a:p>
        </p:txBody>
      </p:sp>
      <p:sp>
        <p:nvSpPr>
          <p:cNvPr id="16" name="Text 13"/>
          <p:cNvSpPr txBox="1"/>
          <p:nvPr/>
        </p:nvSpPr>
        <p:spPr>
          <a:xfrm>
            <a:off x="548640" y="3054096"/>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4</a:t>
            </a:r>
            <a:endParaRPr lang="en-US" sz="800" dirty="0"/>
          </a:p>
        </p:txBody>
      </p:sp>
      <p:sp>
        <p:nvSpPr>
          <p:cNvPr id="17" name="Text 14">
            <a:hlinkClick r:id="rId5" tooltip=""/>
          </p:cNvPr>
          <p:cNvSpPr txBox="1"/>
          <p:nvPr/>
        </p:nvSpPr>
        <p:spPr>
          <a:xfrm>
            <a:off x="822960" y="3063240"/>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5" invalidUrl="" action="" tgtFrame="" tooltip="" history="1" highlightClick="0" endSnd="0">
                  <a:extLst>
                    <a:ext uri="{A12FA001-AC4F-418D-AE19-62706E023703}">
                      <ahyp:hlinkClr xmlns:ahyp="http://schemas.microsoft.com/office/drawing/2018/hyperlinkcolor" val="tx"/>
                    </a:ext>
                  </a:extLst>
                </a:hlinkClick>
              </a:rPr>
              <a:t>DYNASAFE  ↗</a:t>
            </a:r>
            <a:endParaRPr lang="en-US" sz="530" dirty="0"/>
          </a:p>
        </p:txBody>
      </p:sp>
      <p:sp>
        <p:nvSpPr>
          <p:cNvPr id="18" name="Text 15"/>
          <p:cNvSpPr txBox="1"/>
          <p:nvPr/>
        </p:nvSpPr>
        <p:spPr>
          <a:xfrm>
            <a:off x="822960" y="3218688"/>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Static Detonation Chamber product page - SDC 1000 "de…</a:t>
            </a:r>
            <a:endParaRPr lang="en-US" sz="570" dirty="0"/>
          </a:p>
        </p:txBody>
      </p:sp>
      <p:sp>
        <p:nvSpPr>
          <p:cNvPr id="19" name="Text 16"/>
          <p:cNvSpPr txBox="1"/>
          <p:nvPr/>
        </p:nvSpPr>
        <p:spPr>
          <a:xfrm>
            <a:off x="548640" y="3456432"/>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5</a:t>
            </a:r>
            <a:endParaRPr lang="en-US" sz="800" dirty="0"/>
          </a:p>
        </p:txBody>
      </p:sp>
      <p:sp>
        <p:nvSpPr>
          <p:cNvPr id="20" name="Text 17">
            <a:hlinkClick r:id="rId6" tooltip=""/>
          </p:cNvPr>
          <p:cNvSpPr txBox="1"/>
          <p:nvPr/>
        </p:nvSpPr>
        <p:spPr>
          <a:xfrm>
            <a:off x="822960" y="3465576"/>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6" invalidUrl="" action="" tgtFrame="" tooltip="" history="1" highlightClick="0" endSnd="0">
                  <a:extLst>
                    <a:ext uri="{A12FA001-AC4F-418D-AE19-62706E023703}">
                      <ahyp:hlinkClr xmlns:ahyp="http://schemas.microsoft.com/office/drawing/2018/hyperlinkcolor" val="tx"/>
                    </a:ext>
                  </a:extLst>
                </a:hlinkClick>
              </a:rPr>
              <a:t>GOOGLE PATENTS  ↗</a:t>
            </a:r>
            <a:endParaRPr lang="en-US" sz="530" dirty="0"/>
          </a:p>
        </p:txBody>
      </p:sp>
      <p:sp>
        <p:nvSpPr>
          <p:cNvPr id="21" name="Text 18"/>
          <p:cNvSpPr txBox="1"/>
          <p:nvPr/>
        </p:nvSpPr>
        <p:spPr>
          <a:xfrm>
            <a:off x="822960" y="3621024"/>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US 6,758,151 B2 (2004) and CA 2,402,939 (2008) - Remo…</a:t>
            </a:r>
            <a:endParaRPr lang="en-US" sz="570" dirty="0"/>
          </a:p>
        </p:txBody>
      </p:sp>
      <p:sp>
        <p:nvSpPr>
          <p:cNvPr id="22" name="Text 19"/>
          <p:cNvSpPr txBox="1"/>
          <p:nvPr/>
        </p:nvSpPr>
        <p:spPr>
          <a:xfrm>
            <a:off x="548640" y="3858768"/>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6</a:t>
            </a:r>
            <a:endParaRPr lang="en-US" sz="800" dirty="0"/>
          </a:p>
        </p:txBody>
      </p:sp>
      <p:sp>
        <p:nvSpPr>
          <p:cNvPr id="23" name="Text 20">
            <a:hlinkClick r:id="rId7" tooltip=""/>
          </p:cNvPr>
          <p:cNvSpPr txBox="1"/>
          <p:nvPr/>
        </p:nvSpPr>
        <p:spPr>
          <a:xfrm>
            <a:off x="822960" y="3867912"/>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7" invalidUrl="" action="" tgtFrame="" tooltip="" history="1" highlightClick="0" endSnd="0">
                  <a:extLst>
                    <a:ext uri="{A12FA001-AC4F-418D-AE19-62706E023703}">
                      <ahyp:hlinkClr xmlns:ahyp="http://schemas.microsoft.com/office/drawing/2018/hyperlinkcolor" val="tx"/>
                    </a:ext>
                  </a:extLst>
                </a:hlinkClick>
              </a:rPr>
              <a:t>FEDERAL REGISTER  ↗</a:t>
            </a:r>
            <a:endParaRPr lang="en-US" sz="530" dirty="0"/>
          </a:p>
        </p:txBody>
      </p:sp>
      <p:sp>
        <p:nvSpPr>
          <p:cNvPr id="24" name="Text 21"/>
          <p:cNvSpPr txBox="1"/>
          <p:nvPr/>
        </p:nvSpPr>
        <p:spPr>
          <a:xfrm>
            <a:off x="822960" y="4023360"/>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Final 2025 List of Critical Minerals, 90 FR 50494 (7…</a:t>
            </a:r>
            <a:endParaRPr lang="en-US" sz="570" dirty="0"/>
          </a:p>
        </p:txBody>
      </p:sp>
      <p:sp>
        <p:nvSpPr>
          <p:cNvPr id="25" name="Text 22"/>
          <p:cNvSpPr txBox="1"/>
          <p:nvPr/>
        </p:nvSpPr>
        <p:spPr>
          <a:xfrm>
            <a:off x="548640" y="4261104"/>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7</a:t>
            </a:r>
            <a:endParaRPr lang="en-US" sz="800" dirty="0"/>
          </a:p>
        </p:txBody>
      </p:sp>
      <p:sp>
        <p:nvSpPr>
          <p:cNvPr id="26" name="Text 23">
            <a:hlinkClick r:id="rId8" tooltip=""/>
          </p:cNvPr>
          <p:cNvSpPr txBox="1"/>
          <p:nvPr/>
        </p:nvSpPr>
        <p:spPr>
          <a:xfrm>
            <a:off x="822960" y="4270248"/>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8" invalidUrl="" action="" tgtFrame="" tooltip="" history="1" highlightClick="0" endSnd="0">
                  <a:extLst>
                    <a:ext uri="{A12FA001-AC4F-418D-AE19-62706E023703}">
                      <ahyp:hlinkClr xmlns:ahyp="http://schemas.microsoft.com/office/drawing/2018/hyperlinkcolor" val="tx"/>
                    </a:ext>
                  </a:extLst>
                </a:hlinkClick>
              </a:rPr>
              <a:t>PRWEB  ↗</a:t>
            </a:r>
            <a:endParaRPr lang="en-US" sz="530" dirty="0"/>
          </a:p>
        </p:txBody>
      </p:sp>
      <p:sp>
        <p:nvSpPr>
          <p:cNvPr id="27" name="Text 24"/>
          <p:cNvSpPr txBox="1"/>
          <p:nvPr/>
        </p:nvSpPr>
        <p:spPr>
          <a:xfrm>
            <a:off x="822960" y="4425696"/>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TWB Designs press release, 6 Dec 2013 - ~1,000 lb/day…</a:t>
            </a:r>
            <a:endParaRPr lang="en-US" sz="570" dirty="0"/>
          </a:p>
        </p:txBody>
      </p:sp>
      <p:sp>
        <p:nvSpPr>
          <p:cNvPr id="28" name="Text 25"/>
          <p:cNvSpPr txBox="1"/>
          <p:nvPr/>
        </p:nvSpPr>
        <p:spPr>
          <a:xfrm>
            <a:off x="548640" y="4663440"/>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8</a:t>
            </a:r>
            <a:endParaRPr lang="en-US" sz="800" dirty="0"/>
          </a:p>
        </p:txBody>
      </p:sp>
      <p:sp>
        <p:nvSpPr>
          <p:cNvPr id="29" name="Text 26">
            <a:hlinkClick r:id="rId9" tooltip=""/>
          </p:cNvPr>
          <p:cNvSpPr txBox="1"/>
          <p:nvPr/>
        </p:nvSpPr>
        <p:spPr>
          <a:xfrm>
            <a:off x="822960" y="4672584"/>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9" invalidUrl="" action="" tgtFrame="" tooltip="" history="1" highlightClick="0" endSnd="0">
                  <a:extLst>
                    <a:ext uri="{A12FA001-AC4F-418D-AE19-62706E023703}">
                      <ahyp:hlinkClr xmlns:ahyp="http://schemas.microsoft.com/office/drawing/2018/hyperlinkcolor" val="tx"/>
                    </a:ext>
                  </a:extLst>
                </a:hlinkClick>
              </a:rPr>
              <a:t>US CODE  ↗</a:t>
            </a:r>
            <a:endParaRPr lang="en-US" sz="530" dirty="0"/>
          </a:p>
        </p:txBody>
      </p:sp>
      <p:sp>
        <p:nvSpPr>
          <p:cNvPr id="30" name="Text 27"/>
          <p:cNvSpPr txBox="1"/>
          <p:nvPr/>
        </p:nvSpPr>
        <p:spPr>
          <a:xfrm>
            <a:off x="822960" y="4828032"/>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10 USC 7690 - sale of recyclable munitions materials…</a:t>
            </a:r>
            <a:endParaRPr lang="en-US" sz="570" dirty="0"/>
          </a:p>
        </p:txBody>
      </p:sp>
      <p:sp>
        <p:nvSpPr>
          <p:cNvPr id="31" name="Text 28"/>
          <p:cNvSpPr txBox="1"/>
          <p:nvPr/>
        </p:nvSpPr>
        <p:spPr>
          <a:xfrm>
            <a:off x="548640" y="5065776"/>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9</a:t>
            </a:r>
            <a:endParaRPr lang="en-US" sz="800" dirty="0"/>
          </a:p>
        </p:txBody>
      </p:sp>
      <p:sp>
        <p:nvSpPr>
          <p:cNvPr id="32" name="Text 29">
            <a:hlinkClick r:id="rId10" tooltip=""/>
          </p:cNvPr>
          <p:cNvSpPr txBox="1"/>
          <p:nvPr/>
        </p:nvSpPr>
        <p:spPr>
          <a:xfrm>
            <a:off x="822960" y="5074920"/>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CITY OF HILLIARD / ABC6  ↗</a:t>
            </a:r>
            <a:endParaRPr lang="en-US" sz="530" dirty="0"/>
          </a:p>
        </p:txBody>
      </p:sp>
      <p:sp>
        <p:nvSpPr>
          <p:cNvPr id="33" name="Text 30"/>
          <p:cNvSpPr txBox="1"/>
          <p:nvPr/>
        </p:nvSpPr>
        <p:spPr>
          <a:xfrm>
            <a:off x="822960" y="5230368"/>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Safer Homes Spring Clean-Out: Ammunition Take Back Da…</a:t>
            </a:r>
            <a:endParaRPr lang="en-US" sz="570" dirty="0"/>
          </a:p>
        </p:txBody>
      </p:sp>
      <p:sp>
        <p:nvSpPr>
          <p:cNvPr id="34" name="Text 31"/>
          <p:cNvSpPr txBox="1"/>
          <p:nvPr/>
        </p:nvSpPr>
        <p:spPr>
          <a:xfrm>
            <a:off x="548640" y="5468112"/>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10</a:t>
            </a:r>
            <a:endParaRPr lang="en-US" sz="800" dirty="0"/>
          </a:p>
        </p:txBody>
      </p:sp>
      <p:sp>
        <p:nvSpPr>
          <p:cNvPr id="35" name="Text 32">
            <a:hlinkClick r:id="rId11" tooltip=""/>
          </p:cNvPr>
          <p:cNvSpPr txBox="1"/>
          <p:nvPr/>
        </p:nvSpPr>
        <p:spPr>
          <a:xfrm>
            <a:off x="822960" y="5477256"/>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OFFICER.COM  ↗</a:t>
            </a:r>
            <a:endParaRPr lang="en-US" sz="530" dirty="0"/>
          </a:p>
        </p:txBody>
      </p:sp>
      <p:sp>
        <p:nvSpPr>
          <p:cNvPr id="36" name="Text 33"/>
          <p:cNvSpPr txBox="1"/>
          <p:nvPr/>
        </p:nvSpPr>
        <p:spPr>
          <a:xfrm>
            <a:off x="822960" y="5632704"/>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Results from the 2011 Innovation Awards (Cygnus Law E…</a:t>
            </a:r>
            <a:endParaRPr lang="en-US" sz="570" dirty="0"/>
          </a:p>
        </p:txBody>
      </p:sp>
      <p:sp>
        <p:nvSpPr>
          <p:cNvPr id="37" name="Text 34"/>
          <p:cNvSpPr txBox="1"/>
          <p:nvPr/>
        </p:nvSpPr>
        <p:spPr>
          <a:xfrm>
            <a:off x="3322244" y="1847088"/>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11</a:t>
            </a:r>
            <a:endParaRPr lang="en-US" sz="800" dirty="0"/>
          </a:p>
        </p:txBody>
      </p:sp>
      <p:sp>
        <p:nvSpPr>
          <p:cNvPr id="38" name="Text 35">
            <a:hlinkClick r:id="rId12" tooltip=""/>
          </p:cNvPr>
          <p:cNvSpPr txBox="1"/>
          <p:nvPr/>
        </p:nvSpPr>
        <p:spPr>
          <a:xfrm>
            <a:off x="3596564" y="1856232"/>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ENVIROSAFE DEMIL / GOVCON WIRE  ↗</a:t>
            </a:r>
            <a:endParaRPr lang="en-US" sz="530" dirty="0"/>
          </a:p>
        </p:txBody>
      </p:sp>
      <p:sp>
        <p:nvSpPr>
          <p:cNvPr id="39" name="Text 36"/>
          <p:cNvSpPr txBox="1"/>
          <p:nvPr/>
        </p:nvSpPr>
        <p:spPr>
          <a:xfrm>
            <a:off x="3596564" y="2011680"/>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About ESD; Army $110.1M multiple-award demil contract…</a:t>
            </a:r>
            <a:endParaRPr lang="en-US" sz="570" dirty="0"/>
          </a:p>
        </p:txBody>
      </p:sp>
      <p:sp>
        <p:nvSpPr>
          <p:cNvPr id="40" name="Text 37"/>
          <p:cNvSpPr txBox="1"/>
          <p:nvPr/>
        </p:nvSpPr>
        <p:spPr>
          <a:xfrm>
            <a:off x="3322244" y="2249424"/>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12</a:t>
            </a:r>
            <a:endParaRPr lang="en-US" sz="800" dirty="0"/>
          </a:p>
        </p:txBody>
      </p:sp>
      <p:sp>
        <p:nvSpPr>
          <p:cNvPr id="41" name="Text 38">
            <a:hlinkClick r:id="rId13" tooltip=""/>
          </p:cNvPr>
          <p:cNvSpPr txBox="1"/>
          <p:nvPr/>
        </p:nvSpPr>
        <p:spPr>
          <a:xfrm>
            <a:off x="3596564" y="2258568"/>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RHEINMETALL  ↗</a:t>
            </a:r>
            <a:endParaRPr lang="en-US" sz="530" dirty="0"/>
          </a:p>
        </p:txBody>
      </p:sp>
      <p:sp>
        <p:nvSpPr>
          <p:cNvPr id="42" name="Text 39"/>
          <p:cNvSpPr txBox="1"/>
          <p:nvPr/>
        </p:nvSpPr>
        <p:spPr>
          <a:xfrm>
            <a:off x="3596564" y="2414016"/>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American Rheinmetall Munitions / Rheinmetall Expal Mu…</a:t>
            </a:r>
            <a:endParaRPr lang="en-US" sz="570" dirty="0"/>
          </a:p>
        </p:txBody>
      </p:sp>
      <p:sp>
        <p:nvSpPr>
          <p:cNvPr id="43" name="Text 40"/>
          <p:cNvSpPr txBox="1"/>
          <p:nvPr/>
        </p:nvSpPr>
        <p:spPr>
          <a:xfrm>
            <a:off x="3322244" y="2651760"/>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13</a:t>
            </a:r>
            <a:endParaRPr lang="en-US" sz="800" dirty="0"/>
          </a:p>
        </p:txBody>
      </p:sp>
      <p:sp>
        <p:nvSpPr>
          <p:cNvPr id="44" name="Text 41">
            <a:hlinkClick r:id="rId14" tooltip=""/>
          </p:cNvPr>
          <p:cNvSpPr txBox="1"/>
          <p:nvPr/>
        </p:nvSpPr>
        <p:spPr>
          <a:xfrm>
            <a:off x="3596564" y="2660904"/>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4" invalidUrl="" action="" tgtFrame="" tooltip="" history="1" highlightClick="0" endSnd="0">
                  <a:extLst>
                    <a:ext uri="{A12FA001-AC4F-418D-AE19-62706E023703}">
                      <ahyp:hlinkClr xmlns:ahyp="http://schemas.microsoft.com/office/drawing/2018/hyperlinkcolor" val="tx"/>
                    </a:ext>
                  </a:extLst>
                </a:hlinkClick>
              </a:rPr>
              <a:t>GD-OTS  ↗</a:t>
            </a:r>
            <a:endParaRPr lang="en-US" sz="530" dirty="0"/>
          </a:p>
        </p:txBody>
      </p:sp>
      <p:sp>
        <p:nvSpPr>
          <p:cNvPr id="45" name="Text 42"/>
          <p:cNvSpPr txBox="1"/>
          <p:nvPr/>
        </p:nvSpPr>
        <p:spPr>
          <a:xfrm>
            <a:off x="3596564" y="2816352"/>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Demilitarization capabilities brochure (Carthage, MO).</a:t>
            </a:r>
            <a:endParaRPr lang="en-US" sz="570" dirty="0"/>
          </a:p>
        </p:txBody>
      </p:sp>
      <p:sp>
        <p:nvSpPr>
          <p:cNvPr id="46" name="Text 43"/>
          <p:cNvSpPr txBox="1"/>
          <p:nvPr/>
        </p:nvSpPr>
        <p:spPr>
          <a:xfrm>
            <a:off x="3322244" y="3054096"/>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14</a:t>
            </a:r>
            <a:endParaRPr lang="en-US" sz="800" dirty="0"/>
          </a:p>
        </p:txBody>
      </p:sp>
      <p:sp>
        <p:nvSpPr>
          <p:cNvPr id="47" name="Text 44">
            <a:hlinkClick r:id="rId15" tooltip=""/>
          </p:cNvPr>
          <p:cNvSpPr txBox="1"/>
          <p:nvPr/>
        </p:nvSpPr>
        <p:spPr>
          <a:xfrm>
            <a:off x="3596564" y="3063240"/>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5" invalidUrl="" action="" tgtFrame="" tooltip="" history="1" highlightClick="0" endSnd="0">
                  <a:extLst>
                    <a:ext uri="{A12FA001-AC4F-418D-AE19-62706E023703}">
                      <ahyp:hlinkClr xmlns:ahyp="http://schemas.microsoft.com/office/drawing/2018/hyperlinkcolor" val="tx"/>
                    </a:ext>
                  </a:extLst>
                </a:hlinkClick>
              </a:rPr>
              <a:t>DYNASAFE  ↗</a:t>
            </a:r>
            <a:endParaRPr lang="en-US" sz="530" dirty="0"/>
          </a:p>
        </p:txBody>
      </p:sp>
      <p:sp>
        <p:nvSpPr>
          <p:cNvPr id="48" name="Text 45"/>
          <p:cNvSpPr txBox="1"/>
          <p:nvPr/>
        </p:nvSpPr>
        <p:spPr>
          <a:xfrm>
            <a:off x="3596564" y="3218688"/>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Mobile ammunition disposal - transportable SDC 200 /…</a:t>
            </a:r>
            <a:endParaRPr lang="en-US" sz="570" dirty="0"/>
          </a:p>
        </p:txBody>
      </p:sp>
      <p:sp>
        <p:nvSpPr>
          <p:cNvPr id="49" name="Text 46"/>
          <p:cNvSpPr txBox="1"/>
          <p:nvPr/>
        </p:nvSpPr>
        <p:spPr>
          <a:xfrm>
            <a:off x="3322244" y="3456432"/>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15</a:t>
            </a:r>
            <a:endParaRPr lang="en-US" sz="800" dirty="0"/>
          </a:p>
        </p:txBody>
      </p:sp>
      <p:sp>
        <p:nvSpPr>
          <p:cNvPr id="50" name="Text 47">
            <a:hlinkClick r:id="rId16" tooltip=""/>
          </p:cNvPr>
          <p:cNvSpPr txBox="1"/>
          <p:nvPr/>
        </p:nvSpPr>
        <p:spPr>
          <a:xfrm>
            <a:off x="3596564" y="3465576"/>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6" invalidUrl="" action="" tgtFrame="" tooltip="" history="1" highlightClick="0" endSnd="0">
                  <a:extLst>
                    <a:ext uri="{A12FA001-AC4F-418D-AE19-62706E023703}">
                      <ahyp:hlinkClr xmlns:ahyp="http://schemas.microsoft.com/office/drawing/2018/hyperlinkcolor" val="tx"/>
                    </a:ext>
                  </a:extLst>
                </a:hlinkClick>
              </a:rPr>
              <a:t>DAY &amp; ZIMMERMANN; EL DORADO ENGINEERING  ↗</a:t>
            </a:r>
            <a:endParaRPr lang="en-US" sz="530" dirty="0"/>
          </a:p>
        </p:txBody>
      </p:sp>
      <p:sp>
        <p:nvSpPr>
          <p:cNvPr id="51" name="Text 48"/>
          <p:cNvSpPr txBox="1"/>
          <p:nvPr/>
        </p:nvSpPr>
        <p:spPr>
          <a:xfrm>
            <a:off x="3596564" y="3621024"/>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SOC demil at Hawthorne (&gt;16,000 tons/yr capacity); Tr…</a:t>
            </a:r>
            <a:endParaRPr lang="en-US" sz="570" dirty="0"/>
          </a:p>
        </p:txBody>
      </p:sp>
      <p:sp>
        <p:nvSpPr>
          <p:cNvPr id="52" name="Text 49"/>
          <p:cNvSpPr txBox="1"/>
          <p:nvPr/>
        </p:nvSpPr>
        <p:spPr>
          <a:xfrm>
            <a:off x="3322244" y="3858768"/>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16</a:t>
            </a:r>
            <a:endParaRPr lang="en-US" sz="800" dirty="0"/>
          </a:p>
        </p:txBody>
      </p:sp>
      <p:sp>
        <p:nvSpPr>
          <p:cNvPr id="53" name="Text 50">
            <a:hlinkClick r:id="rId17" tooltip=""/>
          </p:cNvPr>
          <p:cNvSpPr txBox="1"/>
          <p:nvPr/>
        </p:nvSpPr>
        <p:spPr>
          <a:xfrm>
            <a:off x="3596564" y="3867912"/>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7" invalidUrl="" action="" tgtFrame="" tooltip="" history="1" highlightClick="0" endSnd="0">
                  <a:extLst>
                    <a:ext uri="{A12FA001-AC4F-418D-AE19-62706E023703}">
                      <ahyp:hlinkClr xmlns:ahyp="http://schemas.microsoft.com/office/drawing/2018/hyperlinkcolor" val="tx"/>
                    </a:ext>
                  </a:extLst>
                </a:hlinkClick>
              </a:rPr>
              <a:t>SIPRI  ↗</a:t>
            </a:r>
            <a:endParaRPr lang="en-US" sz="530" dirty="0"/>
          </a:p>
        </p:txBody>
      </p:sp>
      <p:sp>
        <p:nvSpPr>
          <p:cNvPr id="54" name="Text 51"/>
          <p:cNvSpPr txBox="1"/>
          <p:nvPr/>
        </p:nvSpPr>
        <p:spPr>
          <a:xfrm>
            <a:off x="3596564" y="4023360"/>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Trends in World Military Expenditure, 2025 - Fact She…</a:t>
            </a:r>
            <a:endParaRPr lang="en-US" sz="570" dirty="0"/>
          </a:p>
        </p:txBody>
      </p:sp>
      <p:sp>
        <p:nvSpPr>
          <p:cNvPr id="55" name="Text 52"/>
          <p:cNvSpPr txBox="1"/>
          <p:nvPr/>
        </p:nvSpPr>
        <p:spPr>
          <a:xfrm>
            <a:off x="3322244" y="4261104"/>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17</a:t>
            </a:r>
            <a:endParaRPr lang="en-US" sz="800" dirty="0"/>
          </a:p>
        </p:txBody>
      </p:sp>
      <p:sp>
        <p:nvSpPr>
          <p:cNvPr id="56" name="Text 53">
            <a:hlinkClick r:id="rId18" tooltip=""/>
          </p:cNvPr>
          <p:cNvSpPr txBox="1"/>
          <p:nvPr/>
        </p:nvSpPr>
        <p:spPr>
          <a:xfrm>
            <a:off x="3596564" y="4270248"/>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8" invalidUrl="" action="" tgtFrame="" tooltip="" history="1" highlightClick="0" endSnd="0">
                  <a:extLst>
                    <a:ext uri="{A12FA001-AC4F-418D-AE19-62706E023703}">
                      <ahyp:hlinkClr xmlns:ahyp="http://schemas.microsoft.com/office/drawing/2018/hyperlinkcolor" val="tx"/>
                    </a:ext>
                  </a:extLst>
                </a:hlinkClick>
              </a:rPr>
              <a:t>UCDP / JOURNAL OF PEACE RESEARCH  ↗</a:t>
            </a:r>
            <a:endParaRPr lang="en-US" sz="530" dirty="0"/>
          </a:p>
        </p:txBody>
      </p:sp>
      <p:sp>
        <p:nvSpPr>
          <p:cNvPr id="57" name="Text 54"/>
          <p:cNvSpPr txBox="1"/>
          <p:nvPr/>
        </p:nvSpPr>
        <p:spPr>
          <a:xfrm>
            <a:off x="3596564" y="4425696"/>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Davies, Pettersson &amp; Öberg (2026), "Organized violenc…</a:t>
            </a:r>
            <a:endParaRPr lang="en-US" sz="570" dirty="0"/>
          </a:p>
        </p:txBody>
      </p:sp>
      <p:sp>
        <p:nvSpPr>
          <p:cNvPr id="58" name="Text 55"/>
          <p:cNvSpPr txBox="1"/>
          <p:nvPr/>
        </p:nvSpPr>
        <p:spPr>
          <a:xfrm>
            <a:off x="3322244" y="4663440"/>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18</a:t>
            </a:r>
            <a:endParaRPr lang="en-US" sz="800" dirty="0"/>
          </a:p>
        </p:txBody>
      </p:sp>
      <p:sp>
        <p:nvSpPr>
          <p:cNvPr id="59" name="Text 56">
            <a:hlinkClick r:id="rId19" tooltip=""/>
          </p:cNvPr>
          <p:cNvSpPr txBox="1"/>
          <p:nvPr/>
        </p:nvSpPr>
        <p:spPr>
          <a:xfrm>
            <a:off x="3596564" y="4672584"/>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19" invalidUrl="" action="" tgtFrame="" tooltip="" history="1" highlightClick="0" endSnd="0">
                  <a:extLst>
                    <a:ext uri="{A12FA001-AC4F-418D-AE19-62706E023703}">
                      <ahyp:hlinkClr xmlns:ahyp="http://schemas.microsoft.com/office/drawing/2018/hyperlinkcolor" val="tx"/>
                    </a:ext>
                  </a:extLst>
                </a:hlinkClick>
              </a:rPr>
              <a:t>US ARMY  ↗</a:t>
            </a:r>
            <a:endParaRPr lang="en-US" sz="530" dirty="0"/>
          </a:p>
        </p:txBody>
      </p:sp>
      <p:sp>
        <p:nvSpPr>
          <p:cNvPr id="60" name="Text 57"/>
          <p:cNvSpPr txBox="1"/>
          <p:nvPr/>
        </p:nvSpPr>
        <p:spPr>
          <a:xfrm>
            <a:off x="3596564" y="4828032"/>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FY2027 Budget Estimates - Procurement of Ammunition,…</a:t>
            </a:r>
            <a:endParaRPr lang="en-US" sz="570" dirty="0"/>
          </a:p>
        </p:txBody>
      </p:sp>
      <p:sp>
        <p:nvSpPr>
          <p:cNvPr id="61" name="Text 58"/>
          <p:cNvSpPr txBox="1"/>
          <p:nvPr/>
        </p:nvSpPr>
        <p:spPr>
          <a:xfrm>
            <a:off x="3322244" y="5065776"/>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19</a:t>
            </a:r>
            <a:endParaRPr lang="en-US" sz="800" dirty="0"/>
          </a:p>
        </p:txBody>
      </p:sp>
      <p:sp>
        <p:nvSpPr>
          <p:cNvPr id="62" name="Text 59">
            <a:hlinkClick r:id="rId20" tooltip=""/>
          </p:cNvPr>
          <p:cNvSpPr txBox="1"/>
          <p:nvPr/>
        </p:nvSpPr>
        <p:spPr>
          <a:xfrm>
            <a:off x="3596564" y="5074920"/>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0" invalidUrl="" action="" tgtFrame="" tooltip="" history="1" highlightClick="0" endSnd="0">
                  <a:extLst>
                    <a:ext uri="{A12FA001-AC4F-418D-AE19-62706E023703}">
                      <ahyp:hlinkClr xmlns:ahyp="http://schemas.microsoft.com/office/drawing/2018/hyperlinkcolor" val="tx"/>
                    </a:ext>
                  </a:extLst>
                </a:hlinkClick>
              </a:rPr>
              <a:t>NATO / BREAKING DEFENSE  ↗</a:t>
            </a:r>
            <a:endParaRPr lang="en-US" sz="530" dirty="0"/>
          </a:p>
        </p:txBody>
      </p:sp>
      <p:sp>
        <p:nvSpPr>
          <p:cNvPr id="63" name="Text 60"/>
          <p:cNvSpPr txBox="1"/>
          <p:nvPr/>
        </p:nvSpPr>
        <p:spPr>
          <a:xfrm>
            <a:off x="3596564" y="5230368"/>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NATO Annual Report 2025 briefing (26 Mar 2026): up to…</a:t>
            </a:r>
            <a:endParaRPr lang="en-US" sz="570" dirty="0"/>
          </a:p>
        </p:txBody>
      </p:sp>
      <p:sp>
        <p:nvSpPr>
          <p:cNvPr id="64" name="Text 61"/>
          <p:cNvSpPr txBox="1"/>
          <p:nvPr/>
        </p:nvSpPr>
        <p:spPr>
          <a:xfrm>
            <a:off x="3322244" y="5468112"/>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20</a:t>
            </a:r>
            <a:endParaRPr lang="en-US" sz="800" dirty="0"/>
          </a:p>
        </p:txBody>
      </p:sp>
      <p:sp>
        <p:nvSpPr>
          <p:cNvPr id="65" name="Text 62">
            <a:hlinkClick r:id="rId21" tooltip=""/>
          </p:cNvPr>
          <p:cNvSpPr txBox="1"/>
          <p:nvPr/>
        </p:nvSpPr>
        <p:spPr>
          <a:xfrm>
            <a:off x="3596564" y="5477256"/>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1" invalidUrl="" action="" tgtFrame="" tooltip="" history="1" highlightClick="0" endSnd="0">
                  <a:extLst>
                    <a:ext uri="{A12FA001-AC4F-418D-AE19-62706E023703}">
                      <ahyp:hlinkClr xmlns:ahyp="http://schemas.microsoft.com/office/drawing/2018/hyperlinkcolor" val="tx"/>
                    </a:ext>
                  </a:extLst>
                </a:hlinkClick>
              </a:rPr>
              <a:t>WORLD BANK / GOVERNMENT OF UKRAINE  ↗</a:t>
            </a:r>
            <a:endParaRPr lang="en-US" sz="530" dirty="0"/>
          </a:p>
        </p:txBody>
      </p:sp>
      <p:sp>
        <p:nvSpPr>
          <p:cNvPr id="66" name="Text 63"/>
          <p:cNvSpPr txBox="1"/>
          <p:nvPr/>
        </p:nvSpPr>
        <p:spPr>
          <a:xfrm>
            <a:off x="3596564" y="5632704"/>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RDNA5 (23 Feb 2026): explosive-hazard management need…</a:t>
            </a:r>
            <a:endParaRPr lang="en-US" sz="570" dirty="0"/>
          </a:p>
        </p:txBody>
      </p:sp>
      <p:sp>
        <p:nvSpPr>
          <p:cNvPr id="67" name="Text 64"/>
          <p:cNvSpPr txBox="1"/>
          <p:nvPr/>
        </p:nvSpPr>
        <p:spPr>
          <a:xfrm>
            <a:off x="6095848" y="1847088"/>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21</a:t>
            </a:r>
            <a:endParaRPr lang="en-US" sz="800" dirty="0"/>
          </a:p>
        </p:txBody>
      </p:sp>
      <p:sp>
        <p:nvSpPr>
          <p:cNvPr id="68" name="Text 65">
            <a:hlinkClick r:id="rId22" tooltip=""/>
          </p:cNvPr>
          <p:cNvSpPr txBox="1"/>
          <p:nvPr/>
        </p:nvSpPr>
        <p:spPr>
          <a:xfrm>
            <a:off x="6370168" y="1856232"/>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2" invalidUrl="" action="" tgtFrame="" tooltip="" history="1" highlightClick="0" endSnd="0">
                  <a:extLst>
                    <a:ext uri="{A12FA001-AC4F-418D-AE19-62706E023703}">
                      <ahyp:hlinkClr xmlns:ahyp="http://schemas.microsoft.com/office/drawing/2018/hyperlinkcolor" val="tx"/>
                    </a:ext>
                  </a:extLst>
                </a:hlinkClick>
              </a:rPr>
              <a:t>UNGM  ↗</a:t>
            </a:r>
            <a:endParaRPr lang="en-US" sz="530" dirty="0"/>
          </a:p>
        </p:txBody>
      </p:sp>
      <p:sp>
        <p:nvSpPr>
          <p:cNvPr id="69" name="Text 66"/>
          <p:cNvSpPr txBox="1"/>
          <p:nvPr/>
        </p:nvSpPr>
        <p:spPr>
          <a:xfrm>
            <a:off x="6370168" y="2011680"/>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EOIUNPD23750 Mobile Ammunition Disposal System (Jul 2…</a:t>
            </a:r>
            <a:endParaRPr lang="en-US" sz="570" dirty="0"/>
          </a:p>
        </p:txBody>
      </p:sp>
      <p:sp>
        <p:nvSpPr>
          <p:cNvPr id="70" name="Text 67"/>
          <p:cNvSpPr txBox="1"/>
          <p:nvPr/>
        </p:nvSpPr>
        <p:spPr>
          <a:xfrm>
            <a:off x="6095848" y="2249424"/>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22</a:t>
            </a:r>
            <a:endParaRPr lang="en-US" sz="800" dirty="0"/>
          </a:p>
        </p:txBody>
      </p:sp>
      <p:sp>
        <p:nvSpPr>
          <p:cNvPr id="71" name="Text 68">
            <a:hlinkClick r:id="rId23" tooltip=""/>
          </p:cNvPr>
          <p:cNvSpPr txBox="1"/>
          <p:nvPr/>
        </p:nvSpPr>
        <p:spPr>
          <a:xfrm>
            <a:off x="6370168" y="2258568"/>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3" invalidUrl="" action="" tgtFrame="" tooltip="" history="1" highlightClick="0" endSnd="0">
                  <a:extLst>
                    <a:ext uri="{A12FA001-AC4F-418D-AE19-62706E023703}">
                      <ahyp:hlinkClr xmlns:ahyp="http://schemas.microsoft.com/office/drawing/2018/hyperlinkcolor" val="tx"/>
                    </a:ext>
                  </a:extLst>
                </a:hlinkClick>
              </a:rPr>
              <a:t>NATIONAL ACADEMIES  ↗</a:t>
            </a:r>
            <a:endParaRPr lang="en-US" sz="530" dirty="0"/>
          </a:p>
        </p:txBody>
      </p:sp>
      <p:sp>
        <p:nvSpPr>
          <p:cNvPr id="72" name="Text 69"/>
          <p:cNvSpPr txBox="1"/>
          <p:nvPr/>
        </p:nvSpPr>
        <p:spPr>
          <a:xfrm>
            <a:off x="6370168" y="2414016"/>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Alternatives for the Demilitarization of Conventional…</a:t>
            </a:r>
            <a:endParaRPr lang="en-US" sz="570" dirty="0"/>
          </a:p>
        </p:txBody>
      </p:sp>
      <p:sp>
        <p:nvSpPr>
          <p:cNvPr id="73" name="Text 70"/>
          <p:cNvSpPr txBox="1"/>
          <p:nvPr/>
        </p:nvSpPr>
        <p:spPr>
          <a:xfrm>
            <a:off x="6095848" y="2651760"/>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23</a:t>
            </a:r>
            <a:endParaRPr lang="en-US" sz="800" dirty="0"/>
          </a:p>
        </p:txBody>
      </p:sp>
      <p:sp>
        <p:nvSpPr>
          <p:cNvPr id="74" name="Text 71">
            <a:hlinkClick r:id="rId24" tooltip=""/>
          </p:cNvPr>
          <p:cNvSpPr txBox="1"/>
          <p:nvPr/>
        </p:nvSpPr>
        <p:spPr>
          <a:xfrm>
            <a:off x="6370168" y="2660904"/>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4" invalidUrl="" action="" tgtFrame="" tooltip="" history="1" highlightClick="0" endSnd="0">
                  <a:extLst>
                    <a:ext uri="{A12FA001-AC4F-418D-AE19-62706E023703}">
                      <ahyp:hlinkClr xmlns:ahyp="http://schemas.microsoft.com/office/drawing/2018/hyperlinkcolor" val="tx"/>
                    </a:ext>
                  </a:extLst>
                </a:hlinkClick>
              </a:rPr>
              <a:t>FEDERAL REGISTER / EPA  ↗</a:t>
            </a:r>
            <a:endParaRPr lang="en-US" sz="530" dirty="0"/>
          </a:p>
        </p:txBody>
      </p:sp>
      <p:sp>
        <p:nvSpPr>
          <p:cNvPr id="75" name="Text 72"/>
          <p:cNvSpPr txBox="1"/>
          <p:nvPr/>
        </p:nvSpPr>
        <p:spPr>
          <a:xfrm>
            <a:off x="6370168" y="2816352"/>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Proposed rule 89 FR 19952 (20 Mar 2024), 67 facilitie…</a:t>
            </a:r>
            <a:endParaRPr lang="en-US" sz="570" dirty="0"/>
          </a:p>
        </p:txBody>
      </p:sp>
      <p:sp>
        <p:nvSpPr>
          <p:cNvPr id="76" name="Text 73"/>
          <p:cNvSpPr txBox="1"/>
          <p:nvPr/>
        </p:nvSpPr>
        <p:spPr>
          <a:xfrm>
            <a:off x="6095848" y="3054096"/>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24</a:t>
            </a:r>
            <a:endParaRPr lang="en-US" sz="800" dirty="0"/>
          </a:p>
        </p:txBody>
      </p:sp>
      <p:sp>
        <p:nvSpPr>
          <p:cNvPr id="77" name="Text 74">
            <a:hlinkClick r:id="rId25" tooltip=""/>
          </p:cNvPr>
          <p:cNvSpPr txBox="1"/>
          <p:nvPr/>
        </p:nvSpPr>
        <p:spPr>
          <a:xfrm>
            <a:off x="6370168" y="3063240"/>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5" invalidUrl="" action="" tgtFrame="" tooltip="" history="1" highlightClick="0" endSnd="0">
                  <a:extLst>
                    <a:ext uri="{A12FA001-AC4F-418D-AE19-62706E023703}">
                      <ahyp:hlinkClr xmlns:ahyp="http://schemas.microsoft.com/office/drawing/2018/hyperlinkcolor" val="tx"/>
                    </a:ext>
                  </a:extLst>
                </a:hlinkClick>
              </a:rPr>
              <a:t>CBS LOS ANGELES  ↗</a:t>
            </a:r>
            <a:endParaRPr lang="en-US" sz="530" dirty="0"/>
          </a:p>
        </p:txBody>
      </p:sp>
      <p:sp>
        <p:nvSpPr>
          <p:cNvPr id="78" name="Text 75"/>
          <p:cNvSpPr txBox="1"/>
          <p:nvPr/>
        </p:nvSpPr>
        <p:spPr>
          <a:xfrm>
            <a:off x="6370168" y="3218688"/>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Explosion at LASD Biscailuz Center training facility,…</a:t>
            </a:r>
            <a:endParaRPr lang="en-US" sz="570" dirty="0"/>
          </a:p>
        </p:txBody>
      </p:sp>
      <p:sp>
        <p:nvSpPr>
          <p:cNvPr id="79" name="Text 76"/>
          <p:cNvSpPr txBox="1"/>
          <p:nvPr/>
        </p:nvSpPr>
        <p:spPr>
          <a:xfrm>
            <a:off x="6095848" y="3456432"/>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25</a:t>
            </a:r>
            <a:endParaRPr lang="en-US" sz="800" dirty="0"/>
          </a:p>
        </p:txBody>
      </p:sp>
      <p:sp>
        <p:nvSpPr>
          <p:cNvPr id="80" name="Text 77">
            <a:hlinkClick r:id="rId26" tooltip=""/>
          </p:cNvPr>
          <p:cNvSpPr txBox="1"/>
          <p:nvPr/>
        </p:nvSpPr>
        <p:spPr>
          <a:xfrm>
            <a:off x="6370168" y="3465576"/>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6" invalidUrl="" action="" tgtFrame="" tooltip="" history="1" highlightClick="0" endSnd="0">
                  <a:extLst>
                    <a:ext uri="{A12FA001-AC4F-418D-AE19-62706E023703}">
                      <ahyp:hlinkClr xmlns:ahyp="http://schemas.microsoft.com/office/drawing/2018/hyperlinkcolor" val="tx"/>
                    </a:ext>
                  </a:extLst>
                </a:hlinkClick>
              </a:rPr>
              <a:t>USGS  ↗</a:t>
            </a:r>
            <a:endParaRPr lang="en-US" sz="530" dirty="0"/>
          </a:p>
        </p:txBody>
      </p:sp>
      <p:sp>
        <p:nvSpPr>
          <p:cNvPr id="81" name="Text 78"/>
          <p:cNvSpPr txBox="1"/>
          <p:nvPr/>
        </p:nvSpPr>
        <p:spPr>
          <a:xfrm>
            <a:off x="6370168" y="3621024"/>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Mineral Commodity Summaries 2026 - Antimony: prices $…</a:t>
            </a:r>
            <a:endParaRPr lang="en-US" sz="570" dirty="0"/>
          </a:p>
        </p:txBody>
      </p:sp>
      <p:sp>
        <p:nvSpPr>
          <p:cNvPr id="82" name="Text 79"/>
          <p:cNvSpPr txBox="1"/>
          <p:nvPr/>
        </p:nvSpPr>
        <p:spPr>
          <a:xfrm>
            <a:off x="6095848" y="3858768"/>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26</a:t>
            </a:r>
            <a:endParaRPr lang="en-US" sz="800" dirty="0"/>
          </a:p>
        </p:txBody>
      </p:sp>
      <p:sp>
        <p:nvSpPr>
          <p:cNvPr id="83" name="Text 80">
            <a:hlinkClick r:id="rId27" tooltip=""/>
          </p:cNvPr>
          <p:cNvSpPr txBox="1"/>
          <p:nvPr/>
        </p:nvSpPr>
        <p:spPr>
          <a:xfrm>
            <a:off x="6370168" y="3867912"/>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7" invalidUrl="" action="" tgtFrame="" tooltip="" history="1" highlightClick="0" endSnd="0">
                  <a:extLst>
                    <a:ext uri="{A12FA001-AC4F-418D-AE19-62706E023703}">
                      <ahyp:hlinkClr xmlns:ahyp="http://schemas.microsoft.com/office/drawing/2018/hyperlinkcolor" val="tx"/>
                    </a:ext>
                  </a:extLst>
                </a:hlinkClick>
              </a:rPr>
              <a:t>LME / TRADING ECONOMICS / NAI500  ↗</a:t>
            </a:r>
            <a:endParaRPr lang="en-US" sz="530" dirty="0"/>
          </a:p>
        </p:txBody>
      </p:sp>
      <p:sp>
        <p:nvSpPr>
          <p:cNvPr id="84" name="Text 81"/>
          <p:cNvSpPr txBox="1"/>
          <p:nvPr/>
        </p:nvSpPr>
        <p:spPr>
          <a:xfrm>
            <a:off x="6370168" y="4023360"/>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Copper ~$14,250/t LME 3-month (25 Aug 2026); lead $1,…</a:t>
            </a:r>
            <a:endParaRPr lang="en-US" sz="570" dirty="0"/>
          </a:p>
        </p:txBody>
      </p:sp>
      <p:sp>
        <p:nvSpPr>
          <p:cNvPr id="85" name="Text 82"/>
          <p:cNvSpPr txBox="1"/>
          <p:nvPr/>
        </p:nvSpPr>
        <p:spPr>
          <a:xfrm>
            <a:off x="6095848" y="4261104"/>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27</a:t>
            </a:r>
            <a:endParaRPr lang="en-US" sz="800" dirty="0"/>
          </a:p>
        </p:txBody>
      </p:sp>
      <p:sp>
        <p:nvSpPr>
          <p:cNvPr id="86" name="Text 83">
            <a:hlinkClick r:id="rId28" tooltip=""/>
          </p:cNvPr>
          <p:cNvSpPr txBox="1"/>
          <p:nvPr/>
        </p:nvSpPr>
        <p:spPr>
          <a:xfrm>
            <a:off x="6370168" y="4270248"/>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8" invalidUrl="" action="" tgtFrame="" tooltip="" history="1" highlightClick="0" endSnd="0">
                  <a:extLst>
                    <a:ext uri="{A12FA001-AC4F-418D-AE19-62706E023703}">
                      <ahyp:hlinkClr xmlns:ahyp="http://schemas.microsoft.com/office/drawing/2018/hyperlinkcolor" val="tx"/>
                    </a:ext>
                  </a:extLst>
                </a:hlinkClick>
              </a:rPr>
              <a:t>PERPETUA RESOURCES  ↗</a:t>
            </a:r>
            <a:endParaRPr lang="en-US" sz="530" dirty="0"/>
          </a:p>
        </p:txBody>
      </p:sp>
      <p:sp>
        <p:nvSpPr>
          <p:cNvPr id="87" name="Text 84"/>
          <p:cNvSpPr txBox="1"/>
          <p:nvPr/>
        </p:nvSpPr>
        <p:spPr>
          <a:xfrm>
            <a:off x="6370168" y="4425696"/>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EXIM approves $2.9bn loan for the Stibnite antimony-g…</a:t>
            </a:r>
            <a:endParaRPr lang="en-US" sz="570" dirty="0"/>
          </a:p>
        </p:txBody>
      </p:sp>
      <p:sp>
        <p:nvSpPr>
          <p:cNvPr id="88" name="Text 85"/>
          <p:cNvSpPr txBox="1"/>
          <p:nvPr/>
        </p:nvSpPr>
        <p:spPr>
          <a:xfrm>
            <a:off x="6095848" y="4663440"/>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28</a:t>
            </a:r>
            <a:endParaRPr lang="en-US" sz="800" dirty="0"/>
          </a:p>
        </p:txBody>
      </p:sp>
      <p:sp>
        <p:nvSpPr>
          <p:cNvPr id="89" name="Text 86">
            <a:hlinkClick r:id="rId29" tooltip=""/>
          </p:cNvPr>
          <p:cNvSpPr txBox="1"/>
          <p:nvPr/>
        </p:nvSpPr>
        <p:spPr>
          <a:xfrm>
            <a:off x="6370168" y="4672584"/>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29" invalidUrl="" action="" tgtFrame="" tooltip="" history="1" highlightClick="0" endSnd="0">
                  <a:extLst>
                    <a:ext uri="{A12FA001-AC4F-418D-AE19-62706E023703}">
                      <ahyp:hlinkClr xmlns:ahyp="http://schemas.microsoft.com/office/drawing/2018/hyperlinkcolor" val="tx"/>
                    </a:ext>
                  </a:extLst>
                </a:hlinkClick>
              </a:rPr>
              <a:t>GAO  ↗</a:t>
            </a:r>
            <a:endParaRPr lang="en-US" sz="530" dirty="0"/>
          </a:p>
        </p:txBody>
      </p:sp>
      <p:sp>
        <p:nvSpPr>
          <p:cNvPr id="90" name="Text 87"/>
          <p:cNvSpPr txBox="1"/>
          <p:nvPr/>
        </p:nvSpPr>
        <p:spPr>
          <a:xfrm>
            <a:off x="6370168" y="4828032"/>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GAO-26-108687, Critical Minerals: Reducing U.S. Impor…</a:t>
            </a:r>
            <a:endParaRPr lang="en-US" sz="570" dirty="0"/>
          </a:p>
        </p:txBody>
      </p:sp>
      <p:sp>
        <p:nvSpPr>
          <p:cNvPr id="91" name="Text 88"/>
          <p:cNvSpPr txBox="1"/>
          <p:nvPr/>
        </p:nvSpPr>
        <p:spPr>
          <a:xfrm>
            <a:off x="6095848" y="5065776"/>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29</a:t>
            </a:r>
            <a:endParaRPr lang="en-US" sz="800" dirty="0"/>
          </a:p>
        </p:txBody>
      </p:sp>
      <p:sp>
        <p:nvSpPr>
          <p:cNvPr id="92" name="Text 89">
            <a:hlinkClick r:id="rId30" tooltip=""/>
          </p:cNvPr>
          <p:cNvSpPr txBox="1"/>
          <p:nvPr/>
        </p:nvSpPr>
        <p:spPr>
          <a:xfrm>
            <a:off x="6370168" y="5074920"/>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0" invalidUrl="" action="" tgtFrame="" tooltip="" history="1" highlightClick="0" endSnd="0">
                  <a:extLst>
                    <a:ext uri="{A12FA001-AC4F-418D-AE19-62706E023703}">
                      <ahyp:hlinkClr xmlns:ahyp="http://schemas.microsoft.com/office/drawing/2018/hyperlinkcolor" val="tx"/>
                    </a:ext>
                  </a:extLst>
                </a:hlinkClick>
              </a:rPr>
              <a:t>GLOBAL GROWTH INSIGHTS  ↗</a:t>
            </a:r>
            <a:endParaRPr lang="en-US" sz="530" dirty="0"/>
          </a:p>
        </p:txBody>
      </p:sp>
      <p:sp>
        <p:nvSpPr>
          <p:cNvPr id="93" name="Text 90"/>
          <p:cNvSpPr txBox="1"/>
          <p:nvPr/>
        </p:nvSpPr>
        <p:spPr>
          <a:xfrm>
            <a:off x="6370168" y="5230368"/>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Explosive Ordnance Disposal (EOD) market - $8.55bn (2…</a:t>
            </a:r>
            <a:endParaRPr lang="en-US" sz="570" dirty="0"/>
          </a:p>
        </p:txBody>
      </p:sp>
      <p:sp>
        <p:nvSpPr>
          <p:cNvPr id="94" name="Text 91"/>
          <p:cNvSpPr txBox="1"/>
          <p:nvPr/>
        </p:nvSpPr>
        <p:spPr>
          <a:xfrm>
            <a:off x="6095848" y="5468112"/>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30</a:t>
            </a:r>
            <a:endParaRPr lang="en-US" sz="800" dirty="0"/>
          </a:p>
        </p:txBody>
      </p:sp>
      <p:sp>
        <p:nvSpPr>
          <p:cNvPr id="95" name="Text 92">
            <a:hlinkClick r:id="rId31" tooltip=""/>
          </p:cNvPr>
          <p:cNvSpPr txBox="1"/>
          <p:nvPr/>
        </p:nvSpPr>
        <p:spPr>
          <a:xfrm>
            <a:off x="6370168" y="5477256"/>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1" invalidUrl="" action="" tgtFrame="" tooltip="" history="1" highlightClick="0" endSnd="0">
                  <a:extLst>
                    <a:ext uri="{A12FA001-AC4F-418D-AE19-62706E023703}">
                      <ahyp:hlinkClr xmlns:ahyp="http://schemas.microsoft.com/office/drawing/2018/hyperlinkcolor" val="tx"/>
                    </a:ext>
                  </a:extLst>
                </a:hlinkClick>
              </a:rPr>
              <a:t>LANDMINE MONITOR 2025  ↗</a:t>
            </a:r>
            <a:endParaRPr lang="en-US" sz="530" dirty="0"/>
          </a:p>
        </p:txBody>
      </p:sp>
      <p:sp>
        <p:nvSpPr>
          <p:cNvPr id="96" name="Text 93"/>
          <p:cNvSpPr txBox="1"/>
          <p:nvPr/>
        </p:nvSpPr>
        <p:spPr>
          <a:xfrm>
            <a:off x="6370168" y="5632704"/>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Major Findings - global mine action funding $1.07bn i…</a:t>
            </a:r>
            <a:endParaRPr lang="en-US" sz="570" dirty="0"/>
          </a:p>
        </p:txBody>
      </p:sp>
      <p:sp>
        <p:nvSpPr>
          <p:cNvPr id="97" name="Text 94"/>
          <p:cNvSpPr txBox="1"/>
          <p:nvPr/>
        </p:nvSpPr>
        <p:spPr>
          <a:xfrm>
            <a:off x="8869451" y="1847088"/>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31</a:t>
            </a:r>
            <a:endParaRPr lang="en-US" sz="800" dirty="0"/>
          </a:p>
        </p:txBody>
      </p:sp>
      <p:sp>
        <p:nvSpPr>
          <p:cNvPr id="98" name="Text 95">
            <a:hlinkClick r:id="rId32" tooltip=""/>
          </p:cNvPr>
          <p:cNvSpPr txBox="1"/>
          <p:nvPr/>
        </p:nvSpPr>
        <p:spPr>
          <a:xfrm>
            <a:off x="9143771" y="1856232"/>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2" invalidUrl="" action="" tgtFrame="" tooltip="" history="1" highlightClick="0" endSnd="0">
                  <a:extLst>
                    <a:ext uri="{A12FA001-AC4F-418D-AE19-62706E023703}">
                      <ahyp:hlinkClr xmlns:ahyp="http://schemas.microsoft.com/office/drawing/2018/hyperlinkcolor" val="tx"/>
                    </a:ext>
                  </a:extLst>
                </a:hlinkClick>
              </a:rPr>
              <a:t>NDIA / PD DEMIL  ↗</a:t>
            </a:r>
            <a:endParaRPr lang="en-US" sz="530" dirty="0"/>
          </a:p>
        </p:txBody>
      </p:sp>
      <p:sp>
        <p:nvSpPr>
          <p:cNvPr id="99" name="Text 96"/>
          <p:cNvSpPr txBox="1"/>
          <p:nvPr/>
        </p:nvSpPr>
        <p:spPr>
          <a:xfrm>
            <a:off x="9143771" y="2011680"/>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Hrycak, "Demil Enterprise Strategic Plan", 24th Globa…</a:t>
            </a:r>
            <a:endParaRPr lang="en-US" sz="570" dirty="0"/>
          </a:p>
        </p:txBody>
      </p:sp>
      <p:sp>
        <p:nvSpPr>
          <p:cNvPr id="100" name="Text 97"/>
          <p:cNvSpPr txBox="1"/>
          <p:nvPr/>
        </p:nvSpPr>
        <p:spPr>
          <a:xfrm>
            <a:off x="8869451" y="2249424"/>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32</a:t>
            </a:r>
            <a:endParaRPr lang="en-US" sz="800" dirty="0"/>
          </a:p>
        </p:txBody>
      </p:sp>
      <p:sp>
        <p:nvSpPr>
          <p:cNvPr id="101" name="Text 98">
            <a:hlinkClick r:id="rId33" tooltip=""/>
          </p:cNvPr>
          <p:cNvSpPr txBox="1"/>
          <p:nvPr/>
        </p:nvSpPr>
        <p:spPr>
          <a:xfrm>
            <a:off x="9143771" y="2258568"/>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3" invalidUrl="" action="" tgtFrame="" tooltip="" history="1" highlightClick="0" endSnd="0">
                  <a:extLst>
                    <a:ext uri="{A12FA001-AC4F-418D-AE19-62706E023703}">
                      <ahyp:hlinkClr xmlns:ahyp="http://schemas.microsoft.com/office/drawing/2018/hyperlinkcolor" val="tx"/>
                    </a:ext>
                  </a:extLst>
                </a:hlinkClick>
              </a:rPr>
              <a:t>US DOD CONTRACTS  ↗</a:t>
            </a:r>
            <a:endParaRPr lang="en-US" sz="530" dirty="0"/>
          </a:p>
        </p:txBody>
      </p:sp>
      <p:sp>
        <p:nvSpPr>
          <p:cNvPr id="102" name="Text 99"/>
          <p:cNvSpPr txBox="1"/>
          <p:nvPr/>
        </p:nvSpPr>
        <p:spPr>
          <a:xfrm>
            <a:off x="9143771" y="2414016"/>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Contracts for 9 Jun 2026 - Day &amp; Zimmermann, W519TC-2…</a:t>
            </a:r>
            <a:endParaRPr lang="en-US" sz="570" dirty="0"/>
          </a:p>
        </p:txBody>
      </p:sp>
      <p:sp>
        <p:nvSpPr>
          <p:cNvPr id="103" name="Text 100"/>
          <p:cNvSpPr txBox="1"/>
          <p:nvPr/>
        </p:nvSpPr>
        <p:spPr>
          <a:xfrm>
            <a:off x="8869451" y="2651760"/>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33</a:t>
            </a:r>
            <a:endParaRPr lang="en-US" sz="800" dirty="0"/>
          </a:p>
        </p:txBody>
      </p:sp>
      <p:sp>
        <p:nvSpPr>
          <p:cNvPr id="104" name="Text 101">
            <a:hlinkClick r:id="rId34" tooltip=""/>
          </p:cNvPr>
          <p:cNvSpPr txBox="1"/>
          <p:nvPr/>
        </p:nvSpPr>
        <p:spPr>
          <a:xfrm>
            <a:off x="9143771" y="2660904"/>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4" invalidUrl="" action="" tgtFrame="" tooltip="" history="1" highlightClick="0" endSnd="0">
                  <a:extLst>
                    <a:ext uri="{A12FA001-AC4F-418D-AE19-62706E023703}">
                      <ahyp:hlinkClr xmlns:ahyp="http://schemas.microsoft.com/office/drawing/2018/hyperlinkcolor" val="tx"/>
                    </a:ext>
                  </a:extLst>
                </a:hlinkClick>
              </a:rPr>
              <a:t>DEFENCE ONLINE  ↗</a:t>
            </a:r>
            <a:endParaRPr lang="en-US" sz="530" dirty="0"/>
          </a:p>
        </p:txBody>
      </p:sp>
      <p:sp>
        <p:nvSpPr>
          <p:cNvPr id="105" name="Text 102"/>
          <p:cNvSpPr txBox="1"/>
          <p:nvPr/>
        </p:nvSpPr>
        <p:spPr>
          <a:xfrm>
            <a:off x="9143771" y="2816352"/>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UK MoD DE&amp;S Explosive Ordnance Disposal and Search Su…</a:t>
            </a:r>
            <a:endParaRPr lang="en-US" sz="570" dirty="0"/>
          </a:p>
        </p:txBody>
      </p:sp>
      <p:sp>
        <p:nvSpPr>
          <p:cNvPr id="106" name="Text 103"/>
          <p:cNvSpPr txBox="1"/>
          <p:nvPr/>
        </p:nvSpPr>
        <p:spPr>
          <a:xfrm>
            <a:off x="8869451" y="3054096"/>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34</a:t>
            </a:r>
            <a:endParaRPr lang="en-US" sz="800" dirty="0"/>
          </a:p>
        </p:txBody>
      </p:sp>
      <p:sp>
        <p:nvSpPr>
          <p:cNvPr id="107" name="Text 104">
            <a:hlinkClick r:id="rId35" tooltip=""/>
          </p:cNvPr>
          <p:cNvSpPr txBox="1"/>
          <p:nvPr/>
        </p:nvSpPr>
        <p:spPr>
          <a:xfrm>
            <a:off x="9143771" y="3063240"/>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5" invalidUrl="" action="" tgtFrame="" tooltip="" history="1" highlightClick="0" endSnd="0">
                  <a:extLst>
                    <a:ext uri="{A12FA001-AC4F-418D-AE19-62706E023703}">
                      <ahyp:hlinkClr xmlns:ahyp="http://schemas.microsoft.com/office/drawing/2018/hyperlinkcolor" val="tx"/>
                    </a:ext>
                  </a:extLst>
                </a:hlinkClick>
              </a:rPr>
              <a:t>GF DATA / PEPPERDINE  ↗</a:t>
            </a:r>
            <a:endParaRPr lang="en-US" sz="530" dirty="0"/>
          </a:p>
        </p:txBody>
      </p:sp>
      <p:sp>
        <p:nvSpPr>
          <p:cNvPr id="108" name="Text 105"/>
          <p:cNvSpPr txBox="1"/>
          <p:nvPr/>
        </p:nvSpPr>
        <p:spPr>
          <a:xfrm>
            <a:off x="9143771" y="3218688"/>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Lower-middle-market EBITDA multiples 2025: sub-$10M T…</a:t>
            </a:r>
            <a:endParaRPr lang="en-US" sz="570" dirty="0"/>
          </a:p>
        </p:txBody>
      </p:sp>
      <p:sp>
        <p:nvSpPr>
          <p:cNvPr id="109" name="Text 106"/>
          <p:cNvSpPr txBox="1"/>
          <p:nvPr/>
        </p:nvSpPr>
        <p:spPr>
          <a:xfrm>
            <a:off x="8869451" y="3456432"/>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35</a:t>
            </a:r>
            <a:endParaRPr lang="en-US" sz="800" dirty="0"/>
          </a:p>
        </p:txBody>
      </p:sp>
      <p:sp>
        <p:nvSpPr>
          <p:cNvPr id="110" name="Text 107">
            <a:hlinkClick r:id="rId36" tooltip=""/>
          </p:cNvPr>
          <p:cNvSpPr txBox="1"/>
          <p:nvPr/>
        </p:nvSpPr>
        <p:spPr>
          <a:xfrm>
            <a:off x="9143771" y="3465576"/>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6" invalidUrl="" action="" tgtFrame="" tooltip="" history="1" highlightClick="0" endSnd="0">
                  <a:extLst>
                    <a:ext uri="{A12FA001-AC4F-418D-AE19-62706E023703}">
                      <ahyp:hlinkClr xmlns:ahyp="http://schemas.microsoft.com/office/drawing/2018/hyperlinkcolor" val="tx"/>
                    </a:ext>
                  </a:extLst>
                </a:hlinkClick>
              </a:rPr>
              <a:t>KPMG; PCE  ↗</a:t>
            </a:r>
            <a:endParaRPr lang="en-US" sz="530" dirty="0"/>
          </a:p>
        </p:txBody>
      </p:sp>
      <p:sp>
        <p:nvSpPr>
          <p:cNvPr id="111" name="Text 108"/>
          <p:cNvSpPr txBox="1"/>
          <p:nvPr/>
        </p:nvSpPr>
        <p:spPr>
          <a:xfrm>
            <a:off x="9143771" y="3621024"/>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Government Technology Solutions H2 2025 - sector EV/E…</a:t>
            </a:r>
            <a:endParaRPr lang="en-US" sz="570" dirty="0"/>
          </a:p>
        </p:txBody>
      </p:sp>
      <p:sp>
        <p:nvSpPr>
          <p:cNvPr id="112" name="Text 109"/>
          <p:cNvSpPr txBox="1"/>
          <p:nvPr/>
        </p:nvSpPr>
        <p:spPr>
          <a:xfrm>
            <a:off x="8869451" y="3858768"/>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36</a:t>
            </a:r>
            <a:endParaRPr lang="en-US" sz="800" dirty="0"/>
          </a:p>
        </p:txBody>
      </p:sp>
      <p:sp>
        <p:nvSpPr>
          <p:cNvPr id="113" name="Text 110">
            <a:hlinkClick r:id="rId37" tooltip=""/>
          </p:cNvPr>
          <p:cNvSpPr txBox="1"/>
          <p:nvPr/>
        </p:nvSpPr>
        <p:spPr>
          <a:xfrm>
            <a:off x="9143771" y="3867912"/>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7" invalidUrl="" action="" tgtFrame="" tooltip="" history="1" highlightClick="0" endSnd="0">
                  <a:extLst>
                    <a:ext uri="{A12FA001-AC4F-418D-AE19-62706E023703}">
                      <ahyp:hlinkClr xmlns:ahyp="http://schemas.microsoft.com/office/drawing/2018/hyperlinkcolor" val="tx"/>
                    </a:ext>
                  </a:extLst>
                </a:hlinkClick>
              </a:rPr>
              <a:t>STOCKANALYSIS; CADRE HOLDINGS  ↗</a:t>
            </a:r>
            <a:endParaRPr lang="en-US" sz="530" dirty="0"/>
          </a:p>
        </p:txBody>
      </p:sp>
      <p:sp>
        <p:nvSpPr>
          <p:cNvPr id="114" name="Text 111"/>
          <p:cNvSpPr txBox="1"/>
          <p:nvPr/>
        </p:nvSpPr>
        <p:spPr>
          <a:xfrm>
            <a:off x="9143771" y="4023360"/>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CDRE statistics (31 Aug 2026): revenue $685.65M, EV $…</a:t>
            </a:r>
            <a:endParaRPr lang="en-US" sz="570" dirty="0"/>
          </a:p>
        </p:txBody>
      </p:sp>
      <p:sp>
        <p:nvSpPr>
          <p:cNvPr id="115" name="Text 112"/>
          <p:cNvSpPr txBox="1"/>
          <p:nvPr/>
        </p:nvSpPr>
        <p:spPr>
          <a:xfrm>
            <a:off x="8869451" y="4261104"/>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37</a:t>
            </a:r>
            <a:endParaRPr lang="en-US" sz="800" dirty="0"/>
          </a:p>
        </p:txBody>
      </p:sp>
      <p:sp>
        <p:nvSpPr>
          <p:cNvPr id="116" name="Text 113">
            <a:hlinkClick r:id="rId38" tooltip=""/>
          </p:cNvPr>
          <p:cNvSpPr txBox="1"/>
          <p:nvPr/>
        </p:nvSpPr>
        <p:spPr>
          <a:xfrm>
            <a:off x="9143771" y="4270248"/>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8" invalidUrl="" action="" tgtFrame="" tooltip="" history="1" highlightClick="0" endSnd="0">
                  <a:extLst>
                    <a:ext uri="{A12FA001-AC4F-418D-AE19-62706E023703}">
                      <ahyp:hlinkClr xmlns:ahyp="http://schemas.microsoft.com/office/drawing/2018/hyperlinkcolor" val="tx"/>
                    </a:ext>
                  </a:extLst>
                </a:hlinkClick>
              </a:rPr>
              <a:t>STOCKANALYSIS  ↗</a:t>
            </a:r>
            <a:endParaRPr lang="en-US" sz="530" dirty="0"/>
          </a:p>
        </p:txBody>
      </p:sp>
      <p:sp>
        <p:nvSpPr>
          <p:cNvPr id="117" name="Text 114"/>
          <p:cNvSpPr txBox="1"/>
          <p:nvPr/>
        </p:nvSpPr>
        <p:spPr>
          <a:xfrm>
            <a:off x="9143771" y="4425696"/>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ABAT statistics (26 Aug 2026): revenue $16.28M, EV $3…</a:t>
            </a:r>
            <a:endParaRPr lang="en-US" sz="570" dirty="0"/>
          </a:p>
        </p:txBody>
      </p:sp>
      <p:sp>
        <p:nvSpPr>
          <p:cNvPr id="118" name="Text 115"/>
          <p:cNvSpPr txBox="1"/>
          <p:nvPr/>
        </p:nvSpPr>
        <p:spPr>
          <a:xfrm>
            <a:off x="8869451" y="4663440"/>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38</a:t>
            </a:r>
            <a:endParaRPr lang="en-US" sz="800" dirty="0"/>
          </a:p>
        </p:txBody>
      </p:sp>
      <p:sp>
        <p:nvSpPr>
          <p:cNvPr id="119" name="Text 116">
            <a:hlinkClick r:id="rId39" tooltip=""/>
          </p:cNvPr>
          <p:cNvSpPr txBox="1"/>
          <p:nvPr/>
        </p:nvSpPr>
        <p:spPr>
          <a:xfrm>
            <a:off x="9143771" y="4672584"/>
            <a:ext cx="2206676" cy="137160"/>
          </a:xfrm>
          <a:prstGeom prst="rect">
            <a:avLst/>
          </a:prstGeom>
          <a:noFill/>
          <a:ln/>
        </p:spPr>
        <p:txBody>
          <a:bodyPr wrap="none" lIns="0" tIns="0" rIns="0" bIns="0" rtlCol="0" anchor="ctr"/>
          <a:lstStyle/>
          <a:p>
            <a:pPr indent="0" marL="0">
              <a:buNone/>
            </a:pPr>
            <a:r>
              <a:rPr lang="en-US" sz="530" u="sng" spc="50" kern="0" dirty="0">
                <a:solidFill>
                  <a:srgbClr val="66705F"/>
                </a:solidFill>
                <a:latin typeface="IBM Plex Mono" pitchFamily="34" charset="0"/>
                <a:ea typeface="IBM Plex Mono" pitchFamily="34" charset="-122"/>
                <a:cs typeface="IBM Plex Mono" pitchFamily="34" charset="-120"/>
                <a:hlinkClick r:id="rId39" invalidUrl="" action="" tgtFrame="" tooltip="" history="1" highlightClick="0" endSnd="0">
                  <a:extLst>
                    <a:ext uri="{A12FA001-AC4F-418D-AE19-62706E023703}">
                      <ahyp:hlinkClr xmlns:ahyp="http://schemas.microsoft.com/office/drawing/2018/hyperlinkcolor" val="tx"/>
                    </a:ext>
                  </a:extLst>
                </a:hlinkClick>
              </a:rPr>
              <a:t>DIEHL DEFENCE; ESD; LEGAL500  ↗</a:t>
            </a:r>
            <a:endParaRPr lang="en-US" sz="530" dirty="0"/>
          </a:p>
        </p:txBody>
      </p:sp>
      <p:sp>
        <p:nvSpPr>
          <p:cNvPr id="120" name="Text 117"/>
          <p:cNvSpPr txBox="1"/>
          <p:nvPr/>
        </p:nvSpPr>
        <p:spPr>
          <a:xfrm>
            <a:off x="9143771" y="4828032"/>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Diehl–Tauber (29 Oct 2025); Diehl–EST Energetics (Jul…</a:t>
            </a:r>
            <a:endParaRPr lang="en-US" sz="570" dirty="0"/>
          </a:p>
        </p:txBody>
      </p:sp>
      <p:sp>
        <p:nvSpPr>
          <p:cNvPr id="121" name="Text 118"/>
          <p:cNvSpPr txBox="1"/>
          <p:nvPr/>
        </p:nvSpPr>
        <p:spPr>
          <a:xfrm>
            <a:off x="8869451" y="5065776"/>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a:t>
            </a:r>
            <a:endParaRPr lang="en-US" sz="800" dirty="0"/>
          </a:p>
        </p:txBody>
      </p:sp>
      <p:sp>
        <p:nvSpPr>
          <p:cNvPr id="122" name="Text 119"/>
          <p:cNvSpPr txBox="1"/>
          <p:nvPr/>
        </p:nvSpPr>
        <p:spPr>
          <a:xfrm>
            <a:off x="9143771" y="5074920"/>
            <a:ext cx="2206676" cy="137160"/>
          </a:xfrm>
          <a:prstGeom prst="rect">
            <a:avLst/>
          </a:prstGeom>
          <a:noFill/>
          <a:ln/>
        </p:spPr>
        <p:txBody>
          <a:bodyPr wrap="none" lIns="0" tIns="0" rIns="0" bIns="0" rtlCol="0" anchor="ctr"/>
          <a:lstStyle/>
          <a:p>
            <a:pPr indent="0" marL="0">
              <a:buNone/>
            </a:pPr>
            <a:r>
              <a:rPr lang="en-US" sz="530" spc="50" kern="0" dirty="0">
                <a:solidFill>
                  <a:srgbClr val="66705F"/>
                </a:solidFill>
                <a:latin typeface="IBM Plex Mono" pitchFamily="34" charset="0"/>
                <a:ea typeface="IBM Plex Mono" pitchFamily="34" charset="-122"/>
                <a:cs typeface="IBM Plex Mono" pitchFamily="34" charset="-120"/>
              </a:rPr>
              <a:t>TWB DESIGNS (COMPANY)</a:t>
            </a:r>
            <a:endParaRPr lang="en-US" sz="530" dirty="0"/>
          </a:p>
        </p:txBody>
      </p:sp>
      <p:sp>
        <p:nvSpPr>
          <p:cNvPr id="123" name="Text 120"/>
          <p:cNvSpPr txBox="1"/>
          <p:nvPr/>
        </p:nvSpPr>
        <p:spPr>
          <a:xfrm>
            <a:off x="9143771" y="5230368"/>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Company-provided: throughput, recovery rate, standard…</a:t>
            </a:r>
            <a:endParaRPr lang="en-US" sz="570" dirty="0"/>
          </a:p>
        </p:txBody>
      </p:sp>
      <p:sp>
        <p:nvSpPr>
          <p:cNvPr id="124" name="Text 121"/>
          <p:cNvSpPr txBox="1"/>
          <p:nvPr/>
        </p:nvSpPr>
        <p:spPr>
          <a:xfrm>
            <a:off x="8869451" y="5468112"/>
            <a:ext cx="256032" cy="164592"/>
          </a:xfrm>
          <a:prstGeom prst="rect">
            <a:avLst/>
          </a:prstGeom>
          <a:noFill/>
          <a:ln/>
        </p:spPr>
        <p:txBody>
          <a:bodyPr wrap="square" lIns="0" tIns="0" rIns="0" bIns="0" rtlCol="0" anchor="ctr"/>
          <a:lstStyle/>
          <a:p>
            <a:pPr indent="0" marL="0">
              <a:buNone/>
            </a:pPr>
            <a:r>
              <a:rPr lang="en-US" sz="800" dirty="0">
                <a:solidFill>
                  <a:srgbClr val="788274"/>
                </a:solidFill>
                <a:latin typeface="Helvetica Neue" pitchFamily="34" charset="0"/>
                <a:ea typeface="Helvetica Neue" pitchFamily="34" charset="-122"/>
                <a:cs typeface="Helvetica Neue" pitchFamily="34" charset="-120"/>
              </a:rPr>
              <a:t>–</a:t>
            </a:r>
            <a:endParaRPr lang="en-US" sz="800" dirty="0"/>
          </a:p>
        </p:txBody>
      </p:sp>
      <p:sp>
        <p:nvSpPr>
          <p:cNvPr id="125" name="Text 122"/>
          <p:cNvSpPr txBox="1"/>
          <p:nvPr/>
        </p:nvSpPr>
        <p:spPr>
          <a:xfrm>
            <a:off x="9143771" y="5477256"/>
            <a:ext cx="2206676" cy="137160"/>
          </a:xfrm>
          <a:prstGeom prst="rect">
            <a:avLst/>
          </a:prstGeom>
          <a:noFill/>
          <a:ln/>
        </p:spPr>
        <p:txBody>
          <a:bodyPr wrap="none" lIns="0" tIns="0" rIns="0" bIns="0" rtlCol="0" anchor="ctr"/>
          <a:lstStyle/>
          <a:p>
            <a:pPr indent="0" marL="0">
              <a:buNone/>
            </a:pPr>
            <a:r>
              <a:rPr lang="en-US" sz="530" spc="50" kern="0" dirty="0">
                <a:solidFill>
                  <a:srgbClr val="66705F"/>
                </a:solidFill>
                <a:latin typeface="IBM Plex Mono" pitchFamily="34" charset="0"/>
                <a:ea typeface="IBM Plex Mono" pitchFamily="34" charset="-122"/>
                <a:cs typeface="IBM Plex Mono" pitchFamily="34" charset="-120"/>
              </a:rPr>
              <a:t>TWB FINANCIAL MODEL</a:t>
            </a:r>
            <a:endParaRPr lang="en-US" sz="530" dirty="0"/>
          </a:p>
        </p:txBody>
      </p:sp>
      <p:sp>
        <p:nvSpPr>
          <p:cNvPr id="126" name="Text 123"/>
          <p:cNvSpPr txBox="1"/>
          <p:nvPr/>
        </p:nvSpPr>
        <p:spPr>
          <a:xfrm>
            <a:off x="9143771" y="5632704"/>
            <a:ext cx="2206676" cy="182880"/>
          </a:xfrm>
          <a:prstGeom prst="rect">
            <a:avLst/>
          </a:prstGeom>
          <a:noFill/>
          <a:ln/>
        </p:spPr>
        <p:txBody>
          <a:bodyPr wrap="none" lIns="0" tIns="0" rIns="0" bIns="0" rtlCol="0" anchor="t"/>
          <a:lstStyle/>
          <a:p>
            <a:pPr indent="0" marL="0">
              <a:buNone/>
            </a:pPr>
            <a:r>
              <a:rPr lang="en-US" sz="570" dirty="0">
                <a:solidFill>
                  <a:srgbClr val="33332F"/>
                </a:solidFill>
                <a:latin typeface="Helvetica Neue" pitchFamily="34" charset="0"/>
                <a:ea typeface="Helvetica Neue" pitchFamily="34" charset="-122"/>
                <a:cs typeface="Helvetica Neue" pitchFamily="34" charset="-120"/>
              </a:rPr>
              <a:t>TWB_Financial_Model.xlsx - every projection on slides…</a:t>
            </a:r>
            <a:endParaRPr lang="en-US" sz="570" dirty="0"/>
          </a:p>
        </p:txBody>
      </p:sp>
      <p:sp>
        <p:nvSpPr>
          <p:cNvPr id="127" name="Text 124"/>
          <p:cNvSpPr txBox="1"/>
          <p:nvPr/>
        </p:nvSpPr>
        <p:spPr>
          <a:xfrm>
            <a:off x="548640" y="6144768"/>
            <a:ext cx="9997135" cy="274320"/>
          </a:xfrm>
          <a:prstGeom prst="rect">
            <a:avLst/>
          </a:prstGeom>
          <a:noFill/>
          <a:ln/>
        </p:spPr>
        <p:txBody>
          <a:bodyPr wrap="square" lIns="0" tIns="0" rIns="0" bIns="0" rtlCol="0" anchor="b"/>
          <a:lstStyle/>
          <a:p>
            <a:pPr indent="0" marL="0">
              <a:buNone/>
            </a:pPr>
            <a:r>
              <a:rPr lang="en-US" sz="650" dirty="0">
                <a:solidFill>
                  <a:srgbClr val="6E6C66"/>
                </a:solidFill>
                <a:latin typeface="IBM Plex Mono" pitchFamily="34" charset="0"/>
                <a:ea typeface="IBM Plex Mono" pitchFamily="34" charset="-122"/>
                <a:cs typeface="IBM Plex Mono" pitchFamily="34" charset="-120"/>
              </a:rPr>
              <a:t>Discipline: no figure appears in this deck without a named source and a date, or a "company" / "projection" label. Derived figures are shown as ranges and labelled. Recovery-rate and net-cost economics are withheld until third-party verification publishes.</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TWB Designs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TWB Designs - Investor Presentation, September 2026</dc:title>
  <dc:subject>PptxGenJS Presentation</dc:subject>
  <dc:creator>TWB Designs Inc.</dc:creator>
  <cp:lastModifiedBy>TWB Designs Inc.</cp:lastModifiedBy>
  <cp:revision>1</cp:revision>
  <dcterms:created xsi:type="dcterms:W3CDTF">2026-09-03T15:58:46Z</dcterms:created>
  <dcterms:modified xsi:type="dcterms:W3CDTF">2026-09-03T15:58:46Z</dcterms:modified>
</cp:coreProperties>
</file>