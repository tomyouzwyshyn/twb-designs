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custody. Do not open on the technology. The machine is the proof of the promise, not the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indicting comparison. Deliver it flat, without drama. The facts carry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whole pitch. If you only get one slide, use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honesty here is a sales asset, not a weakness. It differentiates against competitors who publish unverified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Disclosure discipline is the differentiator here. Everything on this slide is checkable in a government database, and evaluators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310896"/>
            <a:ext cx="310896" cy="25603"/>
          </a:xfrm>
          <a:prstGeom prst="rect">
            <a:avLst/>
          </a:prstGeom>
          <a:solidFill>
            <a:srgbClr val="66705F"/>
          </a:solidFill>
          <a:ln/>
        </p:spPr>
      </p:sp>
      <p:sp>
        <p:nvSpPr>
          <p:cNvPr id="3" name="Shape 1"/>
          <p:cNvSpPr/>
          <p:nvPr/>
        </p:nvSpPr>
        <p:spPr>
          <a:xfrm>
            <a:off x="310896" y="310896"/>
            <a:ext cx="25603" cy="310896"/>
          </a:xfrm>
          <a:prstGeom prst="rect">
            <a:avLst/>
          </a:prstGeom>
          <a:solidFill>
            <a:srgbClr val="66705F"/>
          </a:solidFill>
          <a:ln/>
        </p:spPr>
      </p:sp>
      <p:sp>
        <p:nvSpPr>
          <p:cNvPr id="4" name="Shape 2"/>
          <p:cNvSpPr/>
          <p:nvPr/>
        </p:nvSpPr>
        <p:spPr>
          <a:xfrm>
            <a:off x="11539728" y="310896"/>
            <a:ext cx="310896" cy="25603"/>
          </a:xfrm>
          <a:prstGeom prst="rect">
            <a:avLst/>
          </a:prstGeom>
          <a:solidFill>
            <a:srgbClr val="66705F"/>
          </a:solidFill>
          <a:ln/>
        </p:spPr>
      </p:sp>
      <p:sp>
        <p:nvSpPr>
          <p:cNvPr id="5" name="Shape 3"/>
          <p:cNvSpPr/>
          <p:nvPr/>
        </p:nvSpPr>
        <p:spPr>
          <a:xfrm>
            <a:off x="11825021" y="310896"/>
            <a:ext cx="25603" cy="310896"/>
          </a:xfrm>
          <a:prstGeom prst="rect">
            <a:avLst/>
          </a:prstGeom>
          <a:solidFill>
            <a:srgbClr val="66705F"/>
          </a:solidFill>
          <a:ln/>
        </p:spPr>
      </p:sp>
      <p:sp>
        <p:nvSpPr>
          <p:cNvPr id="6" name="Shape 4"/>
          <p:cNvSpPr/>
          <p:nvPr/>
        </p:nvSpPr>
        <p:spPr>
          <a:xfrm>
            <a:off x="310896" y="6521501"/>
            <a:ext cx="310896" cy="25603"/>
          </a:xfrm>
          <a:prstGeom prst="rect">
            <a:avLst/>
          </a:prstGeom>
          <a:solidFill>
            <a:srgbClr val="66705F"/>
          </a:solidFill>
          <a:ln/>
        </p:spPr>
      </p:sp>
      <p:sp>
        <p:nvSpPr>
          <p:cNvPr id="7" name="Shape 5"/>
          <p:cNvSpPr/>
          <p:nvPr/>
        </p:nvSpPr>
        <p:spPr>
          <a:xfrm>
            <a:off x="310896" y="6236208"/>
            <a:ext cx="25603" cy="310896"/>
          </a:xfrm>
          <a:prstGeom prst="rect">
            <a:avLst/>
          </a:prstGeom>
          <a:solidFill>
            <a:srgbClr val="66705F"/>
          </a:solidFill>
          <a:ln/>
        </p:spPr>
      </p:sp>
      <p:sp>
        <p:nvSpPr>
          <p:cNvPr id="8" name="Shape 6"/>
          <p:cNvSpPr/>
          <p:nvPr/>
        </p:nvSpPr>
        <p:spPr>
          <a:xfrm>
            <a:off x="11539728" y="6521501"/>
            <a:ext cx="310896" cy="25603"/>
          </a:xfrm>
          <a:prstGeom prst="rect">
            <a:avLst/>
          </a:prstGeom>
          <a:solidFill>
            <a:srgbClr val="66705F"/>
          </a:solidFill>
          <a:ln/>
        </p:spPr>
      </p:sp>
      <p:sp>
        <p:nvSpPr>
          <p:cNvPr id="9" name="Shape 7"/>
          <p:cNvSpPr/>
          <p:nvPr/>
        </p:nvSpPr>
        <p:spPr>
          <a:xfrm>
            <a:off x="11825021" y="6236208"/>
            <a:ext cx="25603" cy="310896"/>
          </a:xfrm>
          <a:prstGeom prst="rect">
            <a:avLst/>
          </a:prstGeom>
          <a:solidFill>
            <a:srgbClr val="66705F"/>
          </a:solidFill>
          <a:ln/>
        </p:spPr>
      </p:sp>
      <p:sp>
        <p:nvSpPr>
          <p:cNvPr id="10" name="Text 8"/>
          <p:cNvSpPr/>
          <p:nvPr/>
        </p:nvSpPr>
        <p:spPr>
          <a:xfrm>
            <a:off x="868680" y="868680"/>
            <a:ext cx="2926080" cy="365760"/>
          </a:xfrm>
          <a:prstGeom prst="rect">
            <a:avLst/>
          </a:prstGeom>
          <a:noFill/>
          <a:ln/>
        </p:spPr>
        <p:txBody>
          <a:bodyPr wrap="square" lIns="0" tIns="0" rIns="0" bIns="0" rtlCol="0" anchor="ctr"/>
          <a:lstStyle/>
          <a:p>
            <a:pPr indent="0" marL="0">
              <a:buNone/>
            </a:pPr>
            <a:r>
              <a:rPr lang="en-US" sz="2000" b="1" spc="-50" kern="0" dirty="0">
                <a:solidFill>
                  <a:srgbClr val="000000"/>
                </a:solidFill>
                <a:latin typeface="Helvetica Neue" pitchFamily="34" charset="0"/>
                <a:ea typeface="Helvetica Neue" pitchFamily="34" charset="-122"/>
                <a:cs typeface="Helvetica Neue" pitchFamily="34" charset="-120"/>
              </a:rPr>
              <a:t>TWB Designs</a:t>
            </a:r>
            <a:endParaRPr lang="en-US" sz="2000" dirty="0"/>
          </a:p>
        </p:txBody>
      </p:sp>
      <p:sp>
        <p:nvSpPr>
          <p:cNvPr id="11" name="Text 9"/>
          <p:cNvSpPr/>
          <p:nvPr/>
        </p:nvSpPr>
        <p:spPr>
          <a:xfrm>
            <a:off x="2788920" y="914400"/>
            <a:ext cx="2743200" cy="292608"/>
          </a:xfrm>
          <a:prstGeom prst="rect">
            <a:avLst/>
          </a:prstGeom>
          <a:noFill/>
          <a:ln/>
        </p:spPr>
        <p:txBody>
          <a:bodyPr wrap="square" lIns="0" tIns="0" rIns="0" bIns="0" rtlCol="0" anchor="ctr"/>
          <a:lstStyle/>
          <a:p>
            <a:pPr indent="0" marL="0">
              <a:buNone/>
            </a:pPr>
            <a:r>
              <a:rPr lang="en-US" sz="1100" b="1" spc="220" kern="0" dirty="0">
                <a:solidFill>
                  <a:srgbClr val="66705F"/>
                </a:solidFill>
                <a:latin typeface="Courier New" pitchFamily="34" charset="0"/>
                <a:ea typeface="Courier New" pitchFamily="34" charset="-122"/>
                <a:cs typeface="Courier New" pitchFamily="34" charset="-120"/>
              </a:rPr>
              <a:t>VAULT</a:t>
            </a:r>
            <a:endParaRPr lang="en-US" sz="1100" dirty="0"/>
          </a:p>
        </p:txBody>
      </p:sp>
      <p:sp>
        <p:nvSpPr>
          <p:cNvPr id="12" name="Text 10"/>
          <p:cNvSpPr/>
          <p:nvPr/>
        </p:nvSpPr>
        <p:spPr>
          <a:xfrm>
            <a:off x="868680" y="1965960"/>
            <a:ext cx="8412480" cy="2103120"/>
          </a:xfrm>
          <a:prstGeom prst="rect">
            <a:avLst/>
          </a:prstGeom>
          <a:noFill/>
          <a:ln/>
        </p:spPr>
        <p:txBody>
          <a:bodyPr wrap="square" lIns="0" tIns="0" rIns="0" bIns="0" rtlCol="0" anchor="ctr"/>
          <a:lstStyle/>
          <a:p>
            <a:pPr indent="0" marL="0">
              <a:lnSpc>
                <a:spcPts val="6200"/>
              </a:lnSpc>
              <a:buNone/>
            </a:pPr>
            <a:r>
              <a:rPr lang="en-US" sz="5800" spc="-160" kern="0" dirty="0">
                <a:solidFill>
                  <a:srgbClr val="000000"/>
                </a:solidFill>
                <a:latin typeface="Helvetica Neue" pitchFamily="34" charset="0"/>
                <a:ea typeface="Helvetica Neue" pitchFamily="34" charset="-122"/>
                <a:cs typeface="Helvetica Neue" pitchFamily="34" charset="-120"/>
              </a:rPr>
              <a:t>It never leaves</a:t>
            </a:r>
            <a:endParaRPr lang="en-US" sz="5800" dirty="0"/>
          </a:p>
          <a:p>
            <a:pPr indent="0" marL="0">
              <a:lnSpc>
                <a:spcPts val="6200"/>
              </a:lnSpc>
              <a:buNone/>
            </a:pPr>
            <a:r>
              <a:rPr lang="en-US" sz="5800" spc="-160" kern="0" dirty="0">
                <a:solidFill>
                  <a:srgbClr val="000000"/>
                </a:solidFill>
                <a:latin typeface="Helvetica Neue" pitchFamily="34" charset="0"/>
                <a:ea typeface="Helvetica Neue" pitchFamily="34" charset="-122"/>
                <a:cs typeface="Helvetica Neue" pitchFamily="34" charset="-120"/>
              </a:rPr>
              <a:t>your custody.</a:t>
            </a:r>
            <a:endParaRPr lang="en-US" sz="5800" dirty="0"/>
          </a:p>
        </p:txBody>
      </p:sp>
      <p:sp>
        <p:nvSpPr>
          <p:cNvPr id="13" name="Text 11"/>
          <p:cNvSpPr/>
          <p:nvPr/>
        </p:nvSpPr>
        <p:spPr>
          <a:xfrm>
            <a:off x="868680" y="4434840"/>
            <a:ext cx="6766560" cy="914400"/>
          </a:xfrm>
          <a:prstGeom prst="rect">
            <a:avLst/>
          </a:prstGeom>
          <a:noFill/>
          <a:ln/>
        </p:spPr>
        <p:txBody>
          <a:bodyPr wrap="square" lIns="0" tIns="0" rIns="0" bIns="0" rtlCol="0" anchor="ctr"/>
          <a:lstStyle/>
          <a:p>
            <a:pPr indent="0" marL="0">
              <a:lnSpc>
                <a:spcPts val="2500"/>
              </a:lnSpc>
              <a:buNone/>
            </a:pPr>
            <a:r>
              <a:rPr lang="en-US" sz="1700" dirty="0">
                <a:solidFill>
                  <a:srgbClr val="3A3A38"/>
                </a:solidFill>
                <a:latin typeface="Helvetica Neue" pitchFamily="34" charset="0"/>
                <a:ea typeface="Helvetica Neue" pitchFamily="34" charset="-122"/>
                <a:cs typeface="Helvetica Neue" pitchFamily="34" charset="-120"/>
              </a:rPr>
              <a:t>Mobile, closed-chamber destruction of small arms ammunition — inside your own perimeter, on the day it is scheduled, by your own people.</a:t>
            </a:r>
            <a:endParaRPr lang="en-US" sz="1700" dirty="0"/>
          </a:p>
        </p:txBody>
      </p:sp>
      <p:sp>
        <p:nvSpPr>
          <p:cNvPr id="14" name="Text 12"/>
          <p:cNvSpPr/>
          <p:nvPr/>
        </p:nvSpPr>
        <p:spPr>
          <a:xfrm>
            <a:off x="86868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2001</a:t>
            </a:r>
            <a:endParaRPr lang="en-US" sz="2200" dirty="0"/>
          </a:p>
        </p:txBody>
      </p:sp>
      <p:sp>
        <p:nvSpPr>
          <p:cNvPr id="15" name="Text 13"/>
          <p:cNvSpPr/>
          <p:nvPr/>
        </p:nvSpPr>
        <p:spPr>
          <a:xfrm>
            <a:off x="86868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IN SERVICE SINCE</a:t>
            </a:r>
            <a:endParaRPr lang="en-US" sz="800" dirty="0"/>
          </a:p>
        </p:txBody>
      </p:sp>
      <p:sp>
        <p:nvSpPr>
          <p:cNvPr id="16" name="Text 14"/>
          <p:cNvSpPr/>
          <p:nvPr/>
        </p:nvSpPr>
        <p:spPr>
          <a:xfrm>
            <a:off x="347472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SAME DAY</a:t>
            </a:r>
            <a:endParaRPr lang="en-US" sz="2200" dirty="0"/>
          </a:p>
        </p:txBody>
      </p:sp>
      <p:sp>
        <p:nvSpPr>
          <p:cNvPr id="17" name="Text 15"/>
          <p:cNvSpPr/>
          <p:nvPr/>
        </p:nvSpPr>
        <p:spPr>
          <a:xfrm>
            <a:off x="347472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ARRIVAL TO FIRST BURN</a:t>
            </a:r>
            <a:endParaRPr lang="en-US" sz="800" dirty="0"/>
          </a:p>
        </p:txBody>
      </p:sp>
      <p:sp>
        <p:nvSpPr>
          <p:cNvPr id="18" name="Text 16"/>
          <p:cNvSpPr/>
          <p:nvPr/>
        </p:nvSpPr>
        <p:spPr>
          <a:xfrm>
            <a:off x="608076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ZERO</a:t>
            </a:r>
            <a:endParaRPr lang="en-US" sz="2200" dirty="0"/>
          </a:p>
        </p:txBody>
      </p:sp>
      <p:sp>
        <p:nvSpPr>
          <p:cNvPr id="19" name="Text 17"/>
          <p:cNvSpPr/>
          <p:nvPr/>
        </p:nvSpPr>
        <p:spPr>
          <a:xfrm>
            <a:off x="608076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CUSTODY TRANSFERS</a:t>
            </a:r>
            <a:endParaRPr lang="en-US" sz="800" dirty="0"/>
          </a:p>
        </p:txBody>
      </p:sp>
      <p:sp>
        <p:nvSpPr>
          <p:cNvPr id="20" name="Text 18"/>
          <p:cNvSpPr/>
          <p:nvPr/>
        </p:nvSpPr>
        <p:spPr>
          <a:xfrm>
            <a:off x="8686800" y="5577840"/>
            <a:ext cx="2468880" cy="384048"/>
          </a:xfrm>
          <a:prstGeom prst="rect">
            <a:avLst/>
          </a:prstGeom>
          <a:noFill/>
          <a:ln/>
        </p:spPr>
        <p:txBody>
          <a:bodyPr wrap="square" lIns="0" tIns="0" rIns="0" bIns="0" rtlCol="0" anchor="ctr"/>
          <a:lstStyle/>
          <a:p>
            <a:pPr indent="0" marL="0">
              <a:buNone/>
            </a:pPr>
            <a:r>
              <a:rPr lang="en-US" sz="2200" b="1" spc="-60" kern="0" dirty="0">
                <a:solidFill>
                  <a:srgbClr val="66705F"/>
                </a:solidFill>
                <a:latin typeface="Helvetica Neue" pitchFamily="34" charset="0"/>
                <a:ea typeface="Helvetica Neue" pitchFamily="34" charset="-122"/>
                <a:cs typeface="Helvetica Neue" pitchFamily="34" charset="-120"/>
              </a:rPr>
              <a:t>.50 CAL</a:t>
            </a:r>
            <a:endParaRPr lang="en-US" sz="2200" dirty="0"/>
          </a:p>
        </p:txBody>
      </p:sp>
      <p:sp>
        <p:nvSpPr>
          <p:cNvPr id="21" name="Text 19"/>
          <p:cNvSpPr/>
          <p:nvPr/>
        </p:nvSpPr>
        <p:spPr>
          <a:xfrm>
            <a:off x="8686800" y="5989320"/>
            <a:ext cx="2468880" cy="256032"/>
          </a:xfrm>
          <a:prstGeom prst="rect">
            <a:avLst/>
          </a:prstGeom>
          <a:noFill/>
          <a:ln/>
        </p:spPr>
        <p:txBody>
          <a:bodyPr wrap="square" lIns="0" tIns="0" rIns="0" bIns="0" rtlCol="0" anchor="ctr"/>
          <a:lstStyle/>
          <a:p>
            <a:pPr indent="0" marL="0">
              <a:buNone/>
            </a:pPr>
            <a:r>
              <a:rPr lang="en-US" sz="800" b="1" spc="150" kern="0" dirty="0">
                <a:solidFill>
                  <a:srgbClr val="75736D"/>
                </a:solidFill>
                <a:latin typeface="Helvetica Neue" pitchFamily="34" charset="0"/>
                <a:ea typeface="Helvetica Neue" pitchFamily="34" charset="-122"/>
                <a:cs typeface="Helvetica Neue" pitchFamily="34" charset="-120"/>
              </a:rPr>
              <a:t>MAXIMUM CALIBRE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PROBLEM</a:t>
            </a:r>
            <a:endParaRPr lang="en-US" sz="950" dirty="0"/>
          </a:p>
        </p:txBody>
      </p:sp>
      <p:sp>
        <p:nvSpPr>
          <p:cNvPr id="3" name="Text 1"/>
          <p:cNvSpPr/>
          <p:nvPr/>
        </p:nvSpPr>
        <p:spPr>
          <a:xfrm>
            <a:off x="868680" y="1207008"/>
            <a:ext cx="9966960" cy="1691640"/>
          </a:xfrm>
          <a:prstGeom prst="rect">
            <a:avLst/>
          </a:prstGeom>
          <a:noFill/>
          <a:ln/>
        </p:spPr>
        <p:txBody>
          <a:bodyPr wrap="square" lIns="0" tIns="0" rIns="0" bIns="0" rtlCol="0" anchor="t"/>
          <a:lstStyle/>
          <a:p>
            <a:pPr indent="0" marL="0">
              <a:lnSpc>
                <a:spcPts val="3600"/>
              </a:lnSpc>
              <a:buNone/>
            </a:pPr>
            <a:r>
              <a:rPr lang="en-US" sz="2900" spc="-70" kern="0" dirty="0">
                <a:solidFill>
                  <a:srgbClr val="000000"/>
                </a:solidFill>
                <a:latin typeface="Helvetica Neue" pitchFamily="34" charset="0"/>
                <a:ea typeface="Helvetica Neue" pitchFamily="34" charset="-122"/>
                <a:cs typeface="Helvetica Neue" pitchFamily="34" charset="-120"/>
              </a:rPr>
              <a:t>Every transfer is a window. Most disposal chains are made of them.</a:t>
            </a:r>
            <a:endParaRPr lang="en-US" sz="2900" dirty="0"/>
          </a:p>
        </p:txBody>
      </p:sp>
      <p:sp>
        <p:nvSpPr>
          <p:cNvPr id="4" name="Shape 2"/>
          <p:cNvSpPr/>
          <p:nvPr/>
        </p:nvSpPr>
        <p:spPr>
          <a:xfrm>
            <a:off x="868680" y="2953512"/>
            <a:ext cx="201168" cy="25603"/>
          </a:xfrm>
          <a:prstGeom prst="rect">
            <a:avLst/>
          </a:prstGeom>
          <a:solidFill>
            <a:srgbClr val="66705F"/>
          </a:solidFill>
          <a:ln/>
        </p:spPr>
      </p:sp>
      <p:sp>
        <p:nvSpPr>
          <p:cNvPr id="5" name="Text 3"/>
          <p:cNvSpPr/>
          <p:nvPr/>
        </p:nvSpPr>
        <p:spPr>
          <a:xfrm>
            <a:off x="1280160" y="2807208"/>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The disposal chain is the diversion chain</a:t>
            </a:r>
            <a:endParaRPr lang="en-US" sz="1300" dirty="0"/>
          </a:p>
        </p:txBody>
      </p:sp>
      <p:sp>
        <p:nvSpPr>
          <p:cNvPr id="6" name="Text 4"/>
          <p:cNvSpPr/>
          <p:nvPr/>
        </p:nvSpPr>
        <p:spPr>
          <a:xfrm>
            <a:off x="5532120" y="2807208"/>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Every handoff is a manifest, a truck, and an interval where the count can change. Poorly secured and surplus stockpiles are a documented source of diverted small arms ammunition worldwide.</a:t>
            </a:r>
            <a:endParaRPr lang="en-US" sz="1300" dirty="0"/>
          </a:p>
        </p:txBody>
      </p:sp>
      <p:sp>
        <p:nvSpPr>
          <p:cNvPr id="7" name="Shape 5"/>
          <p:cNvSpPr/>
          <p:nvPr/>
        </p:nvSpPr>
        <p:spPr>
          <a:xfrm>
            <a:off x="868680" y="3977640"/>
            <a:ext cx="201168" cy="25603"/>
          </a:xfrm>
          <a:prstGeom prst="rect">
            <a:avLst/>
          </a:prstGeom>
          <a:solidFill>
            <a:srgbClr val="66705F"/>
          </a:solidFill>
          <a:ln/>
        </p:spPr>
      </p:sp>
      <p:sp>
        <p:nvSpPr>
          <p:cNvPr id="8" name="Text 6"/>
          <p:cNvSpPr/>
          <p:nvPr/>
        </p:nvSpPr>
        <p:spPr>
          <a:xfrm>
            <a:off x="1280160" y="3831336"/>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Open burning is WWII-era practice, still in service</a:t>
            </a:r>
            <a:endParaRPr lang="en-US" sz="1300" dirty="0"/>
          </a:p>
        </p:txBody>
      </p:sp>
      <p:sp>
        <p:nvSpPr>
          <p:cNvPr id="9" name="Text 7"/>
          <p:cNvSpPr/>
          <p:nvPr/>
        </p:nvSpPr>
        <p:spPr>
          <a:xfrm>
            <a:off x="5532120" y="3831336"/>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Tooele Army Depot was still using open detonation as its primary method as of June 2025. The standard alternative is to hand the material to a contractor and take their word for it.</a:t>
            </a:r>
            <a:endParaRPr lang="en-US" sz="1300" dirty="0"/>
          </a:p>
        </p:txBody>
      </p:sp>
      <p:sp>
        <p:nvSpPr>
          <p:cNvPr id="10" name="Shape 8"/>
          <p:cNvSpPr/>
          <p:nvPr/>
        </p:nvSpPr>
        <p:spPr>
          <a:xfrm>
            <a:off x="868680" y="5001768"/>
            <a:ext cx="201168" cy="25603"/>
          </a:xfrm>
          <a:prstGeom prst="rect">
            <a:avLst/>
          </a:prstGeom>
          <a:solidFill>
            <a:srgbClr val="66705F"/>
          </a:solidFill>
          <a:ln/>
        </p:spPr>
      </p:sp>
      <p:sp>
        <p:nvSpPr>
          <p:cNvPr id="11" name="Text 9"/>
          <p:cNvSpPr/>
          <p:nvPr/>
        </p:nvSpPr>
        <p:spPr>
          <a:xfrm>
            <a:off x="1280160" y="4855464"/>
            <a:ext cx="4069080" cy="548640"/>
          </a:xfrm>
          <a:prstGeom prst="rect">
            <a:avLst/>
          </a:prstGeom>
          <a:noFill/>
          <a:ln/>
        </p:spPr>
        <p:txBody>
          <a:bodyPr wrap="square" lIns="0" tIns="0" rIns="0" bIns="0" rtlCol="0" anchor="t"/>
          <a:lstStyle/>
          <a:p>
            <a:pPr indent="0" marL="0">
              <a:buNone/>
            </a:pPr>
            <a:r>
              <a:rPr lang="en-US" sz="1300" b="1" dirty="0">
                <a:solidFill>
                  <a:srgbClr val="66705F"/>
                </a:solidFill>
                <a:latin typeface="Helvetica Neue" pitchFamily="34" charset="0"/>
                <a:ea typeface="Helvetica Neue" pitchFamily="34" charset="-122"/>
                <a:cs typeface="Helvetica Neue" pitchFamily="34" charset="-120"/>
              </a:rPr>
              <a:t>Los Angeles County, 18 July 2025</a:t>
            </a:r>
            <a:endParaRPr lang="en-US" sz="1300" dirty="0"/>
          </a:p>
        </p:txBody>
      </p:sp>
      <p:sp>
        <p:nvSpPr>
          <p:cNvPr id="12" name="Text 10"/>
          <p:cNvSpPr/>
          <p:nvPr/>
        </p:nvSpPr>
        <p:spPr>
          <a:xfrm>
            <a:off x="5532120" y="4855464"/>
            <a:ext cx="5669280" cy="914400"/>
          </a:xfrm>
          <a:prstGeom prst="rect">
            <a:avLst/>
          </a:prstGeom>
          <a:noFill/>
          <a:ln/>
        </p:spPr>
        <p:txBody>
          <a:bodyPr wrap="square" lIns="0" tIns="0" rIns="0" bIns="0" rtlCol="0" anchor="t"/>
          <a:lstStyle/>
          <a:p>
            <a:pPr indent="0" marL="0">
              <a:lnSpc>
                <a:spcPts val="1800"/>
              </a:lnSpc>
              <a:buNone/>
            </a:pPr>
            <a:r>
              <a:rPr lang="en-US" sz="1300" dirty="0">
                <a:solidFill>
                  <a:srgbClr val="3A3A38"/>
                </a:solidFill>
                <a:latin typeface="Helvetica Neue" pitchFamily="34" charset="0"/>
                <a:ea typeface="Helvetica Neue" pitchFamily="34" charset="-122"/>
                <a:cs typeface="Helvetica Neue" pitchFamily="34" charset="-120"/>
              </a:rPr>
              <a:t>Three Sheriff’s Department detectives killed handling ordnance believed to be inert — the deadliest day for that department since 1857.</a:t>
            </a:r>
            <a:endParaRPr lang="en-US" sz="1300" dirty="0"/>
          </a:p>
        </p:txBody>
      </p:sp>
      <p:sp>
        <p:nvSpPr>
          <p:cNvPr id="13" name="Text 11"/>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4" name="Text 12"/>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3152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IDEA</a:t>
            </a:r>
            <a:endParaRPr lang="en-US" sz="950" dirty="0"/>
          </a:p>
        </p:txBody>
      </p:sp>
      <p:sp>
        <p:nvSpPr>
          <p:cNvPr id="3" name="Text 1"/>
          <p:cNvSpPr/>
          <p:nvPr/>
        </p:nvSpPr>
        <p:spPr>
          <a:xfrm>
            <a:off x="868680" y="1143000"/>
            <a:ext cx="10424160" cy="868680"/>
          </a:xfrm>
          <a:prstGeom prst="rect">
            <a:avLst/>
          </a:prstGeom>
          <a:noFill/>
          <a:ln/>
        </p:spPr>
        <p:txBody>
          <a:bodyPr wrap="square" lIns="0" tIns="0" rIns="0" bIns="0" rtlCol="0" anchor="ctr"/>
          <a:lstStyle/>
          <a:p>
            <a:pPr indent="0" marL="0">
              <a:lnSpc>
                <a:spcPts val="3300"/>
              </a:lnSpc>
              <a:buNone/>
            </a:pPr>
            <a:r>
              <a:rPr lang="en-US" sz="2700" spc="-60" kern="0" dirty="0">
                <a:solidFill>
                  <a:srgbClr val="000000"/>
                </a:solidFill>
                <a:latin typeface="Helvetica Neue" pitchFamily="34" charset="0"/>
                <a:ea typeface="Helvetica Neue" pitchFamily="34" charset="-122"/>
                <a:cs typeface="Helvetica Neue" pitchFamily="34" charset="-120"/>
              </a:rPr>
              <a:t>Ammunition that leaves your perimeter is ammunition you no longer control.</a:t>
            </a:r>
            <a:endParaRPr lang="en-US" sz="2700" dirty="0"/>
          </a:p>
        </p:txBody>
      </p:sp>
      <p:sp>
        <p:nvSpPr>
          <p:cNvPr id="4" name="Text 2"/>
          <p:cNvSpPr/>
          <p:nvPr/>
        </p:nvSpPr>
        <p:spPr>
          <a:xfrm>
            <a:off x="868680" y="2286000"/>
            <a:ext cx="5486400" cy="237744"/>
          </a:xfrm>
          <a:prstGeom prst="rect">
            <a:avLst/>
          </a:prstGeom>
          <a:noFill/>
          <a:ln/>
        </p:spPr>
        <p:txBody>
          <a:bodyPr wrap="square" lIns="0" tIns="0" rIns="0" bIns="0" rtlCol="0" anchor="ctr"/>
          <a:lstStyle/>
          <a:p>
            <a:pPr indent="0" marL="0">
              <a:buNone/>
            </a:pPr>
            <a:r>
              <a:rPr lang="en-US" sz="950" b="1" spc="180" kern="0" dirty="0">
                <a:solidFill>
                  <a:srgbClr val="3D3D38"/>
                </a:solidFill>
                <a:latin typeface="Helvetica Neue" pitchFamily="34" charset="0"/>
                <a:ea typeface="Helvetica Neue" pitchFamily="34" charset="-122"/>
                <a:cs typeface="Helvetica Neue" pitchFamily="34" charset="-120"/>
              </a:rPr>
              <a:t>CONVENTIONAL — THREE DIVERSION WINDOWS</a:t>
            </a:r>
            <a:endParaRPr lang="en-US" sz="950" dirty="0"/>
          </a:p>
        </p:txBody>
      </p:sp>
      <p:sp>
        <p:nvSpPr>
          <p:cNvPr id="5" name="Shape 3"/>
          <p:cNvSpPr/>
          <p:nvPr/>
        </p:nvSpPr>
        <p:spPr>
          <a:xfrm>
            <a:off x="868680" y="2606040"/>
            <a:ext cx="2395728" cy="749808"/>
          </a:xfrm>
          <a:prstGeom prst="rect">
            <a:avLst/>
          </a:prstGeom>
          <a:solidFill>
            <a:srgbClr val="FFFFFF"/>
          </a:solidFill>
          <a:ln w="9525">
            <a:solidFill>
              <a:srgbClr val="3D3D38"/>
            </a:solidFill>
            <a:prstDash val="dash"/>
          </a:ln>
        </p:spPr>
      </p:sp>
      <p:sp>
        <p:nvSpPr>
          <p:cNvPr id="6" name="Text 4"/>
          <p:cNvSpPr/>
          <p:nvPr/>
        </p:nvSpPr>
        <p:spPr>
          <a:xfrm>
            <a:off x="960120"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Your evidence room</a:t>
            </a:r>
            <a:endParaRPr lang="en-US" sz="1100" dirty="0"/>
          </a:p>
        </p:txBody>
      </p:sp>
      <p:sp>
        <p:nvSpPr>
          <p:cNvPr id="7" name="Text 5"/>
          <p:cNvSpPr/>
          <p:nvPr/>
        </p:nvSpPr>
        <p:spPr>
          <a:xfrm>
            <a:off x="960120"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inside perimeter</a:t>
            </a:r>
            <a:endParaRPr lang="en-US" sz="950" dirty="0"/>
          </a:p>
        </p:txBody>
      </p:sp>
      <p:sp>
        <p:nvSpPr>
          <p:cNvPr id="8" name="Text 6"/>
          <p:cNvSpPr/>
          <p:nvPr/>
        </p:nvSpPr>
        <p:spPr>
          <a:xfrm>
            <a:off x="3264408"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9" name="Shape 7"/>
          <p:cNvSpPr/>
          <p:nvPr/>
        </p:nvSpPr>
        <p:spPr>
          <a:xfrm>
            <a:off x="3538728" y="2606040"/>
            <a:ext cx="2395728" cy="749808"/>
          </a:xfrm>
          <a:prstGeom prst="rect">
            <a:avLst/>
          </a:prstGeom>
          <a:solidFill>
            <a:srgbClr val="FFFFFF"/>
          </a:solidFill>
          <a:ln w="9525">
            <a:solidFill>
              <a:srgbClr val="3D3D38"/>
            </a:solidFill>
            <a:prstDash val="dash"/>
          </a:ln>
        </p:spPr>
      </p:sp>
      <p:sp>
        <p:nvSpPr>
          <p:cNvPr id="10" name="Text 8"/>
          <p:cNvSpPr/>
          <p:nvPr/>
        </p:nvSpPr>
        <p:spPr>
          <a:xfrm>
            <a:off x="3630168"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Contractor truck</a:t>
            </a:r>
            <a:endParaRPr lang="en-US" sz="1100" dirty="0"/>
          </a:p>
        </p:txBody>
      </p:sp>
      <p:sp>
        <p:nvSpPr>
          <p:cNvPr id="11" name="Text 9"/>
          <p:cNvSpPr/>
          <p:nvPr/>
        </p:nvSpPr>
        <p:spPr>
          <a:xfrm>
            <a:off x="3630168"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manifest, transport risk</a:t>
            </a:r>
            <a:endParaRPr lang="en-US" sz="950" dirty="0"/>
          </a:p>
        </p:txBody>
      </p:sp>
      <p:sp>
        <p:nvSpPr>
          <p:cNvPr id="12" name="Text 10"/>
          <p:cNvSpPr/>
          <p:nvPr/>
        </p:nvSpPr>
        <p:spPr>
          <a:xfrm>
            <a:off x="5934456"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13" name="Shape 11"/>
          <p:cNvSpPr/>
          <p:nvPr/>
        </p:nvSpPr>
        <p:spPr>
          <a:xfrm>
            <a:off x="6208776" y="2606040"/>
            <a:ext cx="2395728" cy="749808"/>
          </a:xfrm>
          <a:prstGeom prst="rect">
            <a:avLst/>
          </a:prstGeom>
          <a:solidFill>
            <a:srgbClr val="FFFFFF"/>
          </a:solidFill>
          <a:ln w="9525">
            <a:solidFill>
              <a:srgbClr val="3D3D38"/>
            </a:solidFill>
            <a:prstDash val="dash"/>
          </a:ln>
        </p:spPr>
      </p:sp>
      <p:sp>
        <p:nvSpPr>
          <p:cNvPr id="14" name="Text 12"/>
          <p:cNvSpPr/>
          <p:nvPr/>
        </p:nvSpPr>
        <p:spPr>
          <a:xfrm>
            <a:off x="6300216"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Their facility</a:t>
            </a:r>
            <a:endParaRPr lang="en-US" sz="1100" dirty="0"/>
          </a:p>
        </p:txBody>
      </p:sp>
      <p:sp>
        <p:nvSpPr>
          <p:cNvPr id="15" name="Text 13"/>
          <p:cNvSpPr/>
          <p:nvPr/>
        </p:nvSpPr>
        <p:spPr>
          <a:xfrm>
            <a:off x="6300216"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their people, their site</a:t>
            </a:r>
            <a:endParaRPr lang="en-US" sz="950" dirty="0"/>
          </a:p>
        </p:txBody>
      </p:sp>
      <p:sp>
        <p:nvSpPr>
          <p:cNvPr id="16" name="Text 14"/>
          <p:cNvSpPr/>
          <p:nvPr/>
        </p:nvSpPr>
        <p:spPr>
          <a:xfrm>
            <a:off x="8604504" y="2788920"/>
            <a:ext cx="274320" cy="365760"/>
          </a:xfrm>
          <a:prstGeom prst="rect">
            <a:avLst/>
          </a:prstGeom>
          <a:noFill/>
          <a:ln/>
        </p:spPr>
        <p:txBody>
          <a:bodyPr wrap="square" lIns="0" tIns="0" rIns="0" bIns="0" rtlCol="0" anchor="ctr"/>
          <a:lstStyle/>
          <a:p>
            <a:pPr algn="ctr" indent="0" marL="0">
              <a:buNone/>
            </a:pPr>
            <a:r>
              <a:rPr lang="en-US" sz="1500" dirty="0">
                <a:solidFill>
                  <a:srgbClr val="3D3D38"/>
                </a:solidFill>
                <a:latin typeface="Helvetica Neue" pitchFamily="34" charset="0"/>
                <a:ea typeface="Helvetica Neue" pitchFamily="34" charset="-122"/>
                <a:cs typeface="Helvetica Neue" pitchFamily="34" charset="-120"/>
              </a:rPr>
              <a:t>→</a:t>
            </a:r>
            <a:endParaRPr lang="en-US" sz="1500" dirty="0"/>
          </a:p>
        </p:txBody>
      </p:sp>
      <p:sp>
        <p:nvSpPr>
          <p:cNvPr id="17" name="Shape 15"/>
          <p:cNvSpPr/>
          <p:nvPr/>
        </p:nvSpPr>
        <p:spPr>
          <a:xfrm>
            <a:off x="8878824" y="2606040"/>
            <a:ext cx="2395728" cy="749808"/>
          </a:xfrm>
          <a:prstGeom prst="rect">
            <a:avLst/>
          </a:prstGeom>
          <a:solidFill>
            <a:srgbClr val="FFFFFF"/>
          </a:solidFill>
          <a:ln w="9525">
            <a:solidFill>
              <a:srgbClr val="3D3D38"/>
            </a:solidFill>
            <a:prstDash val="dash"/>
          </a:ln>
        </p:spPr>
      </p:sp>
      <p:sp>
        <p:nvSpPr>
          <p:cNvPr id="18" name="Text 16"/>
          <p:cNvSpPr/>
          <p:nvPr/>
        </p:nvSpPr>
        <p:spPr>
          <a:xfrm>
            <a:off x="8970264" y="2724912"/>
            <a:ext cx="2212848" cy="256032"/>
          </a:xfrm>
          <a:prstGeom prst="rect">
            <a:avLst/>
          </a:prstGeom>
          <a:noFill/>
          <a:ln/>
        </p:spPr>
        <p:txBody>
          <a:bodyPr wrap="square" lIns="0" tIns="0" rIns="0" bIns="0" rtlCol="0" anchor="ctr"/>
          <a:lstStyle/>
          <a:p>
            <a:pPr algn="ctr" indent="0" marL="0">
              <a:buNone/>
            </a:pPr>
            <a:r>
              <a:rPr lang="en-US" sz="1100" b="1" dirty="0">
                <a:solidFill>
                  <a:srgbClr val="3D3D38"/>
                </a:solidFill>
                <a:latin typeface="Helvetica Neue" pitchFamily="34" charset="0"/>
                <a:ea typeface="Helvetica Neue" pitchFamily="34" charset="-122"/>
                <a:cs typeface="Helvetica Neue" pitchFamily="34" charset="-120"/>
              </a:rPr>
              <a:t>Disposal receipt</a:t>
            </a:r>
            <a:endParaRPr lang="en-US" sz="1100" dirty="0"/>
          </a:p>
        </p:txBody>
      </p:sp>
      <p:sp>
        <p:nvSpPr>
          <p:cNvPr id="19" name="Text 17"/>
          <p:cNvSpPr/>
          <p:nvPr/>
        </p:nvSpPr>
        <p:spPr>
          <a:xfrm>
            <a:off x="8970264" y="2980944"/>
            <a:ext cx="2212848" cy="237744"/>
          </a:xfrm>
          <a:prstGeom prst="rect">
            <a:avLst/>
          </a:prstGeom>
          <a:noFill/>
          <a:ln/>
        </p:spPr>
        <p:txBody>
          <a:bodyPr wrap="square" lIns="0" tIns="0" rIns="0" bIns="0" rtlCol="0" anchor="ctr"/>
          <a:lstStyle/>
          <a:p>
            <a:pPr algn="ctr" indent="0" marL="0">
              <a:buNone/>
            </a:pPr>
            <a:r>
              <a:rPr lang="en-US" sz="950" dirty="0">
                <a:solidFill>
                  <a:srgbClr val="3D3D38"/>
                </a:solidFill>
                <a:latin typeface="Helvetica Neue" pitchFamily="34" charset="0"/>
                <a:ea typeface="Helvetica Neue" pitchFamily="34" charset="-122"/>
                <a:cs typeface="Helvetica Neue" pitchFamily="34" charset="-120"/>
              </a:rPr>
              <a:t>you take their word</a:t>
            </a:r>
            <a:endParaRPr lang="en-US" sz="950" dirty="0"/>
          </a:p>
        </p:txBody>
      </p:sp>
      <p:sp>
        <p:nvSpPr>
          <p:cNvPr id="20" name="Text 18"/>
          <p:cNvSpPr/>
          <p:nvPr/>
        </p:nvSpPr>
        <p:spPr>
          <a:xfrm>
            <a:off x="868680" y="3456432"/>
            <a:ext cx="10424160" cy="274320"/>
          </a:xfrm>
          <a:prstGeom prst="rect">
            <a:avLst/>
          </a:prstGeom>
          <a:noFill/>
          <a:ln/>
        </p:spPr>
        <p:txBody>
          <a:bodyPr wrap="square" lIns="0" tIns="0" rIns="0" bIns="0" rtlCol="0" anchor="ctr"/>
          <a:lstStyle/>
          <a:p>
            <a:pPr indent="0" marL="0">
              <a:buNone/>
            </a:pPr>
            <a:r>
              <a:rPr lang="en-US" sz="1100" i="1" dirty="0">
                <a:solidFill>
                  <a:srgbClr val="3D3D38"/>
                </a:solidFill>
                <a:latin typeface="Helvetica Neue" pitchFamily="34" charset="0"/>
                <a:ea typeface="Helvetica Neue" pitchFamily="34" charset="-122"/>
                <a:cs typeface="Helvetica Neue" pitchFamily="34" charset="-120"/>
              </a:rPr>
              <a:t>Three transfers · three signatures · three intervals where the count can change</a:t>
            </a:r>
            <a:endParaRPr lang="en-US" sz="1100" dirty="0"/>
          </a:p>
        </p:txBody>
      </p:sp>
      <p:sp>
        <p:nvSpPr>
          <p:cNvPr id="21" name="Shape 19"/>
          <p:cNvSpPr/>
          <p:nvPr/>
        </p:nvSpPr>
        <p:spPr>
          <a:xfrm>
            <a:off x="868680" y="3913632"/>
            <a:ext cx="10424160" cy="1664208"/>
          </a:xfrm>
          <a:prstGeom prst="rect">
            <a:avLst/>
          </a:prstGeom>
          <a:solidFill>
            <a:srgbClr val="FFFFFF"/>
          </a:solidFill>
          <a:ln w="19050">
            <a:solidFill>
              <a:srgbClr val="788274"/>
            </a:solidFill>
            <a:prstDash val="solid"/>
          </a:ln>
        </p:spPr>
      </p:sp>
      <p:sp>
        <p:nvSpPr>
          <p:cNvPr id="22" name="Text 20"/>
          <p:cNvSpPr/>
          <p:nvPr/>
        </p:nvSpPr>
        <p:spPr>
          <a:xfrm>
            <a:off x="1051560" y="4050792"/>
            <a:ext cx="5486400" cy="237744"/>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WITH VAULT — NONE</a:t>
            </a:r>
            <a:endParaRPr lang="en-US" sz="950" dirty="0"/>
          </a:p>
        </p:txBody>
      </p:sp>
      <p:sp>
        <p:nvSpPr>
          <p:cNvPr id="23" name="Text 21"/>
          <p:cNvSpPr/>
          <p:nvPr/>
        </p:nvSpPr>
        <p:spPr>
          <a:xfrm>
            <a:off x="6858000" y="4050792"/>
            <a:ext cx="4251960" cy="237744"/>
          </a:xfrm>
          <a:prstGeom prst="rect">
            <a:avLst/>
          </a:prstGeom>
          <a:noFill/>
          <a:ln/>
        </p:spPr>
        <p:txBody>
          <a:bodyPr wrap="square" lIns="0" tIns="0" rIns="0" bIns="0" rtlCol="0" anchor="ctr"/>
          <a:lstStyle/>
          <a:p>
            <a:pPr algn="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YOUR PERIMETER</a:t>
            </a:r>
            <a:endParaRPr lang="en-US" sz="900" dirty="0"/>
          </a:p>
        </p:txBody>
      </p:sp>
      <p:sp>
        <p:nvSpPr>
          <p:cNvPr id="24" name="Shape 22"/>
          <p:cNvSpPr/>
          <p:nvPr/>
        </p:nvSpPr>
        <p:spPr>
          <a:xfrm>
            <a:off x="1097280" y="4443984"/>
            <a:ext cx="2212848" cy="749808"/>
          </a:xfrm>
          <a:prstGeom prst="rect">
            <a:avLst/>
          </a:prstGeom>
          <a:solidFill>
            <a:srgbClr val="FFFFFF"/>
          </a:solidFill>
          <a:ln w="9525">
            <a:solidFill>
              <a:srgbClr val="66705F"/>
            </a:solidFill>
            <a:prstDash val="solid"/>
          </a:ln>
        </p:spPr>
      </p:sp>
      <p:sp>
        <p:nvSpPr>
          <p:cNvPr id="25" name="Text 23"/>
          <p:cNvSpPr/>
          <p:nvPr/>
        </p:nvSpPr>
        <p:spPr>
          <a:xfrm>
            <a:off x="1170432"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Your evidence room</a:t>
            </a:r>
            <a:endParaRPr lang="en-US" sz="1100" dirty="0"/>
          </a:p>
        </p:txBody>
      </p:sp>
      <p:sp>
        <p:nvSpPr>
          <p:cNvPr id="26" name="Text 24"/>
          <p:cNvSpPr/>
          <p:nvPr/>
        </p:nvSpPr>
        <p:spPr>
          <a:xfrm>
            <a:off x="1170432"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signed out once</a:t>
            </a:r>
            <a:endParaRPr lang="en-US" sz="950" dirty="0"/>
          </a:p>
        </p:txBody>
      </p:sp>
      <p:sp>
        <p:nvSpPr>
          <p:cNvPr id="27" name="Text 25"/>
          <p:cNvSpPr/>
          <p:nvPr/>
        </p:nvSpPr>
        <p:spPr>
          <a:xfrm>
            <a:off x="3310128"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28" name="Shape 26"/>
          <p:cNvSpPr/>
          <p:nvPr/>
        </p:nvSpPr>
        <p:spPr>
          <a:xfrm>
            <a:off x="3584448" y="4443984"/>
            <a:ext cx="2212848" cy="749808"/>
          </a:xfrm>
          <a:prstGeom prst="rect">
            <a:avLst/>
          </a:prstGeom>
          <a:solidFill>
            <a:srgbClr val="FFFFFF"/>
          </a:solidFill>
          <a:ln w="9525">
            <a:solidFill>
              <a:srgbClr val="66705F"/>
            </a:solidFill>
            <a:prstDash val="solid"/>
          </a:ln>
        </p:spPr>
      </p:sp>
      <p:sp>
        <p:nvSpPr>
          <p:cNvPr id="29" name="Text 27"/>
          <p:cNvSpPr/>
          <p:nvPr/>
        </p:nvSpPr>
        <p:spPr>
          <a:xfrm>
            <a:off x="3657600"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Vault, on your pad</a:t>
            </a:r>
            <a:endParaRPr lang="en-US" sz="1100" dirty="0"/>
          </a:p>
        </p:txBody>
      </p:sp>
      <p:sp>
        <p:nvSpPr>
          <p:cNvPr id="30" name="Text 28"/>
          <p:cNvSpPr/>
          <p:nvPr/>
        </p:nvSpPr>
        <p:spPr>
          <a:xfrm>
            <a:off x="3657600"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your two operators</a:t>
            </a:r>
            <a:endParaRPr lang="en-US" sz="950" dirty="0"/>
          </a:p>
        </p:txBody>
      </p:sp>
      <p:sp>
        <p:nvSpPr>
          <p:cNvPr id="31" name="Text 29"/>
          <p:cNvSpPr/>
          <p:nvPr/>
        </p:nvSpPr>
        <p:spPr>
          <a:xfrm>
            <a:off x="5797296"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32" name="Shape 30"/>
          <p:cNvSpPr/>
          <p:nvPr/>
        </p:nvSpPr>
        <p:spPr>
          <a:xfrm>
            <a:off x="6071616" y="4443984"/>
            <a:ext cx="2212848" cy="749808"/>
          </a:xfrm>
          <a:prstGeom prst="rect">
            <a:avLst/>
          </a:prstGeom>
          <a:solidFill>
            <a:srgbClr val="FFFFFF"/>
          </a:solidFill>
          <a:ln w="9525">
            <a:solidFill>
              <a:srgbClr val="66705F"/>
            </a:solidFill>
            <a:prstDash val="solid"/>
          </a:ln>
        </p:spPr>
      </p:sp>
      <p:sp>
        <p:nvSpPr>
          <p:cNvPr id="33" name="Text 31"/>
          <p:cNvSpPr/>
          <p:nvPr/>
        </p:nvSpPr>
        <p:spPr>
          <a:xfrm>
            <a:off x="6144768"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Graded metal</a:t>
            </a:r>
            <a:endParaRPr lang="en-US" sz="1100" dirty="0"/>
          </a:p>
        </p:txBody>
      </p:sp>
      <p:sp>
        <p:nvSpPr>
          <p:cNvPr id="34" name="Text 32"/>
          <p:cNvSpPr/>
          <p:nvPr/>
        </p:nvSpPr>
        <p:spPr>
          <a:xfrm>
            <a:off x="6144768"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weighed on site</a:t>
            </a:r>
            <a:endParaRPr lang="en-US" sz="950" dirty="0"/>
          </a:p>
        </p:txBody>
      </p:sp>
      <p:sp>
        <p:nvSpPr>
          <p:cNvPr id="35" name="Text 33"/>
          <p:cNvSpPr/>
          <p:nvPr/>
        </p:nvSpPr>
        <p:spPr>
          <a:xfrm>
            <a:off x="8284464" y="4626864"/>
            <a:ext cx="274320" cy="365760"/>
          </a:xfrm>
          <a:prstGeom prst="rect">
            <a:avLst/>
          </a:prstGeom>
          <a:noFill/>
          <a:ln/>
        </p:spPr>
        <p:txBody>
          <a:bodyPr wrap="square" lIns="0" tIns="0" rIns="0" bIns="0" rtlCol="0" anchor="ctr"/>
          <a:lstStyle/>
          <a:p>
            <a:pPr algn="ctr" indent="0" marL="0">
              <a:buNone/>
            </a:pPr>
            <a:r>
              <a:rPr lang="en-US" sz="1500" dirty="0">
                <a:solidFill>
                  <a:srgbClr val="66705F"/>
                </a:solidFill>
                <a:latin typeface="Helvetica Neue" pitchFamily="34" charset="0"/>
                <a:ea typeface="Helvetica Neue" pitchFamily="34" charset="-122"/>
                <a:cs typeface="Helvetica Neue" pitchFamily="34" charset="-120"/>
              </a:rPr>
              <a:t>→</a:t>
            </a:r>
            <a:endParaRPr lang="en-US" sz="1500" dirty="0"/>
          </a:p>
        </p:txBody>
      </p:sp>
      <p:sp>
        <p:nvSpPr>
          <p:cNvPr id="36" name="Shape 34"/>
          <p:cNvSpPr/>
          <p:nvPr/>
        </p:nvSpPr>
        <p:spPr>
          <a:xfrm>
            <a:off x="8558784" y="4443984"/>
            <a:ext cx="2212848" cy="749808"/>
          </a:xfrm>
          <a:prstGeom prst="rect">
            <a:avLst/>
          </a:prstGeom>
          <a:solidFill>
            <a:srgbClr val="E9EDE7"/>
          </a:solidFill>
          <a:ln w="9525">
            <a:solidFill>
              <a:srgbClr val="66705F"/>
            </a:solidFill>
            <a:prstDash val="solid"/>
          </a:ln>
        </p:spPr>
      </p:sp>
      <p:sp>
        <p:nvSpPr>
          <p:cNvPr id="37" name="Text 35"/>
          <p:cNvSpPr/>
          <p:nvPr/>
        </p:nvSpPr>
        <p:spPr>
          <a:xfrm>
            <a:off x="8631936" y="4562856"/>
            <a:ext cx="2066544" cy="256032"/>
          </a:xfrm>
          <a:prstGeom prst="rect">
            <a:avLst/>
          </a:prstGeom>
          <a:noFill/>
          <a:ln/>
        </p:spPr>
        <p:txBody>
          <a:bodyPr wrap="square" lIns="0" tIns="0" rIns="0" bIns="0" rtlCol="0" anchor="ctr"/>
          <a:lstStyle/>
          <a:p>
            <a:pPr algn="ctr" indent="0" marL="0">
              <a:buNone/>
            </a:pPr>
            <a:r>
              <a:rPr lang="en-US" sz="1100" b="1" dirty="0">
                <a:solidFill>
                  <a:srgbClr val="66705F"/>
                </a:solidFill>
                <a:latin typeface="Helvetica Neue" pitchFamily="34" charset="0"/>
                <a:ea typeface="Helvetica Neue" pitchFamily="34" charset="-122"/>
                <a:cs typeface="Helvetica Neue" pitchFamily="34" charset="-120"/>
              </a:rPr>
              <a:t>Certificate</a:t>
            </a:r>
            <a:endParaRPr lang="en-US" sz="1100" dirty="0"/>
          </a:p>
        </p:txBody>
      </p:sp>
      <p:sp>
        <p:nvSpPr>
          <p:cNvPr id="38" name="Text 36"/>
          <p:cNvSpPr/>
          <p:nvPr/>
        </p:nvSpPr>
        <p:spPr>
          <a:xfrm>
            <a:off x="8631936" y="4818888"/>
            <a:ext cx="2066544" cy="237744"/>
          </a:xfrm>
          <a:prstGeom prst="rect">
            <a:avLst/>
          </a:prstGeom>
          <a:noFill/>
          <a:ln/>
        </p:spPr>
        <p:txBody>
          <a:bodyPr wrap="square" lIns="0" tIns="0" rIns="0" bIns="0" rtlCol="0" anchor="ctr"/>
          <a:lstStyle/>
          <a:p>
            <a:pPr algn="ctr" indent="0" marL="0">
              <a:buNone/>
            </a:pPr>
            <a:r>
              <a:rPr lang="en-US" sz="950" dirty="0">
                <a:solidFill>
                  <a:srgbClr val="66705F"/>
                </a:solidFill>
                <a:latin typeface="Helvetica Neue" pitchFamily="34" charset="0"/>
                <a:ea typeface="Helvetica Neue" pitchFamily="34" charset="-122"/>
                <a:cs typeface="Helvetica Neue" pitchFamily="34" charset="-120"/>
              </a:rPr>
              <a:t>file closed</a:t>
            </a:r>
            <a:endParaRPr lang="en-US" sz="950" dirty="0"/>
          </a:p>
        </p:txBody>
      </p:sp>
      <p:sp>
        <p:nvSpPr>
          <p:cNvPr id="39" name="Text 37"/>
          <p:cNvSpPr/>
          <p:nvPr/>
        </p:nvSpPr>
        <p:spPr>
          <a:xfrm>
            <a:off x="868680" y="5779008"/>
            <a:ext cx="10424160" cy="310896"/>
          </a:xfrm>
          <a:prstGeom prst="rect">
            <a:avLst/>
          </a:prstGeom>
          <a:noFill/>
          <a:ln/>
        </p:spPr>
        <p:txBody>
          <a:bodyPr wrap="square" lIns="0" tIns="0" rIns="0" bIns="0" rtlCol="0" anchor="t"/>
          <a:lstStyle/>
          <a:p>
            <a:pPr indent="0" marL="0">
              <a:buNone/>
            </a:pPr>
            <a:r>
              <a:rPr lang="en-US" sz="1350" dirty="0">
                <a:solidFill>
                  <a:srgbClr val="3A3A38"/>
                </a:solidFill>
                <a:latin typeface="Helvetica Neue" pitchFamily="34" charset="0"/>
                <a:ea typeface="Helvetica Neue" pitchFamily="34" charset="-122"/>
                <a:cs typeface="Helvetica Neue" pitchFamily="34" charset="-120"/>
              </a:rPr>
              <a:t>TWB removes the transfers. Not one of them — all of them. The material never enters anyone else’s hands.</a:t>
            </a:r>
            <a:endParaRPr lang="en-US" sz="1350" dirty="0"/>
          </a:p>
        </p:txBody>
      </p:sp>
      <p:sp>
        <p:nvSpPr>
          <p:cNvPr id="40" name="Text 3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41" name="Text 3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THE SYSTEM</a:t>
            </a:r>
            <a:endParaRPr lang="en-US" sz="950" dirty="0"/>
          </a:p>
        </p:txBody>
      </p:sp>
      <p:sp>
        <p:nvSpPr>
          <p:cNvPr id="3" name="Text 1"/>
          <p:cNvSpPr/>
          <p:nvPr/>
        </p:nvSpPr>
        <p:spPr>
          <a:xfrm>
            <a:off x="868680" y="1170432"/>
            <a:ext cx="5486400" cy="777240"/>
          </a:xfrm>
          <a:prstGeom prst="rect">
            <a:avLst/>
          </a:prstGeom>
          <a:noFill/>
          <a:ln/>
        </p:spPr>
        <p:txBody>
          <a:bodyPr wrap="square" lIns="0" tIns="0" rIns="0" bIns="0" rtlCol="0" anchor="ctr"/>
          <a:lstStyle/>
          <a:p>
            <a:pPr indent="0" marL="0">
              <a:buNone/>
            </a:pPr>
            <a:r>
              <a:rPr lang="en-US" sz="4400" spc="-120" kern="0" dirty="0">
                <a:solidFill>
                  <a:srgbClr val="000000"/>
                </a:solidFill>
                <a:latin typeface="Helvetica Neue" pitchFamily="34" charset="0"/>
                <a:ea typeface="Helvetica Neue" pitchFamily="34" charset="-122"/>
                <a:cs typeface="Helvetica Neue" pitchFamily="34" charset="-120"/>
              </a:rPr>
              <a:t>Vault</a:t>
            </a:r>
            <a:endParaRPr lang="en-US" sz="4400" dirty="0"/>
          </a:p>
        </p:txBody>
      </p:sp>
      <p:sp>
        <p:nvSpPr>
          <p:cNvPr id="4" name="Text 2"/>
          <p:cNvSpPr/>
          <p:nvPr/>
        </p:nvSpPr>
        <p:spPr>
          <a:xfrm>
            <a:off x="868680" y="2057400"/>
            <a:ext cx="5029200" cy="1371600"/>
          </a:xfrm>
          <a:prstGeom prst="rect">
            <a:avLst/>
          </a:prstGeom>
          <a:noFill/>
          <a:ln/>
        </p:spPr>
        <p:txBody>
          <a:bodyPr wrap="square" lIns="0" tIns="0" rIns="0" bIns="0" rtlCol="0" anchor="ctr"/>
          <a:lstStyle/>
          <a:p>
            <a:pPr indent="0" marL="0">
              <a:lnSpc>
                <a:spcPts val="2100"/>
              </a:lnSpc>
              <a:buNone/>
            </a:pPr>
            <a:r>
              <a:rPr lang="en-US" sz="1400" dirty="0">
                <a:solidFill>
                  <a:srgbClr val="3A3A38"/>
                </a:solidFill>
                <a:latin typeface="Helvetica Neue" pitchFamily="34" charset="0"/>
                <a:ea typeface="Helvetica Neue" pitchFamily="34" charset="-122"/>
                <a:cs typeface="Helvetica Neue" pitchFamily="34" charset="-120"/>
              </a:rPr>
              <a:t>A closed, armoured, trailer-deployed destruction chamber for small arms ammunition up to .50 calibre. It tows on a Class V hitch, runs on propane or diesel, and is operated by two of your own people.</a:t>
            </a:r>
            <a:endParaRPr lang="en-US" sz="1400" dirty="0"/>
          </a:p>
        </p:txBody>
      </p:sp>
      <p:sp>
        <p:nvSpPr>
          <p:cNvPr id="5" name="Shape 3"/>
          <p:cNvSpPr/>
          <p:nvPr/>
        </p:nvSpPr>
        <p:spPr>
          <a:xfrm>
            <a:off x="868680" y="3611880"/>
            <a:ext cx="5029200" cy="1965960"/>
          </a:xfrm>
          <a:prstGeom prst="rect">
            <a:avLst/>
          </a:prstGeom>
          <a:solidFill>
            <a:srgbClr val="FAFAF8"/>
          </a:solidFill>
          <a:ln w="9525">
            <a:solidFill>
              <a:srgbClr val="E3E2DC"/>
            </a:solidFill>
            <a:prstDash val="solid"/>
          </a:ln>
        </p:spPr>
      </p:sp>
      <p:sp>
        <p:nvSpPr>
          <p:cNvPr id="6" name="Text 4"/>
          <p:cNvSpPr/>
          <p:nvPr/>
        </p:nvSpPr>
        <p:spPr>
          <a:xfrm>
            <a:off x="1143000" y="3822192"/>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ON THROUGHPUT</a:t>
            </a:r>
            <a:endParaRPr lang="en-US" sz="900" dirty="0"/>
          </a:p>
        </p:txBody>
      </p:sp>
      <p:sp>
        <p:nvSpPr>
          <p:cNvPr id="7" name="Text 5"/>
          <p:cNvSpPr/>
          <p:nvPr/>
        </p:nvSpPr>
        <p:spPr>
          <a:xfrm>
            <a:off x="1143000" y="4114800"/>
            <a:ext cx="4526280" cy="132588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We publish the hourly rate, not a daily figure — daily figures in this category assume shift lengths nobody runs. If your requirement is measured in tons per year, we are not the right supplier and we will tell you so on the first call.</a:t>
            </a:r>
            <a:endParaRPr lang="en-US" sz="1250" dirty="0"/>
          </a:p>
        </p:txBody>
      </p:sp>
      <p:sp>
        <p:nvSpPr>
          <p:cNvPr id="8" name="Shape 6"/>
          <p:cNvSpPr/>
          <p:nvPr/>
        </p:nvSpPr>
        <p:spPr>
          <a:xfrm>
            <a:off x="6400800" y="1170432"/>
            <a:ext cx="4892040" cy="4407408"/>
          </a:xfrm>
          <a:prstGeom prst="rect">
            <a:avLst/>
          </a:prstGeom>
          <a:solidFill>
            <a:srgbClr val="FAFAF8"/>
          </a:solidFill>
          <a:ln w="9525">
            <a:solidFill>
              <a:srgbClr val="E3E2DC"/>
            </a:solidFill>
            <a:prstDash val="solid"/>
          </a:ln>
        </p:spPr>
      </p:sp>
      <p:sp>
        <p:nvSpPr>
          <p:cNvPr id="9" name="Text 7"/>
          <p:cNvSpPr/>
          <p:nvPr/>
        </p:nvSpPr>
        <p:spPr>
          <a:xfrm>
            <a:off x="6675120" y="141732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Maximum calibre</a:t>
            </a:r>
            <a:endParaRPr lang="en-US" sz="1200" dirty="0"/>
          </a:p>
        </p:txBody>
      </p:sp>
      <p:sp>
        <p:nvSpPr>
          <p:cNvPr id="10" name="Text 8"/>
          <p:cNvSpPr/>
          <p:nvPr/>
        </p:nvSpPr>
        <p:spPr>
          <a:xfrm>
            <a:off x="9326880" y="141732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.50 cal</a:t>
            </a:r>
            <a:endParaRPr lang="en-US" sz="1150" dirty="0"/>
          </a:p>
        </p:txBody>
      </p:sp>
      <p:sp>
        <p:nvSpPr>
          <p:cNvPr id="11" name="Shape 9"/>
          <p:cNvSpPr/>
          <p:nvPr/>
        </p:nvSpPr>
        <p:spPr>
          <a:xfrm>
            <a:off x="6675120" y="1714500"/>
            <a:ext cx="4389120" cy="7315"/>
          </a:xfrm>
          <a:prstGeom prst="rect">
            <a:avLst/>
          </a:prstGeom>
          <a:solidFill>
            <a:srgbClr val="E3E2DC"/>
          </a:solidFill>
          <a:ln/>
        </p:spPr>
      </p:sp>
      <p:sp>
        <p:nvSpPr>
          <p:cNvPr id="12" name="Text 10"/>
          <p:cNvSpPr/>
          <p:nvPr/>
        </p:nvSpPr>
        <p:spPr>
          <a:xfrm>
            <a:off x="6675120" y="176936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Rated throughput</a:t>
            </a:r>
            <a:endParaRPr lang="en-US" sz="1200" dirty="0"/>
          </a:p>
        </p:txBody>
      </p:sp>
      <p:sp>
        <p:nvSpPr>
          <p:cNvPr id="13" name="Text 11"/>
          <p:cNvSpPr/>
          <p:nvPr/>
        </p:nvSpPr>
        <p:spPr>
          <a:xfrm>
            <a:off x="9326880" y="176936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60 lb/hr</a:t>
            </a:r>
            <a:endParaRPr lang="en-US" sz="1150" dirty="0"/>
          </a:p>
        </p:txBody>
      </p:sp>
      <p:sp>
        <p:nvSpPr>
          <p:cNvPr id="14" name="Shape 12"/>
          <p:cNvSpPr/>
          <p:nvPr/>
        </p:nvSpPr>
        <p:spPr>
          <a:xfrm>
            <a:off x="6675120" y="2066544"/>
            <a:ext cx="4389120" cy="7315"/>
          </a:xfrm>
          <a:prstGeom prst="rect">
            <a:avLst/>
          </a:prstGeom>
          <a:solidFill>
            <a:srgbClr val="E3E2DC"/>
          </a:solidFill>
          <a:ln/>
        </p:spPr>
      </p:sp>
      <p:sp>
        <p:nvSpPr>
          <p:cNvPr id="15" name="Text 13"/>
          <p:cNvSpPr/>
          <p:nvPr/>
        </p:nvSpPr>
        <p:spPr>
          <a:xfrm>
            <a:off x="6675120" y="2121408"/>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Primary chamber</a:t>
            </a:r>
            <a:endParaRPr lang="en-US" sz="1200" dirty="0"/>
          </a:p>
        </p:txBody>
      </p:sp>
      <p:sp>
        <p:nvSpPr>
          <p:cNvPr id="16" name="Text 14"/>
          <p:cNvSpPr/>
          <p:nvPr/>
        </p:nvSpPr>
        <p:spPr>
          <a:xfrm>
            <a:off x="9326880" y="2121408"/>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~850 °F</a:t>
            </a:r>
            <a:endParaRPr lang="en-US" sz="1150" dirty="0"/>
          </a:p>
        </p:txBody>
      </p:sp>
      <p:sp>
        <p:nvSpPr>
          <p:cNvPr id="17" name="Shape 15"/>
          <p:cNvSpPr/>
          <p:nvPr/>
        </p:nvSpPr>
        <p:spPr>
          <a:xfrm>
            <a:off x="6675120" y="2418588"/>
            <a:ext cx="4389120" cy="7315"/>
          </a:xfrm>
          <a:prstGeom prst="rect">
            <a:avLst/>
          </a:prstGeom>
          <a:solidFill>
            <a:srgbClr val="E3E2DC"/>
          </a:solidFill>
          <a:ln/>
        </p:spPr>
      </p:sp>
      <p:sp>
        <p:nvSpPr>
          <p:cNvPr id="18" name="Text 16"/>
          <p:cNvSpPr/>
          <p:nvPr/>
        </p:nvSpPr>
        <p:spPr>
          <a:xfrm>
            <a:off x="6675120" y="2473452"/>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Afterburner</a:t>
            </a:r>
            <a:endParaRPr lang="en-US" sz="1200" dirty="0"/>
          </a:p>
        </p:txBody>
      </p:sp>
      <p:sp>
        <p:nvSpPr>
          <p:cNvPr id="19" name="Text 17"/>
          <p:cNvSpPr/>
          <p:nvPr/>
        </p:nvSpPr>
        <p:spPr>
          <a:xfrm>
            <a:off x="9326880" y="2473452"/>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~1,750 °F</a:t>
            </a:r>
            <a:endParaRPr lang="en-US" sz="1150" dirty="0"/>
          </a:p>
        </p:txBody>
      </p:sp>
      <p:sp>
        <p:nvSpPr>
          <p:cNvPr id="20" name="Shape 18"/>
          <p:cNvSpPr/>
          <p:nvPr/>
        </p:nvSpPr>
        <p:spPr>
          <a:xfrm>
            <a:off x="6675120" y="2770632"/>
            <a:ext cx="4389120" cy="7315"/>
          </a:xfrm>
          <a:prstGeom prst="rect">
            <a:avLst/>
          </a:prstGeom>
          <a:solidFill>
            <a:srgbClr val="E3E2DC"/>
          </a:solidFill>
          <a:ln/>
        </p:spPr>
      </p:sp>
      <p:sp>
        <p:nvSpPr>
          <p:cNvPr id="21" name="Text 19"/>
          <p:cNvSpPr/>
          <p:nvPr/>
        </p:nvSpPr>
        <p:spPr>
          <a:xfrm>
            <a:off x="6675120" y="2825496"/>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Towing weight</a:t>
            </a:r>
            <a:endParaRPr lang="en-US" sz="1200" dirty="0"/>
          </a:p>
        </p:txBody>
      </p:sp>
      <p:sp>
        <p:nvSpPr>
          <p:cNvPr id="22" name="Text 20"/>
          <p:cNvSpPr/>
          <p:nvPr/>
        </p:nvSpPr>
        <p:spPr>
          <a:xfrm>
            <a:off x="9326880" y="2825496"/>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11,500 lb</a:t>
            </a:r>
            <a:endParaRPr lang="en-US" sz="1150" dirty="0"/>
          </a:p>
        </p:txBody>
      </p:sp>
      <p:sp>
        <p:nvSpPr>
          <p:cNvPr id="23" name="Shape 21"/>
          <p:cNvSpPr/>
          <p:nvPr/>
        </p:nvSpPr>
        <p:spPr>
          <a:xfrm>
            <a:off x="6675120" y="3122676"/>
            <a:ext cx="4389120" cy="7315"/>
          </a:xfrm>
          <a:prstGeom prst="rect">
            <a:avLst/>
          </a:prstGeom>
          <a:solidFill>
            <a:srgbClr val="E3E2DC"/>
          </a:solidFill>
          <a:ln/>
        </p:spPr>
      </p:sp>
      <p:sp>
        <p:nvSpPr>
          <p:cNvPr id="24" name="Text 22"/>
          <p:cNvSpPr/>
          <p:nvPr/>
        </p:nvSpPr>
        <p:spPr>
          <a:xfrm>
            <a:off x="6675120" y="317754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Trailer length</a:t>
            </a:r>
            <a:endParaRPr lang="en-US" sz="1200" dirty="0"/>
          </a:p>
        </p:txBody>
      </p:sp>
      <p:sp>
        <p:nvSpPr>
          <p:cNvPr id="25" name="Text 23"/>
          <p:cNvSpPr/>
          <p:nvPr/>
        </p:nvSpPr>
        <p:spPr>
          <a:xfrm>
            <a:off x="9326880" y="317754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26 ft</a:t>
            </a:r>
            <a:endParaRPr lang="en-US" sz="1150" dirty="0"/>
          </a:p>
        </p:txBody>
      </p:sp>
      <p:sp>
        <p:nvSpPr>
          <p:cNvPr id="26" name="Shape 24"/>
          <p:cNvSpPr/>
          <p:nvPr/>
        </p:nvSpPr>
        <p:spPr>
          <a:xfrm>
            <a:off x="6675120" y="3474720"/>
            <a:ext cx="4389120" cy="7315"/>
          </a:xfrm>
          <a:prstGeom prst="rect">
            <a:avLst/>
          </a:prstGeom>
          <a:solidFill>
            <a:srgbClr val="E3E2DC"/>
          </a:solidFill>
          <a:ln/>
        </p:spPr>
      </p:sp>
      <p:sp>
        <p:nvSpPr>
          <p:cNvPr id="27" name="Text 25"/>
          <p:cNvSpPr/>
          <p:nvPr/>
        </p:nvSpPr>
        <p:spPr>
          <a:xfrm>
            <a:off x="6675120" y="352958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Hitch class</a:t>
            </a:r>
            <a:endParaRPr lang="en-US" sz="1200" dirty="0"/>
          </a:p>
        </p:txBody>
      </p:sp>
      <p:sp>
        <p:nvSpPr>
          <p:cNvPr id="28" name="Text 26"/>
          <p:cNvSpPr/>
          <p:nvPr/>
        </p:nvSpPr>
        <p:spPr>
          <a:xfrm>
            <a:off x="9326880" y="352958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Class V</a:t>
            </a:r>
            <a:endParaRPr lang="en-US" sz="1150" dirty="0"/>
          </a:p>
        </p:txBody>
      </p:sp>
      <p:sp>
        <p:nvSpPr>
          <p:cNvPr id="29" name="Shape 27"/>
          <p:cNvSpPr/>
          <p:nvPr/>
        </p:nvSpPr>
        <p:spPr>
          <a:xfrm>
            <a:off x="6675120" y="3826764"/>
            <a:ext cx="4389120" cy="7315"/>
          </a:xfrm>
          <a:prstGeom prst="rect">
            <a:avLst/>
          </a:prstGeom>
          <a:solidFill>
            <a:srgbClr val="E3E2DC"/>
          </a:solidFill>
          <a:ln/>
        </p:spPr>
      </p:sp>
      <p:sp>
        <p:nvSpPr>
          <p:cNvPr id="30" name="Text 28"/>
          <p:cNvSpPr/>
          <p:nvPr/>
        </p:nvSpPr>
        <p:spPr>
          <a:xfrm>
            <a:off x="6675120" y="3881628"/>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Shell</a:t>
            </a:r>
            <a:endParaRPr lang="en-US" sz="1200" dirty="0"/>
          </a:p>
        </p:txBody>
      </p:sp>
      <p:sp>
        <p:nvSpPr>
          <p:cNvPr id="31" name="Text 29"/>
          <p:cNvSpPr/>
          <p:nvPr/>
        </p:nvSpPr>
        <p:spPr>
          <a:xfrm>
            <a:off x="9326880" y="3881628"/>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3/8" plate steel</a:t>
            </a:r>
            <a:endParaRPr lang="en-US" sz="1150" dirty="0"/>
          </a:p>
        </p:txBody>
      </p:sp>
      <p:sp>
        <p:nvSpPr>
          <p:cNvPr id="32" name="Shape 30"/>
          <p:cNvSpPr/>
          <p:nvPr/>
        </p:nvSpPr>
        <p:spPr>
          <a:xfrm>
            <a:off x="6675120" y="4178808"/>
            <a:ext cx="4389120" cy="7315"/>
          </a:xfrm>
          <a:prstGeom prst="rect">
            <a:avLst/>
          </a:prstGeom>
          <a:solidFill>
            <a:srgbClr val="E3E2DC"/>
          </a:solidFill>
          <a:ln/>
        </p:spPr>
      </p:sp>
      <p:sp>
        <p:nvSpPr>
          <p:cNvPr id="33" name="Text 31"/>
          <p:cNvSpPr/>
          <p:nvPr/>
        </p:nvSpPr>
        <p:spPr>
          <a:xfrm>
            <a:off x="6675120" y="4233672"/>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Controls</a:t>
            </a:r>
            <a:endParaRPr lang="en-US" sz="1200" dirty="0"/>
          </a:p>
        </p:txBody>
      </p:sp>
      <p:sp>
        <p:nvSpPr>
          <p:cNvPr id="34" name="Text 32"/>
          <p:cNvSpPr/>
          <p:nvPr/>
        </p:nvSpPr>
        <p:spPr>
          <a:xfrm>
            <a:off x="9326880" y="4233672"/>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Remote start / stop</a:t>
            </a:r>
            <a:endParaRPr lang="en-US" sz="1150" dirty="0"/>
          </a:p>
        </p:txBody>
      </p:sp>
      <p:sp>
        <p:nvSpPr>
          <p:cNvPr id="35" name="Shape 33"/>
          <p:cNvSpPr/>
          <p:nvPr/>
        </p:nvSpPr>
        <p:spPr>
          <a:xfrm>
            <a:off x="6675120" y="4530852"/>
            <a:ext cx="4389120" cy="7315"/>
          </a:xfrm>
          <a:prstGeom prst="rect">
            <a:avLst/>
          </a:prstGeom>
          <a:solidFill>
            <a:srgbClr val="E3E2DC"/>
          </a:solidFill>
          <a:ln/>
        </p:spPr>
      </p:sp>
      <p:sp>
        <p:nvSpPr>
          <p:cNvPr id="36" name="Text 34"/>
          <p:cNvSpPr/>
          <p:nvPr/>
        </p:nvSpPr>
        <p:spPr>
          <a:xfrm>
            <a:off x="6675120" y="4585716"/>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Minimum standoff</a:t>
            </a:r>
            <a:endParaRPr lang="en-US" sz="1200" dirty="0"/>
          </a:p>
        </p:txBody>
      </p:sp>
      <p:sp>
        <p:nvSpPr>
          <p:cNvPr id="37" name="Text 35"/>
          <p:cNvSpPr/>
          <p:nvPr/>
        </p:nvSpPr>
        <p:spPr>
          <a:xfrm>
            <a:off x="9326880" y="4585716"/>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750 ft</a:t>
            </a:r>
            <a:endParaRPr lang="en-US" sz="1150" dirty="0"/>
          </a:p>
        </p:txBody>
      </p:sp>
      <p:sp>
        <p:nvSpPr>
          <p:cNvPr id="38" name="Shape 36"/>
          <p:cNvSpPr/>
          <p:nvPr/>
        </p:nvSpPr>
        <p:spPr>
          <a:xfrm>
            <a:off x="6675120" y="4882896"/>
            <a:ext cx="4389120" cy="7315"/>
          </a:xfrm>
          <a:prstGeom prst="rect">
            <a:avLst/>
          </a:prstGeom>
          <a:solidFill>
            <a:srgbClr val="E3E2DC"/>
          </a:solidFill>
          <a:ln/>
        </p:spPr>
      </p:sp>
      <p:sp>
        <p:nvSpPr>
          <p:cNvPr id="39" name="Text 37"/>
          <p:cNvSpPr/>
          <p:nvPr/>
        </p:nvSpPr>
        <p:spPr>
          <a:xfrm>
            <a:off x="6675120" y="4937760"/>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Operators required</a:t>
            </a:r>
            <a:endParaRPr lang="en-US" sz="1200" dirty="0"/>
          </a:p>
        </p:txBody>
      </p:sp>
      <p:sp>
        <p:nvSpPr>
          <p:cNvPr id="40" name="Text 38"/>
          <p:cNvSpPr/>
          <p:nvPr/>
        </p:nvSpPr>
        <p:spPr>
          <a:xfrm>
            <a:off x="9326880" y="4937760"/>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2</a:t>
            </a:r>
            <a:endParaRPr lang="en-US" sz="1150" dirty="0"/>
          </a:p>
        </p:txBody>
      </p:sp>
      <p:sp>
        <p:nvSpPr>
          <p:cNvPr id="41" name="Shape 39"/>
          <p:cNvSpPr/>
          <p:nvPr/>
        </p:nvSpPr>
        <p:spPr>
          <a:xfrm>
            <a:off x="6675120" y="5234940"/>
            <a:ext cx="4389120" cy="7315"/>
          </a:xfrm>
          <a:prstGeom prst="rect">
            <a:avLst/>
          </a:prstGeom>
          <a:solidFill>
            <a:srgbClr val="E3E2DC"/>
          </a:solidFill>
          <a:ln/>
        </p:spPr>
      </p:sp>
      <p:sp>
        <p:nvSpPr>
          <p:cNvPr id="42" name="Text 40"/>
          <p:cNvSpPr/>
          <p:nvPr/>
        </p:nvSpPr>
        <p:spPr>
          <a:xfrm>
            <a:off x="6675120" y="5289804"/>
            <a:ext cx="2651760" cy="274320"/>
          </a:xfrm>
          <a:prstGeom prst="rect">
            <a:avLst/>
          </a:prstGeom>
          <a:noFill/>
          <a:ln/>
        </p:spPr>
        <p:txBody>
          <a:bodyPr wrap="square" lIns="0" tIns="0" rIns="0" bIns="0" rtlCol="0" anchor="ctr"/>
          <a:lstStyle/>
          <a:p>
            <a:pPr indent="0" marL="0">
              <a:buNone/>
            </a:pPr>
            <a:r>
              <a:rPr lang="en-US" sz="1200" dirty="0">
                <a:solidFill>
                  <a:srgbClr val="3A3A38"/>
                </a:solidFill>
                <a:latin typeface="Helvetica Neue" pitchFamily="34" charset="0"/>
                <a:ea typeface="Helvetica Neue" pitchFamily="34" charset="-122"/>
                <a:cs typeface="Helvetica Neue" pitchFamily="34" charset="-120"/>
              </a:rPr>
              <a:t>Arrival to first burn</a:t>
            </a:r>
            <a:endParaRPr lang="en-US" sz="1200" dirty="0"/>
          </a:p>
        </p:txBody>
      </p:sp>
      <p:sp>
        <p:nvSpPr>
          <p:cNvPr id="43" name="Text 41"/>
          <p:cNvSpPr/>
          <p:nvPr/>
        </p:nvSpPr>
        <p:spPr>
          <a:xfrm>
            <a:off x="9326880" y="5289804"/>
            <a:ext cx="1737360" cy="274320"/>
          </a:xfrm>
          <a:prstGeom prst="rect">
            <a:avLst/>
          </a:prstGeom>
          <a:noFill/>
          <a:ln/>
        </p:spPr>
        <p:txBody>
          <a:bodyPr wrap="square" lIns="0" tIns="0" rIns="0" bIns="0" rtlCol="0" anchor="ctr"/>
          <a:lstStyle/>
          <a:p>
            <a:pPr algn="r" indent="0" marL="0">
              <a:buNone/>
            </a:pPr>
            <a:r>
              <a:rPr lang="en-US" sz="1150" b="1" dirty="0">
                <a:solidFill>
                  <a:srgbClr val="66705F"/>
                </a:solidFill>
                <a:latin typeface="Courier New" pitchFamily="34" charset="0"/>
                <a:ea typeface="Courier New" pitchFamily="34" charset="-122"/>
                <a:cs typeface="Courier New" pitchFamily="34" charset="-120"/>
              </a:rPr>
              <a:t>Same day</a:t>
            </a:r>
            <a:endParaRPr lang="en-US" sz="1150" dirty="0"/>
          </a:p>
        </p:txBody>
      </p:sp>
      <p:sp>
        <p:nvSpPr>
          <p:cNvPr id="44" name="Text 42"/>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45" name="Text 43"/>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RECOVERY</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Recovered, not released.</a:t>
            </a:r>
            <a:endParaRPr lang="en-US" sz="3400" dirty="0"/>
          </a:p>
        </p:txBody>
      </p:sp>
      <p:sp>
        <p:nvSpPr>
          <p:cNvPr id="4" name="Text 2"/>
          <p:cNvSpPr/>
          <p:nvPr/>
        </p:nvSpPr>
        <p:spPr>
          <a:xfrm>
            <a:off x="868680" y="1965960"/>
            <a:ext cx="7680960" cy="640080"/>
          </a:xfrm>
          <a:prstGeom prst="rect">
            <a:avLst/>
          </a:prstGeom>
          <a:noFill/>
          <a:ln/>
        </p:spPr>
        <p:txBody>
          <a:bodyPr wrap="square" lIns="0" tIns="0" rIns="0" bIns="0" rtlCol="0" anchor="ctr"/>
          <a:lstStyle/>
          <a:p>
            <a:pPr indent="0" marL="0">
              <a:lnSpc>
                <a:spcPts val="2200"/>
              </a:lnSpc>
              <a:buNone/>
            </a:pPr>
            <a:r>
              <a:rPr lang="en-US" sz="1500" dirty="0">
                <a:solidFill>
                  <a:srgbClr val="3A3A38"/>
                </a:solidFill>
                <a:latin typeface="Helvetica Neue" pitchFamily="34" charset="0"/>
                <a:ea typeface="Helvetica Neue" pitchFamily="34" charset="-122"/>
                <a:cs typeface="Helvetica Neue" pitchFamily="34" charset="-120"/>
              </a:rPr>
              <a:t>Every round comes back as graded metal. None of it comes back as a part. Nothing recoverable leaves in a form that can be reassembled, resold as a component, or put back into circulation.</a:t>
            </a:r>
            <a:endParaRPr lang="en-US" sz="1500" dirty="0"/>
          </a:p>
        </p:txBody>
      </p:sp>
      <p:sp>
        <p:nvSpPr>
          <p:cNvPr id="5" name="Shape 3"/>
          <p:cNvSpPr/>
          <p:nvPr/>
        </p:nvSpPr>
        <p:spPr>
          <a:xfrm>
            <a:off x="868680" y="2880360"/>
            <a:ext cx="3310128" cy="1828800"/>
          </a:xfrm>
          <a:prstGeom prst="rect">
            <a:avLst/>
          </a:prstGeom>
          <a:solidFill>
            <a:srgbClr val="FAFAF8"/>
          </a:solidFill>
          <a:ln w="9525">
            <a:solidFill>
              <a:srgbClr val="E3E2DC"/>
            </a:solidFill>
            <a:prstDash val="solid"/>
          </a:ln>
        </p:spPr>
      </p:sp>
      <p:sp>
        <p:nvSpPr>
          <p:cNvPr id="6" name="Text 4"/>
          <p:cNvSpPr/>
          <p:nvPr/>
        </p:nvSpPr>
        <p:spPr>
          <a:xfrm>
            <a:off x="1124712"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Lead + antimony</a:t>
            </a:r>
            <a:endParaRPr lang="en-US" sz="1500" dirty="0"/>
          </a:p>
        </p:txBody>
      </p:sp>
      <p:sp>
        <p:nvSpPr>
          <p:cNvPr id="7" name="Text 5"/>
          <p:cNvSpPr/>
          <p:nvPr/>
        </p:nvSpPr>
        <p:spPr>
          <a:xfrm>
            <a:off x="1124712"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Cores recover as a Pb–Sb alloy ingot — battery-grade feedstock sought by secondary lead smelters.</a:t>
            </a:r>
            <a:endParaRPr lang="en-US" sz="1250" dirty="0"/>
          </a:p>
        </p:txBody>
      </p:sp>
      <p:sp>
        <p:nvSpPr>
          <p:cNvPr id="8" name="Shape 6"/>
          <p:cNvSpPr/>
          <p:nvPr/>
        </p:nvSpPr>
        <p:spPr>
          <a:xfrm>
            <a:off x="4407408" y="2880360"/>
            <a:ext cx="3310128" cy="1828800"/>
          </a:xfrm>
          <a:prstGeom prst="rect">
            <a:avLst/>
          </a:prstGeom>
          <a:solidFill>
            <a:srgbClr val="FAFAF8"/>
          </a:solidFill>
          <a:ln w="9525">
            <a:solidFill>
              <a:srgbClr val="E3E2DC"/>
            </a:solidFill>
            <a:prstDash val="solid"/>
          </a:ln>
        </p:spPr>
      </p:sp>
      <p:sp>
        <p:nvSpPr>
          <p:cNvPr id="9" name="Text 7"/>
          <p:cNvSpPr/>
          <p:nvPr/>
        </p:nvSpPr>
        <p:spPr>
          <a:xfrm>
            <a:off x="4663440"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Cartridge brass</a:t>
            </a:r>
            <a:endParaRPr lang="en-US" sz="1500" dirty="0"/>
          </a:p>
        </p:txBody>
      </p:sp>
      <p:sp>
        <p:nvSpPr>
          <p:cNvPr id="10" name="Text 8"/>
          <p:cNvSpPr/>
          <p:nvPr/>
        </p:nvSpPr>
        <p:spPr>
          <a:xfrm>
            <a:off x="4663440"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Among the highest-value non-ferrous scrap grades, recovered clean and separated on site.</a:t>
            </a:r>
            <a:endParaRPr lang="en-US" sz="1250" dirty="0"/>
          </a:p>
        </p:txBody>
      </p:sp>
      <p:sp>
        <p:nvSpPr>
          <p:cNvPr id="11" name="Shape 9"/>
          <p:cNvSpPr/>
          <p:nvPr/>
        </p:nvSpPr>
        <p:spPr>
          <a:xfrm>
            <a:off x="7946136" y="2880360"/>
            <a:ext cx="3310128" cy="1828800"/>
          </a:xfrm>
          <a:prstGeom prst="rect">
            <a:avLst/>
          </a:prstGeom>
          <a:solidFill>
            <a:srgbClr val="FAFAF8"/>
          </a:solidFill>
          <a:ln w="9525">
            <a:solidFill>
              <a:srgbClr val="E3E2DC"/>
            </a:solidFill>
            <a:prstDash val="solid"/>
          </a:ln>
        </p:spPr>
      </p:sp>
      <p:sp>
        <p:nvSpPr>
          <p:cNvPr id="12" name="Text 10"/>
          <p:cNvSpPr/>
          <p:nvPr/>
        </p:nvSpPr>
        <p:spPr>
          <a:xfrm>
            <a:off x="8202168" y="3127248"/>
            <a:ext cx="2834640" cy="310896"/>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Copper jackets</a:t>
            </a:r>
            <a:endParaRPr lang="en-US" sz="1500" dirty="0"/>
          </a:p>
        </p:txBody>
      </p:sp>
      <p:sp>
        <p:nvSpPr>
          <p:cNvPr id="13" name="Text 11"/>
          <p:cNvSpPr/>
          <p:nvPr/>
        </p:nvSpPr>
        <p:spPr>
          <a:xfrm>
            <a:off x="8202168" y="3520440"/>
            <a:ext cx="2834640" cy="1005840"/>
          </a:xfrm>
          <a:prstGeom prst="rect">
            <a:avLst/>
          </a:prstGeom>
          <a:noFill/>
          <a:ln/>
        </p:spPr>
        <p:txBody>
          <a:bodyPr wrap="square" lIns="0" tIns="0" rIns="0" bIns="0" rtlCol="0" anchor="t"/>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Separated automatically within the same cycle. No downstream sorting required.</a:t>
            </a:r>
            <a:endParaRPr lang="en-US" sz="1250" dirty="0"/>
          </a:p>
        </p:txBody>
      </p:sp>
      <p:sp>
        <p:nvSpPr>
          <p:cNvPr id="14" name="Shape 12"/>
          <p:cNvSpPr/>
          <p:nvPr/>
        </p:nvSpPr>
        <p:spPr>
          <a:xfrm>
            <a:off x="868680" y="5074920"/>
            <a:ext cx="10424160" cy="960120"/>
          </a:xfrm>
          <a:prstGeom prst="rect">
            <a:avLst/>
          </a:prstGeom>
          <a:solidFill>
            <a:srgbClr val="F2F1EC"/>
          </a:solidFill>
          <a:ln w="9525">
            <a:solidFill>
              <a:srgbClr val="DEDCD4"/>
            </a:solidFill>
            <a:prstDash val="solid"/>
          </a:ln>
        </p:spPr>
      </p:sp>
      <p:sp>
        <p:nvSpPr>
          <p:cNvPr id="15" name="Text 13"/>
          <p:cNvSpPr/>
          <p:nvPr/>
        </p:nvSpPr>
        <p:spPr>
          <a:xfrm>
            <a:off x="1143000" y="5230368"/>
            <a:ext cx="9875520" cy="685800"/>
          </a:xfrm>
          <a:prstGeom prst="rect">
            <a:avLst/>
          </a:prstGeom>
          <a:noFill/>
          <a:ln/>
        </p:spPr>
        <p:txBody>
          <a:bodyPr wrap="square" lIns="0" tIns="0" rIns="0" bIns="0" rtlCol="0" anchor="ctr"/>
          <a:lstStyle/>
          <a:p>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Verification status.  </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Historic operating data indicates recovery of approximately 97% of recyclable material per burn cycle. Independent measurement of both recovery yield and stack emissions has been commissioned, and the reports will be published. Until they exist we present these as our own operating figures rather than verified performance — and we would encourage you to hold every supplier in this category to that standard.</a:t>
            </a:r>
            <a:endParaRPr lang="en-US" sz="1200" dirty="0"/>
          </a:p>
        </p:txBody>
      </p:sp>
      <p:sp>
        <p:nvSpPr>
          <p:cNvPr id="16" name="Text 14"/>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7" name="Text 15"/>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POSITIONING</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Everyone says mobile. Ask what it means.</a:t>
            </a:r>
            <a:endParaRPr lang="en-US" sz="3400" dirty="0"/>
          </a:p>
        </p:txBody>
      </p:sp>
      <p:sp>
        <p:nvSpPr>
          <p:cNvPr id="4" name="Text 2"/>
          <p:cNvSpPr/>
          <p:nvPr/>
        </p:nvSpPr>
        <p:spPr>
          <a:xfrm>
            <a:off x="868680" y="1965960"/>
            <a:ext cx="7863840" cy="731520"/>
          </a:xfrm>
          <a:prstGeom prst="rect">
            <a:avLst/>
          </a:prstGeom>
          <a:noFill/>
          <a:ln/>
        </p:spPr>
        <p:txBody>
          <a:bodyPr wrap="square" lIns="0" tIns="0" rIns="0" bIns="0" rtlCol="0" anchor="t"/>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The nearest comparable closed chamber on the market states a three-week deployment on its own datasheet. In this category, “mobile” usually describes a mobilisation project.</a:t>
            </a:r>
            <a:endParaRPr lang="en-US" sz="1400" dirty="0"/>
          </a:p>
        </p:txBody>
      </p:sp>
      <p:sp>
        <p:nvSpPr>
          <p:cNvPr id="5" name="Text 3"/>
          <p:cNvSpPr/>
          <p:nvPr/>
        </p:nvSpPr>
        <p:spPr>
          <a:xfrm>
            <a:off x="0" y="0"/>
            <a:ext cx="9144" cy="9144"/>
          </a:xfrm>
          <a:prstGeom prst="rect">
            <a:avLst/>
          </a:prstGeom>
          <a:noFill/>
          <a:ln/>
        </p:spPr>
        <p:txBody>
          <a:bodyPr wrap="square" rtlCol="0" anchor="ctr"/>
          <a:lstStyle/>
          <a:p>
            <a:pPr indent="0" marL="0">
              <a:buNone/>
            </a:pPr>
            <a:endParaRPr lang="en-US" dirty="0"/>
          </a:p>
        </p:txBody>
      </p:sp>
      <p:sp>
        <p:nvSpPr>
          <p:cNvPr id="6" name="Text 4"/>
          <p:cNvSpPr/>
          <p:nvPr/>
        </p:nvSpPr>
        <p:spPr>
          <a:xfrm>
            <a:off x="4709160" y="2944368"/>
            <a:ext cx="3429000" cy="274320"/>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TWB VAULT</a:t>
            </a:r>
            <a:endParaRPr lang="en-US" sz="950" dirty="0"/>
          </a:p>
        </p:txBody>
      </p:sp>
      <p:sp>
        <p:nvSpPr>
          <p:cNvPr id="7" name="Text 5"/>
          <p:cNvSpPr/>
          <p:nvPr/>
        </p:nvSpPr>
        <p:spPr>
          <a:xfrm>
            <a:off x="8229600" y="2944368"/>
            <a:ext cx="3063240" cy="274320"/>
          </a:xfrm>
          <a:prstGeom prst="rect">
            <a:avLst/>
          </a:prstGeom>
          <a:noFill/>
          <a:ln/>
        </p:spPr>
        <p:txBody>
          <a:bodyPr wrap="square" lIns="0" tIns="0" rIns="0" bIns="0" rtlCol="0" anchor="ctr"/>
          <a:lstStyle/>
          <a:p>
            <a:pPr indent="0" marL="0">
              <a:buNone/>
            </a:pPr>
            <a:r>
              <a:rPr lang="en-US" sz="950" b="1" spc="180" kern="0" dirty="0">
                <a:solidFill>
                  <a:srgbClr val="75736D"/>
                </a:solidFill>
                <a:latin typeface="Helvetica Neue" pitchFamily="34" charset="0"/>
                <a:ea typeface="Helvetica Neue" pitchFamily="34" charset="-122"/>
                <a:cs typeface="Helvetica Neue" pitchFamily="34" charset="-120"/>
              </a:rPr>
              <a:t>CONVENTIONAL</a:t>
            </a:r>
            <a:endParaRPr lang="en-US" sz="950" dirty="0"/>
          </a:p>
        </p:txBody>
      </p:sp>
      <p:sp>
        <p:nvSpPr>
          <p:cNvPr id="8" name="Shape 6"/>
          <p:cNvSpPr/>
          <p:nvPr/>
        </p:nvSpPr>
        <p:spPr>
          <a:xfrm>
            <a:off x="868680" y="3264408"/>
            <a:ext cx="10424160" cy="7315"/>
          </a:xfrm>
          <a:prstGeom prst="rect">
            <a:avLst/>
          </a:prstGeom>
          <a:solidFill>
            <a:srgbClr val="E3E2DC"/>
          </a:solidFill>
          <a:ln/>
        </p:spPr>
      </p:sp>
      <p:sp>
        <p:nvSpPr>
          <p:cNvPr id="9" name="Text 7"/>
          <p:cNvSpPr/>
          <p:nvPr/>
        </p:nvSpPr>
        <p:spPr>
          <a:xfrm>
            <a:off x="868680" y="3383280"/>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Deployment</a:t>
            </a:r>
            <a:endParaRPr lang="en-US" sz="1250" dirty="0"/>
          </a:p>
        </p:txBody>
      </p:sp>
      <p:sp>
        <p:nvSpPr>
          <p:cNvPr id="10" name="Text 8"/>
          <p:cNvSpPr/>
          <p:nvPr/>
        </p:nvSpPr>
        <p:spPr>
          <a:xfrm>
            <a:off x="4709160" y="3383280"/>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Towed behind one truck, Class V hitch</a:t>
            </a:r>
            <a:endParaRPr lang="en-US" sz="1200" dirty="0"/>
          </a:p>
        </p:txBody>
      </p:sp>
      <p:sp>
        <p:nvSpPr>
          <p:cNvPr id="11" name="Text 9"/>
          <p:cNvSpPr/>
          <p:nvPr/>
        </p:nvSpPr>
        <p:spPr>
          <a:xfrm>
            <a:off x="8229600" y="3383280"/>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Mobilisation project or fixed depot</a:t>
            </a:r>
            <a:endParaRPr lang="en-US" sz="1250" dirty="0"/>
          </a:p>
        </p:txBody>
      </p:sp>
      <p:sp>
        <p:nvSpPr>
          <p:cNvPr id="12" name="Shape 10"/>
          <p:cNvSpPr/>
          <p:nvPr/>
        </p:nvSpPr>
        <p:spPr>
          <a:xfrm>
            <a:off x="868680" y="3739896"/>
            <a:ext cx="10424160" cy="7315"/>
          </a:xfrm>
          <a:prstGeom prst="rect">
            <a:avLst/>
          </a:prstGeom>
          <a:solidFill>
            <a:srgbClr val="E3E2DC"/>
          </a:solidFill>
          <a:ln/>
        </p:spPr>
      </p:sp>
      <p:sp>
        <p:nvSpPr>
          <p:cNvPr id="13" name="Text 11"/>
          <p:cNvSpPr/>
          <p:nvPr/>
        </p:nvSpPr>
        <p:spPr>
          <a:xfrm>
            <a:off x="868680" y="3858768"/>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Time to first burn</a:t>
            </a:r>
            <a:endParaRPr lang="en-US" sz="1250" dirty="0"/>
          </a:p>
        </p:txBody>
      </p:sp>
      <p:sp>
        <p:nvSpPr>
          <p:cNvPr id="14" name="Text 12"/>
          <p:cNvSpPr/>
          <p:nvPr/>
        </p:nvSpPr>
        <p:spPr>
          <a:xfrm>
            <a:off x="4709160" y="3858768"/>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Same day</a:t>
            </a:r>
            <a:endParaRPr lang="en-US" sz="1200" dirty="0"/>
          </a:p>
        </p:txBody>
      </p:sp>
      <p:sp>
        <p:nvSpPr>
          <p:cNvPr id="15" name="Text 13"/>
          <p:cNvSpPr/>
          <p:nvPr/>
        </p:nvSpPr>
        <p:spPr>
          <a:xfrm>
            <a:off x="8229600" y="3858768"/>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Three weeks to several months</a:t>
            </a:r>
            <a:endParaRPr lang="en-US" sz="1250" dirty="0"/>
          </a:p>
        </p:txBody>
      </p:sp>
      <p:sp>
        <p:nvSpPr>
          <p:cNvPr id="16" name="Shape 14"/>
          <p:cNvSpPr/>
          <p:nvPr/>
        </p:nvSpPr>
        <p:spPr>
          <a:xfrm>
            <a:off x="868680" y="4215384"/>
            <a:ext cx="10424160" cy="7315"/>
          </a:xfrm>
          <a:prstGeom prst="rect">
            <a:avLst/>
          </a:prstGeom>
          <a:solidFill>
            <a:srgbClr val="E3E2DC"/>
          </a:solidFill>
          <a:ln/>
        </p:spPr>
      </p:sp>
      <p:sp>
        <p:nvSpPr>
          <p:cNvPr id="17" name="Text 15"/>
          <p:cNvSpPr/>
          <p:nvPr/>
        </p:nvSpPr>
        <p:spPr>
          <a:xfrm>
            <a:off x="868680" y="4334256"/>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Who operates it</a:t>
            </a:r>
            <a:endParaRPr lang="en-US" sz="1250" dirty="0"/>
          </a:p>
        </p:txBody>
      </p:sp>
      <p:sp>
        <p:nvSpPr>
          <p:cNvPr id="18" name="Text 16"/>
          <p:cNvSpPr/>
          <p:nvPr/>
        </p:nvSpPr>
        <p:spPr>
          <a:xfrm>
            <a:off x="4709160" y="4334256"/>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Your own trained people</a:t>
            </a:r>
            <a:endParaRPr lang="en-US" sz="1200" dirty="0"/>
          </a:p>
        </p:txBody>
      </p:sp>
      <p:sp>
        <p:nvSpPr>
          <p:cNvPr id="19" name="Text 17"/>
          <p:cNvSpPr/>
          <p:nvPr/>
        </p:nvSpPr>
        <p:spPr>
          <a:xfrm>
            <a:off x="8229600" y="4334256"/>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Contractor crew on your ground</a:t>
            </a:r>
            <a:endParaRPr lang="en-US" sz="1250" dirty="0"/>
          </a:p>
        </p:txBody>
      </p:sp>
      <p:sp>
        <p:nvSpPr>
          <p:cNvPr id="20" name="Shape 18"/>
          <p:cNvSpPr/>
          <p:nvPr/>
        </p:nvSpPr>
        <p:spPr>
          <a:xfrm>
            <a:off x="868680" y="4690872"/>
            <a:ext cx="10424160" cy="7315"/>
          </a:xfrm>
          <a:prstGeom prst="rect">
            <a:avLst/>
          </a:prstGeom>
          <a:solidFill>
            <a:srgbClr val="E3E2DC"/>
          </a:solidFill>
          <a:ln/>
        </p:spPr>
      </p:sp>
      <p:sp>
        <p:nvSpPr>
          <p:cNvPr id="21" name="Text 19"/>
          <p:cNvSpPr/>
          <p:nvPr/>
        </p:nvSpPr>
        <p:spPr>
          <a:xfrm>
            <a:off x="868680" y="4809744"/>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Site preparation</a:t>
            </a:r>
            <a:endParaRPr lang="en-US" sz="1250" dirty="0"/>
          </a:p>
        </p:txBody>
      </p:sp>
      <p:sp>
        <p:nvSpPr>
          <p:cNvPr id="22" name="Text 20"/>
          <p:cNvSpPr/>
          <p:nvPr/>
        </p:nvSpPr>
        <p:spPr>
          <a:xfrm>
            <a:off x="4709160" y="4809744"/>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None beyond standoff</a:t>
            </a:r>
            <a:endParaRPr lang="en-US" sz="1200" dirty="0"/>
          </a:p>
        </p:txBody>
      </p:sp>
      <p:sp>
        <p:nvSpPr>
          <p:cNvPr id="23" name="Text 21"/>
          <p:cNvSpPr/>
          <p:nvPr/>
        </p:nvSpPr>
        <p:spPr>
          <a:xfrm>
            <a:off x="8229600" y="4809744"/>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Pad, utilities, permitting</a:t>
            </a:r>
            <a:endParaRPr lang="en-US" sz="1250" dirty="0"/>
          </a:p>
        </p:txBody>
      </p:sp>
      <p:sp>
        <p:nvSpPr>
          <p:cNvPr id="24" name="Shape 22"/>
          <p:cNvSpPr/>
          <p:nvPr/>
        </p:nvSpPr>
        <p:spPr>
          <a:xfrm>
            <a:off x="868680" y="5166360"/>
            <a:ext cx="10424160" cy="7315"/>
          </a:xfrm>
          <a:prstGeom prst="rect">
            <a:avLst/>
          </a:prstGeom>
          <a:solidFill>
            <a:srgbClr val="E3E2DC"/>
          </a:solidFill>
          <a:ln/>
        </p:spPr>
      </p:sp>
      <p:sp>
        <p:nvSpPr>
          <p:cNvPr id="25" name="Text 23"/>
          <p:cNvSpPr/>
          <p:nvPr/>
        </p:nvSpPr>
        <p:spPr>
          <a:xfrm>
            <a:off x="868680" y="5285232"/>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Custody of material</a:t>
            </a:r>
            <a:endParaRPr lang="en-US" sz="1250" dirty="0"/>
          </a:p>
        </p:txBody>
      </p:sp>
      <p:sp>
        <p:nvSpPr>
          <p:cNvPr id="26" name="Text 24"/>
          <p:cNvSpPr/>
          <p:nvPr/>
        </p:nvSpPr>
        <p:spPr>
          <a:xfrm>
            <a:off x="4709160" y="5285232"/>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Never transferred</a:t>
            </a:r>
            <a:endParaRPr lang="en-US" sz="1200" dirty="0"/>
          </a:p>
        </p:txBody>
      </p:sp>
      <p:sp>
        <p:nvSpPr>
          <p:cNvPr id="27" name="Text 25"/>
          <p:cNvSpPr/>
          <p:nvPr/>
        </p:nvSpPr>
        <p:spPr>
          <a:xfrm>
            <a:off x="8229600" y="5285232"/>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Transferred at least once</a:t>
            </a:r>
            <a:endParaRPr lang="en-US" sz="1250" dirty="0"/>
          </a:p>
        </p:txBody>
      </p:sp>
      <p:sp>
        <p:nvSpPr>
          <p:cNvPr id="28" name="Shape 26"/>
          <p:cNvSpPr/>
          <p:nvPr/>
        </p:nvSpPr>
        <p:spPr>
          <a:xfrm>
            <a:off x="868680" y="5641848"/>
            <a:ext cx="10424160" cy="7315"/>
          </a:xfrm>
          <a:prstGeom prst="rect">
            <a:avLst/>
          </a:prstGeom>
          <a:solidFill>
            <a:srgbClr val="E3E2DC"/>
          </a:solidFill>
          <a:ln/>
        </p:spPr>
      </p:sp>
      <p:sp>
        <p:nvSpPr>
          <p:cNvPr id="29" name="Text 27"/>
          <p:cNvSpPr/>
          <p:nvPr/>
        </p:nvSpPr>
        <p:spPr>
          <a:xfrm>
            <a:off x="868680" y="5760720"/>
            <a:ext cx="3749040" cy="310896"/>
          </a:xfrm>
          <a:prstGeom prst="rect">
            <a:avLst/>
          </a:prstGeom>
          <a:noFill/>
          <a:ln/>
        </p:spPr>
        <p:txBody>
          <a:bodyPr wrap="square" lIns="0" tIns="0" rIns="0" bIns="0" rtlCol="0" anchor="ctr"/>
          <a:lstStyle/>
          <a:p>
            <a:pPr indent="0" marL="0">
              <a:buNone/>
            </a:pPr>
            <a:r>
              <a:rPr lang="en-US" sz="1250" dirty="0">
                <a:solidFill>
                  <a:srgbClr val="75736D"/>
                </a:solidFill>
                <a:latin typeface="Helvetica Neue" pitchFamily="34" charset="0"/>
                <a:ea typeface="Helvetica Neue" pitchFamily="34" charset="-122"/>
                <a:cs typeface="Helvetica Neue" pitchFamily="34" charset="-120"/>
              </a:rPr>
              <a:t>Recovered metal</a:t>
            </a:r>
            <a:endParaRPr lang="en-US" sz="1250" dirty="0"/>
          </a:p>
        </p:txBody>
      </p:sp>
      <p:sp>
        <p:nvSpPr>
          <p:cNvPr id="30" name="Text 28"/>
          <p:cNvSpPr/>
          <p:nvPr/>
        </p:nvSpPr>
        <p:spPr>
          <a:xfrm>
            <a:off x="4709160" y="5760720"/>
            <a:ext cx="3429000" cy="310896"/>
          </a:xfrm>
          <a:prstGeom prst="rect">
            <a:avLst/>
          </a:prstGeom>
          <a:noFill/>
          <a:ln/>
        </p:spPr>
        <p:txBody>
          <a:bodyPr wrap="square" lIns="0" tIns="0" rIns="0" bIns="0" rtlCol="0" anchor="ctr"/>
          <a:lstStyle/>
          <a:p>
            <a:pPr indent="0" marL="0">
              <a:buNone/>
            </a:pPr>
            <a:r>
              <a:rPr lang="en-US" sz="1200" b="1" dirty="0">
                <a:solidFill>
                  <a:srgbClr val="66705F"/>
                </a:solidFill>
                <a:latin typeface="Helvetica Neue" pitchFamily="34" charset="0"/>
                <a:ea typeface="Helvetica Neue" pitchFamily="34" charset="-122"/>
                <a:cs typeface="Helvetica Neue" pitchFamily="34" charset="-120"/>
              </a:rPr>
              <a:t>Weighed on site, yours</a:t>
            </a:r>
            <a:endParaRPr lang="en-US" sz="1200" dirty="0"/>
          </a:p>
        </p:txBody>
      </p:sp>
      <p:sp>
        <p:nvSpPr>
          <p:cNvPr id="31" name="Text 29"/>
          <p:cNvSpPr/>
          <p:nvPr/>
        </p:nvSpPr>
        <p:spPr>
          <a:xfrm>
            <a:off x="8229600" y="5760720"/>
            <a:ext cx="3063240" cy="310896"/>
          </a:xfrm>
          <a:prstGeom prst="rect">
            <a:avLst/>
          </a:prstGeom>
          <a:noFill/>
          <a:ln/>
        </p:spPr>
        <p:txBody>
          <a:bodyPr wrap="square" lIns="0" tIns="0" rIns="0" bIns="0" rtlCol="0" anchor="ctr"/>
          <a:lstStyle/>
          <a:p>
            <a:pPr indent="0" marL="0">
              <a:buNone/>
            </a:pPr>
            <a:r>
              <a:rPr lang="en-US" sz="1250" dirty="0">
                <a:solidFill>
                  <a:srgbClr val="3A3A38"/>
                </a:solidFill>
                <a:latin typeface="Helvetica Neue" pitchFamily="34" charset="0"/>
                <a:ea typeface="Helvetica Neue" pitchFamily="34" charset="-122"/>
                <a:cs typeface="Helvetica Neue" pitchFamily="34" charset="-120"/>
              </a:rPr>
              <a:t>Retained or resold by the vendor</a:t>
            </a:r>
            <a:endParaRPr lang="en-US" sz="1250" dirty="0"/>
          </a:p>
        </p:txBody>
      </p:sp>
      <p:sp>
        <p:nvSpPr>
          <p:cNvPr id="32" name="Text 30"/>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3" name="Text 31"/>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TRACK RECORD</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Twenty-five years. Named agencies.</a:t>
            </a:r>
            <a:endParaRPr lang="en-US" sz="3400" dirty="0"/>
          </a:p>
        </p:txBody>
      </p:sp>
      <p:sp>
        <p:nvSpPr>
          <p:cNvPr id="4" name="Text 2"/>
          <p:cNvSpPr/>
          <p:nvPr/>
        </p:nvSpPr>
        <p:spPr>
          <a:xfrm>
            <a:off x="868680" y="1965960"/>
            <a:ext cx="8229600" cy="640080"/>
          </a:xfrm>
          <a:prstGeom prst="rect">
            <a:avLst/>
          </a:prstGeom>
          <a:noFill/>
          <a:ln/>
        </p:spPr>
        <p:txBody>
          <a:bodyPr wrap="square" lIns="0" tIns="0" rIns="0" bIns="0" rtlCol="0" anchor="ctr"/>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In continuous service since 2001, co-developed with the Royal Canadian Mounted Police. Recognised by the International Association of Chiefs of Police with a Competitive Innovation Award.</a:t>
            </a:r>
            <a:endParaRPr lang="en-US" sz="1400" dirty="0"/>
          </a:p>
        </p:txBody>
      </p:sp>
      <p:sp>
        <p:nvSpPr>
          <p:cNvPr id="5" name="Shape 3"/>
          <p:cNvSpPr/>
          <p:nvPr/>
        </p:nvSpPr>
        <p:spPr>
          <a:xfrm>
            <a:off x="868680" y="2880360"/>
            <a:ext cx="3310128" cy="2331720"/>
          </a:xfrm>
          <a:prstGeom prst="rect">
            <a:avLst/>
          </a:prstGeom>
          <a:solidFill>
            <a:srgbClr val="FAFAF8"/>
          </a:solidFill>
          <a:ln w="9525">
            <a:solidFill>
              <a:srgbClr val="E3E2DC"/>
            </a:solidFill>
            <a:prstDash val="solid"/>
          </a:ln>
        </p:spPr>
      </p:sp>
      <p:sp>
        <p:nvSpPr>
          <p:cNvPr id="6" name="Text 4"/>
          <p:cNvSpPr/>
          <p:nvPr/>
        </p:nvSpPr>
        <p:spPr>
          <a:xfrm>
            <a:off x="1124712"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CANADA</a:t>
            </a:r>
            <a:endParaRPr lang="en-US" sz="950" dirty="0"/>
          </a:p>
        </p:txBody>
      </p:sp>
      <p:sp>
        <p:nvSpPr>
          <p:cNvPr id="7" name="Shape 5"/>
          <p:cNvSpPr/>
          <p:nvPr/>
        </p:nvSpPr>
        <p:spPr>
          <a:xfrm>
            <a:off x="1124712" y="3593592"/>
            <a:ext cx="146304" cy="20117"/>
          </a:xfrm>
          <a:prstGeom prst="rect">
            <a:avLst/>
          </a:prstGeom>
          <a:solidFill>
            <a:srgbClr val="66705F"/>
          </a:solidFill>
          <a:ln/>
        </p:spPr>
      </p:sp>
      <p:sp>
        <p:nvSpPr>
          <p:cNvPr id="8" name="Text 6"/>
          <p:cNvSpPr/>
          <p:nvPr/>
        </p:nvSpPr>
        <p:spPr>
          <a:xfrm>
            <a:off x="1380744"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Royal Canadian Mounted Police — co-development partner, six units</a:t>
            </a:r>
            <a:endParaRPr lang="en-US" sz="1150" dirty="0"/>
          </a:p>
        </p:txBody>
      </p:sp>
      <p:sp>
        <p:nvSpPr>
          <p:cNvPr id="9" name="Shape 7"/>
          <p:cNvSpPr/>
          <p:nvPr/>
        </p:nvSpPr>
        <p:spPr>
          <a:xfrm>
            <a:off x="1124712" y="4014216"/>
            <a:ext cx="146304" cy="20117"/>
          </a:xfrm>
          <a:prstGeom prst="rect">
            <a:avLst/>
          </a:prstGeom>
          <a:solidFill>
            <a:srgbClr val="66705F"/>
          </a:solidFill>
          <a:ln/>
        </p:spPr>
      </p:sp>
      <p:sp>
        <p:nvSpPr>
          <p:cNvPr id="10" name="Text 8"/>
          <p:cNvSpPr/>
          <p:nvPr/>
        </p:nvSpPr>
        <p:spPr>
          <a:xfrm>
            <a:off x="1380744"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Sûreté du Québec</a:t>
            </a:r>
            <a:endParaRPr lang="en-US" sz="1150" dirty="0"/>
          </a:p>
        </p:txBody>
      </p:sp>
      <p:sp>
        <p:nvSpPr>
          <p:cNvPr id="11" name="Shape 9"/>
          <p:cNvSpPr/>
          <p:nvPr/>
        </p:nvSpPr>
        <p:spPr>
          <a:xfrm>
            <a:off x="1124712" y="4434840"/>
            <a:ext cx="146304" cy="20117"/>
          </a:xfrm>
          <a:prstGeom prst="rect">
            <a:avLst/>
          </a:prstGeom>
          <a:solidFill>
            <a:srgbClr val="66705F"/>
          </a:solidFill>
          <a:ln/>
        </p:spPr>
      </p:sp>
      <p:sp>
        <p:nvSpPr>
          <p:cNvPr id="12" name="Text 10"/>
          <p:cNvSpPr/>
          <p:nvPr/>
        </p:nvSpPr>
        <p:spPr>
          <a:xfrm>
            <a:off x="1380744"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Calgary Police Service</a:t>
            </a:r>
            <a:endParaRPr lang="en-US" sz="1150" dirty="0"/>
          </a:p>
        </p:txBody>
      </p:sp>
      <p:sp>
        <p:nvSpPr>
          <p:cNvPr id="13" name="Shape 11"/>
          <p:cNvSpPr/>
          <p:nvPr/>
        </p:nvSpPr>
        <p:spPr>
          <a:xfrm>
            <a:off x="1124712" y="4855464"/>
            <a:ext cx="146304" cy="20117"/>
          </a:xfrm>
          <a:prstGeom prst="rect">
            <a:avLst/>
          </a:prstGeom>
          <a:solidFill>
            <a:srgbClr val="66705F"/>
          </a:solidFill>
          <a:ln/>
        </p:spPr>
      </p:sp>
      <p:sp>
        <p:nvSpPr>
          <p:cNvPr id="14" name="Text 12"/>
          <p:cNvSpPr/>
          <p:nvPr/>
        </p:nvSpPr>
        <p:spPr>
          <a:xfrm>
            <a:off x="1380744" y="4709160"/>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Winnipeg Police Service</a:t>
            </a:r>
            <a:endParaRPr lang="en-US" sz="1150" dirty="0"/>
          </a:p>
        </p:txBody>
      </p:sp>
      <p:sp>
        <p:nvSpPr>
          <p:cNvPr id="15" name="Shape 13"/>
          <p:cNvSpPr/>
          <p:nvPr/>
        </p:nvSpPr>
        <p:spPr>
          <a:xfrm>
            <a:off x="4407408" y="2880360"/>
            <a:ext cx="3310128" cy="2331720"/>
          </a:xfrm>
          <a:prstGeom prst="rect">
            <a:avLst/>
          </a:prstGeom>
          <a:solidFill>
            <a:srgbClr val="FAFAF8"/>
          </a:solidFill>
          <a:ln w="9525">
            <a:solidFill>
              <a:srgbClr val="E3E2DC"/>
            </a:solidFill>
            <a:prstDash val="solid"/>
          </a:ln>
        </p:spPr>
      </p:sp>
      <p:sp>
        <p:nvSpPr>
          <p:cNvPr id="16" name="Text 14"/>
          <p:cNvSpPr/>
          <p:nvPr/>
        </p:nvSpPr>
        <p:spPr>
          <a:xfrm>
            <a:off x="4663440"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UNITED STATES</a:t>
            </a:r>
            <a:endParaRPr lang="en-US" sz="950" dirty="0"/>
          </a:p>
        </p:txBody>
      </p:sp>
      <p:sp>
        <p:nvSpPr>
          <p:cNvPr id="17" name="Shape 15"/>
          <p:cNvSpPr/>
          <p:nvPr/>
        </p:nvSpPr>
        <p:spPr>
          <a:xfrm>
            <a:off x="4663440" y="3593592"/>
            <a:ext cx="146304" cy="20117"/>
          </a:xfrm>
          <a:prstGeom prst="rect">
            <a:avLst/>
          </a:prstGeom>
          <a:solidFill>
            <a:srgbClr val="66705F"/>
          </a:solidFill>
          <a:ln/>
        </p:spPr>
      </p:sp>
      <p:sp>
        <p:nvSpPr>
          <p:cNvPr id="18" name="Text 16"/>
          <p:cNvSpPr/>
          <p:nvPr/>
        </p:nvSpPr>
        <p:spPr>
          <a:xfrm>
            <a:off x="4919472"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Franklin County (OH) Sheriff’s Office</a:t>
            </a:r>
            <a:endParaRPr lang="en-US" sz="1150" dirty="0"/>
          </a:p>
        </p:txBody>
      </p:sp>
      <p:sp>
        <p:nvSpPr>
          <p:cNvPr id="19" name="Shape 17"/>
          <p:cNvSpPr/>
          <p:nvPr/>
        </p:nvSpPr>
        <p:spPr>
          <a:xfrm>
            <a:off x="4663440" y="4014216"/>
            <a:ext cx="146304" cy="20117"/>
          </a:xfrm>
          <a:prstGeom prst="rect">
            <a:avLst/>
          </a:prstGeom>
          <a:solidFill>
            <a:srgbClr val="66705F"/>
          </a:solidFill>
          <a:ln/>
        </p:spPr>
      </p:sp>
      <p:sp>
        <p:nvSpPr>
          <p:cNvPr id="20" name="Text 18"/>
          <p:cNvSpPr/>
          <p:nvPr/>
        </p:nvSpPr>
        <p:spPr>
          <a:xfrm>
            <a:off x="4919472"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Hilliard Division of Police</a:t>
            </a:r>
            <a:endParaRPr lang="en-US" sz="1150" dirty="0"/>
          </a:p>
        </p:txBody>
      </p:sp>
      <p:sp>
        <p:nvSpPr>
          <p:cNvPr id="21" name="Shape 19"/>
          <p:cNvSpPr/>
          <p:nvPr/>
        </p:nvSpPr>
        <p:spPr>
          <a:xfrm>
            <a:off x="4663440" y="4434840"/>
            <a:ext cx="146304" cy="20117"/>
          </a:xfrm>
          <a:prstGeom prst="rect">
            <a:avLst/>
          </a:prstGeom>
          <a:solidFill>
            <a:srgbClr val="66705F"/>
          </a:solidFill>
          <a:ln/>
        </p:spPr>
      </p:sp>
      <p:sp>
        <p:nvSpPr>
          <p:cNvPr id="22" name="Text 20"/>
          <p:cNvSpPr/>
          <p:nvPr/>
        </p:nvSpPr>
        <p:spPr>
          <a:xfrm>
            <a:off x="4919472"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Federal Cartridge Company — commercial</a:t>
            </a:r>
            <a:endParaRPr lang="en-US" sz="1150" dirty="0"/>
          </a:p>
        </p:txBody>
      </p:sp>
      <p:sp>
        <p:nvSpPr>
          <p:cNvPr id="23" name="Shape 21"/>
          <p:cNvSpPr/>
          <p:nvPr/>
        </p:nvSpPr>
        <p:spPr>
          <a:xfrm>
            <a:off x="7946136" y="2880360"/>
            <a:ext cx="3310128" cy="2331720"/>
          </a:xfrm>
          <a:prstGeom prst="rect">
            <a:avLst/>
          </a:prstGeom>
          <a:solidFill>
            <a:srgbClr val="FAFAF8"/>
          </a:solidFill>
          <a:ln w="9525">
            <a:solidFill>
              <a:srgbClr val="E3E2DC"/>
            </a:solidFill>
            <a:prstDash val="solid"/>
          </a:ln>
        </p:spPr>
      </p:sp>
      <p:sp>
        <p:nvSpPr>
          <p:cNvPr id="24" name="Text 22"/>
          <p:cNvSpPr/>
          <p:nvPr/>
        </p:nvSpPr>
        <p:spPr>
          <a:xfrm>
            <a:off x="8202168" y="3127248"/>
            <a:ext cx="2834640" cy="256032"/>
          </a:xfrm>
          <a:prstGeom prst="rect">
            <a:avLst/>
          </a:prstGeom>
          <a:noFill/>
          <a:ln/>
        </p:spPr>
        <p:txBody>
          <a:bodyPr wrap="square" lIns="0" tIns="0" rIns="0" bIns="0" rtlCol="0" anchor="ctr"/>
          <a:lstStyle/>
          <a:p>
            <a:pPr indent="0" marL="0">
              <a:buNone/>
            </a:pPr>
            <a:r>
              <a:rPr lang="en-US" sz="950" b="1" spc="180" kern="0" dirty="0">
                <a:solidFill>
                  <a:srgbClr val="66705F"/>
                </a:solidFill>
                <a:latin typeface="Helvetica Neue" pitchFamily="34" charset="0"/>
                <a:ea typeface="Helvetica Neue" pitchFamily="34" charset="-122"/>
                <a:cs typeface="Helvetica Neue" pitchFamily="34" charset="-120"/>
              </a:rPr>
              <a:t>INTERNATIONAL</a:t>
            </a:r>
            <a:endParaRPr lang="en-US" sz="950" dirty="0"/>
          </a:p>
        </p:txBody>
      </p:sp>
      <p:sp>
        <p:nvSpPr>
          <p:cNvPr id="25" name="Shape 23"/>
          <p:cNvSpPr/>
          <p:nvPr/>
        </p:nvSpPr>
        <p:spPr>
          <a:xfrm>
            <a:off x="8202168" y="3593592"/>
            <a:ext cx="146304" cy="20117"/>
          </a:xfrm>
          <a:prstGeom prst="rect">
            <a:avLst/>
          </a:prstGeom>
          <a:solidFill>
            <a:srgbClr val="66705F"/>
          </a:solidFill>
          <a:ln/>
        </p:spPr>
      </p:sp>
      <p:sp>
        <p:nvSpPr>
          <p:cNvPr id="26" name="Text 24"/>
          <p:cNvSpPr/>
          <p:nvPr/>
        </p:nvSpPr>
        <p:spPr>
          <a:xfrm>
            <a:off x="8458200" y="3447288"/>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Australian Army</a:t>
            </a:r>
            <a:endParaRPr lang="en-US" sz="1150" dirty="0"/>
          </a:p>
        </p:txBody>
      </p:sp>
      <p:sp>
        <p:nvSpPr>
          <p:cNvPr id="27" name="Shape 25"/>
          <p:cNvSpPr/>
          <p:nvPr/>
        </p:nvSpPr>
        <p:spPr>
          <a:xfrm>
            <a:off x="8202168" y="4014216"/>
            <a:ext cx="146304" cy="20117"/>
          </a:xfrm>
          <a:prstGeom prst="rect">
            <a:avLst/>
          </a:prstGeom>
          <a:solidFill>
            <a:srgbClr val="66705F"/>
          </a:solidFill>
          <a:ln/>
        </p:spPr>
      </p:sp>
      <p:sp>
        <p:nvSpPr>
          <p:cNvPr id="28" name="Text 26"/>
          <p:cNvSpPr/>
          <p:nvPr/>
        </p:nvSpPr>
        <p:spPr>
          <a:xfrm>
            <a:off x="8458200" y="3867912"/>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Dubai Police</a:t>
            </a:r>
            <a:endParaRPr lang="en-US" sz="1150" dirty="0"/>
          </a:p>
        </p:txBody>
      </p:sp>
      <p:sp>
        <p:nvSpPr>
          <p:cNvPr id="29" name="Shape 27"/>
          <p:cNvSpPr/>
          <p:nvPr/>
        </p:nvSpPr>
        <p:spPr>
          <a:xfrm>
            <a:off x="8202168" y="4434840"/>
            <a:ext cx="146304" cy="20117"/>
          </a:xfrm>
          <a:prstGeom prst="rect">
            <a:avLst/>
          </a:prstGeom>
          <a:solidFill>
            <a:srgbClr val="66705F"/>
          </a:solidFill>
          <a:ln/>
        </p:spPr>
      </p:sp>
      <p:sp>
        <p:nvSpPr>
          <p:cNvPr id="30" name="Text 28"/>
          <p:cNvSpPr/>
          <p:nvPr/>
        </p:nvSpPr>
        <p:spPr>
          <a:xfrm>
            <a:off x="8458200" y="4288536"/>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Military Equipment Denmark A/S — exclusive agent, Nordic &amp; Baltic</a:t>
            </a:r>
            <a:endParaRPr lang="en-US" sz="1150" dirty="0"/>
          </a:p>
        </p:txBody>
      </p:sp>
      <p:sp>
        <p:nvSpPr>
          <p:cNvPr id="31" name="Shape 29"/>
          <p:cNvSpPr/>
          <p:nvPr/>
        </p:nvSpPr>
        <p:spPr>
          <a:xfrm>
            <a:off x="8202168" y="4855464"/>
            <a:ext cx="146304" cy="20117"/>
          </a:xfrm>
          <a:prstGeom prst="rect">
            <a:avLst/>
          </a:prstGeom>
          <a:solidFill>
            <a:srgbClr val="66705F"/>
          </a:solidFill>
          <a:ln/>
        </p:spPr>
      </p:sp>
      <p:sp>
        <p:nvSpPr>
          <p:cNvPr id="32" name="Text 30"/>
          <p:cNvSpPr/>
          <p:nvPr/>
        </p:nvSpPr>
        <p:spPr>
          <a:xfrm>
            <a:off x="8458200" y="4709160"/>
            <a:ext cx="2578608" cy="457200"/>
          </a:xfrm>
          <a:prstGeom prst="rect">
            <a:avLst/>
          </a:prstGeom>
          <a:noFill/>
          <a:ln/>
        </p:spPr>
        <p:txBody>
          <a:bodyPr wrap="square" lIns="0" tIns="0" rIns="0" bIns="0" rtlCol="0" anchor="t"/>
          <a:lstStyle/>
          <a:p>
            <a:pPr indent="0" marL="0">
              <a:lnSpc>
                <a:spcPts val="1500"/>
              </a:lnSpc>
              <a:buNone/>
            </a:pPr>
            <a:r>
              <a:rPr lang="en-US" sz="1150" dirty="0">
                <a:solidFill>
                  <a:srgbClr val="3A3A38"/>
                </a:solidFill>
                <a:latin typeface="Helvetica Neue" pitchFamily="34" charset="0"/>
                <a:ea typeface="Helvetica Neue" pitchFamily="34" charset="-122"/>
                <a:cs typeface="Helvetica Neue" pitchFamily="34" charset="-120"/>
              </a:rPr>
              <a:t>Further allied deployments under NDA</a:t>
            </a:r>
            <a:endParaRPr lang="en-US" sz="1150" dirty="0"/>
          </a:p>
        </p:txBody>
      </p:sp>
      <p:sp>
        <p:nvSpPr>
          <p:cNvPr id="33" name="Text 31"/>
          <p:cNvSpPr/>
          <p:nvPr/>
        </p:nvSpPr>
        <p:spPr>
          <a:xfrm>
            <a:off x="868680" y="5440680"/>
            <a:ext cx="10424160" cy="365760"/>
          </a:xfrm>
          <a:prstGeom prst="rect">
            <a:avLst/>
          </a:prstGeom>
          <a:noFill/>
          <a:ln/>
        </p:spPr>
        <p:txBody>
          <a:bodyPr wrap="square" lIns="0" tIns="0" rIns="0" bIns="0" rtlCol="0" anchor="ctr"/>
          <a:lstStyle/>
          <a:p>
            <a:pPr indent="0" marL="0">
              <a:buNone/>
            </a:pPr>
            <a:r>
              <a:rPr lang="en-US" sz="1100" i="1" dirty="0">
                <a:solidFill>
                  <a:srgbClr val="75736D"/>
                </a:solidFill>
                <a:latin typeface="Helvetica Neue" pitchFamily="34" charset="0"/>
                <a:ea typeface="Helvetica Neue" pitchFamily="34" charset="-122"/>
                <a:cs typeface="Helvetica Neue" pitchFamily="34" charset="-120"/>
              </a:rPr>
              <a:t>Contract references, scope and dates available under mutual NDA. Buyer diligence may verify directly with end users, subject to end-user consent and TWB coordination.</a:t>
            </a:r>
            <a:endParaRPr lang="en-US" sz="1100" dirty="0"/>
          </a:p>
        </p:txBody>
      </p:sp>
      <p:sp>
        <p:nvSpPr>
          <p:cNvPr id="34" name="Text 32"/>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5" name="Text 33"/>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REGULATORY POSITION</a:t>
            </a:r>
            <a:endParaRPr lang="en-US" sz="950" dirty="0"/>
          </a:p>
        </p:txBody>
      </p:sp>
      <p:sp>
        <p:nvSpPr>
          <p:cNvPr id="3" name="Text 1"/>
          <p:cNvSpPr/>
          <p:nvPr/>
        </p:nvSpPr>
        <p:spPr>
          <a:xfrm>
            <a:off x="868680" y="1170432"/>
            <a:ext cx="10424160" cy="1371600"/>
          </a:xfrm>
          <a:prstGeom prst="rect">
            <a:avLst/>
          </a:prstGeom>
          <a:noFill/>
          <a:ln/>
        </p:spPr>
        <p:txBody>
          <a:bodyPr wrap="square" lIns="0" tIns="0" rIns="0" bIns="0" rtlCol="0" anchor="ctr"/>
          <a:lstStyle/>
          <a:p>
            <a:pPr indent="0" marL="0">
              <a:lnSpc>
                <a:spcPts val="4000"/>
              </a:lnSpc>
              <a:buNone/>
            </a:pPr>
            <a:r>
              <a:rPr lang="en-US" sz="3200" spc="-80" kern="0" dirty="0">
                <a:solidFill>
                  <a:srgbClr val="000000"/>
                </a:solidFill>
                <a:latin typeface="Helvetica Neue" pitchFamily="34" charset="0"/>
                <a:ea typeface="Helvetica Neue" pitchFamily="34" charset="-122"/>
                <a:cs typeface="Helvetica Neue" pitchFamily="34" charset="-120"/>
              </a:rPr>
              <a:t>Not a cleaner way to open burn.</a:t>
            </a:r>
            <a:endParaRPr lang="en-US" sz="3200" dirty="0"/>
          </a:p>
          <a:p>
            <a:pPr indent="0" marL="0">
              <a:lnSpc>
                <a:spcPts val="4000"/>
              </a:lnSpc>
              <a:buNone/>
            </a:pPr>
            <a:r>
              <a:rPr lang="en-US" sz="3200" spc="-80" kern="0" dirty="0">
                <a:solidFill>
                  <a:srgbClr val="000000"/>
                </a:solidFill>
                <a:latin typeface="Helvetica Neue" pitchFamily="34" charset="0"/>
                <a:ea typeface="Helvetica Neue" pitchFamily="34" charset="-122"/>
                <a:cs typeface="Helvetica Neue" pitchFamily="34" charset="-120"/>
              </a:rPr>
              <a:t>Categorically not open burning.</a:t>
            </a:r>
            <a:endParaRPr lang="en-US" sz="3200" dirty="0"/>
          </a:p>
        </p:txBody>
      </p:sp>
      <p:sp>
        <p:nvSpPr>
          <p:cNvPr id="4" name="Shape 2"/>
          <p:cNvSpPr/>
          <p:nvPr/>
        </p:nvSpPr>
        <p:spPr>
          <a:xfrm>
            <a:off x="868680" y="2788920"/>
            <a:ext cx="5074920" cy="2286000"/>
          </a:xfrm>
          <a:prstGeom prst="rect">
            <a:avLst/>
          </a:prstGeom>
          <a:solidFill>
            <a:srgbClr val="FAFAF8"/>
          </a:solidFill>
          <a:ln w="9525">
            <a:solidFill>
              <a:srgbClr val="E3E2DC"/>
            </a:solidFill>
            <a:prstDash val="solid"/>
          </a:ln>
        </p:spPr>
      </p:sp>
      <p:sp>
        <p:nvSpPr>
          <p:cNvPr id="5" name="Text 3"/>
          <p:cNvSpPr/>
          <p:nvPr/>
        </p:nvSpPr>
        <p:spPr>
          <a:xfrm>
            <a:off x="1143000" y="3017520"/>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THE DEFINITION</a:t>
            </a:r>
            <a:endParaRPr lang="en-US" sz="900" dirty="0"/>
          </a:p>
        </p:txBody>
      </p:sp>
      <p:sp>
        <p:nvSpPr>
          <p:cNvPr id="6" name="Text 4"/>
          <p:cNvSpPr/>
          <p:nvPr/>
        </p:nvSpPr>
        <p:spPr>
          <a:xfrm>
            <a:off x="1143000" y="3310128"/>
            <a:ext cx="4572000" cy="1600200"/>
          </a:xfrm>
          <a:prstGeom prst="rect">
            <a:avLst/>
          </a:prstGeom>
          <a:noFill/>
          <a:ln/>
        </p:spPr>
        <p:txBody>
          <a:bodyPr wrap="square" lIns="0" tIns="0" rIns="0" bIns="0" rtlCol="0" anchor="ctr"/>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Federal regulation defines open burning as combustion </a:t>
            </a:r>
            <a:pPr indent="0" marL="0">
              <a:lnSpc>
                <a:spcPts val="1800"/>
              </a:lnSpc>
              <a:buNone/>
            </a:pPr>
            <a:r>
              <a:rPr lang="en-US" sz="1250" b="1" i="1" dirty="0">
                <a:solidFill>
                  <a:srgbClr val="000000"/>
                </a:solidFill>
                <a:latin typeface="Helvetica Neue" pitchFamily="34" charset="0"/>
                <a:ea typeface="Helvetica Neue" pitchFamily="34" charset="-122"/>
                <a:cs typeface="Helvetica Neue" pitchFamily="34" charset="-120"/>
              </a:rPr>
              <a:t>without</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 control of combustion air, containment in an enclosed device, or control of gaseous emission products </a:t>
            </a:r>
            <a:pPr indent="0" marL="0">
              <a:lnSpc>
                <a:spcPts val="1800"/>
              </a:lnSpc>
              <a:buNone/>
            </a:pPr>
            <a:r>
              <a:rPr lang="en-US" sz="1250" b="1" dirty="0">
                <a:solidFill>
                  <a:srgbClr val="66705F"/>
                </a:solidFill>
                <a:latin typeface="Helvetica Neue" pitchFamily="34" charset="0"/>
                <a:ea typeface="Helvetica Neue" pitchFamily="34" charset="-122"/>
                <a:cs typeface="Helvetica Neue" pitchFamily="34" charset="-120"/>
              </a:rPr>
              <a:t>(40 CFR 260.10)</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t>
            </a:r>
            <a:endParaRPr lang="en-US" sz="1250" dirty="0"/>
          </a:p>
          <a:p>
            <a:pPr indent="0" marL="0">
              <a:lnSpc>
                <a:spcPts val="1800"/>
              </a:lnSpc>
              <a:buNone/>
            </a:pPr>
            <a:endParaRPr lang="en-US" sz="1250" dirty="0"/>
          </a:p>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A closed, air-controlled chamber with emissions treatment does not meet that definition. That is regulatory language, not a marketing claim.</a:t>
            </a:r>
            <a:endParaRPr lang="en-US" sz="1250" dirty="0"/>
          </a:p>
        </p:txBody>
      </p:sp>
      <p:sp>
        <p:nvSpPr>
          <p:cNvPr id="7" name="Shape 5"/>
          <p:cNvSpPr/>
          <p:nvPr/>
        </p:nvSpPr>
        <p:spPr>
          <a:xfrm>
            <a:off x="6217920" y="2788920"/>
            <a:ext cx="5074920" cy="2286000"/>
          </a:xfrm>
          <a:prstGeom prst="rect">
            <a:avLst/>
          </a:prstGeom>
          <a:solidFill>
            <a:srgbClr val="FAFAF8"/>
          </a:solidFill>
          <a:ln w="9525">
            <a:solidFill>
              <a:srgbClr val="E3E2DC"/>
            </a:solidFill>
            <a:prstDash val="solid"/>
          </a:ln>
        </p:spPr>
      </p:sp>
      <p:sp>
        <p:nvSpPr>
          <p:cNvPr id="8" name="Text 6"/>
          <p:cNvSpPr/>
          <p:nvPr/>
        </p:nvSpPr>
        <p:spPr>
          <a:xfrm>
            <a:off x="6492240" y="3017520"/>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WHAT WE DO NOT CLAIM</a:t>
            </a:r>
            <a:endParaRPr lang="en-US" sz="900" dirty="0"/>
          </a:p>
        </p:txBody>
      </p:sp>
      <p:sp>
        <p:nvSpPr>
          <p:cNvPr id="9" name="Text 7"/>
          <p:cNvSpPr/>
          <p:nvPr/>
        </p:nvSpPr>
        <p:spPr>
          <a:xfrm>
            <a:off x="6492240" y="3310128"/>
            <a:ext cx="4572000" cy="1600200"/>
          </a:xfrm>
          <a:prstGeom prst="rect">
            <a:avLst/>
          </a:prstGeom>
          <a:noFill/>
          <a:ln/>
        </p:spPr>
        <p:txBody>
          <a:bodyPr wrap="square" lIns="0" tIns="0" rIns="0" bIns="0" rtlCol="0" anchor="ctr"/>
          <a:lstStyle/>
          <a:p>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EPA has proposed revisions to the standards for open burning and open detonation of waste explosives (89 FR 19952, March 2024). </a:t>
            </a:r>
            <a:pPr indent="0" marL="0">
              <a:lnSpc>
                <a:spcPts val="1800"/>
              </a:lnSpc>
              <a:buNone/>
            </a:pPr>
            <a:r>
              <a:rPr lang="en-US" sz="1250" b="1" dirty="0">
                <a:solidFill>
                  <a:srgbClr val="000000"/>
                </a:solidFill>
                <a:latin typeface="Helvetica Neue" pitchFamily="34" charset="0"/>
                <a:ea typeface="Helvetica Neue" pitchFamily="34" charset="-122"/>
                <a:cs typeface="Helvetica Neue" pitchFamily="34" charset="-120"/>
              </a:rPr>
              <a:t>That rule is proposed, not final,</a:t>
            </a:r>
            <a:pPr indent="0" marL="0">
              <a:lnSpc>
                <a:spcPts val="1800"/>
              </a:lnSpc>
              <a:buNone/>
            </a:pPr>
            <a:r>
              <a:rPr lang="en-US" sz="1250" dirty="0">
                <a:solidFill>
                  <a:srgbClr val="3A3A38"/>
                </a:solidFill>
                <a:latin typeface="Helvetica Neue" pitchFamily="34" charset="0"/>
                <a:ea typeface="Helvetica Neue" pitchFamily="34" charset="-122"/>
                <a:cs typeface="Helvetica Neue" pitchFamily="34" charset="-120"/>
              </a:rPr>
              <a:t> and we describe it that way. We do not build a compliance case on a rule that has not issued.</a:t>
            </a:r>
            <a:endParaRPr lang="en-US" sz="1250" dirty="0"/>
          </a:p>
        </p:txBody>
      </p:sp>
      <p:sp>
        <p:nvSpPr>
          <p:cNvPr id="10" name="Text 8"/>
          <p:cNvSpPr/>
          <p:nvPr/>
        </p:nvSpPr>
        <p:spPr>
          <a:xfrm>
            <a:off x="868680" y="5349240"/>
            <a:ext cx="10424160" cy="548640"/>
          </a:xfrm>
          <a:prstGeom prst="rect">
            <a:avLst/>
          </a:prstGeom>
          <a:noFill/>
          <a:ln/>
        </p:spPr>
        <p:txBody>
          <a:bodyPr wrap="square" lIns="0" tIns="0" rIns="0" bIns="0" rtlCol="0" anchor="ctr"/>
          <a:lstStyle/>
          <a:p>
            <a:pPr indent="0" marL="0">
              <a:lnSpc>
                <a:spcPts val="1900"/>
              </a:lnSpc>
              <a:buNone/>
            </a:pPr>
            <a:r>
              <a:rPr lang="en-US" sz="1300" dirty="0">
                <a:solidFill>
                  <a:srgbClr val="3A3A38"/>
                </a:solidFill>
                <a:latin typeface="Helvetica Neue" pitchFamily="34" charset="0"/>
                <a:ea typeface="Helvetica Neue" pitchFamily="34" charset="-122"/>
                <a:cs typeface="Helvetica Neue" pitchFamily="34" charset="-120"/>
              </a:rPr>
              <a:t>What is already in force is the exception itself: open burning is permitted only for waste explosives that “cannot safely be disposed of through other modes of treatment.” That conditional is where this technology lives.</a:t>
            </a:r>
            <a:endParaRPr lang="en-US" sz="1300" dirty="0"/>
          </a:p>
        </p:txBody>
      </p:sp>
      <p:sp>
        <p:nvSpPr>
          <p:cNvPr id="11" name="Text 9"/>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2" name="Text 10"/>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WHO IT IS FOR</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If your name is on the property record, this is built for you.</a:t>
            </a:r>
            <a:endParaRPr lang="en-US" sz="3400" dirty="0"/>
          </a:p>
        </p:txBody>
      </p:sp>
      <p:sp>
        <p:nvSpPr>
          <p:cNvPr id="4" name="Shape 2"/>
          <p:cNvSpPr/>
          <p:nvPr/>
        </p:nvSpPr>
        <p:spPr>
          <a:xfrm>
            <a:off x="868680" y="2148840"/>
            <a:ext cx="5029200" cy="1828800"/>
          </a:xfrm>
          <a:prstGeom prst="rect">
            <a:avLst/>
          </a:prstGeom>
          <a:solidFill>
            <a:srgbClr val="FAFAF8"/>
          </a:solidFill>
          <a:ln w="9525">
            <a:solidFill>
              <a:srgbClr val="E3E2DC"/>
            </a:solidFill>
            <a:prstDash val="solid"/>
          </a:ln>
        </p:spPr>
      </p:sp>
      <p:sp>
        <p:nvSpPr>
          <p:cNvPr id="5" name="Text 3"/>
          <p:cNvSpPr/>
          <p:nvPr/>
        </p:nvSpPr>
        <p:spPr>
          <a:xfrm>
            <a:off x="1124712" y="23500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Law enforcement</a:t>
            </a:r>
            <a:endParaRPr lang="en-US" sz="1500" dirty="0"/>
          </a:p>
        </p:txBody>
      </p:sp>
      <p:sp>
        <p:nvSpPr>
          <p:cNvPr id="6" name="Text 4"/>
          <p:cNvSpPr/>
          <p:nvPr/>
        </p:nvSpPr>
        <p:spPr>
          <a:xfrm>
            <a:off x="1124712" y="26791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EVIDENCE CUSTODIANS, ARMOURERS, RANGE OFFICERS, EOD</a:t>
            </a:r>
            <a:endParaRPr lang="en-US" sz="850" dirty="0"/>
          </a:p>
        </p:txBody>
      </p:sp>
      <p:sp>
        <p:nvSpPr>
          <p:cNvPr id="7" name="Text 5"/>
          <p:cNvSpPr/>
          <p:nvPr/>
        </p:nvSpPr>
        <p:spPr>
          <a:xfrm>
            <a:off x="1124712" y="29900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Seized rounds, buy-back surrenders, duty ammunition past service life, range sweepings. Cleared inside your own compound, on a schedule you set. Typically a blanket purchase order rather than a competition.</a:t>
            </a:r>
            <a:endParaRPr lang="en-US" sz="1150" dirty="0"/>
          </a:p>
        </p:txBody>
      </p:sp>
      <p:sp>
        <p:nvSpPr>
          <p:cNvPr id="8" name="Shape 6"/>
          <p:cNvSpPr/>
          <p:nvPr/>
        </p:nvSpPr>
        <p:spPr>
          <a:xfrm>
            <a:off x="6217920" y="2148840"/>
            <a:ext cx="5029200" cy="1828800"/>
          </a:xfrm>
          <a:prstGeom prst="rect">
            <a:avLst/>
          </a:prstGeom>
          <a:solidFill>
            <a:srgbClr val="FAFAF8"/>
          </a:solidFill>
          <a:ln w="9525">
            <a:solidFill>
              <a:srgbClr val="E3E2DC"/>
            </a:solidFill>
            <a:prstDash val="solid"/>
          </a:ln>
        </p:spPr>
      </p:sp>
      <p:sp>
        <p:nvSpPr>
          <p:cNvPr id="9" name="Text 7"/>
          <p:cNvSpPr/>
          <p:nvPr/>
        </p:nvSpPr>
        <p:spPr>
          <a:xfrm>
            <a:off x="6473952" y="23500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Commercial &amp; industrial</a:t>
            </a:r>
            <a:endParaRPr lang="en-US" sz="1500" dirty="0"/>
          </a:p>
        </p:txBody>
      </p:sp>
      <p:sp>
        <p:nvSpPr>
          <p:cNvPr id="10" name="Text 8"/>
          <p:cNvSpPr/>
          <p:nvPr/>
        </p:nvSpPr>
        <p:spPr>
          <a:xfrm>
            <a:off x="6473952" y="26791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MANUFACTURERS, DISTRIBUTORS, RANGES, LICENSEES</a:t>
            </a:r>
            <a:endParaRPr lang="en-US" sz="850" dirty="0"/>
          </a:p>
        </p:txBody>
      </p:sp>
      <p:sp>
        <p:nvSpPr>
          <p:cNvPr id="11" name="Text 9"/>
          <p:cNvSpPr/>
          <p:nvPr/>
        </p:nvSpPr>
        <p:spPr>
          <a:xfrm>
            <a:off x="6473952" y="29900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Off-specification production, returned and expired stock, discontinued lines. Recovered metal offsets a meaningful share of disposal cost and nothing leaves your insurance perimeter.</a:t>
            </a:r>
            <a:endParaRPr lang="en-US" sz="1150" dirty="0"/>
          </a:p>
        </p:txBody>
      </p:sp>
      <p:sp>
        <p:nvSpPr>
          <p:cNvPr id="12" name="Shape 10"/>
          <p:cNvSpPr/>
          <p:nvPr/>
        </p:nvSpPr>
        <p:spPr>
          <a:xfrm>
            <a:off x="868680" y="4206240"/>
            <a:ext cx="5029200" cy="1828800"/>
          </a:xfrm>
          <a:prstGeom prst="rect">
            <a:avLst/>
          </a:prstGeom>
          <a:solidFill>
            <a:srgbClr val="FAFAF8"/>
          </a:solidFill>
          <a:ln w="9525">
            <a:solidFill>
              <a:srgbClr val="E3E2DC"/>
            </a:solidFill>
            <a:prstDash val="solid"/>
          </a:ln>
        </p:spPr>
      </p:sp>
      <p:sp>
        <p:nvSpPr>
          <p:cNvPr id="13" name="Text 11"/>
          <p:cNvSpPr/>
          <p:nvPr/>
        </p:nvSpPr>
        <p:spPr>
          <a:xfrm>
            <a:off x="1124712" y="44074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Defence — installation level</a:t>
            </a:r>
            <a:endParaRPr lang="en-US" sz="1500" dirty="0"/>
          </a:p>
        </p:txBody>
      </p:sp>
      <p:sp>
        <p:nvSpPr>
          <p:cNvPr id="14" name="Text 12"/>
          <p:cNvSpPr/>
          <p:nvPr/>
        </p:nvSpPr>
        <p:spPr>
          <a:xfrm>
            <a:off x="1124712" y="47365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RANGE CONTROL, AMMUNITION SUPPLY POINTS, BASE EOD</a:t>
            </a:r>
            <a:endParaRPr lang="en-US" sz="850" dirty="0"/>
          </a:p>
        </p:txBody>
      </p:sp>
      <p:sp>
        <p:nvSpPr>
          <p:cNvPr id="15" name="Text 13"/>
          <p:cNvSpPr/>
          <p:nvPr/>
        </p:nvSpPr>
        <p:spPr>
          <a:xfrm>
            <a:off x="1124712" y="50474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The standard objection to closed disposal is that preprocessing and consolidation increase handling risk. That objection is correct — and it applies to fixed-site disposal. Processing at the point of storage removes the consolidation step.</a:t>
            </a:r>
            <a:endParaRPr lang="en-US" sz="1150" dirty="0"/>
          </a:p>
        </p:txBody>
      </p:sp>
      <p:sp>
        <p:nvSpPr>
          <p:cNvPr id="16" name="Shape 14"/>
          <p:cNvSpPr/>
          <p:nvPr/>
        </p:nvSpPr>
        <p:spPr>
          <a:xfrm>
            <a:off x="6217920" y="4206240"/>
            <a:ext cx="5029200" cy="1828800"/>
          </a:xfrm>
          <a:prstGeom prst="rect">
            <a:avLst/>
          </a:prstGeom>
          <a:solidFill>
            <a:srgbClr val="FAFAF8"/>
          </a:solidFill>
          <a:ln w="9525">
            <a:solidFill>
              <a:srgbClr val="E3E2DC"/>
            </a:solidFill>
            <a:prstDash val="solid"/>
          </a:ln>
        </p:spPr>
      </p:sp>
      <p:sp>
        <p:nvSpPr>
          <p:cNvPr id="17" name="Text 15"/>
          <p:cNvSpPr/>
          <p:nvPr/>
        </p:nvSpPr>
        <p:spPr>
          <a:xfrm>
            <a:off x="6473952" y="4407408"/>
            <a:ext cx="4526280" cy="292608"/>
          </a:xfrm>
          <a:prstGeom prst="rect">
            <a:avLst/>
          </a:prstGeom>
          <a:noFill/>
          <a:ln/>
        </p:spPr>
        <p:txBody>
          <a:bodyPr wrap="square" lIns="0" tIns="0" rIns="0" bIns="0"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Allied &amp; international</a:t>
            </a:r>
            <a:endParaRPr lang="en-US" sz="1500" dirty="0"/>
          </a:p>
        </p:txBody>
      </p:sp>
      <p:sp>
        <p:nvSpPr>
          <p:cNvPr id="18" name="Text 16"/>
          <p:cNvSpPr/>
          <p:nvPr/>
        </p:nvSpPr>
        <p:spPr>
          <a:xfrm>
            <a:off x="6473952" y="4736592"/>
            <a:ext cx="4526280" cy="237744"/>
          </a:xfrm>
          <a:prstGeom prst="rect">
            <a:avLst/>
          </a:prstGeom>
          <a:noFill/>
          <a:ln/>
        </p:spPr>
        <p:txBody>
          <a:bodyPr wrap="square" lIns="0" tIns="0" rIns="0" bIns="0" rtlCol="0" anchor="ctr"/>
          <a:lstStyle/>
          <a:p>
            <a:pPr indent="0" marL="0">
              <a:buNone/>
            </a:pPr>
            <a:r>
              <a:rPr lang="en-US" sz="850" b="1" spc="140" kern="0" dirty="0">
                <a:solidFill>
                  <a:srgbClr val="66705F"/>
                </a:solidFill>
                <a:latin typeface="Helvetica Neue" pitchFamily="34" charset="0"/>
                <a:ea typeface="Helvetica Neue" pitchFamily="34" charset="-122"/>
                <a:cs typeface="Helvetica Neue" pitchFamily="34" charset="-120"/>
              </a:rPr>
              <a:t>PARTNER-NATION FORCES, STOCKPILE REDUCTION</a:t>
            </a:r>
            <a:endParaRPr lang="en-US" sz="850" dirty="0"/>
          </a:p>
        </p:txBody>
      </p:sp>
      <p:sp>
        <p:nvSpPr>
          <p:cNvPr id="19" name="Text 17"/>
          <p:cNvSpPr/>
          <p:nvPr/>
        </p:nvSpPr>
        <p:spPr>
          <a:xfrm>
            <a:off x="6473952" y="5047488"/>
            <a:ext cx="4526280" cy="86868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Small arms is the stream alternative-technology programmes consistently score out of scope. It is also the stream most likely to be diverted. Deployed across three continents.</a:t>
            </a:r>
            <a:endParaRPr lang="en-US" sz="1150" dirty="0"/>
          </a:p>
        </p:txBody>
      </p:sp>
      <p:sp>
        <p:nvSpPr>
          <p:cNvPr id="20" name="Text 1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21" name="Text 1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CAPABILITY</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200" spc="-80" kern="0" dirty="0">
                <a:solidFill>
                  <a:srgbClr val="000000"/>
                </a:solidFill>
                <a:latin typeface="Helvetica Neue" pitchFamily="34" charset="0"/>
                <a:ea typeface="Helvetica Neue" pitchFamily="34" charset="-122"/>
                <a:cs typeface="Helvetica Neue" pitchFamily="34" charset="-120"/>
              </a:rPr>
              <a:t>What Vault does today, and what is gated.</a:t>
            </a:r>
            <a:endParaRPr lang="en-US" sz="3200" dirty="0"/>
          </a:p>
        </p:txBody>
      </p:sp>
      <p:sp>
        <p:nvSpPr>
          <p:cNvPr id="4" name="Text 2"/>
          <p:cNvSpPr/>
          <p:nvPr/>
        </p:nvSpPr>
        <p:spPr>
          <a:xfrm>
            <a:off x="868680" y="1965960"/>
            <a:ext cx="8229600" cy="548640"/>
          </a:xfrm>
          <a:prstGeom prst="rect">
            <a:avLst/>
          </a:prstGeom>
          <a:noFill/>
          <a:ln/>
        </p:spPr>
        <p:txBody>
          <a:bodyPr wrap="square" lIns="0" tIns="0" rIns="0" bIns="0" rtlCol="0" anchor="ctr"/>
          <a:lstStyle/>
          <a:p>
            <a:pPr indent="0" marL="0">
              <a:lnSpc>
                <a:spcPts val="2000"/>
              </a:lnSpc>
              <a:buNone/>
            </a:pPr>
            <a:r>
              <a:rPr lang="en-US" sz="1400" dirty="0">
                <a:solidFill>
                  <a:srgbClr val="3A3A38"/>
                </a:solidFill>
                <a:latin typeface="Helvetica Neue" pitchFamily="34" charset="0"/>
                <a:ea typeface="Helvetica Neue" pitchFamily="34" charset="-122"/>
                <a:cs typeface="Helvetica Neue" pitchFamily="34" charset="-120"/>
              </a:rPr>
              <a:t>We state capability and intent separately, and we name the gate on anything not yet shipping. You should expect that from any supplier handling energetic material.</a:t>
            </a:r>
            <a:endParaRPr lang="en-US" sz="1400" dirty="0"/>
          </a:p>
        </p:txBody>
      </p:sp>
      <p:sp>
        <p:nvSpPr>
          <p:cNvPr id="5" name="Shape 3"/>
          <p:cNvSpPr/>
          <p:nvPr/>
        </p:nvSpPr>
        <p:spPr>
          <a:xfrm>
            <a:off x="868680" y="2788920"/>
            <a:ext cx="2423160" cy="2743200"/>
          </a:xfrm>
          <a:prstGeom prst="rect">
            <a:avLst/>
          </a:prstGeom>
          <a:solidFill>
            <a:srgbClr val="FAFAF8"/>
          </a:solidFill>
          <a:ln w="9525">
            <a:solidFill>
              <a:srgbClr val="E3E2DC"/>
            </a:solidFill>
            <a:prstDash val="solid"/>
          </a:ln>
        </p:spPr>
      </p:sp>
      <p:sp>
        <p:nvSpPr>
          <p:cNvPr id="6" name="Text 4"/>
          <p:cNvSpPr/>
          <p:nvPr/>
        </p:nvSpPr>
        <p:spPr>
          <a:xfrm>
            <a:off x="1088136" y="3017520"/>
            <a:ext cx="2011680" cy="237744"/>
          </a:xfrm>
          <a:prstGeom prst="rect">
            <a:avLst/>
          </a:prstGeom>
          <a:noFill/>
          <a:ln/>
        </p:spPr>
        <p:txBody>
          <a:bodyPr wrap="square" lIns="0" tIns="0" rIns="0" bIns="0" rtlCol="0" anchor="ctr"/>
          <a:lstStyle/>
          <a:p>
            <a:pPr indent="0" marL="0">
              <a:buNone/>
            </a:pPr>
            <a:r>
              <a:rPr lang="en-US" sz="800" b="1" spc="130" kern="0" dirty="0">
                <a:solidFill>
                  <a:srgbClr val="66705F"/>
                </a:solidFill>
                <a:latin typeface="Helvetica Neue" pitchFamily="34" charset="0"/>
                <a:ea typeface="Helvetica Neue" pitchFamily="34" charset="-122"/>
                <a:cs typeface="Helvetica Neue" pitchFamily="34" charset="-120"/>
              </a:rPr>
              <a:t>SHIPPING TODAY</a:t>
            </a:r>
            <a:endParaRPr lang="en-US" sz="800" dirty="0"/>
          </a:p>
        </p:txBody>
      </p:sp>
      <p:sp>
        <p:nvSpPr>
          <p:cNvPr id="7" name="Text 5"/>
          <p:cNvSpPr/>
          <p:nvPr/>
        </p:nvSpPr>
        <p:spPr>
          <a:xfrm>
            <a:off x="1088136" y="3337560"/>
            <a:ext cx="2011680" cy="384048"/>
          </a:xfrm>
          <a:prstGeom prst="rect">
            <a:avLst/>
          </a:prstGeom>
          <a:noFill/>
          <a:ln/>
        </p:spPr>
        <p:txBody>
          <a:bodyPr wrap="square" lIns="0" tIns="0" rIns="0" bIns="0" rtlCol="0" anchor="ctr"/>
          <a:lstStyle/>
          <a:p>
            <a:pPr indent="0" marL="0">
              <a:buNone/>
            </a:pPr>
            <a:r>
              <a:rPr lang="en-US" sz="2000" b="1" spc="-40" kern="0" dirty="0">
                <a:solidFill>
                  <a:srgbClr val="000000"/>
                </a:solidFill>
                <a:latin typeface="Helvetica Neue" pitchFamily="34" charset="0"/>
                <a:ea typeface="Helvetica Neue" pitchFamily="34" charset="-122"/>
                <a:cs typeface="Helvetica Neue" pitchFamily="34" charset="-120"/>
              </a:rPr>
              <a:t>RETIRE</a:t>
            </a:r>
            <a:endParaRPr lang="en-US" sz="2000" dirty="0"/>
          </a:p>
        </p:txBody>
      </p:sp>
      <p:sp>
        <p:nvSpPr>
          <p:cNvPr id="8" name="Text 6"/>
          <p:cNvSpPr/>
          <p:nvPr/>
        </p:nvSpPr>
        <p:spPr>
          <a:xfrm>
            <a:off x="108813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On-site destruction of expired, seized, surrendered and surplus small arms ammunition up to .50 calibre, without transfer.</a:t>
            </a:r>
            <a:endParaRPr lang="en-US" sz="1150" dirty="0"/>
          </a:p>
        </p:txBody>
      </p:sp>
      <p:sp>
        <p:nvSpPr>
          <p:cNvPr id="9" name="Shape 7"/>
          <p:cNvSpPr/>
          <p:nvPr/>
        </p:nvSpPr>
        <p:spPr>
          <a:xfrm>
            <a:off x="3520440" y="2788920"/>
            <a:ext cx="2423160" cy="2743200"/>
          </a:xfrm>
          <a:prstGeom prst="rect">
            <a:avLst/>
          </a:prstGeom>
          <a:solidFill>
            <a:srgbClr val="FAFAF8"/>
          </a:solidFill>
          <a:ln w="9525">
            <a:solidFill>
              <a:srgbClr val="E3E2DC"/>
            </a:solidFill>
            <a:prstDash val="solid"/>
          </a:ln>
        </p:spPr>
      </p:sp>
      <p:sp>
        <p:nvSpPr>
          <p:cNvPr id="10" name="Text 8"/>
          <p:cNvSpPr/>
          <p:nvPr/>
        </p:nvSpPr>
        <p:spPr>
          <a:xfrm>
            <a:off x="3739896" y="3017520"/>
            <a:ext cx="2011680" cy="237744"/>
          </a:xfrm>
          <a:prstGeom prst="rect">
            <a:avLst/>
          </a:prstGeom>
          <a:noFill/>
          <a:ln/>
        </p:spPr>
        <p:txBody>
          <a:bodyPr wrap="square" lIns="0" tIns="0" rIns="0" bIns="0" rtlCol="0" anchor="ctr"/>
          <a:lstStyle/>
          <a:p>
            <a:pPr indent="0" marL="0">
              <a:buNone/>
            </a:pPr>
            <a:r>
              <a:rPr lang="en-US" sz="800" b="1" spc="130" kern="0" dirty="0">
                <a:solidFill>
                  <a:srgbClr val="66705F"/>
                </a:solidFill>
                <a:latin typeface="Helvetica Neue" pitchFamily="34" charset="0"/>
                <a:ea typeface="Helvetica Neue" pitchFamily="34" charset="-122"/>
                <a:cs typeface="Helvetica Neue" pitchFamily="34" charset="-120"/>
              </a:rPr>
              <a:t>SHIPPING TODAY</a:t>
            </a:r>
            <a:endParaRPr lang="en-US" sz="800" dirty="0"/>
          </a:p>
        </p:txBody>
      </p:sp>
      <p:sp>
        <p:nvSpPr>
          <p:cNvPr id="11" name="Text 9"/>
          <p:cNvSpPr/>
          <p:nvPr/>
        </p:nvSpPr>
        <p:spPr>
          <a:xfrm>
            <a:off x="3739896" y="3337560"/>
            <a:ext cx="2011680" cy="384048"/>
          </a:xfrm>
          <a:prstGeom prst="rect">
            <a:avLst/>
          </a:prstGeom>
          <a:noFill/>
          <a:ln/>
        </p:spPr>
        <p:txBody>
          <a:bodyPr wrap="square" lIns="0" tIns="0" rIns="0" bIns="0" rtlCol="0" anchor="ctr"/>
          <a:lstStyle/>
          <a:p>
            <a:pPr indent="0" marL="0">
              <a:buNone/>
            </a:pPr>
            <a:r>
              <a:rPr lang="en-US" sz="2000" b="1" spc="-40" kern="0" dirty="0">
                <a:solidFill>
                  <a:srgbClr val="000000"/>
                </a:solidFill>
                <a:latin typeface="Helvetica Neue" pitchFamily="34" charset="0"/>
                <a:ea typeface="Helvetica Neue" pitchFamily="34" charset="-122"/>
                <a:cs typeface="Helvetica Neue" pitchFamily="34" charset="-120"/>
              </a:rPr>
              <a:t>RECOVER</a:t>
            </a:r>
            <a:endParaRPr lang="en-US" sz="2000" dirty="0"/>
          </a:p>
        </p:txBody>
      </p:sp>
      <p:sp>
        <p:nvSpPr>
          <p:cNvPr id="12" name="Text 10"/>
          <p:cNvSpPr/>
          <p:nvPr/>
        </p:nvSpPr>
        <p:spPr>
          <a:xfrm>
            <a:off x="373989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Lead, antimony, brass and copper separated and graded at the point of destruction.</a:t>
            </a:r>
            <a:endParaRPr lang="en-US" sz="1150" dirty="0"/>
          </a:p>
        </p:txBody>
      </p:sp>
      <p:sp>
        <p:nvSpPr>
          <p:cNvPr id="13" name="Shape 11"/>
          <p:cNvSpPr/>
          <p:nvPr/>
        </p:nvSpPr>
        <p:spPr>
          <a:xfrm>
            <a:off x="6172200" y="2788920"/>
            <a:ext cx="2423160" cy="2743200"/>
          </a:xfrm>
          <a:prstGeom prst="rect">
            <a:avLst/>
          </a:prstGeom>
          <a:solidFill>
            <a:srgbClr val="FAFAF8"/>
          </a:solidFill>
          <a:ln w="9525">
            <a:solidFill>
              <a:srgbClr val="E3E2DC"/>
            </a:solidFill>
            <a:prstDash val="solid"/>
          </a:ln>
        </p:spPr>
      </p:sp>
      <p:sp>
        <p:nvSpPr>
          <p:cNvPr id="14" name="Text 12"/>
          <p:cNvSpPr/>
          <p:nvPr/>
        </p:nvSpPr>
        <p:spPr>
          <a:xfrm>
            <a:off x="6391656" y="3017520"/>
            <a:ext cx="2011680" cy="237744"/>
          </a:xfrm>
          <a:prstGeom prst="rect">
            <a:avLst/>
          </a:prstGeom>
          <a:noFill/>
          <a:ln/>
        </p:spPr>
        <p:txBody>
          <a:bodyPr wrap="square" lIns="0" tIns="0" rIns="0" bIns="0" rtlCol="0" anchor="ctr"/>
          <a:lstStyle/>
          <a:p>
            <a:pPr indent="0" marL="0">
              <a:buNone/>
            </a:pPr>
            <a:r>
              <a:rPr lang="en-US" sz="800" b="1" spc="130" kern="0" dirty="0">
                <a:solidFill>
                  <a:srgbClr val="A5A29A"/>
                </a:solidFill>
                <a:latin typeface="Helvetica Neue" pitchFamily="34" charset="0"/>
                <a:ea typeface="Helvetica Neue" pitchFamily="34" charset="-122"/>
                <a:cs typeface="Helvetica Neue" pitchFamily="34" charset="-120"/>
              </a:rPr>
              <a:t>INTENT — GATED</a:t>
            </a:r>
            <a:endParaRPr lang="en-US" sz="800" dirty="0"/>
          </a:p>
        </p:txBody>
      </p:sp>
      <p:sp>
        <p:nvSpPr>
          <p:cNvPr id="15" name="Text 13"/>
          <p:cNvSpPr/>
          <p:nvPr/>
        </p:nvSpPr>
        <p:spPr>
          <a:xfrm>
            <a:off x="6391656" y="3337560"/>
            <a:ext cx="2011680" cy="384048"/>
          </a:xfrm>
          <a:prstGeom prst="rect">
            <a:avLst/>
          </a:prstGeom>
          <a:noFill/>
          <a:ln/>
        </p:spPr>
        <p:txBody>
          <a:bodyPr wrap="square" lIns="0" tIns="0" rIns="0" bIns="0" rtlCol="0" anchor="ctr"/>
          <a:lstStyle/>
          <a:p>
            <a:pPr indent="0" marL="0">
              <a:buNone/>
            </a:pPr>
            <a:r>
              <a:rPr lang="en-US" sz="2000" b="1" spc="-40" kern="0" dirty="0">
                <a:solidFill>
                  <a:srgbClr val="A5A29A"/>
                </a:solidFill>
                <a:latin typeface="Helvetica Neue" pitchFamily="34" charset="0"/>
                <a:ea typeface="Helvetica Neue" pitchFamily="34" charset="-122"/>
                <a:cs typeface="Helvetica Neue" pitchFamily="34" charset="-120"/>
              </a:rPr>
              <a:t>CLEAR</a:t>
            </a:r>
            <a:endParaRPr lang="en-US" sz="2000" dirty="0"/>
          </a:p>
        </p:txBody>
      </p:sp>
      <p:sp>
        <p:nvSpPr>
          <p:cNvPr id="16" name="Text 14"/>
          <p:cNvSpPr/>
          <p:nvPr/>
        </p:nvSpPr>
        <p:spPr>
          <a:xfrm>
            <a:off x="639165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Field destruction of UXO and de-mining remnants. Gate: acquisition of controlled-detonation capability. Not a current capability.</a:t>
            </a:r>
            <a:endParaRPr lang="en-US" sz="1150" dirty="0"/>
          </a:p>
        </p:txBody>
      </p:sp>
      <p:sp>
        <p:nvSpPr>
          <p:cNvPr id="17" name="Shape 15"/>
          <p:cNvSpPr/>
          <p:nvPr/>
        </p:nvSpPr>
        <p:spPr>
          <a:xfrm>
            <a:off x="8823960" y="2788920"/>
            <a:ext cx="2423160" cy="2743200"/>
          </a:xfrm>
          <a:prstGeom prst="rect">
            <a:avLst/>
          </a:prstGeom>
          <a:solidFill>
            <a:srgbClr val="FAFAF8"/>
          </a:solidFill>
          <a:ln w="9525">
            <a:solidFill>
              <a:srgbClr val="E3E2DC"/>
            </a:solidFill>
            <a:prstDash val="solid"/>
          </a:ln>
        </p:spPr>
      </p:sp>
      <p:sp>
        <p:nvSpPr>
          <p:cNvPr id="18" name="Text 16"/>
          <p:cNvSpPr/>
          <p:nvPr/>
        </p:nvSpPr>
        <p:spPr>
          <a:xfrm>
            <a:off x="9043416" y="3017520"/>
            <a:ext cx="2011680" cy="237744"/>
          </a:xfrm>
          <a:prstGeom prst="rect">
            <a:avLst/>
          </a:prstGeom>
          <a:noFill/>
          <a:ln/>
        </p:spPr>
        <p:txBody>
          <a:bodyPr wrap="square" lIns="0" tIns="0" rIns="0" bIns="0" rtlCol="0" anchor="ctr"/>
          <a:lstStyle/>
          <a:p>
            <a:pPr indent="0" marL="0">
              <a:buNone/>
            </a:pPr>
            <a:r>
              <a:rPr lang="en-US" sz="800" b="1" spc="130" kern="0" dirty="0">
                <a:solidFill>
                  <a:srgbClr val="A5A29A"/>
                </a:solidFill>
                <a:latin typeface="Helvetica Neue" pitchFamily="34" charset="0"/>
                <a:ea typeface="Helvetica Neue" pitchFamily="34" charset="-122"/>
                <a:cs typeface="Helvetica Neue" pitchFamily="34" charset="-120"/>
              </a:rPr>
              <a:t>INTENT — IN DESIGN</a:t>
            </a:r>
            <a:endParaRPr lang="en-US" sz="800" dirty="0"/>
          </a:p>
        </p:txBody>
      </p:sp>
      <p:sp>
        <p:nvSpPr>
          <p:cNvPr id="19" name="Text 17"/>
          <p:cNvSpPr/>
          <p:nvPr/>
        </p:nvSpPr>
        <p:spPr>
          <a:xfrm>
            <a:off x="9043416" y="3337560"/>
            <a:ext cx="2011680" cy="384048"/>
          </a:xfrm>
          <a:prstGeom prst="rect">
            <a:avLst/>
          </a:prstGeom>
          <a:noFill/>
          <a:ln/>
        </p:spPr>
        <p:txBody>
          <a:bodyPr wrap="square" lIns="0" tIns="0" rIns="0" bIns="0" rtlCol="0" anchor="ctr"/>
          <a:lstStyle/>
          <a:p>
            <a:pPr indent="0" marL="0">
              <a:buNone/>
            </a:pPr>
            <a:r>
              <a:rPr lang="en-US" sz="2000" b="1" spc="-40" kern="0" dirty="0">
                <a:solidFill>
                  <a:srgbClr val="A5A29A"/>
                </a:solidFill>
                <a:latin typeface="Helvetica Neue" pitchFamily="34" charset="0"/>
                <a:ea typeface="Helvetica Neue" pitchFamily="34" charset="-122"/>
                <a:cs typeface="Helvetica Neue" pitchFamily="34" charset="-120"/>
              </a:rPr>
              <a:t>SCALE</a:t>
            </a:r>
            <a:endParaRPr lang="en-US" sz="2000" dirty="0"/>
          </a:p>
        </p:txBody>
      </p:sp>
      <p:sp>
        <p:nvSpPr>
          <p:cNvPr id="20" name="Text 18"/>
          <p:cNvSpPr/>
          <p:nvPr/>
        </p:nvSpPr>
        <p:spPr>
          <a:xfrm>
            <a:off x="9043416" y="3840480"/>
            <a:ext cx="2011680" cy="1508760"/>
          </a:xfrm>
          <a:prstGeom prst="rect">
            <a:avLst/>
          </a:prstGeom>
          <a:noFill/>
          <a:ln/>
        </p:spPr>
        <p:txBody>
          <a:bodyPr wrap="square" lIns="0" tIns="0" rIns="0" bIns="0" rtlCol="0" anchor="t"/>
          <a:lstStyle/>
          <a:p>
            <a:pPr indent="0" marL="0">
              <a:lnSpc>
                <a:spcPts val="1600"/>
              </a:lnSpc>
              <a:buNone/>
            </a:pPr>
            <a:r>
              <a:rPr lang="en-US" sz="1150" dirty="0">
                <a:solidFill>
                  <a:srgbClr val="3A3A38"/>
                </a:solidFill>
                <a:latin typeface="Helvetica Neue" pitchFamily="34" charset="0"/>
                <a:ea typeface="Helvetica Neue" pitchFamily="34" charset="-122"/>
                <a:cs typeface="Helvetica Neue" pitchFamily="34" charset="-120"/>
              </a:rPr>
              <a:t>Higher-rate and ISO-container format variants. Gate: engineering and qualification. Not a current capability.</a:t>
            </a:r>
            <a:endParaRPr lang="en-US" sz="1150" dirty="0"/>
          </a:p>
        </p:txBody>
      </p:sp>
      <p:sp>
        <p:nvSpPr>
          <p:cNvPr id="21" name="Text 19"/>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22" name="Text 20"/>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68680" y="777240"/>
            <a:ext cx="7315200" cy="237744"/>
          </a:xfrm>
          <a:prstGeom prst="rect">
            <a:avLst/>
          </a:prstGeom>
          <a:noFill/>
          <a:ln/>
        </p:spPr>
        <p:txBody>
          <a:bodyPr wrap="square" lIns="0" tIns="0" rIns="0" bIns="0" rtlCol="0" anchor="ctr"/>
          <a:lstStyle/>
          <a:p>
            <a:pPr algn="l" indent="0" marL="0">
              <a:buNone/>
            </a:pPr>
            <a:r>
              <a:rPr lang="en-US" sz="950" b="1" spc="190" kern="0" dirty="0">
                <a:solidFill>
                  <a:srgbClr val="66705F"/>
                </a:solidFill>
                <a:latin typeface="Courier New" pitchFamily="34" charset="0"/>
                <a:ea typeface="Courier New" pitchFamily="34" charset="-122"/>
                <a:cs typeface="Courier New" pitchFamily="34" charset="-120"/>
              </a:rPr>
              <a:t>DOING BUSINESS WITH TWB</a:t>
            </a:r>
            <a:endParaRPr lang="en-US" sz="950" dirty="0"/>
          </a:p>
        </p:txBody>
      </p:sp>
      <p:sp>
        <p:nvSpPr>
          <p:cNvPr id="3" name="Text 1"/>
          <p:cNvSpPr/>
          <p:nvPr/>
        </p:nvSpPr>
        <p:spPr>
          <a:xfrm>
            <a:off x="868680" y="1170432"/>
            <a:ext cx="10424160" cy="731520"/>
          </a:xfrm>
          <a:prstGeom prst="rect">
            <a:avLst/>
          </a:prstGeom>
          <a:noFill/>
          <a:ln/>
        </p:spPr>
        <p:txBody>
          <a:bodyPr wrap="square" lIns="0" tIns="0" rIns="0" bIns="0" rtlCol="0" anchor="ctr"/>
          <a:lstStyle/>
          <a:p>
            <a:pPr indent="0" marL="0">
              <a:buNone/>
            </a:pPr>
            <a:r>
              <a:rPr lang="en-US" sz="3400" spc="-80" kern="0" dirty="0">
                <a:solidFill>
                  <a:srgbClr val="000000"/>
                </a:solidFill>
                <a:latin typeface="Helvetica Neue" pitchFamily="34" charset="0"/>
                <a:ea typeface="Helvetica Neue" pitchFamily="34" charset="-122"/>
                <a:cs typeface="Helvetica Neue" pitchFamily="34" charset="-120"/>
              </a:rPr>
              <a:t>What we hold, and what we don’t.</a:t>
            </a:r>
            <a:endParaRPr lang="en-US" sz="3400" dirty="0"/>
          </a:p>
        </p:txBody>
      </p:sp>
      <p:sp>
        <p:nvSpPr>
          <p:cNvPr id="4" name="Shape 2"/>
          <p:cNvSpPr/>
          <p:nvPr/>
        </p:nvSpPr>
        <p:spPr>
          <a:xfrm>
            <a:off x="868680" y="2011680"/>
            <a:ext cx="10424160" cy="1051560"/>
          </a:xfrm>
          <a:prstGeom prst="rect">
            <a:avLst/>
          </a:prstGeom>
          <a:solidFill>
            <a:srgbClr val="F2F1EC"/>
          </a:solidFill>
          <a:ln w="9525">
            <a:solidFill>
              <a:srgbClr val="DEDCD4"/>
            </a:solidFill>
            <a:prstDash val="solid"/>
          </a:ln>
        </p:spPr>
      </p:sp>
      <p:sp>
        <p:nvSpPr>
          <p:cNvPr id="5" name="Text 3"/>
          <p:cNvSpPr/>
          <p:nvPr/>
        </p:nvSpPr>
        <p:spPr>
          <a:xfrm>
            <a:off x="1143000" y="2176272"/>
            <a:ext cx="9875520" cy="777240"/>
          </a:xfrm>
          <a:prstGeom prst="rect">
            <a:avLst/>
          </a:prstGeom>
          <a:noFill/>
          <a:ln/>
        </p:spPr>
        <p:txBody>
          <a:bodyPr wrap="square" lIns="0" tIns="0" rIns="0" bIns="0" rtlCol="0" anchor="ctr"/>
          <a:lstStyle/>
          <a:p>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TWB Designs Inc. is a Canadian company</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 incorporated in Ontario and operating from Hamilton. A US entity is in formation. Until it exists and is registered, TWB does not hold a US CAGE code, US small-business status, an ATF Federal Explosives Licence, or a DDTC registration — and does not claim them. Under 13 CFR 121.105, TWB is </a:t>
            </a:r>
            <a:pPr indent="0" marL="0">
              <a:lnSpc>
                <a:spcPts val="1700"/>
              </a:lnSpc>
              <a:buNone/>
            </a:pPr>
            <a:r>
              <a:rPr lang="en-US" sz="1200" b="1" dirty="0">
                <a:solidFill>
                  <a:srgbClr val="000000"/>
                </a:solidFill>
                <a:latin typeface="Helvetica Neue" pitchFamily="34" charset="0"/>
                <a:ea typeface="Helvetica Neue" pitchFamily="34" charset="-122"/>
                <a:cs typeface="Helvetica Neue" pitchFamily="34" charset="-120"/>
              </a:rPr>
              <a:t>not eligible for US small-business set-asides</a:t>
            </a:r>
            <a:pPr indent="0" marL="0">
              <a:lnSpc>
                <a:spcPts val="1700"/>
              </a:lnSpc>
              <a:buNone/>
            </a:pPr>
            <a:r>
              <a:rPr lang="en-US" sz="1200" dirty="0">
                <a:solidFill>
                  <a:srgbClr val="3A3A38"/>
                </a:solidFill>
                <a:latin typeface="Helvetica Neue" pitchFamily="34" charset="0"/>
                <a:ea typeface="Helvetica Neue" pitchFamily="34" charset="-122"/>
                <a:cs typeface="Helvetica Neue" pitchFamily="34" charset="-120"/>
              </a:rPr>
              <a:t>. We state this so no contracting officer spends time on it.</a:t>
            </a:r>
            <a:endParaRPr lang="en-US" sz="1200" dirty="0"/>
          </a:p>
        </p:txBody>
      </p:sp>
      <p:sp>
        <p:nvSpPr>
          <p:cNvPr id="6" name="Shape 4"/>
          <p:cNvSpPr/>
          <p:nvPr/>
        </p:nvSpPr>
        <p:spPr>
          <a:xfrm>
            <a:off x="868680" y="3291840"/>
            <a:ext cx="5029200" cy="2514600"/>
          </a:xfrm>
          <a:prstGeom prst="rect">
            <a:avLst/>
          </a:prstGeom>
          <a:solidFill>
            <a:srgbClr val="FAFAF8"/>
          </a:solidFill>
          <a:ln w="9525">
            <a:solidFill>
              <a:srgbClr val="E3E2DC"/>
            </a:solidFill>
            <a:prstDash val="solid"/>
          </a:ln>
        </p:spPr>
      </p:sp>
      <p:sp>
        <p:nvSpPr>
          <p:cNvPr id="7" name="Text 5"/>
          <p:cNvSpPr/>
          <p:nvPr/>
        </p:nvSpPr>
        <p:spPr>
          <a:xfrm>
            <a:off x="1124712" y="3493008"/>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STATUS</a:t>
            </a:r>
            <a:endParaRPr lang="en-US" sz="900" dirty="0"/>
          </a:p>
        </p:txBody>
      </p:sp>
      <p:sp>
        <p:nvSpPr>
          <p:cNvPr id="8" name="Text 6"/>
          <p:cNvSpPr/>
          <p:nvPr/>
        </p:nvSpPr>
        <p:spPr>
          <a:xfrm>
            <a:off x="1124712" y="3840480"/>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SAM.gov registration</a:t>
            </a:r>
            <a:endParaRPr lang="en-US" sz="1150" dirty="0"/>
          </a:p>
        </p:txBody>
      </p:sp>
      <p:sp>
        <p:nvSpPr>
          <p:cNvPr id="9" name="Text 7"/>
          <p:cNvSpPr/>
          <p:nvPr/>
        </p:nvSpPr>
        <p:spPr>
          <a:xfrm>
            <a:off x="4160520" y="3840480"/>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10" name="Text 8"/>
          <p:cNvSpPr/>
          <p:nvPr/>
        </p:nvSpPr>
        <p:spPr>
          <a:xfrm>
            <a:off x="1124712" y="4105656"/>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Unique Entity ID (UEI)</a:t>
            </a:r>
            <a:endParaRPr lang="en-US" sz="1150" dirty="0"/>
          </a:p>
        </p:txBody>
      </p:sp>
      <p:sp>
        <p:nvSpPr>
          <p:cNvPr id="11" name="Text 9"/>
          <p:cNvSpPr/>
          <p:nvPr/>
        </p:nvSpPr>
        <p:spPr>
          <a:xfrm>
            <a:off x="4160520" y="4105656"/>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Pending SAM</a:t>
            </a:r>
            <a:endParaRPr lang="en-US" sz="950" dirty="0"/>
          </a:p>
        </p:txBody>
      </p:sp>
      <p:sp>
        <p:nvSpPr>
          <p:cNvPr id="12" name="Text 10"/>
          <p:cNvSpPr/>
          <p:nvPr/>
        </p:nvSpPr>
        <p:spPr>
          <a:xfrm>
            <a:off x="1124712" y="4370832"/>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NCAGE (Canada)</a:t>
            </a:r>
            <a:endParaRPr lang="en-US" sz="1150" dirty="0"/>
          </a:p>
        </p:txBody>
      </p:sp>
      <p:sp>
        <p:nvSpPr>
          <p:cNvPr id="13" name="Text 11"/>
          <p:cNvSpPr/>
          <p:nvPr/>
        </p:nvSpPr>
        <p:spPr>
          <a:xfrm>
            <a:off x="4160520" y="4370832"/>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14" name="Text 12"/>
          <p:cNvSpPr/>
          <p:nvPr/>
        </p:nvSpPr>
        <p:spPr>
          <a:xfrm>
            <a:off x="1124712" y="4636008"/>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US CAGE code</a:t>
            </a:r>
            <a:endParaRPr lang="en-US" sz="1150" dirty="0"/>
          </a:p>
        </p:txBody>
      </p:sp>
      <p:sp>
        <p:nvSpPr>
          <p:cNvPr id="15" name="Text 13"/>
          <p:cNvSpPr/>
          <p:nvPr/>
        </p:nvSpPr>
        <p:spPr>
          <a:xfrm>
            <a:off x="4160520" y="4636008"/>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Requires US entity</a:t>
            </a:r>
            <a:endParaRPr lang="en-US" sz="950" dirty="0"/>
          </a:p>
        </p:txBody>
      </p:sp>
      <p:sp>
        <p:nvSpPr>
          <p:cNvPr id="16" name="Text 14"/>
          <p:cNvSpPr/>
          <p:nvPr/>
        </p:nvSpPr>
        <p:spPr>
          <a:xfrm>
            <a:off x="1124712" y="4901184"/>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Controlled Goods Program</a:t>
            </a:r>
            <a:endParaRPr lang="en-US" sz="1150" dirty="0"/>
          </a:p>
        </p:txBody>
      </p:sp>
      <p:sp>
        <p:nvSpPr>
          <p:cNvPr id="17" name="Text 15"/>
          <p:cNvSpPr/>
          <p:nvPr/>
        </p:nvSpPr>
        <p:spPr>
          <a:xfrm>
            <a:off x="4160520" y="4901184"/>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Underway</a:t>
            </a:r>
            <a:endParaRPr lang="en-US" sz="950" dirty="0"/>
          </a:p>
        </p:txBody>
      </p:sp>
      <p:sp>
        <p:nvSpPr>
          <p:cNvPr id="18" name="Text 16"/>
          <p:cNvSpPr/>
          <p:nvPr/>
        </p:nvSpPr>
        <p:spPr>
          <a:xfrm>
            <a:off x="1124712" y="5166360"/>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ISO 9001:2015</a:t>
            </a:r>
            <a:endParaRPr lang="en-US" sz="1150" dirty="0"/>
          </a:p>
        </p:txBody>
      </p:sp>
      <p:sp>
        <p:nvSpPr>
          <p:cNvPr id="19" name="Text 17"/>
          <p:cNvSpPr/>
          <p:nvPr/>
        </p:nvSpPr>
        <p:spPr>
          <a:xfrm>
            <a:off x="4160520" y="5166360"/>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In progress</a:t>
            </a:r>
            <a:endParaRPr lang="en-US" sz="950" dirty="0"/>
          </a:p>
        </p:txBody>
      </p:sp>
      <p:sp>
        <p:nvSpPr>
          <p:cNvPr id="20" name="Text 18"/>
          <p:cNvSpPr/>
          <p:nvPr/>
        </p:nvSpPr>
        <p:spPr>
          <a:xfrm>
            <a:off x="1124712" y="5431536"/>
            <a:ext cx="3017520" cy="237744"/>
          </a:xfrm>
          <a:prstGeom prst="rect">
            <a:avLst/>
          </a:prstGeom>
          <a:noFill/>
          <a:ln/>
        </p:spPr>
        <p:txBody>
          <a:bodyPr wrap="square" lIns="0" tIns="0" rIns="0" bIns="0" rtlCol="0" anchor="ctr"/>
          <a:lstStyle/>
          <a:p>
            <a:pPr indent="0" marL="0">
              <a:buNone/>
            </a:pPr>
            <a:r>
              <a:rPr lang="en-US" sz="1150" dirty="0">
                <a:solidFill>
                  <a:srgbClr val="3A3A38"/>
                </a:solidFill>
                <a:latin typeface="Helvetica Neue" pitchFamily="34" charset="0"/>
                <a:ea typeface="Helvetica Neue" pitchFamily="34" charset="-122"/>
                <a:cs typeface="Helvetica Neue" pitchFamily="34" charset="-120"/>
              </a:rPr>
              <a:t>Third-party emissions test</a:t>
            </a:r>
            <a:endParaRPr lang="en-US" sz="1150" dirty="0"/>
          </a:p>
        </p:txBody>
      </p:sp>
      <p:sp>
        <p:nvSpPr>
          <p:cNvPr id="21" name="Text 19"/>
          <p:cNvSpPr/>
          <p:nvPr/>
        </p:nvSpPr>
        <p:spPr>
          <a:xfrm>
            <a:off x="4160520" y="5431536"/>
            <a:ext cx="1508760" cy="237744"/>
          </a:xfrm>
          <a:prstGeom prst="rect">
            <a:avLst/>
          </a:prstGeom>
          <a:noFill/>
          <a:ln/>
        </p:spPr>
        <p:txBody>
          <a:bodyPr wrap="square" lIns="0" tIns="0" rIns="0" bIns="0" rtlCol="0" anchor="ctr"/>
          <a:lstStyle/>
          <a:p>
            <a:pPr algn="r" indent="0" marL="0">
              <a:buNone/>
            </a:pPr>
            <a:r>
              <a:rPr lang="en-US" sz="950" b="1" dirty="0">
                <a:solidFill>
                  <a:srgbClr val="66705F"/>
                </a:solidFill>
                <a:latin typeface="Courier New" pitchFamily="34" charset="0"/>
                <a:ea typeface="Courier New" pitchFamily="34" charset="-122"/>
                <a:cs typeface="Courier New" pitchFamily="34" charset="-120"/>
              </a:rPr>
              <a:t>Commissioned</a:t>
            </a:r>
            <a:endParaRPr lang="en-US" sz="950" dirty="0"/>
          </a:p>
        </p:txBody>
      </p:sp>
      <p:sp>
        <p:nvSpPr>
          <p:cNvPr id="22" name="Shape 20"/>
          <p:cNvSpPr/>
          <p:nvPr/>
        </p:nvSpPr>
        <p:spPr>
          <a:xfrm>
            <a:off x="6263640" y="3291840"/>
            <a:ext cx="5029200" cy="2514600"/>
          </a:xfrm>
          <a:prstGeom prst="rect">
            <a:avLst/>
          </a:prstGeom>
          <a:solidFill>
            <a:srgbClr val="FAFAF8"/>
          </a:solidFill>
          <a:ln w="9525">
            <a:solidFill>
              <a:srgbClr val="E3E2DC"/>
            </a:solidFill>
            <a:prstDash val="solid"/>
          </a:ln>
        </p:spPr>
      </p:sp>
      <p:sp>
        <p:nvSpPr>
          <p:cNvPr id="23" name="Text 21"/>
          <p:cNvSpPr/>
          <p:nvPr/>
        </p:nvSpPr>
        <p:spPr>
          <a:xfrm>
            <a:off x="6519672" y="3493008"/>
            <a:ext cx="4572000" cy="237744"/>
          </a:xfrm>
          <a:prstGeom prst="rect">
            <a:avLst/>
          </a:prstGeom>
          <a:noFill/>
          <a:ln/>
        </p:spPr>
        <p:txBody>
          <a:bodyPr wrap="square" lIns="0" tIns="0" rIns="0" bIns="0" rtlCol="0" anchor="ctr"/>
          <a:lstStyle/>
          <a:p>
            <a:pPr indent="0" marL="0">
              <a:buNone/>
            </a:pPr>
            <a:r>
              <a:rPr lang="en-US" sz="900" b="1" spc="180" kern="0" dirty="0">
                <a:solidFill>
                  <a:srgbClr val="66705F"/>
                </a:solidFill>
                <a:latin typeface="Helvetica Neue" pitchFamily="34" charset="0"/>
                <a:ea typeface="Helvetica Neue" pitchFamily="34" charset="-122"/>
                <a:cs typeface="Helvetica Neue" pitchFamily="34" charset="-120"/>
              </a:rPr>
              <a:t>ACQUISITION ROUTES</a:t>
            </a:r>
            <a:endParaRPr lang="en-US" sz="900" dirty="0"/>
          </a:p>
        </p:txBody>
      </p:sp>
      <p:sp>
        <p:nvSpPr>
          <p:cNvPr id="24" name="Text 22"/>
          <p:cNvSpPr/>
          <p:nvPr/>
        </p:nvSpPr>
        <p:spPr>
          <a:xfrm>
            <a:off x="6519672" y="3840480"/>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Qualifying country status</a:t>
            </a:r>
            <a:endParaRPr lang="en-US" sz="1100" dirty="0"/>
          </a:p>
        </p:txBody>
      </p:sp>
      <p:sp>
        <p:nvSpPr>
          <p:cNvPr id="25" name="Text 23"/>
          <p:cNvSpPr/>
          <p:nvPr/>
        </p:nvSpPr>
        <p:spPr>
          <a:xfrm>
            <a:off x="6519672" y="4059936"/>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Canada is a qualifying country under DFARS 225.872. Canadian end products are exempt from the Buy American statute in DoD acquisitions.</a:t>
            </a:r>
            <a:endParaRPr lang="en-US" sz="1050" dirty="0"/>
          </a:p>
        </p:txBody>
      </p:sp>
      <p:sp>
        <p:nvSpPr>
          <p:cNvPr id="26" name="Text 24"/>
          <p:cNvSpPr/>
          <p:nvPr/>
        </p:nvSpPr>
        <p:spPr>
          <a:xfrm>
            <a:off x="6519672" y="4498848"/>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Canadian Commercial Corporation</a:t>
            </a:r>
            <a:endParaRPr lang="en-US" sz="1100" dirty="0"/>
          </a:p>
        </p:txBody>
      </p:sp>
      <p:sp>
        <p:nvSpPr>
          <p:cNvPr id="27" name="Text 25"/>
          <p:cNvSpPr/>
          <p:nvPr/>
        </p:nvSpPr>
        <p:spPr>
          <a:xfrm>
            <a:off x="6519672" y="4718304"/>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Under DFARS 225.870 the Government of Canada guarantees CCC’s commitments to the US Government.</a:t>
            </a:r>
            <a:endParaRPr lang="en-US" sz="1050" dirty="0"/>
          </a:p>
        </p:txBody>
      </p:sp>
      <p:sp>
        <p:nvSpPr>
          <p:cNvPr id="28" name="Text 26"/>
          <p:cNvSpPr/>
          <p:nvPr/>
        </p:nvSpPr>
        <p:spPr>
          <a:xfrm>
            <a:off x="6519672" y="5157216"/>
            <a:ext cx="4526280" cy="219456"/>
          </a:xfrm>
          <a:prstGeom prst="rect">
            <a:avLst/>
          </a:prstGeom>
          <a:noFill/>
          <a:ln/>
        </p:spPr>
        <p:txBody>
          <a:bodyPr wrap="square" lIns="0" tIns="0" rIns="0" bIns="0" rtlCol="0" anchor="ctr"/>
          <a:lstStyle/>
          <a:p>
            <a:pPr indent="0" marL="0">
              <a:buNone/>
            </a:pPr>
            <a:r>
              <a:rPr lang="en-US" sz="1100" b="1" dirty="0">
                <a:solidFill>
                  <a:srgbClr val="000000"/>
                </a:solidFill>
                <a:latin typeface="Helvetica Neue" pitchFamily="34" charset="0"/>
                <a:ea typeface="Helvetica Neue" pitchFamily="34" charset="-122"/>
                <a:cs typeface="Helvetica Neue" pitchFamily="34" charset="-120"/>
              </a:rPr>
              <a:t>Teaming &amp; subcontract</a:t>
            </a:r>
            <a:endParaRPr lang="en-US" sz="1100" dirty="0"/>
          </a:p>
        </p:txBody>
      </p:sp>
      <p:sp>
        <p:nvSpPr>
          <p:cNvPr id="29" name="Text 27"/>
          <p:cNvSpPr/>
          <p:nvPr/>
        </p:nvSpPr>
        <p:spPr>
          <a:xfrm>
            <a:off x="6519672" y="5376672"/>
            <a:ext cx="4526280" cy="420624"/>
          </a:xfrm>
          <a:prstGeom prst="rect">
            <a:avLst/>
          </a:prstGeom>
          <a:noFill/>
          <a:ln/>
        </p:spPr>
        <p:txBody>
          <a:bodyPr wrap="square" lIns="0" tIns="0" rIns="0" bIns="0" rtlCol="0" anchor="t"/>
          <a:lstStyle/>
          <a:p>
            <a:pPr indent="0" marL="0">
              <a:lnSpc>
                <a:spcPts val="1400"/>
              </a:lnSpc>
              <a:buNone/>
            </a:pPr>
            <a:r>
              <a:rPr lang="en-US" sz="1050" dirty="0">
                <a:solidFill>
                  <a:srgbClr val="3A3A38"/>
                </a:solidFill>
                <a:latin typeface="Helvetica Neue" pitchFamily="34" charset="0"/>
                <a:ea typeface="Helvetica Neue" pitchFamily="34" charset="-122"/>
                <a:cs typeface="Helvetica Neue" pitchFamily="34" charset="-120"/>
              </a:rPr>
              <a:t>Equipment, training and sustainment supplied under a US prime where prime award is unavailable.</a:t>
            </a:r>
            <a:endParaRPr lang="en-US" sz="1050" dirty="0"/>
          </a:p>
        </p:txBody>
      </p:sp>
      <p:sp>
        <p:nvSpPr>
          <p:cNvPr id="30" name="Text 28"/>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31" name="Text 29"/>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10896" y="310896"/>
            <a:ext cx="310896" cy="25603"/>
          </a:xfrm>
          <a:prstGeom prst="rect">
            <a:avLst/>
          </a:prstGeom>
          <a:solidFill>
            <a:srgbClr val="66705F"/>
          </a:solidFill>
          <a:ln/>
        </p:spPr>
      </p:sp>
      <p:sp>
        <p:nvSpPr>
          <p:cNvPr id="3" name="Shape 1"/>
          <p:cNvSpPr/>
          <p:nvPr/>
        </p:nvSpPr>
        <p:spPr>
          <a:xfrm>
            <a:off x="310896" y="310896"/>
            <a:ext cx="25603" cy="310896"/>
          </a:xfrm>
          <a:prstGeom prst="rect">
            <a:avLst/>
          </a:prstGeom>
          <a:solidFill>
            <a:srgbClr val="66705F"/>
          </a:solidFill>
          <a:ln/>
        </p:spPr>
      </p:sp>
      <p:sp>
        <p:nvSpPr>
          <p:cNvPr id="4" name="Shape 2"/>
          <p:cNvSpPr/>
          <p:nvPr/>
        </p:nvSpPr>
        <p:spPr>
          <a:xfrm>
            <a:off x="11539728" y="310896"/>
            <a:ext cx="310896" cy="25603"/>
          </a:xfrm>
          <a:prstGeom prst="rect">
            <a:avLst/>
          </a:prstGeom>
          <a:solidFill>
            <a:srgbClr val="66705F"/>
          </a:solidFill>
          <a:ln/>
        </p:spPr>
      </p:sp>
      <p:sp>
        <p:nvSpPr>
          <p:cNvPr id="5" name="Shape 3"/>
          <p:cNvSpPr/>
          <p:nvPr/>
        </p:nvSpPr>
        <p:spPr>
          <a:xfrm>
            <a:off x="11825021" y="310896"/>
            <a:ext cx="25603" cy="310896"/>
          </a:xfrm>
          <a:prstGeom prst="rect">
            <a:avLst/>
          </a:prstGeom>
          <a:solidFill>
            <a:srgbClr val="66705F"/>
          </a:solidFill>
          <a:ln/>
        </p:spPr>
      </p:sp>
      <p:sp>
        <p:nvSpPr>
          <p:cNvPr id="6" name="Shape 4"/>
          <p:cNvSpPr/>
          <p:nvPr/>
        </p:nvSpPr>
        <p:spPr>
          <a:xfrm>
            <a:off x="310896" y="6521501"/>
            <a:ext cx="310896" cy="25603"/>
          </a:xfrm>
          <a:prstGeom prst="rect">
            <a:avLst/>
          </a:prstGeom>
          <a:solidFill>
            <a:srgbClr val="66705F"/>
          </a:solidFill>
          <a:ln/>
        </p:spPr>
      </p:sp>
      <p:sp>
        <p:nvSpPr>
          <p:cNvPr id="7" name="Shape 5"/>
          <p:cNvSpPr/>
          <p:nvPr/>
        </p:nvSpPr>
        <p:spPr>
          <a:xfrm>
            <a:off x="310896" y="6236208"/>
            <a:ext cx="25603" cy="310896"/>
          </a:xfrm>
          <a:prstGeom prst="rect">
            <a:avLst/>
          </a:prstGeom>
          <a:solidFill>
            <a:srgbClr val="66705F"/>
          </a:solidFill>
          <a:ln/>
        </p:spPr>
      </p:sp>
      <p:sp>
        <p:nvSpPr>
          <p:cNvPr id="8" name="Shape 6"/>
          <p:cNvSpPr/>
          <p:nvPr/>
        </p:nvSpPr>
        <p:spPr>
          <a:xfrm>
            <a:off x="11539728" y="6521501"/>
            <a:ext cx="310896" cy="25603"/>
          </a:xfrm>
          <a:prstGeom prst="rect">
            <a:avLst/>
          </a:prstGeom>
          <a:solidFill>
            <a:srgbClr val="66705F"/>
          </a:solidFill>
          <a:ln/>
        </p:spPr>
      </p:sp>
      <p:sp>
        <p:nvSpPr>
          <p:cNvPr id="9" name="Shape 7"/>
          <p:cNvSpPr/>
          <p:nvPr/>
        </p:nvSpPr>
        <p:spPr>
          <a:xfrm>
            <a:off x="11825021" y="6236208"/>
            <a:ext cx="25603" cy="310896"/>
          </a:xfrm>
          <a:prstGeom prst="rect">
            <a:avLst/>
          </a:prstGeom>
          <a:solidFill>
            <a:srgbClr val="66705F"/>
          </a:solidFill>
          <a:ln/>
        </p:spPr>
      </p:sp>
      <p:sp>
        <p:nvSpPr>
          <p:cNvPr id="10" name="Text 8"/>
          <p:cNvSpPr/>
          <p:nvPr/>
        </p:nvSpPr>
        <p:spPr>
          <a:xfrm>
            <a:off x="868680" y="2148840"/>
            <a:ext cx="9601200" cy="1737360"/>
          </a:xfrm>
          <a:prstGeom prst="rect">
            <a:avLst/>
          </a:prstGeom>
          <a:noFill/>
          <a:ln/>
        </p:spPr>
        <p:txBody>
          <a:bodyPr wrap="square" lIns="0" tIns="0" rIns="0" bIns="0" rtlCol="0" anchor="ctr"/>
          <a:lstStyle/>
          <a:p>
            <a:pPr indent="0" marL="0">
              <a:lnSpc>
                <a:spcPts val="5400"/>
              </a:lnSpc>
              <a:buNone/>
            </a:pPr>
            <a:r>
              <a:rPr lang="en-US" sz="4400" spc="-120" kern="0" dirty="0">
                <a:solidFill>
                  <a:srgbClr val="000000"/>
                </a:solidFill>
                <a:latin typeface="Helvetica Neue" pitchFamily="34" charset="0"/>
                <a:ea typeface="Helvetica Neue" pitchFamily="34" charset="-122"/>
                <a:cs typeface="Helvetica Neue" pitchFamily="34" charset="-120"/>
              </a:rPr>
              <a:t>Nobody should have to</a:t>
            </a:r>
            <a:endParaRPr lang="en-US" sz="4400" dirty="0"/>
          </a:p>
          <a:p>
            <a:pPr indent="0" marL="0">
              <a:lnSpc>
                <a:spcPts val="5400"/>
              </a:lnSpc>
              <a:buNone/>
            </a:pPr>
            <a:r>
              <a:rPr lang="en-US" sz="4400" spc="-120" kern="0" dirty="0">
                <a:solidFill>
                  <a:srgbClr val="000000"/>
                </a:solidFill>
                <a:latin typeface="Helvetica Neue" pitchFamily="34" charset="0"/>
                <a:ea typeface="Helvetica Neue" pitchFamily="34" charset="-122"/>
                <a:cs typeface="Helvetica Neue" pitchFamily="34" charset="-120"/>
              </a:rPr>
              <a:t>do this by hand.</a:t>
            </a:r>
            <a:endParaRPr lang="en-US" sz="4400" dirty="0"/>
          </a:p>
        </p:txBody>
      </p:sp>
      <p:sp>
        <p:nvSpPr>
          <p:cNvPr id="11" name="Text 9"/>
          <p:cNvSpPr/>
          <p:nvPr/>
        </p:nvSpPr>
        <p:spPr>
          <a:xfrm>
            <a:off x="868680" y="4206240"/>
            <a:ext cx="7315200" cy="329184"/>
          </a:xfrm>
          <a:prstGeom prst="rect">
            <a:avLst/>
          </a:prstGeom>
          <a:noFill/>
          <a:ln/>
        </p:spPr>
        <p:txBody>
          <a:bodyPr wrap="square" lIns="0" tIns="0" rIns="0" bIns="0" rtlCol="0" anchor="ctr"/>
          <a:lstStyle/>
          <a:p>
            <a:pPr indent="0" marL="0">
              <a:buNone/>
            </a:pPr>
            <a:r>
              <a:rPr lang="en-US" sz="1500" b="1" dirty="0">
                <a:solidFill>
                  <a:srgbClr val="66705F"/>
                </a:solidFill>
                <a:latin typeface="Helvetica Neue" pitchFamily="34" charset="0"/>
                <a:ea typeface="Helvetica Neue" pitchFamily="34" charset="-122"/>
                <a:cs typeface="Helvetica Neue" pitchFamily="34" charset="-120"/>
              </a:rPr>
              <a:t>TWB Designs Inc.  ·  Hamilton, Ontario, Canada</a:t>
            </a:r>
            <a:endParaRPr lang="en-US" sz="1500" dirty="0"/>
          </a:p>
        </p:txBody>
      </p:sp>
      <p:sp>
        <p:nvSpPr>
          <p:cNvPr id="12" name="Text 10"/>
          <p:cNvSpPr/>
          <p:nvPr/>
        </p:nvSpPr>
        <p:spPr>
          <a:xfrm>
            <a:off x="868680" y="4617720"/>
            <a:ext cx="6766560" cy="640080"/>
          </a:xfrm>
          <a:prstGeom prst="rect">
            <a:avLst/>
          </a:prstGeom>
          <a:noFill/>
          <a:ln/>
        </p:spPr>
        <p:txBody>
          <a:bodyPr wrap="square" lIns="0" tIns="0" rIns="0" bIns="0" rtlCol="0" anchor="ctr"/>
          <a:lstStyle/>
          <a:p>
            <a:pPr indent="0" marL="0">
              <a:lnSpc>
                <a:spcPts val="1900"/>
              </a:lnSpc>
              <a:buNone/>
            </a:pPr>
            <a:r>
              <a:rPr lang="en-US" sz="1350" dirty="0">
                <a:solidFill>
                  <a:srgbClr val="3A3A38"/>
                </a:solidFill>
                <a:latin typeface="Helvetica Neue" pitchFamily="34" charset="0"/>
                <a:ea typeface="Helvetica Neue" pitchFamily="34" charset="-122"/>
                <a:cs typeface="Helvetica Neue" pitchFamily="34" charset="-120"/>
              </a:rPr>
              <a:t>Capability statement, technical documentation and customer references available to qualified counterparties under mutual NDA.</a:t>
            </a:r>
            <a:endParaRPr lang="en-US" sz="1350" dirty="0"/>
          </a:p>
        </p:txBody>
      </p:sp>
      <p:sp>
        <p:nvSpPr>
          <p:cNvPr id="13" name="Text 11"/>
          <p:cNvSpPr/>
          <p:nvPr/>
        </p:nvSpPr>
        <p:spPr>
          <a:xfrm>
            <a:off x="685800" y="6291072"/>
            <a:ext cx="6400800" cy="219456"/>
          </a:xfrm>
          <a:prstGeom prst="rect">
            <a:avLst/>
          </a:prstGeom>
          <a:noFill/>
          <a:ln/>
        </p:spPr>
        <p:txBody>
          <a:bodyPr wrap="square" lIns="0" tIns="0" rIns="0" bIns="0" rtlCol="0" anchor="ctr"/>
          <a:lstStyle/>
          <a:p>
            <a:pPr indent="0" marL="0">
              <a:buNone/>
            </a:pPr>
            <a:r>
              <a:rPr lang="en-US" sz="750" b="1" spc="110" kern="0" dirty="0">
                <a:solidFill>
                  <a:srgbClr val="75736D"/>
                </a:solidFill>
                <a:latin typeface="Courier New" pitchFamily="34" charset="0"/>
                <a:ea typeface="Courier New" pitchFamily="34" charset="-122"/>
                <a:cs typeface="Courier New" pitchFamily="34" charset="-120"/>
              </a:rPr>
              <a:t>TWB DESIGNS INC.  ·  CAPABILITY BRIEF</a:t>
            </a:r>
            <a:endParaRPr lang="en-US" sz="750" dirty="0"/>
          </a:p>
        </p:txBody>
      </p:sp>
      <p:sp>
        <p:nvSpPr>
          <p:cNvPr id="14" name="Text 12"/>
          <p:cNvSpPr/>
          <p:nvPr/>
        </p:nvSpPr>
        <p:spPr>
          <a:xfrm>
            <a:off x="10835640" y="6291072"/>
            <a:ext cx="640080" cy="219456"/>
          </a:xfrm>
          <a:prstGeom prst="rect">
            <a:avLst/>
          </a:prstGeom>
          <a:noFill/>
          <a:ln/>
        </p:spPr>
        <p:txBody>
          <a:bodyPr wrap="square" lIns="0" tIns="0" rIns="0" bIns="0" rtlCol="0" anchor="ctr"/>
          <a:lstStyle/>
          <a:p>
            <a:pPr algn="r" indent="0" marL="0">
              <a:buNone/>
            </a:pPr>
            <a:r>
              <a:rPr lang="en-US" sz="850" b="1" dirty="0">
                <a:solidFill>
                  <a:srgbClr val="66705F"/>
                </a:solidFill>
                <a:latin typeface="Courier New" pitchFamily="34" charset="0"/>
                <a:ea typeface="Courier New" pitchFamily="34" charset="-122"/>
                <a:cs typeface="Courier New"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TWB Designs — Vault Capability Brief</dc:title>
  <dc:subject>PptxGenJS Presentation</dc:subject>
  <dc:creator>TWB Designs Inc.</dc:creator>
  <cp:lastModifiedBy>TWB Designs Inc.</cp:lastModifiedBy>
  <cp:revision>1</cp:revision>
  <dcterms:created xsi:type="dcterms:W3CDTF">2026-08-22T22:14:17Z</dcterms:created>
  <dcterms:modified xsi:type="dcterms:W3CDTF">2026-08-22T22:14:17Z</dcterms:modified>
</cp:coreProperties>
</file>