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Three sentences, then let the room sit with the pair of numbers: $2.88T spent, $0 platforms built to unmake it. That contrast is the entire pitch in two figures — return to 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feel smart — they know these numbers, they own the producers. Then take the turn: the buildup has a second half nobody has capitalised. Do not rush the last line; it is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one problem: tons AND dollars. The queue number is proof the best-resourced military on earth is already behind, in peacetime, before the surge lands. The dollar figure is our calculation from two verified anchors — say so plainly if asked. Ukraine's $30B cleanup bill (World Bank RDNA4) is the same logic compressed into one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number, not the sentence — let '3' sit before you explain it. Dashed strokes and dark neutral for the negative register. Never mock the incumbents; state the three methods flatly. This slide is why the mission matters beyond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changes the category from waste management to strategic materials. Three of the output metals here are on the 2025 Critical Minerals List (90 FR 50494); steel is the fourth. Discipline: net cost of destruction — never 'cheaper' in the gross, and no dollar-recovery tables until third-party verification publishes.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strangest fact in the market, and the heart of the thesis. Let '0' sit in silence before naming what it means. Fragmented supply, surging demand, repriced outputs, no incumbent platform: category assembly, the year before it happens. Disclosed sector deals cleared 1.5–3.1× revenue; we underwrite at real multiples.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this TAM is our construction, and that is a feature — an uncovered market with no index is where category-defining returns live. Let the type visibly shrink tier to tier — the taper itself argues the funnel. Never let this be re-scored on tons/year.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venture slide — the story IS the roadmap. We are not selling a machine business; we are assembling the category. The acquisition homework exists as a ranked, contacted-ready shortlist; it stays out of circulating decks and comes out in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funds and de-risks the next: Phase 1 cash and references price Phase 2 acquisitions; Phase 2 capability wins Phase 3 sovereign programs. The ladder is the use-of-proceeds logic — the ask slide sizes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present, placed after the plan on purpose: proof we operate, not the story itself. 25 is the number that separates us from a slide deck — a quarter-century of custody destruction, references on three continents. Named references are ammunition work only; narcotics and seized property stated as capability, never as referenced past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catalogue makes 'full service' concrete and shows the assembly logic at a glance — every line tagged by the engine that delivers it. Capability categories only; the named target work is held for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Allied-forward is a strategy, not a constraint: sovereign custody is what these governments are newly willing to pay for. Never claim US CAGE, small-business status, ATF FEL or DDTC registration — the DFARS qualifying-country line is the accurate, checkable version of US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 discipline under questioning: never 'cheaper' in the gross — open burning runs ~$750/ton and wins any raw price race. The hero number is the market's own published rate, not ours — we're showing we don't need to win a price war to win the deal. No dollar-recovery tables until third-party verification of recovery rates publishes.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is the point — each clock alone is an interesting trend; together they create a moment that will not repeat. Lead with '4' before naming them. This is the emotional peak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AND the bookend numbers — return to slide one's contrast deliberately. V1/V2 leaves the ask open by design — the story earns the meeting; the number is set when the M&amp;A math is locked. Then hand them the narrative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mnt/user-data/uploads/TWB Designs/brand/twb-logo-black.png">    </p:cNvPr>
          <p:cNvPicPr>
            <a:picLocks noChangeAspect="1"/>
          </p:cNvPicPr>
          <p:nvPr/>
        </p:nvPicPr>
        <p:blipFill>
          <a:blip r:embed="rId1"/>
          <a:stretch>
            <a:fillRect/>
          </a:stretch>
        </p:blipFill>
        <p:spPr>
          <a:xfrm>
            <a:off x="640080" y="559613"/>
            <a:ext cx="919343" cy="141732"/>
          </a:xfrm>
          <a:prstGeom prst="rect">
            <a:avLst/>
          </a:prstGeom>
        </p:spPr>
      </p:pic>
      <p:sp>
        <p:nvSpPr>
          <p:cNvPr id="3" name="Text 0"/>
          <p:cNvSpPr txBox="1"/>
          <p:nvPr/>
        </p:nvSpPr>
        <p:spPr>
          <a:xfrm>
            <a:off x="1623431" y="489204"/>
            <a:ext cx="1097280" cy="347472"/>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Designs</a:t>
            </a:r>
            <a:endParaRPr lang="en-US" sz="1500" dirty="0"/>
          </a:p>
        </p:txBody>
      </p:sp>
      <p:sp>
        <p:nvSpPr>
          <p:cNvPr id="4" name="Text 1"/>
          <p:cNvSpPr txBox="1"/>
          <p:nvPr/>
        </p:nvSpPr>
        <p:spPr>
          <a:xfrm>
            <a:off x="6793992" y="530352"/>
            <a:ext cx="4754880" cy="274320"/>
          </a:xfrm>
          <a:prstGeom prst="rect">
            <a:avLst/>
          </a:prstGeom>
          <a:noFill/>
          <a:ln/>
        </p:spPr>
        <p:txBody>
          <a:bodyPr wrap="square" lIns="0" tIns="0" rIns="0" bIns="0" rtlCol="0" anchor="ctr"/>
          <a:lstStyle/>
          <a:p>
            <a:pPr algn="r" indent="0" marL="0">
              <a:buNone/>
            </a:pPr>
            <a:r>
              <a:rPr lang="en-US" sz="1000" spc="200" kern="0" dirty="0">
                <a:solidFill>
                  <a:srgbClr val="6E6C66"/>
                </a:solidFill>
                <a:latin typeface="IBM Plex Mono" pitchFamily="34" charset="0"/>
                <a:ea typeface="IBM Plex Mono" pitchFamily="34" charset="-122"/>
                <a:cs typeface="IBM Plex Mono" pitchFamily="34" charset="-120"/>
              </a:rPr>
              <a:t>INVESTMENT NARRATIVE · V2 · AUGUST 2026</a:t>
            </a:r>
            <a:endParaRPr lang="en-US" sz="1000" dirty="0"/>
          </a:p>
        </p:txBody>
      </p:sp>
      <p:sp>
        <p:nvSpPr>
          <p:cNvPr id="5" name="Text 2"/>
          <p:cNvSpPr txBox="1"/>
          <p:nvPr/>
        </p:nvSpPr>
        <p:spPr>
          <a:xfrm>
            <a:off x="640080" y="1371600"/>
            <a:ext cx="10881360" cy="1965960"/>
          </a:xfrm>
          <a:prstGeom prst="rect">
            <a:avLst/>
          </a:prstGeom>
          <a:noFill/>
          <a:ln/>
        </p:spPr>
        <p:txBody>
          <a:bodyPr wrap="square" lIns="0" tIns="0" rIns="0" bIns="0" rtlCol="0" anchor="t"/>
          <a:lstStyle/>
          <a:p>
            <a:pPr indent="0" marL="0">
              <a:lnSpc>
                <a:spcPct val="112000"/>
              </a:lnSpc>
              <a:buNone/>
            </a:pPr>
            <a:r>
              <a:rPr lang="en-US" sz="3300" spc="-40" kern="0" dirty="0">
                <a:solidFill>
                  <a:srgbClr val="000000"/>
                </a:solidFill>
                <a:latin typeface="Helvetica Neue" pitchFamily="34" charset="0"/>
                <a:ea typeface="Helvetica Neue" pitchFamily="34" charset="-122"/>
                <a:cs typeface="Helvetica Neue" pitchFamily="34" charset="-120"/>
              </a:rPr>
              <a:t>The world has never spent more making ammunition. Nobody has built the industry that unmakes it. </a:t>
            </a:r>
            <a:pPr indent="0" marL="0">
              <a:lnSpc>
                <a:spcPct val="112000"/>
              </a:lnSpc>
              <a:buNone/>
            </a:pPr>
            <a:r>
              <a:rPr lang="en-US" sz="3300" spc="-40" kern="0" dirty="0">
                <a:solidFill>
                  <a:srgbClr val="66705F"/>
                </a:solidFill>
                <a:latin typeface="Helvetica Neue" pitchFamily="34" charset="0"/>
                <a:ea typeface="Helvetica Neue" pitchFamily="34" charset="-122"/>
                <a:cs typeface="Helvetica Neue" pitchFamily="34" charset="-120"/>
              </a:rPr>
              <a:t>We are assembling it.</a:t>
            </a:r>
            <a:endParaRPr lang="en-US" sz="3300" dirty="0"/>
          </a:p>
        </p:txBody>
      </p:sp>
      <p:sp>
        <p:nvSpPr>
          <p:cNvPr id="6" name="Text 3"/>
          <p:cNvSpPr txBox="1"/>
          <p:nvPr/>
        </p:nvSpPr>
        <p:spPr>
          <a:xfrm>
            <a:off x="640080" y="3401568"/>
            <a:ext cx="9875520" cy="411480"/>
          </a:xfrm>
          <a:prstGeom prst="rect">
            <a:avLst/>
          </a:prstGeom>
          <a:noFill/>
          <a:ln/>
        </p:spPr>
        <p:txBody>
          <a:bodyPr wrap="square" lIns="0" tIns="0" rIns="0" bIns="0" rtlCol="0" anchor="ctr"/>
          <a:lstStyle/>
          <a:p>
            <a:pPr indent="0" marL="0">
              <a:buNone/>
            </a:pPr>
            <a:r>
              <a:rPr lang="en-US" sz="1450" dirty="0">
                <a:solidFill>
                  <a:srgbClr val="33332F"/>
                </a:solidFill>
                <a:latin typeface="Helvetica Neue" pitchFamily="34" charset="0"/>
                <a:ea typeface="Helvetica Neue" pitchFamily="34" charset="-122"/>
                <a:cs typeface="Helvetica Neue" pitchFamily="34" charset="-120"/>
              </a:rPr>
              <a:t>TWB Designs — assembling the full-service platform for munitions end-of-life across allied nations.</a:t>
            </a:r>
            <a:endParaRPr lang="en-US" sz="1450" dirty="0"/>
          </a:p>
        </p:txBody>
      </p:sp>
      <p:sp>
        <p:nvSpPr>
          <p:cNvPr id="7" name="Shape 4"/>
          <p:cNvSpPr/>
          <p:nvPr/>
        </p:nvSpPr>
        <p:spPr>
          <a:xfrm>
            <a:off x="640080" y="3977640"/>
            <a:ext cx="10908792" cy="0"/>
          </a:xfrm>
          <a:prstGeom prst="line">
            <a:avLst/>
          </a:prstGeom>
          <a:noFill/>
          <a:ln w="9525">
            <a:solidFill>
              <a:srgbClr val="E2E1DA"/>
            </a:solidFill>
            <a:prstDash val="solid"/>
          </a:ln>
        </p:spPr>
      </p:sp>
      <p:sp>
        <p:nvSpPr>
          <p:cNvPr id="8" name="Text 5"/>
          <p:cNvSpPr txBox="1"/>
          <p:nvPr/>
        </p:nvSpPr>
        <p:spPr>
          <a:xfrm>
            <a:off x="640080" y="4206240"/>
            <a:ext cx="5120640" cy="1463040"/>
          </a:xfrm>
          <a:prstGeom prst="rect">
            <a:avLst/>
          </a:prstGeom>
          <a:noFill/>
          <a:ln/>
        </p:spPr>
        <p:txBody>
          <a:bodyPr wrap="square" lIns="0" tIns="0" rIns="0" bIns="0" rtlCol="0" anchor="t"/>
          <a:lstStyle/>
          <a:p>
            <a:pPr algn="l" indent="0" marL="0">
              <a:buNone/>
            </a:pPr>
            <a:r>
              <a:rPr lang="en-US" sz="8200" spc="-200" kern="0" dirty="0">
                <a:solidFill>
                  <a:srgbClr val="000000"/>
                </a:solidFill>
                <a:latin typeface="Helvetica Neue" pitchFamily="34" charset="0"/>
                <a:ea typeface="Helvetica Neue" pitchFamily="34" charset="-122"/>
                <a:cs typeface="Helvetica Neue" pitchFamily="34" charset="-120"/>
              </a:rPr>
              <a:t>$2.88T</a:t>
            </a:r>
            <a:endParaRPr lang="en-US" sz="8200" dirty="0"/>
          </a:p>
        </p:txBody>
      </p:sp>
      <p:sp>
        <p:nvSpPr>
          <p:cNvPr id="9" name="Text 6"/>
          <p:cNvSpPr txBox="1"/>
          <p:nvPr/>
        </p:nvSpPr>
        <p:spPr>
          <a:xfrm>
            <a:off x="640080" y="5742432"/>
            <a:ext cx="493776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E6C66"/>
                </a:solidFill>
                <a:latin typeface="IBM Plex Mono" pitchFamily="34" charset="0"/>
                <a:ea typeface="IBM Plex Mono" pitchFamily="34" charset="-122"/>
                <a:cs typeface="IBM Plex Mono" pitchFamily="34" charset="-120"/>
              </a:rPr>
              <a:t>SPENT MAKING IT — WORLD MILITARY EXPENDITURE, 2025 (SIPRI)</a:t>
            </a:r>
            <a:endParaRPr lang="en-US" sz="1050" dirty="0"/>
          </a:p>
        </p:txBody>
      </p:sp>
      <p:sp>
        <p:nvSpPr>
          <p:cNvPr id="10" name="Text 7"/>
          <p:cNvSpPr txBox="1"/>
          <p:nvPr/>
        </p:nvSpPr>
        <p:spPr>
          <a:xfrm>
            <a:off x="5806440" y="4480560"/>
            <a:ext cx="640080" cy="822960"/>
          </a:xfrm>
          <a:prstGeom prst="rect">
            <a:avLst/>
          </a:prstGeom>
          <a:noFill/>
          <a:ln/>
        </p:spPr>
        <p:txBody>
          <a:bodyPr wrap="square" lIns="0" tIns="0" rIns="0" bIns="0" rtlCol="0" anchor="ctr"/>
          <a:lstStyle/>
          <a:p>
            <a:pPr algn="ctr" indent="0" marL="0">
              <a:buNone/>
            </a:pPr>
            <a:r>
              <a:rPr lang="en-US" sz="3200" dirty="0">
                <a:solidFill>
                  <a:srgbClr val="6E6C66"/>
                </a:solidFill>
                <a:latin typeface="Helvetica Neue" pitchFamily="34" charset="0"/>
                <a:ea typeface="Helvetica Neue" pitchFamily="34" charset="-122"/>
                <a:cs typeface="Helvetica Neue" pitchFamily="34" charset="-120"/>
              </a:rPr>
              <a:t>→</a:t>
            </a:r>
            <a:endParaRPr lang="en-US" sz="3200" dirty="0"/>
          </a:p>
        </p:txBody>
      </p:sp>
      <p:sp>
        <p:nvSpPr>
          <p:cNvPr id="11" name="Text 8"/>
          <p:cNvSpPr txBox="1"/>
          <p:nvPr/>
        </p:nvSpPr>
        <p:spPr>
          <a:xfrm>
            <a:off x="6446520" y="4206240"/>
            <a:ext cx="2743200" cy="1463040"/>
          </a:xfrm>
          <a:prstGeom prst="rect">
            <a:avLst/>
          </a:prstGeom>
          <a:noFill/>
          <a:ln/>
        </p:spPr>
        <p:txBody>
          <a:bodyPr wrap="square" lIns="0" tIns="0" rIns="0" bIns="0" rtlCol="0" anchor="t"/>
          <a:lstStyle/>
          <a:p>
            <a:pPr algn="l" indent="0" marL="0">
              <a:buNone/>
            </a:pPr>
            <a:r>
              <a:rPr lang="en-US" sz="8200" spc="-200" kern="0" dirty="0">
                <a:solidFill>
                  <a:srgbClr val="66705F"/>
                </a:solidFill>
                <a:latin typeface="Helvetica Neue" pitchFamily="34" charset="0"/>
                <a:ea typeface="Helvetica Neue" pitchFamily="34" charset="-122"/>
                <a:cs typeface="Helvetica Neue" pitchFamily="34" charset="-120"/>
              </a:rPr>
              <a:t>$0</a:t>
            </a:r>
            <a:endParaRPr lang="en-US" sz="8200" dirty="0"/>
          </a:p>
        </p:txBody>
      </p:sp>
      <p:sp>
        <p:nvSpPr>
          <p:cNvPr id="12" name="Text 9"/>
          <p:cNvSpPr txBox="1"/>
          <p:nvPr/>
        </p:nvSpPr>
        <p:spPr>
          <a:xfrm>
            <a:off x="6446520" y="5742432"/>
            <a:ext cx="475488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PLATFORMS BUILT TO UNMAKE IT — UNTIL NOW</a:t>
            </a:r>
            <a:endParaRPr lang="en-US" sz="1050" dirty="0"/>
          </a:p>
        </p:txBody>
      </p:sp>
      <p:sp>
        <p:nvSpPr>
          <p:cNvPr id="13" name="Text 10"/>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01  ·  TWB DESIGNS — CONFIDENTIAL</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 — THE REARMAMENT</a:t>
            </a:r>
            <a:endParaRPr lang="en-US" sz="1000" dirty="0"/>
          </a:p>
        </p:txBody>
      </p:sp>
      <p:sp>
        <p:nvSpPr>
          <p:cNvPr id="3" name="Text 1"/>
          <p:cNvSpPr txBox="1"/>
          <p:nvPr/>
        </p:nvSpPr>
        <p:spPr>
          <a:xfrm>
            <a:off x="640080" y="868680"/>
            <a:ext cx="1051560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The largest buildup in eighty years.</a:t>
            </a:r>
            <a:endParaRPr lang="en-US" sz="2800" dirty="0"/>
          </a:p>
        </p:txBody>
      </p:sp>
      <p:sp>
        <p:nvSpPr>
          <p:cNvPr id="4" name="Text 2"/>
          <p:cNvSpPr txBox="1"/>
          <p:nvPr/>
        </p:nvSpPr>
        <p:spPr>
          <a:xfrm>
            <a:off x="640080" y="1874520"/>
            <a:ext cx="5852160" cy="1554480"/>
          </a:xfrm>
          <a:prstGeom prst="rect">
            <a:avLst/>
          </a:prstGeom>
          <a:noFill/>
          <a:ln/>
        </p:spPr>
        <p:txBody>
          <a:bodyPr wrap="square" lIns="0" tIns="0" rIns="0" bIns="0" rtlCol="0" anchor="t"/>
          <a:lstStyle/>
          <a:p>
            <a:pPr algn="l" indent="0" marL="0">
              <a:buNone/>
            </a:pPr>
            <a:r>
              <a:rPr lang="en-US" sz="9600" spc="-250" kern="0" dirty="0">
                <a:solidFill>
                  <a:srgbClr val="000000"/>
                </a:solidFill>
                <a:latin typeface="Helvetica Neue" pitchFamily="34" charset="0"/>
                <a:ea typeface="Helvetica Neue" pitchFamily="34" charset="-122"/>
                <a:cs typeface="Helvetica Neue" pitchFamily="34" charset="-120"/>
              </a:rPr>
              <a:t>$2.88T</a:t>
            </a:r>
            <a:endParaRPr lang="en-US" sz="9600" dirty="0"/>
          </a:p>
        </p:txBody>
      </p:sp>
      <p:sp>
        <p:nvSpPr>
          <p:cNvPr id="5" name="Text 3"/>
          <p:cNvSpPr txBox="1"/>
          <p:nvPr/>
        </p:nvSpPr>
        <p:spPr>
          <a:xfrm>
            <a:off x="640080" y="3566160"/>
            <a:ext cx="54864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WORLD MILITARY EXPENDITURE, 2025 — AN ALL-TIME RECORD. $350 FOR EVERY PERSON ALIVE (SIPRI, APR 2026)</a:t>
            </a:r>
            <a:endParaRPr lang="en-US" sz="1050" dirty="0"/>
          </a:p>
        </p:txBody>
      </p:sp>
      <p:sp>
        <p:nvSpPr>
          <p:cNvPr id="6" name="Shape 4"/>
          <p:cNvSpPr/>
          <p:nvPr/>
        </p:nvSpPr>
        <p:spPr>
          <a:xfrm>
            <a:off x="640080" y="4434840"/>
            <a:ext cx="5486400" cy="0"/>
          </a:xfrm>
          <a:prstGeom prst="line">
            <a:avLst/>
          </a:prstGeom>
          <a:noFill/>
          <a:ln w="9525">
            <a:solidFill>
              <a:srgbClr val="E2E1DA"/>
            </a:solidFill>
            <a:prstDash val="solid"/>
          </a:ln>
        </p:spPr>
      </p:sp>
      <p:sp>
        <p:nvSpPr>
          <p:cNvPr id="7" name="Text 5"/>
          <p:cNvSpPr txBox="1"/>
          <p:nvPr/>
        </p:nvSpPr>
        <p:spPr>
          <a:xfrm>
            <a:off x="640080" y="4617720"/>
            <a:ext cx="5577840" cy="1600200"/>
          </a:xfrm>
          <a:prstGeom prst="rect">
            <a:avLst/>
          </a:prstGeom>
          <a:noFill/>
          <a:ln/>
        </p:spPr>
        <p:txBody>
          <a:bodyPr wrap="square" lIns="0" tIns="0" rIns="0" bIns="0" rtlCol="0" anchor="ctr"/>
          <a:lstStyle/>
          <a:p>
            <a:pPr indent="0" marL="0">
              <a:lnSpc>
                <a:spcPct val="128000"/>
              </a:lnSpc>
              <a:buNone/>
            </a:pPr>
            <a:r>
              <a:rPr lang="en-US" sz="1350" b="1" dirty="0">
                <a:solidFill>
                  <a:srgbClr val="000000"/>
                </a:solidFill>
                <a:latin typeface="Helvetica Neue" pitchFamily="34" charset="0"/>
                <a:ea typeface="Helvetica Neue" pitchFamily="34" charset="-122"/>
                <a:cs typeface="Helvetica Neue" pitchFamily="34" charset="-120"/>
              </a:rPr>
              <a:t>Production is a crowded trade. </a:t>
            </a:r>
            <a:pPr indent="0" marL="0">
              <a:lnSpc>
                <a:spcPct val="128000"/>
              </a:lnSpc>
              <a:buNone/>
            </a:pPr>
            <a:r>
              <a:rPr lang="en-US" sz="1350" dirty="0">
                <a:solidFill>
                  <a:srgbClr val="33332F"/>
                </a:solidFill>
                <a:latin typeface="Helvetica Neue" pitchFamily="34" charset="0"/>
                <a:ea typeface="Helvetica Neue" pitchFamily="34" charset="-122"/>
                <a:cs typeface="Helvetica Neue" pitchFamily="34" charset="-120"/>
              </a:rPr>
              <a:t>What is not priced in: every one of those rounds must one day be unmade — and that market has no incumbent, no index, and almost no capacity.</a:t>
            </a:r>
            <a:endParaRPr lang="en-US" sz="1350" dirty="0"/>
          </a:p>
        </p:txBody>
      </p:sp>
      <p:sp>
        <p:nvSpPr>
          <p:cNvPr id="8" name="Shape 6"/>
          <p:cNvSpPr/>
          <p:nvPr/>
        </p:nvSpPr>
        <p:spPr>
          <a:xfrm>
            <a:off x="6720840" y="1874520"/>
            <a:ext cx="4846320" cy="0"/>
          </a:xfrm>
          <a:prstGeom prst="line">
            <a:avLst/>
          </a:prstGeom>
          <a:noFill/>
          <a:ln w="9525">
            <a:solidFill>
              <a:srgbClr val="E2E1DA"/>
            </a:solidFill>
            <a:prstDash val="solid"/>
          </a:ln>
        </p:spPr>
      </p:sp>
      <p:sp>
        <p:nvSpPr>
          <p:cNvPr id="9" name="Text 7"/>
          <p:cNvSpPr txBox="1"/>
          <p:nvPr/>
        </p:nvSpPr>
        <p:spPr>
          <a:xfrm>
            <a:off x="6720840" y="2002536"/>
            <a:ext cx="2743200" cy="731520"/>
          </a:xfrm>
          <a:prstGeom prst="rect">
            <a:avLst/>
          </a:prstGeom>
          <a:noFill/>
          <a:ln/>
        </p:spPr>
        <p:txBody>
          <a:bodyPr wrap="square" lIns="0" tIns="0" rIns="0" bIns="0" rtlCol="0" anchor="t"/>
          <a:lstStyle/>
          <a:p>
            <a:pPr algn="l" indent="0" marL="0">
              <a:buNone/>
            </a:pPr>
            <a:r>
              <a:rPr lang="en-US" sz="4400" spc="-100" kern="0" dirty="0">
                <a:solidFill>
                  <a:srgbClr val="000000"/>
                </a:solidFill>
                <a:latin typeface="Helvetica Neue" pitchFamily="34" charset="0"/>
                <a:ea typeface="Helvetica Neue" pitchFamily="34" charset="-122"/>
                <a:cs typeface="Helvetica Neue" pitchFamily="34" charset="-120"/>
              </a:rPr>
              <a:t>65</a:t>
            </a:r>
            <a:endParaRPr lang="en-US" sz="4400" dirty="0"/>
          </a:p>
        </p:txBody>
      </p:sp>
      <p:sp>
        <p:nvSpPr>
          <p:cNvPr id="10" name="Text 8"/>
          <p:cNvSpPr txBox="1"/>
          <p:nvPr/>
        </p:nvSpPr>
        <p:spPr>
          <a:xfrm>
            <a:off x="6720840" y="2807208"/>
            <a:ext cx="4800600" cy="548640"/>
          </a:xfrm>
          <a:prstGeom prst="rect">
            <a:avLst/>
          </a:prstGeom>
          <a:noFill/>
          <a:ln/>
        </p:spPr>
        <p:txBody>
          <a:bodyPr wrap="square" lIns="0" tIns="0" rIns="0" bIns="0" rtlCol="0" anchor="ctr"/>
          <a:lstStyle/>
          <a:p>
            <a:pPr algn="l" indent="0" marL="0">
              <a:lnSpc>
                <a:spcPct val="130000"/>
              </a:lnSpc>
              <a:buNone/>
            </a:pPr>
            <a:r>
              <a:rPr lang="en-US" sz="950" b="1" spc="180" kern="0" dirty="0">
                <a:solidFill>
                  <a:srgbClr val="66705F"/>
                </a:solidFill>
                <a:latin typeface="IBM Plex Mono" pitchFamily="34" charset="0"/>
                <a:ea typeface="IBM Plex Mono" pitchFamily="34" charset="-122"/>
                <a:cs typeface="IBM Plex Mono" pitchFamily="34" charset="-120"/>
              </a:rPr>
              <a:t>ARMED CONFLICTS INVOLVING STATES, 2025 — THE MOST SINCE 1946 (UCDP)</a:t>
            </a:r>
            <a:endParaRPr lang="en-US" sz="950" dirty="0"/>
          </a:p>
        </p:txBody>
      </p:sp>
      <p:sp>
        <p:nvSpPr>
          <p:cNvPr id="11" name="Shape 9"/>
          <p:cNvSpPr/>
          <p:nvPr/>
        </p:nvSpPr>
        <p:spPr>
          <a:xfrm>
            <a:off x="6720840" y="3337560"/>
            <a:ext cx="4846320" cy="0"/>
          </a:xfrm>
          <a:prstGeom prst="line">
            <a:avLst/>
          </a:prstGeom>
          <a:noFill/>
          <a:ln w="9525">
            <a:solidFill>
              <a:srgbClr val="E2E1DA"/>
            </a:solidFill>
            <a:prstDash val="solid"/>
          </a:ln>
        </p:spPr>
      </p:sp>
      <p:sp>
        <p:nvSpPr>
          <p:cNvPr id="12" name="Text 10"/>
          <p:cNvSpPr txBox="1"/>
          <p:nvPr/>
        </p:nvSpPr>
        <p:spPr>
          <a:xfrm>
            <a:off x="6720840" y="3465576"/>
            <a:ext cx="2743200" cy="731520"/>
          </a:xfrm>
          <a:prstGeom prst="rect">
            <a:avLst/>
          </a:prstGeom>
          <a:noFill/>
          <a:ln/>
        </p:spPr>
        <p:txBody>
          <a:bodyPr wrap="square" lIns="0" tIns="0" rIns="0" bIns="0" rtlCol="0" anchor="t"/>
          <a:lstStyle/>
          <a:p>
            <a:pPr algn="l" indent="0" marL="0">
              <a:buNone/>
            </a:pPr>
            <a:r>
              <a:rPr lang="en-US" sz="4400" spc="-100" kern="0" dirty="0">
                <a:solidFill>
                  <a:srgbClr val="000000"/>
                </a:solidFill>
                <a:latin typeface="Helvetica Neue" pitchFamily="34" charset="0"/>
                <a:ea typeface="Helvetica Neue" pitchFamily="34" charset="-122"/>
                <a:cs typeface="Helvetica Neue" pitchFamily="34" charset="-120"/>
              </a:rPr>
              <a:t>1.5M/yr</a:t>
            </a:r>
            <a:endParaRPr lang="en-US" sz="4400" dirty="0"/>
          </a:p>
        </p:txBody>
      </p:sp>
      <p:sp>
        <p:nvSpPr>
          <p:cNvPr id="13" name="Text 11"/>
          <p:cNvSpPr txBox="1"/>
          <p:nvPr/>
        </p:nvSpPr>
        <p:spPr>
          <a:xfrm>
            <a:off x="6720840" y="4270248"/>
            <a:ext cx="4800600" cy="548640"/>
          </a:xfrm>
          <a:prstGeom prst="rect">
            <a:avLst/>
          </a:prstGeom>
          <a:noFill/>
          <a:ln/>
        </p:spPr>
        <p:txBody>
          <a:bodyPr wrap="square" lIns="0" tIns="0" rIns="0" bIns="0" rtlCol="0" anchor="ctr"/>
          <a:lstStyle/>
          <a:p>
            <a:pPr algn="l" indent="0" marL="0">
              <a:lnSpc>
                <a:spcPct val="130000"/>
              </a:lnSpc>
              <a:buNone/>
            </a:pPr>
            <a:r>
              <a:rPr lang="en-US" sz="950" b="1" spc="180" kern="0" dirty="0">
                <a:solidFill>
                  <a:srgbClr val="66705F"/>
                </a:solidFill>
                <a:latin typeface="IBM Plex Mono" pitchFamily="34" charset="0"/>
                <a:ea typeface="IBM Plex Mono" pitchFamily="34" charset="-122"/>
                <a:cs typeface="IBM Plex Mono" pitchFamily="34" charset="-120"/>
              </a:rPr>
              <a:t>ONE COMPANY'S 155MM SHELL TARGET BY 2027 (RHEINMETALL)</a:t>
            </a:r>
            <a:endParaRPr lang="en-US" sz="950" dirty="0"/>
          </a:p>
        </p:txBody>
      </p:sp>
      <p:sp>
        <p:nvSpPr>
          <p:cNvPr id="14" name="Shape 12"/>
          <p:cNvSpPr/>
          <p:nvPr/>
        </p:nvSpPr>
        <p:spPr>
          <a:xfrm>
            <a:off x="6720840" y="4800600"/>
            <a:ext cx="4846320" cy="0"/>
          </a:xfrm>
          <a:prstGeom prst="line">
            <a:avLst/>
          </a:prstGeom>
          <a:noFill/>
          <a:ln w="9525">
            <a:solidFill>
              <a:srgbClr val="E2E1DA"/>
            </a:solidFill>
            <a:prstDash val="solid"/>
          </a:ln>
        </p:spPr>
      </p:sp>
      <p:sp>
        <p:nvSpPr>
          <p:cNvPr id="15" name="Text 13"/>
          <p:cNvSpPr txBox="1"/>
          <p:nvPr/>
        </p:nvSpPr>
        <p:spPr>
          <a:xfrm>
            <a:off x="6720840" y="4928616"/>
            <a:ext cx="2743200" cy="731520"/>
          </a:xfrm>
          <a:prstGeom prst="rect">
            <a:avLst/>
          </a:prstGeom>
          <a:noFill/>
          <a:ln/>
        </p:spPr>
        <p:txBody>
          <a:bodyPr wrap="square" lIns="0" tIns="0" rIns="0" bIns="0" rtlCol="0" anchor="t"/>
          <a:lstStyle/>
          <a:p>
            <a:pPr algn="l" indent="0" marL="0">
              <a:buNone/>
            </a:pPr>
            <a:r>
              <a:rPr lang="en-US" sz="4400" spc="-100" kern="0" dirty="0">
                <a:solidFill>
                  <a:srgbClr val="000000"/>
                </a:solidFill>
                <a:latin typeface="Helvetica Neue" pitchFamily="34" charset="0"/>
                <a:ea typeface="Helvetica Neue" pitchFamily="34" charset="-122"/>
                <a:cs typeface="Helvetica Neue" pitchFamily="34" charset="-120"/>
              </a:rPr>
              <a:t>2×</a:t>
            </a:r>
            <a:endParaRPr lang="en-US" sz="4400" dirty="0"/>
          </a:p>
        </p:txBody>
      </p:sp>
      <p:sp>
        <p:nvSpPr>
          <p:cNvPr id="16" name="Text 14"/>
          <p:cNvSpPr txBox="1"/>
          <p:nvPr/>
        </p:nvSpPr>
        <p:spPr>
          <a:xfrm>
            <a:off x="6720840" y="5733288"/>
            <a:ext cx="4800600" cy="548640"/>
          </a:xfrm>
          <a:prstGeom prst="rect">
            <a:avLst/>
          </a:prstGeom>
          <a:noFill/>
          <a:ln/>
        </p:spPr>
        <p:txBody>
          <a:bodyPr wrap="square" lIns="0" tIns="0" rIns="0" bIns="0" rtlCol="0" anchor="ctr"/>
          <a:lstStyle/>
          <a:p>
            <a:pPr algn="l" indent="0" marL="0">
              <a:lnSpc>
                <a:spcPct val="130000"/>
              </a:lnSpc>
              <a:buNone/>
            </a:pPr>
            <a:r>
              <a:rPr lang="en-US" sz="950" b="1" spc="180" kern="0" dirty="0">
                <a:solidFill>
                  <a:srgbClr val="66705F"/>
                </a:solidFill>
                <a:latin typeface="IBM Plex Mono" pitchFamily="34" charset="0"/>
                <a:ea typeface="IBM Plex Mono" pitchFamily="34" charset="-122"/>
                <a:cs typeface="IBM Plex Mono" pitchFamily="34" charset="-120"/>
              </a:rPr>
              <a:t>EUROPE'S MILITARY SPENDING SINCE 2016 — DOUBLED, STILL CLIMBING (SIPRI)</a:t>
            </a:r>
            <a:endParaRPr lang="en-US" sz="950" dirty="0"/>
          </a:p>
        </p:txBody>
      </p:sp>
      <p:sp>
        <p:nvSpPr>
          <p:cNvPr id="17" name="Text 1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02  ·  TWB DESIGNS — CONFIDENTIAL</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 — THE LIABILITY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Ammunition is the only weapon you must destroy to retire.</a:t>
            </a:r>
            <a:endParaRPr lang="en-US" sz="2800" dirty="0"/>
          </a:p>
        </p:txBody>
      </p:sp>
      <p:sp>
        <p:nvSpPr>
          <p:cNvPr id="4" name="Text 2"/>
          <p:cNvSpPr txBox="1"/>
          <p:nvPr/>
        </p:nvSpPr>
        <p:spPr>
          <a:xfrm>
            <a:off x="640080" y="1874520"/>
            <a:ext cx="5577840" cy="1371600"/>
          </a:xfrm>
          <a:prstGeom prst="rect">
            <a:avLst/>
          </a:prstGeom>
          <a:noFill/>
          <a:ln/>
        </p:spPr>
        <p:txBody>
          <a:bodyPr wrap="square" lIns="0" tIns="0" rIns="0" bIns="0" rtlCol="0" anchor="t"/>
          <a:lstStyle/>
          <a:p>
            <a:pPr algn="l" indent="0" marL="0">
              <a:buNone/>
            </a:pPr>
            <a:r>
              <a:rPr lang="en-US" sz="7600" spc="-200" kern="0" dirty="0">
                <a:solidFill>
                  <a:srgbClr val="000000"/>
                </a:solidFill>
                <a:latin typeface="Helvetica Neue" pitchFamily="34" charset="0"/>
                <a:ea typeface="Helvetica Neue" pitchFamily="34" charset="-122"/>
                <a:cs typeface="Helvetica Neue" pitchFamily="34" charset="-120"/>
              </a:rPr>
              <a:t>303,772</a:t>
            </a:r>
            <a:endParaRPr lang="en-US" sz="7600" dirty="0"/>
          </a:p>
        </p:txBody>
      </p:sp>
      <p:sp>
        <p:nvSpPr>
          <p:cNvPr id="5" name="Text 3"/>
          <p:cNvSpPr txBox="1"/>
          <p:nvPr/>
        </p:nvSpPr>
        <p:spPr>
          <a:xfrm>
            <a:off x="640080" y="3191256"/>
            <a:ext cx="539496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SHORT TONS AWAITING DESTRUCTION — US STOCKPILE, FY25 (DOD)</a:t>
            </a:r>
            <a:endParaRPr lang="en-US" sz="1050" dirty="0"/>
          </a:p>
        </p:txBody>
      </p:sp>
      <p:sp>
        <p:nvSpPr>
          <p:cNvPr id="6" name="Text 4"/>
          <p:cNvSpPr txBox="1"/>
          <p:nvPr/>
        </p:nvSpPr>
        <p:spPr>
          <a:xfrm>
            <a:off x="640080" y="3730752"/>
            <a:ext cx="5394960" cy="320040"/>
          </a:xfrm>
          <a:prstGeom prst="rect">
            <a:avLst/>
          </a:prstGeom>
          <a:noFill/>
          <a:ln/>
        </p:spPr>
        <p:txBody>
          <a:bodyPr wrap="square" lIns="0" tIns="0" rIns="0" bIns="0" rtlCol="0" anchor="ctr"/>
          <a:lstStyle/>
          <a:p>
            <a:pPr indent="0" marL="0">
              <a:buNone/>
            </a:pPr>
            <a:r>
              <a:rPr lang="en-US" sz="900" spc="120" kern="0" dirty="0">
                <a:solidFill>
                  <a:srgbClr val="6E6C66"/>
                </a:solidFill>
                <a:latin typeface="IBM Plex Mono" pitchFamily="34" charset="0"/>
                <a:ea typeface="IBM Plex Mono" pitchFamily="34" charset="-122"/>
                <a:cs typeface="IBM Plex Mono" pitchFamily="34" charset="-120"/>
              </a:rPr>
              <a:t>→ 361,220 T FORECAST BY FY30 · &gt;7,000 MUNITION TYPES</a:t>
            </a:r>
            <a:endParaRPr lang="en-US" sz="900" dirty="0"/>
          </a:p>
        </p:txBody>
      </p:sp>
      <p:sp>
        <p:nvSpPr>
          <p:cNvPr id="7" name="Text 5"/>
          <p:cNvSpPr txBox="1"/>
          <p:nvPr/>
        </p:nvSpPr>
        <p:spPr>
          <a:xfrm>
            <a:off x="6446520" y="1874520"/>
            <a:ext cx="5120640" cy="1371600"/>
          </a:xfrm>
          <a:prstGeom prst="rect">
            <a:avLst/>
          </a:prstGeom>
          <a:noFill/>
          <a:ln/>
        </p:spPr>
        <p:txBody>
          <a:bodyPr wrap="square" lIns="0" tIns="0" rIns="0" bIns="0" rtlCol="0" anchor="t"/>
          <a:lstStyle/>
          <a:p>
            <a:pPr algn="l" indent="0" marL="0">
              <a:buNone/>
            </a:pPr>
            <a:r>
              <a:rPr lang="en-US" sz="6600" spc="-200" kern="0" dirty="0">
                <a:solidFill>
                  <a:srgbClr val="66705F"/>
                </a:solidFill>
                <a:latin typeface="Helvetica Neue" pitchFamily="34" charset="0"/>
                <a:ea typeface="Helvetica Neue" pitchFamily="34" charset="-122"/>
                <a:cs typeface="Helvetica Neue" pitchFamily="34" charset="-120"/>
              </a:rPr>
              <a:t>$0.6–0.9B</a:t>
            </a:r>
            <a:endParaRPr lang="en-US" sz="6600" dirty="0"/>
          </a:p>
        </p:txBody>
      </p:sp>
      <p:sp>
        <p:nvSpPr>
          <p:cNvPr id="8" name="Text 6"/>
          <p:cNvSpPr txBox="1"/>
          <p:nvPr/>
        </p:nvSpPr>
        <p:spPr>
          <a:xfrm>
            <a:off x="6446520" y="3191256"/>
            <a:ext cx="50292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IMPLIED COST TO CLEAR IT, AT PUBLISHED DEMIL RATES</a:t>
            </a:r>
            <a:endParaRPr lang="en-US" sz="1050" dirty="0"/>
          </a:p>
        </p:txBody>
      </p:sp>
      <p:sp>
        <p:nvSpPr>
          <p:cNvPr id="9" name="Text 7"/>
          <p:cNvSpPr txBox="1"/>
          <p:nvPr/>
        </p:nvSpPr>
        <p:spPr>
          <a:xfrm>
            <a:off x="6446520" y="3730752"/>
            <a:ext cx="5120640" cy="457200"/>
          </a:xfrm>
          <a:prstGeom prst="rect">
            <a:avLst/>
          </a:prstGeom>
          <a:noFill/>
          <a:ln/>
        </p:spPr>
        <p:txBody>
          <a:bodyPr wrap="square" lIns="0" tIns="0" rIns="0" bIns="0" rtlCol="0" anchor="ctr"/>
          <a:lstStyle/>
          <a:p>
            <a:pPr indent="0" marL="0">
              <a:lnSpc>
                <a:spcPct val="130000"/>
              </a:lnSpc>
              <a:buNone/>
            </a:pPr>
            <a:r>
              <a:rPr lang="en-US" sz="800" spc="60" kern="0" dirty="0">
                <a:solidFill>
                  <a:srgbClr val="6E6C66"/>
                </a:solidFill>
                <a:latin typeface="IBM Plex Mono" pitchFamily="34" charset="0"/>
                <a:ea typeface="IBM Plex Mono" pitchFamily="34" charset="-122"/>
                <a:cs typeface="IBM Plex Mono" pitchFamily="34" charset="-120"/>
              </a:rPr>
              <a:t>Illustrative: 303,772 t × $2,000–2,890/ton (GAO FY15 / NAS demil cost range). Not an official total.</a:t>
            </a:r>
            <a:endParaRPr lang="en-US" sz="800" dirty="0"/>
          </a:p>
        </p:txBody>
      </p:sp>
      <p:sp>
        <p:nvSpPr>
          <p:cNvPr id="10" name="Shape 8"/>
          <p:cNvSpPr/>
          <p:nvPr/>
        </p:nvSpPr>
        <p:spPr>
          <a:xfrm>
            <a:off x="640080" y="4224528"/>
            <a:ext cx="10908792" cy="0"/>
          </a:xfrm>
          <a:prstGeom prst="line">
            <a:avLst/>
          </a:prstGeom>
          <a:noFill/>
          <a:ln w="9525">
            <a:solidFill>
              <a:srgbClr val="E2E1DA"/>
            </a:solidFill>
            <a:prstDash val="solid"/>
          </a:ln>
        </p:spPr>
      </p:sp>
      <p:sp>
        <p:nvSpPr>
          <p:cNvPr id="11" name="Text 9"/>
          <p:cNvSpPr txBox="1"/>
          <p:nvPr/>
        </p:nvSpPr>
        <p:spPr>
          <a:xfrm>
            <a:off x="640080" y="4434840"/>
            <a:ext cx="5486400" cy="1371600"/>
          </a:xfrm>
          <a:prstGeom prst="rect">
            <a:avLst/>
          </a:prstGeom>
          <a:noFill/>
          <a:ln/>
        </p:spPr>
        <p:txBody>
          <a:bodyPr wrap="square" lIns="0" tIns="0" rIns="0" bIns="0" rtlCol="0" anchor="ctr"/>
          <a:lstStyle/>
          <a:p>
            <a:pPr indent="0" marL="0">
              <a:lnSpc>
                <a:spcPct val="130000"/>
              </a:lnSpc>
              <a:buNone/>
            </a:pPr>
            <a:r>
              <a:rPr lang="en-US" sz="1300" dirty="0">
                <a:solidFill>
                  <a:srgbClr val="33332F"/>
                </a:solidFill>
                <a:latin typeface="Helvetica Neue" pitchFamily="34" charset="0"/>
                <a:ea typeface="Helvetica Neue" pitchFamily="34" charset="-122"/>
                <a:cs typeface="Helvetica Neue" pitchFamily="34" charset="-120"/>
              </a:rPr>
              <a:t>A warship is scrapped. A rifle sits in a rack for a century. Ammunition ages chemically </a:t>
            </a:r>
            <a:pPr indent="0" marL="0">
              <a:lnSpc>
                <a:spcPct val="130000"/>
              </a:lnSpc>
              <a:buNone/>
            </a:pPr>
            <a:r>
              <a:rPr lang="en-US" sz="1300" dirty="0">
                <a:solidFill>
                  <a:srgbClr val="33332F"/>
                </a:solidFill>
                <a:latin typeface="Helvetica Neue" pitchFamily="34" charset="0"/>
                <a:ea typeface="Helvetica Neue" pitchFamily="34" charset="-122"/>
                <a:cs typeface="Helvetica Neue" pitchFamily="34" charset="-120"/>
              </a:rPr>
              <a:t>— propellants destabilise, primers corrode, calibres are orphaned every time the gun changes. Every round must be guarded, inventoried and inspected — at cost, forever — until it is destroyed.</a:t>
            </a:r>
            <a:endParaRPr lang="en-US" sz="1300" dirty="0"/>
          </a:p>
        </p:txBody>
      </p:sp>
      <p:sp>
        <p:nvSpPr>
          <p:cNvPr id="12" name="Shape 10"/>
          <p:cNvSpPr/>
          <p:nvPr/>
        </p:nvSpPr>
        <p:spPr>
          <a:xfrm>
            <a:off x="6446520" y="4434840"/>
            <a:ext cx="5120640" cy="1371600"/>
          </a:xfrm>
          <a:prstGeom prst="rect">
            <a:avLst/>
          </a:prstGeom>
          <a:solidFill>
            <a:srgbClr val="F1F3F0"/>
          </a:solidFill>
          <a:ln w="9525">
            <a:solidFill>
              <a:srgbClr val="D3D9D0"/>
            </a:solidFill>
            <a:prstDash val="solid"/>
          </a:ln>
        </p:spPr>
      </p:sp>
      <p:sp>
        <p:nvSpPr>
          <p:cNvPr id="13" name="Shape 11"/>
          <p:cNvSpPr/>
          <p:nvPr/>
        </p:nvSpPr>
        <p:spPr>
          <a:xfrm>
            <a:off x="6427318" y="4415638"/>
            <a:ext cx="59436" cy="12802"/>
          </a:xfrm>
          <a:prstGeom prst="rect">
            <a:avLst/>
          </a:prstGeom>
          <a:solidFill>
            <a:srgbClr val="66705F"/>
          </a:solidFill>
          <a:ln/>
        </p:spPr>
      </p:sp>
      <p:sp>
        <p:nvSpPr>
          <p:cNvPr id="14" name="Shape 12"/>
          <p:cNvSpPr/>
          <p:nvPr/>
        </p:nvSpPr>
        <p:spPr>
          <a:xfrm>
            <a:off x="6427318" y="4415638"/>
            <a:ext cx="12802" cy="59436"/>
          </a:xfrm>
          <a:prstGeom prst="rect">
            <a:avLst/>
          </a:prstGeom>
          <a:solidFill>
            <a:srgbClr val="66705F"/>
          </a:solidFill>
          <a:ln/>
        </p:spPr>
      </p:sp>
      <p:sp>
        <p:nvSpPr>
          <p:cNvPr id="15" name="Shape 13"/>
          <p:cNvSpPr/>
          <p:nvPr/>
        </p:nvSpPr>
        <p:spPr>
          <a:xfrm>
            <a:off x="11526926" y="4415638"/>
            <a:ext cx="59436" cy="12802"/>
          </a:xfrm>
          <a:prstGeom prst="rect">
            <a:avLst/>
          </a:prstGeom>
          <a:solidFill>
            <a:srgbClr val="66705F"/>
          </a:solidFill>
          <a:ln/>
        </p:spPr>
      </p:sp>
      <p:sp>
        <p:nvSpPr>
          <p:cNvPr id="16" name="Shape 14"/>
          <p:cNvSpPr/>
          <p:nvPr/>
        </p:nvSpPr>
        <p:spPr>
          <a:xfrm>
            <a:off x="11573561" y="4415638"/>
            <a:ext cx="12802" cy="59436"/>
          </a:xfrm>
          <a:prstGeom prst="rect">
            <a:avLst/>
          </a:prstGeom>
          <a:solidFill>
            <a:srgbClr val="66705F"/>
          </a:solidFill>
          <a:ln/>
        </p:spPr>
      </p:sp>
      <p:sp>
        <p:nvSpPr>
          <p:cNvPr id="17" name="Shape 15"/>
          <p:cNvSpPr/>
          <p:nvPr/>
        </p:nvSpPr>
        <p:spPr>
          <a:xfrm>
            <a:off x="6427318" y="5812841"/>
            <a:ext cx="59436" cy="12802"/>
          </a:xfrm>
          <a:prstGeom prst="rect">
            <a:avLst/>
          </a:prstGeom>
          <a:solidFill>
            <a:srgbClr val="66705F"/>
          </a:solidFill>
          <a:ln/>
        </p:spPr>
      </p:sp>
      <p:sp>
        <p:nvSpPr>
          <p:cNvPr id="18" name="Shape 16"/>
          <p:cNvSpPr/>
          <p:nvPr/>
        </p:nvSpPr>
        <p:spPr>
          <a:xfrm>
            <a:off x="6427318" y="5766206"/>
            <a:ext cx="12802" cy="59436"/>
          </a:xfrm>
          <a:prstGeom prst="rect">
            <a:avLst/>
          </a:prstGeom>
          <a:solidFill>
            <a:srgbClr val="66705F"/>
          </a:solidFill>
          <a:ln/>
        </p:spPr>
      </p:sp>
      <p:sp>
        <p:nvSpPr>
          <p:cNvPr id="19" name="Shape 17"/>
          <p:cNvSpPr/>
          <p:nvPr/>
        </p:nvSpPr>
        <p:spPr>
          <a:xfrm>
            <a:off x="11526926" y="5812841"/>
            <a:ext cx="59436" cy="12802"/>
          </a:xfrm>
          <a:prstGeom prst="rect">
            <a:avLst/>
          </a:prstGeom>
          <a:solidFill>
            <a:srgbClr val="66705F"/>
          </a:solidFill>
          <a:ln/>
        </p:spPr>
      </p:sp>
      <p:sp>
        <p:nvSpPr>
          <p:cNvPr id="20" name="Shape 18"/>
          <p:cNvSpPr/>
          <p:nvPr/>
        </p:nvSpPr>
        <p:spPr>
          <a:xfrm>
            <a:off x="11573561" y="5766206"/>
            <a:ext cx="12802" cy="59436"/>
          </a:xfrm>
          <a:prstGeom prst="rect">
            <a:avLst/>
          </a:prstGeom>
          <a:solidFill>
            <a:srgbClr val="66705F"/>
          </a:solidFill>
          <a:ln/>
        </p:spPr>
      </p:sp>
      <p:sp>
        <p:nvSpPr>
          <p:cNvPr id="21" name="Text 19"/>
          <p:cNvSpPr txBox="1"/>
          <p:nvPr/>
        </p:nvSpPr>
        <p:spPr>
          <a:xfrm>
            <a:off x="6675120" y="4617720"/>
            <a:ext cx="4663440" cy="1005840"/>
          </a:xfrm>
          <a:prstGeom prst="rect">
            <a:avLst/>
          </a:prstGeom>
          <a:noFill/>
          <a:ln/>
        </p:spPr>
        <p:txBody>
          <a:bodyPr wrap="square" lIns="0" tIns="0" rIns="0" bIns="0" rtlCol="0" anchor="ctr"/>
          <a:lstStyle/>
          <a:p>
            <a:pPr indent="0" marL="0">
              <a:lnSpc>
                <a:spcPct val="125000"/>
              </a:lnSpc>
              <a:buNone/>
            </a:pPr>
            <a:r>
              <a:rPr lang="en-US" sz="1300" b="1" dirty="0">
                <a:solidFill>
                  <a:srgbClr val="000000"/>
                </a:solidFill>
                <a:latin typeface="Helvetica Neue" pitchFamily="34" charset="0"/>
                <a:ea typeface="Helvetica Neue" pitchFamily="34" charset="-122"/>
                <a:cs typeface="Helvetica Neue" pitchFamily="34" charset="-120"/>
              </a:rPr>
              <a:t>The surge now rolling off new production lines will do to allied stockpiles what it has already done to allied budgets.</a:t>
            </a:r>
            <a:endParaRPr lang="en-US" sz="1300" dirty="0"/>
          </a:p>
        </p:txBody>
      </p:sp>
      <p:sp>
        <p:nvSpPr>
          <p:cNvPr id="22" name="Text 20"/>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03  ·  TWB DESIGNS — CONFIDENTIAL</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 — THE STATUS QUO</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Destruction never industrialised.</a:t>
            </a:r>
            <a:endParaRPr lang="en-US" sz="2800" dirty="0"/>
          </a:p>
        </p:txBody>
      </p:sp>
      <p:sp>
        <p:nvSpPr>
          <p:cNvPr id="4" name="Text 2"/>
          <p:cNvSpPr txBox="1"/>
          <p:nvPr/>
        </p:nvSpPr>
        <p:spPr>
          <a:xfrm>
            <a:off x="640080" y="1783080"/>
            <a:ext cx="2103120" cy="1600200"/>
          </a:xfrm>
          <a:prstGeom prst="rect">
            <a:avLst/>
          </a:prstGeom>
          <a:noFill/>
          <a:ln/>
        </p:spPr>
        <p:txBody>
          <a:bodyPr wrap="square" lIns="0" tIns="0" rIns="0" bIns="0" rtlCol="0" anchor="t"/>
          <a:lstStyle/>
          <a:p>
            <a:pPr algn="l" indent="0" marL="0">
              <a:buNone/>
            </a:pPr>
            <a:r>
              <a:rPr lang="en-US" sz="15000" spc="-200" kern="0" dirty="0">
                <a:solidFill>
                  <a:srgbClr val="1C1C19"/>
                </a:solidFill>
                <a:latin typeface="Helvetica Neue" pitchFamily="34" charset="0"/>
                <a:ea typeface="Helvetica Neue" pitchFamily="34" charset="-122"/>
                <a:cs typeface="Helvetica Neue" pitchFamily="34" charset="-120"/>
              </a:rPr>
              <a:t>3</a:t>
            </a:r>
            <a:endParaRPr lang="en-US" sz="15000" dirty="0"/>
          </a:p>
        </p:txBody>
      </p:sp>
      <p:sp>
        <p:nvSpPr>
          <p:cNvPr id="5" name="Text 3"/>
          <p:cNvSpPr txBox="1"/>
          <p:nvPr/>
        </p:nvSpPr>
        <p:spPr>
          <a:xfrm>
            <a:off x="2880360" y="1965960"/>
            <a:ext cx="8686800" cy="1234440"/>
          </a:xfrm>
          <a:prstGeom prst="rect">
            <a:avLst/>
          </a:prstGeom>
          <a:noFill/>
          <a:ln/>
        </p:spPr>
        <p:txBody>
          <a:bodyPr wrap="square" lIns="0" tIns="0" rIns="0" bIns="0" rtlCol="0" anchor="ctr"/>
          <a:lstStyle/>
          <a:p>
            <a:pPr indent="0" marL="0">
              <a:lnSpc>
                <a:spcPct val="130000"/>
              </a:lnSpc>
              <a:buNone/>
            </a:pPr>
            <a:r>
              <a:rPr lang="en-US" sz="1550" b="1" dirty="0">
                <a:solidFill>
                  <a:srgbClr val="000000"/>
                </a:solidFill>
                <a:latin typeface="Helvetica Neue" pitchFamily="34" charset="0"/>
                <a:ea typeface="Helvetica Neue" pitchFamily="34" charset="-122"/>
                <a:cs typeface="Helvetica Neue" pitchFamily="34" charset="-120"/>
              </a:rPr>
              <a:t>Sheriff's detectives killed </a:t>
            </a:r>
            <a:pPr indent="0" marL="0">
              <a:lnSpc>
                <a:spcPct val="130000"/>
              </a:lnSpc>
              <a:buNone/>
            </a:pPr>
            <a:r>
              <a:rPr lang="en-US" sz="1550" dirty="0">
                <a:solidFill>
                  <a:srgbClr val="33332F"/>
                </a:solidFill>
                <a:latin typeface="Helvetica Neue" pitchFamily="34" charset="0"/>
                <a:ea typeface="Helvetica Neue" pitchFamily="34" charset="-122"/>
                <a:cs typeface="Helvetica Neue" pitchFamily="34" charset="-120"/>
              </a:rPr>
              <a:t>— Los Angeles County, 18 July 2025, processing seized ordnance by hand. The status quo prices human hands over live munitions — until it doesn't.</a:t>
            </a:r>
            <a:endParaRPr lang="en-US" sz="1550" dirty="0"/>
          </a:p>
        </p:txBody>
      </p:sp>
      <p:sp>
        <p:nvSpPr>
          <p:cNvPr id="6" name="Shape 4"/>
          <p:cNvSpPr/>
          <p:nvPr/>
        </p:nvSpPr>
        <p:spPr>
          <a:xfrm>
            <a:off x="640080" y="3657600"/>
            <a:ext cx="3465576" cy="1920240"/>
          </a:xfrm>
          <a:prstGeom prst="rect">
            <a:avLst/>
          </a:prstGeom>
          <a:solidFill>
            <a:srgbClr val="FFFFFF"/>
          </a:solidFill>
          <a:ln w="12700">
            <a:solidFill>
              <a:srgbClr val="8C8A83"/>
            </a:solidFill>
            <a:prstDash val="dash"/>
          </a:ln>
        </p:spPr>
      </p:sp>
      <p:sp>
        <p:nvSpPr>
          <p:cNvPr id="7" name="Text 5"/>
          <p:cNvSpPr txBox="1"/>
          <p:nvPr/>
        </p:nvSpPr>
        <p:spPr>
          <a:xfrm>
            <a:off x="859536" y="3840480"/>
            <a:ext cx="3026664" cy="320040"/>
          </a:xfrm>
          <a:prstGeom prst="rect">
            <a:avLst/>
          </a:prstGeom>
          <a:noFill/>
          <a:ln/>
        </p:spPr>
        <p:txBody>
          <a:bodyPr wrap="square" lIns="0" tIns="0" rIns="0" bIns="0" rtlCol="0" anchor="ctr"/>
          <a:lstStyle/>
          <a:p>
            <a:pPr indent="0" marL="0">
              <a:buNone/>
            </a:pPr>
            <a:r>
              <a:rPr lang="en-US" sz="1050" b="1" spc="180" kern="0" dirty="0">
                <a:solidFill>
                  <a:srgbClr val="1C1C19"/>
                </a:solidFill>
                <a:latin typeface="IBM Plex Mono" pitchFamily="34" charset="0"/>
                <a:ea typeface="IBM Plex Mono" pitchFamily="34" charset="-122"/>
                <a:cs typeface="IBM Plex Mono" pitchFamily="34" charset="-120"/>
              </a:rPr>
              <a:t>BURN IT IN A PIT</a:t>
            </a:r>
            <a:endParaRPr lang="en-US" sz="1050" dirty="0"/>
          </a:p>
        </p:txBody>
      </p:sp>
      <p:sp>
        <p:nvSpPr>
          <p:cNvPr id="8" name="Text 6"/>
          <p:cNvSpPr txBox="1"/>
          <p:nvPr/>
        </p:nvSpPr>
        <p:spPr>
          <a:xfrm>
            <a:off x="859536" y="4224528"/>
            <a:ext cx="3026664" cy="1234440"/>
          </a:xfrm>
          <a:prstGeom prst="rect">
            <a:avLst/>
          </a:prstGeom>
          <a:noFill/>
          <a:ln/>
        </p:spPr>
        <p:txBody>
          <a:bodyPr wrap="square" lIns="0" tIns="0" rIns="0" bIns="0" rtlCol="0" anchor="ctr"/>
          <a:lstStyle/>
          <a:p>
            <a:pPr indent="0" marL="0">
              <a:lnSpc>
                <a:spcPct val="125000"/>
              </a:lnSpc>
              <a:buNone/>
            </a:pPr>
            <a:r>
              <a:rPr lang="en-US" sz="1100" dirty="0">
                <a:solidFill>
                  <a:srgbClr val="1C1C19"/>
                </a:solidFill>
                <a:latin typeface="Helvetica Neue" pitchFamily="34" charset="0"/>
                <a:ea typeface="Helvetica Neue" pitchFamily="34" charset="-122"/>
                <a:cs typeface="Helvetica Neue" pitchFamily="34" charset="-120"/>
              </a:rPr>
              <a:t>Open burning / open detonation — no containment, no emissions control. ~$750/ton, and being regulated out: the EPA's proposed rule (89 FR 19952) targets 67 US facilities still doing it.</a:t>
            </a:r>
            <a:endParaRPr lang="en-US" sz="1100" dirty="0"/>
          </a:p>
        </p:txBody>
      </p:sp>
      <p:sp>
        <p:nvSpPr>
          <p:cNvPr id="9" name="Shape 7"/>
          <p:cNvSpPr/>
          <p:nvPr/>
        </p:nvSpPr>
        <p:spPr>
          <a:xfrm>
            <a:off x="4361688" y="3657600"/>
            <a:ext cx="3465576" cy="1920240"/>
          </a:xfrm>
          <a:prstGeom prst="rect">
            <a:avLst/>
          </a:prstGeom>
          <a:solidFill>
            <a:srgbClr val="FFFFFF"/>
          </a:solidFill>
          <a:ln w="12700">
            <a:solidFill>
              <a:srgbClr val="8C8A83"/>
            </a:solidFill>
            <a:prstDash val="dash"/>
          </a:ln>
        </p:spPr>
      </p:sp>
      <p:sp>
        <p:nvSpPr>
          <p:cNvPr id="10" name="Text 8"/>
          <p:cNvSpPr txBox="1"/>
          <p:nvPr/>
        </p:nvSpPr>
        <p:spPr>
          <a:xfrm>
            <a:off x="4581144" y="3840480"/>
            <a:ext cx="3026664" cy="320040"/>
          </a:xfrm>
          <a:prstGeom prst="rect">
            <a:avLst/>
          </a:prstGeom>
          <a:noFill/>
          <a:ln/>
        </p:spPr>
        <p:txBody>
          <a:bodyPr wrap="square" lIns="0" tIns="0" rIns="0" bIns="0" rtlCol="0" anchor="ctr"/>
          <a:lstStyle/>
          <a:p>
            <a:pPr indent="0" marL="0">
              <a:buNone/>
            </a:pPr>
            <a:r>
              <a:rPr lang="en-US" sz="1050" b="1" spc="180" kern="0" dirty="0">
                <a:solidFill>
                  <a:srgbClr val="1C1C19"/>
                </a:solidFill>
                <a:latin typeface="IBM Plex Mono" pitchFamily="34" charset="0"/>
                <a:ea typeface="IBM Plex Mono" pitchFamily="34" charset="-122"/>
                <a:cs typeface="IBM Plex Mono" pitchFamily="34" charset="-120"/>
              </a:rPr>
              <a:t>TRUCK IT AWAY</a:t>
            </a:r>
            <a:endParaRPr lang="en-US" sz="1050" dirty="0"/>
          </a:p>
        </p:txBody>
      </p:sp>
      <p:sp>
        <p:nvSpPr>
          <p:cNvPr id="11" name="Text 9"/>
          <p:cNvSpPr txBox="1"/>
          <p:nvPr/>
        </p:nvSpPr>
        <p:spPr>
          <a:xfrm>
            <a:off x="4581144" y="4224528"/>
            <a:ext cx="3026664" cy="1234440"/>
          </a:xfrm>
          <a:prstGeom prst="rect">
            <a:avLst/>
          </a:prstGeom>
          <a:noFill/>
          <a:ln/>
        </p:spPr>
        <p:txBody>
          <a:bodyPr wrap="square" lIns="0" tIns="0" rIns="0" bIns="0" rtlCol="0" anchor="ctr"/>
          <a:lstStyle/>
          <a:p>
            <a:pPr indent="0" marL="0">
              <a:lnSpc>
                <a:spcPct val="125000"/>
              </a:lnSpc>
              <a:buNone/>
            </a:pPr>
            <a:r>
              <a:rPr lang="en-US" sz="1100" dirty="0">
                <a:solidFill>
                  <a:srgbClr val="1C1C19"/>
                </a:solidFill>
                <a:latin typeface="Helvetica Neue" pitchFamily="34" charset="0"/>
                <a:ea typeface="Helvetica Neue" pitchFamily="34" charset="-122"/>
                <a:cs typeface="Helvetica Neue" pitchFamily="34" charset="-120"/>
              </a:rPr>
              <a:t>Live ammunition loaded onto highways to reach a fixed site. Every mile a diversion window. Every transfer a custody break. Every escort a cost the owner carries.</a:t>
            </a:r>
            <a:endParaRPr lang="en-US" sz="1100" dirty="0"/>
          </a:p>
        </p:txBody>
      </p:sp>
      <p:sp>
        <p:nvSpPr>
          <p:cNvPr id="12" name="Shape 10"/>
          <p:cNvSpPr/>
          <p:nvPr/>
        </p:nvSpPr>
        <p:spPr>
          <a:xfrm>
            <a:off x="8083296" y="3657600"/>
            <a:ext cx="3465576" cy="1920240"/>
          </a:xfrm>
          <a:prstGeom prst="rect">
            <a:avLst/>
          </a:prstGeom>
          <a:solidFill>
            <a:srgbClr val="FFFFFF"/>
          </a:solidFill>
          <a:ln w="12700">
            <a:solidFill>
              <a:srgbClr val="8C8A83"/>
            </a:solidFill>
            <a:prstDash val="dash"/>
          </a:ln>
        </p:spPr>
      </p:sp>
      <p:sp>
        <p:nvSpPr>
          <p:cNvPr id="13" name="Text 11"/>
          <p:cNvSpPr txBox="1"/>
          <p:nvPr/>
        </p:nvSpPr>
        <p:spPr>
          <a:xfrm>
            <a:off x="8302752" y="3840480"/>
            <a:ext cx="3026664" cy="320040"/>
          </a:xfrm>
          <a:prstGeom prst="rect">
            <a:avLst/>
          </a:prstGeom>
          <a:noFill/>
          <a:ln/>
        </p:spPr>
        <p:txBody>
          <a:bodyPr wrap="square" lIns="0" tIns="0" rIns="0" bIns="0" rtlCol="0" anchor="ctr"/>
          <a:lstStyle/>
          <a:p>
            <a:pPr indent="0" marL="0">
              <a:buNone/>
            </a:pPr>
            <a:r>
              <a:rPr lang="en-US" sz="1050" b="1" spc="180" kern="0" dirty="0">
                <a:solidFill>
                  <a:srgbClr val="1C1C19"/>
                </a:solidFill>
                <a:latin typeface="IBM Plex Mono" pitchFamily="34" charset="0"/>
                <a:ea typeface="IBM Plex Mono" pitchFamily="34" charset="-122"/>
                <a:cs typeface="IBM Plex Mono" pitchFamily="34" charset="-120"/>
              </a:rPr>
              <a:t>DO IT BY HAND</a:t>
            </a:r>
            <a:endParaRPr lang="en-US" sz="1050" dirty="0"/>
          </a:p>
        </p:txBody>
      </p:sp>
      <p:sp>
        <p:nvSpPr>
          <p:cNvPr id="14" name="Text 12"/>
          <p:cNvSpPr txBox="1"/>
          <p:nvPr/>
        </p:nvSpPr>
        <p:spPr>
          <a:xfrm>
            <a:off x="8302752" y="4224528"/>
            <a:ext cx="3026664" cy="1234440"/>
          </a:xfrm>
          <a:prstGeom prst="rect">
            <a:avLst/>
          </a:prstGeom>
          <a:noFill/>
          <a:ln/>
        </p:spPr>
        <p:txBody>
          <a:bodyPr wrap="square" lIns="0" tIns="0" rIns="0" bIns="0" rtlCol="0" anchor="ctr"/>
          <a:lstStyle/>
          <a:p>
            <a:pPr indent="0" marL="0">
              <a:lnSpc>
                <a:spcPct val="125000"/>
              </a:lnSpc>
              <a:buNone/>
            </a:pPr>
            <a:r>
              <a:rPr lang="en-US" sz="1100" dirty="0">
                <a:solidFill>
                  <a:srgbClr val="1C1C19"/>
                </a:solidFill>
                <a:latin typeface="Helvetica Neue" pitchFamily="34" charset="0"/>
                <a:ea typeface="Helvetica Neue" pitchFamily="34" charset="-122"/>
                <a:cs typeface="Helvetica Neue" pitchFamily="34" charset="-120"/>
              </a:rPr>
              <a:t>The default when nothing else is on site. No machine, no containment — just people and live ordnance in the same room.</a:t>
            </a:r>
            <a:endParaRPr lang="en-US" sz="1100" dirty="0"/>
          </a:p>
        </p:txBody>
      </p:sp>
      <p:sp>
        <p:nvSpPr>
          <p:cNvPr id="15" name="Text 13"/>
          <p:cNvSpPr txBox="1"/>
          <p:nvPr/>
        </p:nvSpPr>
        <p:spPr>
          <a:xfrm>
            <a:off x="640080" y="5760720"/>
            <a:ext cx="10881360" cy="411480"/>
          </a:xfrm>
          <a:prstGeom prst="rect">
            <a:avLst/>
          </a:prstGeom>
          <a:noFill/>
          <a:ln/>
        </p:spPr>
        <p:txBody>
          <a:bodyPr wrap="square" lIns="0" tIns="0" rIns="0" bIns="0" rtlCol="0" anchor="ctr"/>
          <a:lstStyle/>
          <a:p>
            <a:pPr indent="0" marL="0">
              <a:lnSpc>
                <a:spcPct val="120000"/>
              </a:lnSpc>
              <a:buNone/>
            </a:pPr>
            <a:r>
              <a:rPr lang="en-US" sz="1450" b="1" dirty="0">
                <a:solidFill>
                  <a:srgbClr val="000000"/>
                </a:solidFill>
                <a:latin typeface="Helvetica Neue" pitchFamily="34" charset="0"/>
                <a:ea typeface="Helvetica Neue" pitchFamily="34" charset="-122"/>
                <a:cs typeface="Helvetica Neue" pitchFamily="34" charset="-120"/>
              </a:rPr>
              <a:t>Production has been industrialised. Destruction never was. </a:t>
            </a:r>
            <a:pPr indent="0" marL="0">
              <a:lnSpc>
                <a:spcPct val="120000"/>
              </a:lnSpc>
              <a:buNone/>
            </a:pPr>
            <a:r>
              <a:rPr lang="en-US" sz="1450" dirty="0">
                <a:solidFill>
                  <a:srgbClr val="33332F"/>
                </a:solidFill>
                <a:latin typeface="Helvetica Neue" pitchFamily="34" charset="0"/>
                <a:ea typeface="Helvetica Neue" pitchFamily="34" charset="-122"/>
                <a:cs typeface="Helvetica Neue" pitchFamily="34" charset="-120"/>
              </a:rPr>
              <a:t>That gap — the widest in eighty years — is the company.</a:t>
            </a:r>
            <a:endParaRPr lang="en-US" sz="1450" dirty="0"/>
          </a:p>
        </p:txBody>
      </p:sp>
      <p:sp>
        <p:nvSpPr>
          <p:cNvPr id="16" name="Text 1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04  ·  TWB DESIGNS — CONFIDENTIAL</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III — THE FLIP</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Geopolitics turned the waste stream into an ore body.</a:t>
            </a:r>
            <a:endParaRPr lang="en-US" sz="2800" dirty="0"/>
          </a:p>
        </p:txBody>
      </p:sp>
      <p:sp>
        <p:nvSpPr>
          <p:cNvPr id="4" name="Text 2"/>
          <p:cNvSpPr txBox="1"/>
          <p:nvPr/>
        </p:nvSpPr>
        <p:spPr>
          <a:xfrm>
            <a:off x="640080" y="1920240"/>
            <a:ext cx="6583680" cy="1463040"/>
          </a:xfrm>
          <a:prstGeom prst="rect">
            <a:avLst/>
          </a:prstGeom>
          <a:noFill/>
          <a:ln/>
        </p:spPr>
        <p:txBody>
          <a:bodyPr wrap="square" lIns="0" tIns="0" rIns="0" bIns="0" rtlCol="0" anchor="t"/>
          <a:lstStyle/>
          <a:p>
            <a:pPr algn="l" indent="0" marL="0">
              <a:buNone/>
            </a:pPr>
            <a:r>
              <a:rPr lang="en-US" sz="9000" spc="-250" kern="0" dirty="0">
                <a:solidFill>
                  <a:srgbClr val="000000"/>
                </a:solidFill>
                <a:latin typeface="Helvetica Neue" pitchFamily="34" charset="0"/>
                <a:ea typeface="Helvetica Neue" pitchFamily="34" charset="-122"/>
                <a:cs typeface="Helvetica Neue" pitchFamily="34" charset="-120"/>
              </a:rPr>
              <a:t>2,600%</a:t>
            </a:r>
            <a:endParaRPr lang="en-US" sz="9000" dirty="0"/>
          </a:p>
        </p:txBody>
      </p:sp>
      <p:sp>
        <p:nvSpPr>
          <p:cNvPr id="5" name="Text 3"/>
          <p:cNvSpPr txBox="1"/>
          <p:nvPr/>
        </p:nvSpPr>
        <p:spPr>
          <a:xfrm>
            <a:off x="640080" y="3456432"/>
            <a:ext cx="6400800" cy="548640"/>
          </a:xfrm>
          <a:prstGeom prst="rect">
            <a:avLst/>
          </a:prstGeom>
          <a:noFill/>
          <a:ln/>
        </p:spPr>
        <p:txBody>
          <a:bodyPr wrap="square" lIns="0" tIns="0" rIns="0" bIns="0" rtlCol="0" anchor="ctr"/>
          <a:lstStyle/>
          <a:p>
            <a:pPr algn="l" indent="0" marL="0">
              <a:lnSpc>
                <a:spcPct val="145000"/>
              </a:lnSpc>
              <a:buNone/>
            </a:pPr>
            <a:r>
              <a:rPr lang="en-US" sz="1050" b="1" spc="180" kern="0" dirty="0">
                <a:solidFill>
                  <a:srgbClr val="66705F"/>
                </a:solidFill>
                <a:latin typeface="IBM Plex Mono" pitchFamily="34" charset="0"/>
                <a:ea typeface="IBM Plex Mono" pitchFamily="34" charset="-122"/>
                <a:cs typeface="IBM Plex Mono" pitchFamily="34" charset="-120"/>
              </a:rPr>
              <a:t>ANTIMONY PRICE MOVE SINCE CHINA'S EXPORT RESTRICTIONS — PAST $50,000/TON. PENTAGON COMMITTED A REPORTED $1B TO SECURE SUPPLY</a:t>
            </a:r>
            <a:endParaRPr lang="en-US" sz="1050" dirty="0"/>
          </a:p>
        </p:txBody>
      </p:sp>
      <p:sp>
        <p:nvSpPr>
          <p:cNvPr id="6" name="Shape 4"/>
          <p:cNvSpPr/>
          <p:nvPr/>
        </p:nvSpPr>
        <p:spPr>
          <a:xfrm>
            <a:off x="640080" y="4114800"/>
            <a:ext cx="10908792" cy="0"/>
          </a:xfrm>
          <a:prstGeom prst="line">
            <a:avLst/>
          </a:prstGeom>
          <a:noFill/>
          <a:ln w="9525">
            <a:solidFill>
              <a:srgbClr val="E2E1DA"/>
            </a:solidFill>
            <a:prstDash val="solid"/>
          </a:ln>
        </p:spPr>
      </p:sp>
      <p:sp>
        <p:nvSpPr>
          <p:cNvPr id="7" name="Shape 5"/>
          <p:cNvSpPr/>
          <p:nvPr/>
        </p:nvSpPr>
        <p:spPr>
          <a:xfrm>
            <a:off x="640080" y="4343400"/>
            <a:ext cx="3489960" cy="1097280"/>
          </a:xfrm>
          <a:prstGeom prst="rect">
            <a:avLst/>
          </a:prstGeom>
          <a:solidFill>
            <a:srgbClr val="F1F3F0"/>
          </a:solidFill>
          <a:ln w="9525">
            <a:solidFill>
              <a:srgbClr val="D3D9D0"/>
            </a:solidFill>
            <a:prstDash val="solid"/>
          </a:ln>
        </p:spPr>
      </p:sp>
      <p:sp>
        <p:nvSpPr>
          <p:cNvPr id="8" name="Text 6"/>
          <p:cNvSpPr txBox="1"/>
          <p:nvPr/>
        </p:nvSpPr>
        <p:spPr>
          <a:xfrm>
            <a:off x="841248" y="4480560"/>
            <a:ext cx="1097280" cy="502920"/>
          </a:xfrm>
          <a:prstGeom prst="rect">
            <a:avLst/>
          </a:prstGeom>
          <a:noFill/>
          <a:ln/>
        </p:spPr>
        <p:txBody>
          <a:bodyPr wrap="square" lIns="0" tIns="0" rIns="0" bIns="0" rtlCol="0" anchor="ctr"/>
          <a:lstStyle/>
          <a:p>
            <a:pPr indent="0" marL="0">
              <a:buNone/>
            </a:pPr>
            <a:r>
              <a:rPr lang="en-US" sz="2600" spc="-50" kern="0" dirty="0">
                <a:solidFill>
                  <a:srgbClr val="66705F"/>
                </a:solidFill>
                <a:latin typeface="Helvetica Neue" pitchFamily="34" charset="0"/>
                <a:ea typeface="Helvetica Neue" pitchFamily="34" charset="-122"/>
                <a:cs typeface="Helvetica Neue" pitchFamily="34" charset="-120"/>
              </a:rPr>
              <a:t>Cu</a:t>
            </a:r>
            <a:endParaRPr lang="en-US" sz="2600" dirty="0"/>
          </a:p>
        </p:txBody>
      </p:sp>
      <p:sp>
        <p:nvSpPr>
          <p:cNvPr id="9" name="Text 7"/>
          <p:cNvSpPr txBox="1"/>
          <p:nvPr/>
        </p:nvSpPr>
        <p:spPr>
          <a:xfrm>
            <a:off x="2011680" y="4498848"/>
            <a:ext cx="1935480" cy="256032"/>
          </a:xfrm>
          <a:prstGeom prst="rect">
            <a:avLst/>
          </a:prstGeom>
          <a:noFill/>
          <a:ln/>
        </p:spPr>
        <p:txBody>
          <a:bodyPr wrap="square" lIns="0" tIns="0" rIns="0" bIns="0" rtlCol="0" anchor="ctr"/>
          <a:lstStyle/>
          <a:p>
            <a:pPr indent="0" marL="0">
              <a:buNone/>
            </a:pPr>
            <a:r>
              <a:rPr lang="en-US" sz="900" b="1" spc="150" kern="0" dirty="0">
                <a:solidFill>
                  <a:srgbClr val="66705F"/>
                </a:solidFill>
                <a:latin typeface="IBM Plex Mono" pitchFamily="34" charset="0"/>
                <a:ea typeface="IBM Plex Mono" pitchFamily="34" charset="-122"/>
                <a:cs typeface="IBM Plex Mono" pitchFamily="34" charset="-120"/>
              </a:rPr>
              <a:t>COPPER</a:t>
            </a:r>
            <a:endParaRPr lang="en-US" sz="900" dirty="0"/>
          </a:p>
        </p:txBody>
      </p:sp>
      <p:sp>
        <p:nvSpPr>
          <p:cNvPr id="10" name="Text 8"/>
          <p:cNvSpPr txBox="1"/>
          <p:nvPr/>
        </p:nvSpPr>
        <p:spPr>
          <a:xfrm>
            <a:off x="2011680" y="4782312"/>
            <a:ext cx="1935480" cy="640080"/>
          </a:xfrm>
          <a:prstGeom prst="rect">
            <a:avLst/>
          </a:prstGeom>
          <a:noFill/>
          <a:ln/>
        </p:spPr>
        <p:txBody>
          <a:bodyPr wrap="square" lIns="0" tIns="0" rIns="0" bIns="0" rtlCol="0" anchor="ctr"/>
          <a:lstStyle/>
          <a:p>
            <a:pPr indent="0" marL="0">
              <a:lnSpc>
                <a:spcPct val="120000"/>
              </a:lnSpc>
              <a:buNone/>
            </a:pPr>
            <a:r>
              <a:rPr lang="en-US" sz="950" dirty="0">
                <a:solidFill>
                  <a:srgbClr val="33332F"/>
                </a:solidFill>
                <a:latin typeface="Helvetica Neue" pitchFamily="34" charset="0"/>
                <a:ea typeface="Helvetica Neue" pitchFamily="34" charset="-122"/>
                <a:cs typeface="Helvetica Neue" pitchFamily="34" charset="-120"/>
              </a:rPr>
              <a:t>Added to the US Critical Minerals List, 2025</a:t>
            </a:r>
            <a:endParaRPr lang="en-US" sz="950" dirty="0"/>
          </a:p>
        </p:txBody>
      </p:sp>
      <p:sp>
        <p:nvSpPr>
          <p:cNvPr id="11" name="Shape 9"/>
          <p:cNvSpPr/>
          <p:nvPr/>
        </p:nvSpPr>
        <p:spPr>
          <a:xfrm>
            <a:off x="4349496" y="4343400"/>
            <a:ext cx="3489960" cy="1097280"/>
          </a:xfrm>
          <a:prstGeom prst="rect">
            <a:avLst/>
          </a:prstGeom>
          <a:solidFill>
            <a:srgbClr val="F1F3F0"/>
          </a:solidFill>
          <a:ln w="9525">
            <a:solidFill>
              <a:srgbClr val="D3D9D0"/>
            </a:solidFill>
            <a:prstDash val="solid"/>
          </a:ln>
        </p:spPr>
      </p:sp>
      <p:sp>
        <p:nvSpPr>
          <p:cNvPr id="12" name="Text 10"/>
          <p:cNvSpPr txBox="1"/>
          <p:nvPr/>
        </p:nvSpPr>
        <p:spPr>
          <a:xfrm>
            <a:off x="4550664" y="4480560"/>
            <a:ext cx="1097280" cy="502920"/>
          </a:xfrm>
          <a:prstGeom prst="rect">
            <a:avLst/>
          </a:prstGeom>
          <a:noFill/>
          <a:ln/>
        </p:spPr>
        <p:txBody>
          <a:bodyPr wrap="square" lIns="0" tIns="0" rIns="0" bIns="0" rtlCol="0" anchor="ctr"/>
          <a:lstStyle/>
          <a:p>
            <a:pPr indent="0" marL="0">
              <a:buNone/>
            </a:pPr>
            <a:r>
              <a:rPr lang="en-US" sz="2600" spc="-50" kern="0" dirty="0">
                <a:solidFill>
                  <a:srgbClr val="66705F"/>
                </a:solidFill>
                <a:latin typeface="Helvetica Neue" pitchFamily="34" charset="0"/>
                <a:ea typeface="Helvetica Neue" pitchFamily="34" charset="-122"/>
                <a:cs typeface="Helvetica Neue" pitchFamily="34" charset="-120"/>
              </a:rPr>
              <a:t>Pb</a:t>
            </a:r>
            <a:endParaRPr lang="en-US" sz="2600" dirty="0"/>
          </a:p>
        </p:txBody>
      </p:sp>
      <p:sp>
        <p:nvSpPr>
          <p:cNvPr id="13" name="Text 11"/>
          <p:cNvSpPr txBox="1"/>
          <p:nvPr/>
        </p:nvSpPr>
        <p:spPr>
          <a:xfrm>
            <a:off x="5721096" y="4498848"/>
            <a:ext cx="1935480" cy="256032"/>
          </a:xfrm>
          <a:prstGeom prst="rect">
            <a:avLst/>
          </a:prstGeom>
          <a:noFill/>
          <a:ln/>
        </p:spPr>
        <p:txBody>
          <a:bodyPr wrap="square" lIns="0" tIns="0" rIns="0" bIns="0" rtlCol="0" anchor="ctr"/>
          <a:lstStyle/>
          <a:p>
            <a:pPr indent="0" marL="0">
              <a:buNone/>
            </a:pPr>
            <a:r>
              <a:rPr lang="en-US" sz="900" b="1" spc="150" kern="0" dirty="0">
                <a:solidFill>
                  <a:srgbClr val="66705F"/>
                </a:solidFill>
                <a:latin typeface="IBM Plex Mono" pitchFamily="34" charset="0"/>
                <a:ea typeface="IBM Plex Mono" pitchFamily="34" charset="-122"/>
                <a:cs typeface="IBM Plex Mono" pitchFamily="34" charset="-120"/>
              </a:rPr>
              <a:t>LEAD</a:t>
            </a:r>
            <a:endParaRPr lang="en-US" sz="900" dirty="0"/>
          </a:p>
        </p:txBody>
      </p:sp>
      <p:sp>
        <p:nvSpPr>
          <p:cNvPr id="14" name="Text 12"/>
          <p:cNvSpPr txBox="1"/>
          <p:nvPr/>
        </p:nvSpPr>
        <p:spPr>
          <a:xfrm>
            <a:off x="5721096" y="4782312"/>
            <a:ext cx="1935480" cy="640080"/>
          </a:xfrm>
          <a:prstGeom prst="rect">
            <a:avLst/>
          </a:prstGeom>
          <a:noFill/>
          <a:ln/>
        </p:spPr>
        <p:txBody>
          <a:bodyPr wrap="square" lIns="0" tIns="0" rIns="0" bIns="0" rtlCol="0" anchor="ctr"/>
          <a:lstStyle/>
          <a:p>
            <a:pPr indent="0" marL="0">
              <a:lnSpc>
                <a:spcPct val="120000"/>
              </a:lnSpc>
              <a:buNone/>
            </a:pPr>
            <a:r>
              <a:rPr lang="en-US" sz="950" dirty="0">
                <a:solidFill>
                  <a:srgbClr val="33332F"/>
                </a:solidFill>
                <a:latin typeface="Helvetica Neue" pitchFamily="34" charset="0"/>
                <a:ea typeface="Helvetica Neue" pitchFamily="34" charset="-122"/>
                <a:cs typeface="Helvetica Neue" pitchFamily="34" charset="-120"/>
              </a:rPr>
              <a:t>Added to the US Critical Minerals List, 2025</a:t>
            </a:r>
            <a:endParaRPr lang="en-US" sz="950" dirty="0"/>
          </a:p>
        </p:txBody>
      </p:sp>
      <p:sp>
        <p:nvSpPr>
          <p:cNvPr id="15" name="Shape 13"/>
          <p:cNvSpPr/>
          <p:nvPr/>
        </p:nvSpPr>
        <p:spPr>
          <a:xfrm>
            <a:off x="8058912" y="4343400"/>
            <a:ext cx="3489960" cy="1097280"/>
          </a:xfrm>
          <a:prstGeom prst="rect">
            <a:avLst/>
          </a:prstGeom>
          <a:solidFill>
            <a:srgbClr val="F1F3F0"/>
          </a:solidFill>
          <a:ln w="9525">
            <a:solidFill>
              <a:srgbClr val="D3D9D0"/>
            </a:solidFill>
            <a:prstDash val="solid"/>
          </a:ln>
        </p:spPr>
      </p:sp>
      <p:sp>
        <p:nvSpPr>
          <p:cNvPr id="16" name="Text 14"/>
          <p:cNvSpPr txBox="1"/>
          <p:nvPr/>
        </p:nvSpPr>
        <p:spPr>
          <a:xfrm>
            <a:off x="8260080" y="4480560"/>
            <a:ext cx="1097280" cy="502920"/>
          </a:xfrm>
          <a:prstGeom prst="rect">
            <a:avLst/>
          </a:prstGeom>
          <a:noFill/>
          <a:ln/>
        </p:spPr>
        <p:txBody>
          <a:bodyPr wrap="square" lIns="0" tIns="0" rIns="0" bIns="0" rtlCol="0" anchor="ctr"/>
          <a:lstStyle/>
          <a:p>
            <a:pPr indent="0" marL="0">
              <a:buNone/>
            </a:pPr>
            <a:r>
              <a:rPr lang="en-US" sz="2600" spc="-50" kern="0" dirty="0">
                <a:solidFill>
                  <a:srgbClr val="66705F"/>
                </a:solidFill>
                <a:latin typeface="Helvetica Neue" pitchFamily="34" charset="0"/>
                <a:ea typeface="Helvetica Neue" pitchFamily="34" charset="-122"/>
                <a:cs typeface="Helvetica Neue" pitchFamily="34" charset="-120"/>
              </a:rPr>
              <a:t>Sb</a:t>
            </a:r>
            <a:endParaRPr lang="en-US" sz="2600" dirty="0"/>
          </a:p>
        </p:txBody>
      </p:sp>
      <p:sp>
        <p:nvSpPr>
          <p:cNvPr id="17" name="Text 15"/>
          <p:cNvSpPr txBox="1"/>
          <p:nvPr/>
        </p:nvSpPr>
        <p:spPr>
          <a:xfrm>
            <a:off x="9430512" y="4498848"/>
            <a:ext cx="1935480" cy="256032"/>
          </a:xfrm>
          <a:prstGeom prst="rect">
            <a:avLst/>
          </a:prstGeom>
          <a:noFill/>
          <a:ln/>
        </p:spPr>
        <p:txBody>
          <a:bodyPr wrap="square" lIns="0" tIns="0" rIns="0" bIns="0" rtlCol="0" anchor="ctr"/>
          <a:lstStyle/>
          <a:p>
            <a:pPr indent="0" marL="0">
              <a:buNone/>
            </a:pPr>
            <a:r>
              <a:rPr lang="en-US" sz="900" b="1" spc="150" kern="0" dirty="0">
                <a:solidFill>
                  <a:srgbClr val="66705F"/>
                </a:solidFill>
                <a:latin typeface="IBM Plex Mono" pitchFamily="34" charset="0"/>
                <a:ea typeface="IBM Plex Mono" pitchFamily="34" charset="-122"/>
                <a:cs typeface="IBM Plex Mono" pitchFamily="34" charset="-120"/>
              </a:rPr>
              <a:t>ANTIMONY</a:t>
            </a:r>
            <a:endParaRPr lang="en-US" sz="900" dirty="0"/>
          </a:p>
        </p:txBody>
      </p:sp>
      <p:sp>
        <p:nvSpPr>
          <p:cNvPr id="18" name="Text 16"/>
          <p:cNvSpPr txBox="1"/>
          <p:nvPr/>
        </p:nvSpPr>
        <p:spPr>
          <a:xfrm>
            <a:off x="9430512" y="4782312"/>
            <a:ext cx="1935480" cy="640080"/>
          </a:xfrm>
          <a:prstGeom prst="rect">
            <a:avLst/>
          </a:prstGeom>
          <a:noFill/>
          <a:ln/>
        </p:spPr>
        <p:txBody>
          <a:bodyPr wrap="square" lIns="0" tIns="0" rIns="0" bIns="0" rtlCol="0" anchor="ctr"/>
          <a:lstStyle/>
          <a:p>
            <a:pPr indent="0" marL="0">
              <a:lnSpc>
                <a:spcPct val="120000"/>
              </a:lnSpc>
              <a:buNone/>
            </a:pPr>
            <a:r>
              <a:rPr lang="en-US" sz="950" dirty="0">
                <a:solidFill>
                  <a:srgbClr val="33332F"/>
                </a:solidFill>
                <a:latin typeface="Helvetica Neue" pitchFamily="34" charset="0"/>
                <a:ea typeface="Helvetica Neue" pitchFamily="34" charset="-122"/>
                <a:cs typeface="Helvetica Neue" pitchFamily="34" charset="-120"/>
              </a:rPr>
              <a:t>China-restricted — repriced overnight</a:t>
            </a:r>
            <a:endParaRPr lang="en-US" sz="950" dirty="0"/>
          </a:p>
        </p:txBody>
      </p:sp>
      <p:sp>
        <p:nvSpPr>
          <p:cNvPr id="19" name="Shape 17"/>
          <p:cNvSpPr/>
          <p:nvPr/>
        </p:nvSpPr>
        <p:spPr>
          <a:xfrm>
            <a:off x="640080" y="5596128"/>
            <a:ext cx="10908792" cy="566928"/>
          </a:xfrm>
          <a:prstGeom prst="rect">
            <a:avLst/>
          </a:prstGeom>
          <a:solidFill>
            <a:srgbClr val="FAFAF8"/>
          </a:solidFill>
          <a:ln w="9525">
            <a:solidFill>
              <a:srgbClr val="CFCDC4"/>
            </a:solidFill>
            <a:prstDash val="solid"/>
          </a:ln>
        </p:spPr>
      </p:sp>
      <p:sp>
        <p:nvSpPr>
          <p:cNvPr id="20" name="Shape 18"/>
          <p:cNvSpPr/>
          <p:nvPr/>
        </p:nvSpPr>
        <p:spPr>
          <a:xfrm>
            <a:off x="620878" y="5576926"/>
            <a:ext cx="59436" cy="12802"/>
          </a:xfrm>
          <a:prstGeom prst="rect">
            <a:avLst/>
          </a:prstGeom>
          <a:solidFill>
            <a:srgbClr val="000000"/>
          </a:solidFill>
          <a:ln/>
        </p:spPr>
      </p:sp>
      <p:sp>
        <p:nvSpPr>
          <p:cNvPr id="21" name="Shape 19"/>
          <p:cNvSpPr/>
          <p:nvPr/>
        </p:nvSpPr>
        <p:spPr>
          <a:xfrm>
            <a:off x="620878" y="5576926"/>
            <a:ext cx="12802" cy="59436"/>
          </a:xfrm>
          <a:prstGeom prst="rect">
            <a:avLst/>
          </a:prstGeom>
          <a:solidFill>
            <a:srgbClr val="000000"/>
          </a:solidFill>
          <a:ln/>
        </p:spPr>
      </p:sp>
      <p:sp>
        <p:nvSpPr>
          <p:cNvPr id="22" name="Shape 20"/>
          <p:cNvSpPr/>
          <p:nvPr/>
        </p:nvSpPr>
        <p:spPr>
          <a:xfrm>
            <a:off x="11508638" y="5576926"/>
            <a:ext cx="59436" cy="12802"/>
          </a:xfrm>
          <a:prstGeom prst="rect">
            <a:avLst/>
          </a:prstGeom>
          <a:solidFill>
            <a:srgbClr val="000000"/>
          </a:solidFill>
          <a:ln/>
        </p:spPr>
      </p:sp>
      <p:sp>
        <p:nvSpPr>
          <p:cNvPr id="23" name="Shape 21"/>
          <p:cNvSpPr/>
          <p:nvPr/>
        </p:nvSpPr>
        <p:spPr>
          <a:xfrm>
            <a:off x="11555273" y="5576926"/>
            <a:ext cx="12802" cy="59436"/>
          </a:xfrm>
          <a:prstGeom prst="rect">
            <a:avLst/>
          </a:prstGeom>
          <a:solidFill>
            <a:srgbClr val="000000"/>
          </a:solidFill>
          <a:ln/>
        </p:spPr>
      </p:sp>
      <p:sp>
        <p:nvSpPr>
          <p:cNvPr id="24" name="Shape 22"/>
          <p:cNvSpPr/>
          <p:nvPr/>
        </p:nvSpPr>
        <p:spPr>
          <a:xfrm>
            <a:off x="620878" y="6169457"/>
            <a:ext cx="59436" cy="12802"/>
          </a:xfrm>
          <a:prstGeom prst="rect">
            <a:avLst/>
          </a:prstGeom>
          <a:solidFill>
            <a:srgbClr val="000000"/>
          </a:solidFill>
          <a:ln/>
        </p:spPr>
      </p:sp>
      <p:sp>
        <p:nvSpPr>
          <p:cNvPr id="25" name="Shape 23"/>
          <p:cNvSpPr/>
          <p:nvPr/>
        </p:nvSpPr>
        <p:spPr>
          <a:xfrm>
            <a:off x="620878" y="6122822"/>
            <a:ext cx="12802" cy="59436"/>
          </a:xfrm>
          <a:prstGeom prst="rect">
            <a:avLst/>
          </a:prstGeom>
          <a:solidFill>
            <a:srgbClr val="000000"/>
          </a:solidFill>
          <a:ln/>
        </p:spPr>
      </p:sp>
      <p:sp>
        <p:nvSpPr>
          <p:cNvPr id="26" name="Shape 24"/>
          <p:cNvSpPr/>
          <p:nvPr/>
        </p:nvSpPr>
        <p:spPr>
          <a:xfrm>
            <a:off x="11508638" y="6169457"/>
            <a:ext cx="59436" cy="12802"/>
          </a:xfrm>
          <a:prstGeom prst="rect">
            <a:avLst/>
          </a:prstGeom>
          <a:solidFill>
            <a:srgbClr val="000000"/>
          </a:solidFill>
          <a:ln/>
        </p:spPr>
      </p:sp>
      <p:sp>
        <p:nvSpPr>
          <p:cNvPr id="27" name="Shape 25"/>
          <p:cNvSpPr/>
          <p:nvPr/>
        </p:nvSpPr>
        <p:spPr>
          <a:xfrm>
            <a:off x="11555273" y="6122822"/>
            <a:ext cx="12802" cy="59436"/>
          </a:xfrm>
          <a:prstGeom prst="rect">
            <a:avLst/>
          </a:prstGeom>
          <a:solidFill>
            <a:srgbClr val="000000"/>
          </a:solidFill>
          <a:ln/>
        </p:spPr>
      </p:sp>
      <p:sp>
        <p:nvSpPr>
          <p:cNvPr id="28" name="Text 26"/>
          <p:cNvSpPr txBox="1"/>
          <p:nvPr/>
        </p:nvSpPr>
        <p:spPr>
          <a:xfrm>
            <a:off x="859536" y="5687568"/>
            <a:ext cx="10469880" cy="402336"/>
          </a:xfrm>
          <a:prstGeom prst="rect">
            <a:avLst/>
          </a:prstGeom>
          <a:noFill/>
          <a:ln/>
        </p:spPr>
        <p:txBody>
          <a:bodyPr wrap="square" lIns="0" tIns="0" rIns="0" bIns="0" rtlCol="0" anchor="ctr"/>
          <a:lstStyle/>
          <a:p>
            <a:pPr indent="0" marL="0">
              <a:lnSpc>
                <a:spcPct val="120000"/>
              </a:lnSpc>
              <a:buNone/>
            </a:pPr>
            <a:r>
              <a:rPr lang="en-US" sz="1150" b="1" dirty="0">
                <a:solidFill>
                  <a:srgbClr val="000000"/>
                </a:solidFill>
                <a:latin typeface="Helvetica Neue" pitchFamily="34" charset="0"/>
                <a:ea typeface="Helvetica Neue" pitchFamily="34" charset="-122"/>
                <a:cs typeface="Helvetica Neue" pitchFamily="34" charset="-120"/>
              </a:rPr>
              <a:t>An allied depot is an above-ground deposit of the metals the West just declared strategic. </a:t>
            </a:r>
            <a:pPr indent="0" marL="0">
              <a:lnSpc>
                <a:spcPct val="120000"/>
              </a:lnSpc>
              <a:buNone/>
            </a:pPr>
            <a:r>
              <a:rPr lang="en-US" sz="1150" dirty="0">
                <a:solidFill>
                  <a:srgbClr val="33332F"/>
                </a:solidFill>
                <a:latin typeface="Helvetica Neue" pitchFamily="34" charset="0"/>
                <a:ea typeface="Helvetica Neue" pitchFamily="34" charset="-122"/>
                <a:cs typeface="Helvetica Neue" pitchFamily="34" charset="-120"/>
              </a:rPr>
              <a:t>Paid once to destroy the liability. Paid again for what comes back.</a:t>
            </a:r>
            <a:endParaRPr lang="en-US" sz="1150" dirty="0"/>
          </a:p>
        </p:txBody>
      </p:sp>
      <p:sp>
        <p:nvSpPr>
          <p:cNvPr id="29" name="Text 2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05  ·  TWB DESIGNS — CONFIDENTIAL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788274"/>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E9EDE7"/>
                </a:solidFill>
                <a:latin typeface="IBM Plex Mono" pitchFamily="34" charset="0"/>
                <a:ea typeface="IBM Plex Mono" pitchFamily="34" charset="-122"/>
                <a:cs typeface="IBM Plex Mono" pitchFamily="34" charset="-120"/>
              </a:rPr>
              <a:t>ACT IV — THE UNASSEMBLED INDUSTRY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FFFFFF"/>
                </a:solidFill>
                <a:latin typeface="Helvetica Neue" pitchFamily="34" charset="0"/>
                <a:ea typeface="Helvetica Neue" pitchFamily="34" charset="-122"/>
                <a:cs typeface="Helvetica Neue" pitchFamily="34" charset="-120"/>
              </a:rPr>
              <a:t>The capability exists — scattered. </a:t>
            </a:r>
            <a:pPr indent="0" marL="0">
              <a:buNone/>
            </a:pPr>
            <a:r>
              <a:rPr lang="en-US" sz="2700" spc="-30" kern="0" dirty="0">
                <a:solidFill>
                  <a:srgbClr val="D8DED2"/>
                </a:solidFill>
                <a:latin typeface="Helvetica Neue" pitchFamily="34" charset="0"/>
                <a:ea typeface="Helvetica Neue" pitchFamily="34" charset="-122"/>
                <a:cs typeface="Helvetica Neue" pitchFamily="34" charset="-120"/>
              </a:rPr>
              <a:t>The company never has.</a:t>
            </a:r>
            <a:endParaRPr lang="en-US" sz="2700" dirty="0"/>
          </a:p>
        </p:txBody>
      </p:sp>
      <p:sp>
        <p:nvSpPr>
          <p:cNvPr id="4" name="Text 2"/>
          <p:cNvSpPr txBox="1"/>
          <p:nvPr/>
        </p:nvSpPr>
        <p:spPr>
          <a:xfrm>
            <a:off x="640080" y="1874520"/>
            <a:ext cx="2377440" cy="1600200"/>
          </a:xfrm>
          <a:prstGeom prst="rect">
            <a:avLst/>
          </a:prstGeom>
          <a:noFill/>
          <a:ln/>
        </p:spPr>
        <p:txBody>
          <a:bodyPr wrap="square" lIns="0" tIns="0" rIns="0" bIns="0" rtlCol="0" anchor="t"/>
          <a:lstStyle/>
          <a:p>
            <a:pPr algn="l" indent="0" marL="0">
              <a:buNone/>
            </a:pPr>
            <a:r>
              <a:rPr lang="en-US" sz="15000" spc="-400" kern="0" dirty="0">
                <a:solidFill>
                  <a:srgbClr val="FFFFFF"/>
                </a:solidFill>
                <a:latin typeface="Helvetica Neue" pitchFamily="34" charset="0"/>
                <a:ea typeface="Helvetica Neue" pitchFamily="34" charset="-122"/>
                <a:cs typeface="Helvetica Neue" pitchFamily="34" charset="-120"/>
              </a:rPr>
              <a:t>0</a:t>
            </a:r>
            <a:endParaRPr lang="en-US" sz="15000" dirty="0"/>
          </a:p>
        </p:txBody>
      </p:sp>
      <p:sp>
        <p:nvSpPr>
          <p:cNvPr id="5" name="Text 3"/>
          <p:cNvSpPr txBox="1"/>
          <p:nvPr/>
        </p:nvSpPr>
        <p:spPr>
          <a:xfrm>
            <a:off x="2880360" y="2057400"/>
            <a:ext cx="3566160" cy="1508760"/>
          </a:xfrm>
          <a:prstGeom prst="rect">
            <a:avLst/>
          </a:prstGeom>
          <a:noFill/>
          <a:ln/>
        </p:spPr>
        <p:txBody>
          <a:bodyPr wrap="square" lIns="0" tIns="0" rIns="0" bIns="0" rtlCol="0" anchor="ctr"/>
          <a:lstStyle/>
          <a:p>
            <a:pPr indent="0" marL="0">
              <a:lnSpc>
                <a:spcPct val="132000"/>
              </a:lnSpc>
              <a:buNone/>
            </a:pPr>
            <a:r>
              <a:rPr lang="en-US" sz="1400" b="1" dirty="0">
                <a:solidFill>
                  <a:srgbClr val="FFFFFF"/>
                </a:solidFill>
                <a:latin typeface="Helvetica Neue" pitchFamily="34" charset="0"/>
                <a:ea typeface="Helvetica Neue" pitchFamily="34" charset="-122"/>
                <a:cs typeface="Helvetica Neue" pitchFamily="34" charset="-120"/>
              </a:rPr>
              <a:t>Consolidators at the founder scale. </a:t>
            </a:r>
            <a:pPr indent="0" marL="0">
              <a:lnSpc>
                <a:spcPct val="132000"/>
              </a:lnSpc>
              <a:buNone/>
            </a:pPr>
            <a:r>
              <a:rPr lang="en-US" sz="1400" dirty="0">
                <a:solidFill>
                  <a:srgbClr val="D8DED2"/>
                </a:solidFill>
                <a:latin typeface="Helvetica Neue" pitchFamily="34" charset="0"/>
                <a:ea typeface="Helvetica Neue" pitchFamily="34" charset="-122"/>
                <a:cs typeface="Helvetica Neue" pitchFamily="34" charset="-120"/>
              </a:rPr>
              <a:t>Strategics take the large end; nobody is assembling ours.</a:t>
            </a:r>
            <a:endParaRPr lang="en-US" sz="1400" dirty="0"/>
          </a:p>
        </p:txBody>
      </p:sp>
      <p:sp>
        <p:nvSpPr>
          <p:cNvPr id="6" name="Shape 4"/>
          <p:cNvSpPr/>
          <p:nvPr/>
        </p:nvSpPr>
        <p:spPr>
          <a:xfrm>
            <a:off x="6720840" y="1874520"/>
            <a:ext cx="4846320" cy="0"/>
          </a:xfrm>
          <a:prstGeom prst="line">
            <a:avLst/>
          </a:prstGeom>
          <a:noFill/>
          <a:ln w="9525">
            <a:solidFill>
              <a:srgbClr val="96A093"/>
            </a:solidFill>
            <a:prstDash val="solid"/>
          </a:ln>
        </p:spPr>
      </p:sp>
      <p:sp>
        <p:nvSpPr>
          <p:cNvPr id="7" name="Text 5"/>
          <p:cNvSpPr txBox="1"/>
          <p:nvPr/>
        </p:nvSpPr>
        <p:spPr>
          <a:xfrm>
            <a:off x="6720840" y="2002536"/>
            <a:ext cx="2743200" cy="731520"/>
          </a:xfrm>
          <a:prstGeom prst="rect">
            <a:avLst/>
          </a:prstGeom>
          <a:noFill/>
          <a:ln/>
        </p:spPr>
        <p:txBody>
          <a:bodyPr wrap="square" lIns="0" tIns="0" rIns="0" bIns="0" rtlCol="0" anchor="t"/>
          <a:lstStyle/>
          <a:p>
            <a:pPr algn="l" indent="0" marL="0">
              <a:buNone/>
            </a:pPr>
            <a:r>
              <a:rPr lang="en-US" sz="3800" spc="-100" kern="0" dirty="0">
                <a:solidFill>
                  <a:srgbClr val="FFFFFF"/>
                </a:solidFill>
                <a:latin typeface="Helvetica Neue" pitchFamily="34" charset="0"/>
                <a:ea typeface="Helvetica Neue" pitchFamily="34" charset="-122"/>
                <a:cs typeface="Helvetica Neue" pitchFamily="34" charset="-120"/>
              </a:rPr>
              <a:t>30–45 yrs</a:t>
            </a:r>
            <a:endParaRPr lang="en-US" sz="3800" dirty="0"/>
          </a:p>
        </p:txBody>
      </p:sp>
      <p:sp>
        <p:nvSpPr>
          <p:cNvPr id="8" name="Text 6"/>
          <p:cNvSpPr txBox="1"/>
          <p:nvPr/>
        </p:nvSpPr>
        <p:spPr>
          <a:xfrm>
            <a:off x="6720840" y="2715768"/>
            <a:ext cx="4800600" cy="365760"/>
          </a:xfrm>
          <a:prstGeom prst="rect">
            <a:avLst/>
          </a:prstGeom>
          <a:noFill/>
          <a:ln/>
        </p:spPr>
        <p:txBody>
          <a:bodyPr wrap="square" lIns="0" tIns="0" rIns="0" bIns="0" rtlCol="0" anchor="ctr"/>
          <a:lstStyle/>
          <a:p>
            <a:pPr algn="l" indent="0" marL="0">
              <a:lnSpc>
                <a:spcPct val="120000"/>
              </a:lnSpc>
              <a:buNone/>
            </a:pPr>
            <a:r>
              <a:rPr lang="en-US" sz="950" b="1" spc="180" kern="0" dirty="0">
                <a:solidFill>
                  <a:srgbClr val="D8DED2"/>
                </a:solidFill>
                <a:latin typeface="IBM Plex Mono" pitchFamily="34" charset="0"/>
                <a:ea typeface="IBM Plex Mono" pitchFamily="34" charset="-122"/>
                <a:cs typeface="IBM Plex Mono" pitchFamily="34" charset="-120"/>
              </a:rPr>
              <a:t>AGE OF THE SPECIALIST FIRMS — FOUNDED 1980S–90S, STILL FOUNDER- OR FAMILY-HELD</a:t>
            </a:r>
            <a:endParaRPr lang="en-US" sz="950" dirty="0"/>
          </a:p>
        </p:txBody>
      </p:sp>
      <p:sp>
        <p:nvSpPr>
          <p:cNvPr id="9" name="Shape 7"/>
          <p:cNvSpPr/>
          <p:nvPr/>
        </p:nvSpPr>
        <p:spPr>
          <a:xfrm>
            <a:off x="6720840" y="3172968"/>
            <a:ext cx="4846320" cy="0"/>
          </a:xfrm>
          <a:prstGeom prst="line">
            <a:avLst/>
          </a:prstGeom>
          <a:noFill/>
          <a:ln w="9525">
            <a:solidFill>
              <a:srgbClr val="96A093"/>
            </a:solidFill>
            <a:prstDash val="solid"/>
          </a:ln>
        </p:spPr>
      </p:sp>
      <p:sp>
        <p:nvSpPr>
          <p:cNvPr id="10" name="Text 8"/>
          <p:cNvSpPr txBox="1"/>
          <p:nvPr/>
        </p:nvSpPr>
        <p:spPr>
          <a:xfrm>
            <a:off x="6720840" y="3300984"/>
            <a:ext cx="2743200" cy="731520"/>
          </a:xfrm>
          <a:prstGeom prst="rect">
            <a:avLst/>
          </a:prstGeom>
          <a:noFill/>
          <a:ln/>
        </p:spPr>
        <p:txBody>
          <a:bodyPr wrap="square" lIns="0" tIns="0" rIns="0" bIns="0" rtlCol="0" anchor="t"/>
          <a:lstStyle/>
          <a:p>
            <a:pPr algn="l" indent="0" marL="0">
              <a:buNone/>
            </a:pPr>
            <a:r>
              <a:rPr lang="en-US" sz="3800" spc="-100" kern="0" dirty="0">
                <a:solidFill>
                  <a:srgbClr val="FFFFFF"/>
                </a:solidFill>
                <a:latin typeface="Helvetica Neue" pitchFamily="34" charset="0"/>
                <a:ea typeface="Helvetica Neue" pitchFamily="34" charset="-122"/>
                <a:cs typeface="Helvetica Neue" pitchFamily="34" charset="-120"/>
              </a:rPr>
              <a:t>4–7×</a:t>
            </a:r>
            <a:endParaRPr lang="en-US" sz="3800" dirty="0"/>
          </a:p>
        </p:txBody>
      </p:sp>
      <p:sp>
        <p:nvSpPr>
          <p:cNvPr id="11" name="Text 9"/>
          <p:cNvSpPr txBox="1"/>
          <p:nvPr/>
        </p:nvSpPr>
        <p:spPr>
          <a:xfrm>
            <a:off x="6720840" y="4014216"/>
            <a:ext cx="4800600" cy="365760"/>
          </a:xfrm>
          <a:prstGeom prst="rect">
            <a:avLst/>
          </a:prstGeom>
          <a:noFill/>
          <a:ln/>
        </p:spPr>
        <p:txBody>
          <a:bodyPr wrap="square" lIns="0" tIns="0" rIns="0" bIns="0" rtlCol="0" anchor="ctr"/>
          <a:lstStyle/>
          <a:p>
            <a:pPr algn="l" indent="0" marL="0">
              <a:lnSpc>
                <a:spcPct val="120000"/>
              </a:lnSpc>
              <a:buNone/>
            </a:pPr>
            <a:r>
              <a:rPr lang="en-US" sz="950" b="1" spc="180" kern="0" dirty="0">
                <a:solidFill>
                  <a:srgbClr val="D8DED2"/>
                </a:solidFill>
                <a:latin typeface="IBM Plex Mono" pitchFamily="34" charset="0"/>
                <a:ea typeface="IBM Plex Mono" pitchFamily="34" charset="-122"/>
                <a:cs typeface="IBM Plex Mono" pitchFamily="34" charset="-120"/>
              </a:rPr>
              <a:t>EBITDA WHERE FOUNDER-HELD CAPABILITY TRADES TODAY — PRICED LIKE PLUMBING</a:t>
            </a:r>
            <a:endParaRPr lang="en-US" sz="950" dirty="0"/>
          </a:p>
        </p:txBody>
      </p:sp>
      <p:sp>
        <p:nvSpPr>
          <p:cNvPr id="12" name="Shape 10"/>
          <p:cNvSpPr/>
          <p:nvPr/>
        </p:nvSpPr>
        <p:spPr>
          <a:xfrm>
            <a:off x="6720840" y="4471416"/>
            <a:ext cx="4846320" cy="0"/>
          </a:xfrm>
          <a:prstGeom prst="line">
            <a:avLst/>
          </a:prstGeom>
          <a:noFill/>
          <a:ln w="9525">
            <a:solidFill>
              <a:srgbClr val="96A093"/>
            </a:solidFill>
            <a:prstDash val="solid"/>
          </a:ln>
        </p:spPr>
      </p:sp>
      <p:sp>
        <p:nvSpPr>
          <p:cNvPr id="13" name="Text 11"/>
          <p:cNvSpPr txBox="1"/>
          <p:nvPr/>
        </p:nvSpPr>
        <p:spPr>
          <a:xfrm>
            <a:off x="6720840" y="4599432"/>
            <a:ext cx="2743200" cy="731520"/>
          </a:xfrm>
          <a:prstGeom prst="rect">
            <a:avLst/>
          </a:prstGeom>
          <a:noFill/>
          <a:ln/>
        </p:spPr>
        <p:txBody>
          <a:bodyPr wrap="square" lIns="0" tIns="0" rIns="0" bIns="0" rtlCol="0" anchor="t"/>
          <a:lstStyle/>
          <a:p>
            <a:pPr algn="l" indent="0" marL="0">
              <a:buNone/>
            </a:pPr>
            <a:r>
              <a:rPr lang="en-US" sz="3800" spc="-100" kern="0" dirty="0">
                <a:solidFill>
                  <a:srgbClr val="FFFFFF"/>
                </a:solidFill>
                <a:latin typeface="Helvetica Neue" pitchFamily="34" charset="0"/>
                <a:ea typeface="Helvetica Neue" pitchFamily="34" charset="-122"/>
                <a:cs typeface="Helvetica Neue" pitchFamily="34" charset="-120"/>
              </a:rPr>
              <a:t>1</a:t>
            </a:r>
            <a:endParaRPr lang="en-US" sz="3800" dirty="0"/>
          </a:p>
        </p:txBody>
      </p:sp>
      <p:sp>
        <p:nvSpPr>
          <p:cNvPr id="14" name="Text 12"/>
          <p:cNvSpPr txBox="1"/>
          <p:nvPr/>
        </p:nvSpPr>
        <p:spPr>
          <a:xfrm>
            <a:off x="6720840" y="5312664"/>
            <a:ext cx="4800600" cy="365760"/>
          </a:xfrm>
          <a:prstGeom prst="rect">
            <a:avLst/>
          </a:prstGeom>
          <a:noFill/>
          <a:ln/>
        </p:spPr>
        <p:txBody>
          <a:bodyPr wrap="square" lIns="0" tIns="0" rIns="0" bIns="0" rtlCol="0" anchor="ctr"/>
          <a:lstStyle/>
          <a:p>
            <a:pPr algn="l" indent="0" marL="0">
              <a:lnSpc>
                <a:spcPct val="120000"/>
              </a:lnSpc>
              <a:buNone/>
            </a:pPr>
            <a:r>
              <a:rPr lang="en-US" sz="950" b="1" spc="180" kern="0" dirty="0">
                <a:solidFill>
                  <a:srgbClr val="D8DED2"/>
                </a:solidFill>
                <a:latin typeface="IBM Plex Mono" pitchFamily="34" charset="0"/>
                <a:ea typeface="IBM Plex Mono" pitchFamily="34" charset="-122"/>
                <a:cs typeface="IBM Plex Mono" pitchFamily="34" charset="-120"/>
              </a:rPr>
              <a:t>CAPABILITY PER FIRM, TYPICALLY — GOVERNMENTS ASSEMBLE THEIR OWN SUPPLY CHAIN</a:t>
            </a:r>
            <a:endParaRPr lang="en-US" sz="950" dirty="0"/>
          </a:p>
        </p:txBody>
      </p:sp>
      <p:sp>
        <p:nvSpPr>
          <p:cNvPr id="15" name="Text 13"/>
          <p:cNvSpPr txBox="1"/>
          <p:nvPr/>
        </p:nvSpPr>
        <p:spPr>
          <a:xfrm>
            <a:off x="640080" y="3977640"/>
            <a:ext cx="5852160" cy="822960"/>
          </a:xfrm>
          <a:prstGeom prst="rect">
            <a:avLst/>
          </a:prstGeom>
          <a:noFill/>
          <a:ln/>
        </p:spPr>
        <p:txBody>
          <a:bodyPr wrap="square" lIns="0" tIns="0" rIns="0" bIns="0" rtlCol="0" anchor="ctr"/>
          <a:lstStyle/>
          <a:p>
            <a:pPr indent="0" marL="0">
              <a:lnSpc>
                <a:spcPct val="130000"/>
              </a:lnSpc>
              <a:buNone/>
            </a:pPr>
            <a:r>
              <a:rPr lang="en-US" sz="1200" dirty="0">
                <a:solidFill>
                  <a:srgbClr val="D8DED2"/>
                </a:solidFill>
                <a:latin typeface="Helvetica Neue" pitchFamily="34" charset="0"/>
                <a:ea typeface="Helvetica Neue" pitchFamily="34" charset="-122"/>
                <a:cs typeface="Helvetica Neue" pitchFamily="34" charset="-120"/>
              </a:rPr>
              <a:t>Every specialist above sits at a different owner, a different depot, a different country — bought, partnered or built into one balance sheet.</a:t>
            </a:r>
            <a:endParaRPr lang="en-US" sz="1200" dirty="0"/>
          </a:p>
        </p:txBody>
      </p:sp>
      <p:sp>
        <p:nvSpPr>
          <p:cNvPr id="16" name="Shape 14"/>
          <p:cNvSpPr/>
          <p:nvPr/>
        </p:nvSpPr>
        <p:spPr>
          <a:xfrm>
            <a:off x="640080" y="5779008"/>
            <a:ext cx="10908792" cy="502920"/>
          </a:xfrm>
          <a:prstGeom prst="rect">
            <a:avLst/>
          </a:prstGeom>
          <a:solidFill>
            <a:srgbClr val="6B7568"/>
          </a:solidFill>
          <a:ln w="9525">
            <a:solidFill>
              <a:srgbClr val="96A093"/>
            </a:solidFill>
            <a:prstDash val="solid"/>
          </a:ln>
        </p:spPr>
      </p:sp>
      <p:sp>
        <p:nvSpPr>
          <p:cNvPr id="17" name="Shape 15"/>
          <p:cNvSpPr/>
          <p:nvPr/>
        </p:nvSpPr>
        <p:spPr>
          <a:xfrm>
            <a:off x="620878" y="5759806"/>
            <a:ext cx="59436" cy="12802"/>
          </a:xfrm>
          <a:prstGeom prst="rect">
            <a:avLst/>
          </a:prstGeom>
          <a:solidFill>
            <a:srgbClr val="FFFFFF"/>
          </a:solidFill>
          <a:ln/>
        </p:spPr>
      </p:sp>
      <p:sp>
        <p:nvSpPr>
          <p:cNvPr id="18" name="Shape 16"/>
          <p:cNvSpPr/>
          <p:nvPr/>
        </p:nvSpPr>
        <p:spPr>
          <a:xfrm>
            <a:off x="620878" y="5759806"/>
            <a:ext cx="12802" cy="59436"/>
          </a:xfrm>
          <a:prstGeom prst="rect">
            <a:avLst/>
          </a:prstGeom>
          <a:solidFill>
            <a:srgbClr val="FFFFFF"/>
          </a:solidFill>
          <a:ln/>
        </p:spPr>
      </p:sp>
      <p:sp>
        <p:nvSpPr>
          <p:cNvPr id="19" name="Shape 17"/>
          <p:cNvSpPr/>
          <p:nvPr/>
        </p:nvSpPr>
        <p:spPr>
          <a:xfrm>
            <a:off x="11508638" y="5759806"/>
            <a:ext cx="59436" cy="12802"/>
          </a:xfrm>
          <a:prstGeom prst="rect">
            <a:avLst/>
          </a:prstGeom>
          <a:solidFill>
            <a:srgbClr val="FFFFFF"/>
          </a:solidFill>
          <a:ln/>
        </p:spPr>
      </p:sp>
      <p:sp>
        <p:nvSpPr>
          <p:cNvPr id="20" name="Shape 18"/>
          <p:cNvSpPr/>
          <p:nvPr/>
        </p:nvSpPr>
        <p:spPr>
          <a:xfrm>
            <a:off x="11555273" y="5759806"/>
            <a:ext cx="12802" cy="59436"/>
          </a:xfrm>
          <a:prstGeom prst="rect">
            <a:avLst/>
          </a:prstGeom>
          <a:solidFill>
            <a:srgbClr val="FFFFFF"/>
          </a:solidFill>
          <a:ln/>
        </p:spPr>
      </p:sp>
      <p:sp>
        <p:nvSpPr>
          <p:cNvPr id="21" name="Shape 19"/>
          <p:cNvSpPr/>
          <p:nvPr/>
        </p:nvSpPr>
        <p:spPr>
          <a:xfrm>
            <a:off x="620878" y="6288329"/>
            <a:ext cx="59436" cy="12802"/>
          </a:xfrm>
          <a:prstGeom prst="rect">
            <a:avLst/>
          </a:prstGeom>
          <a:solidFill>
            <a:srgbClr val="FFFFFF"/>
          </a:solidFill>
          <a:ln/>
        </p:spPr>
      </p:sp>
      <p:sp>
        <p:nvSpPr>
          <p:cNvPr id="22" name="Shape 20"/>
          <p:cNvSpPr/>
          <p:nvPr/>
        </p:nvSpPr>
        <p:spPr>
          <a:xfrm>
            <a:off x="620878" y="6241694"/>
            <a:ext cx="12802" cy="59436"/>
          </a:xfrm>
          <a:prstGeom prst="rect">
            <a:avLst/>
          </a:prstGeom>
          <a:solidFill>
            <a:srgbClr val="FFFFFF"/>
          </a:solidFill>
          <a:ln/>
        </p:spPr>
      </p:sp>
      <p:sp>
        <p:nvSpPr>
          <p:cNvPr id="23" name="Shape 21"/>
          <p:cNvSpPr/>
          <p:nvPr/>
        </p:nvSpPr>
        <p:spPr>
          <a:xfrm>
            <a:off x="11508638" y="6288329"/>
            <a:ext cx="59436" cy="12802"/>
          </a:xfrm>
          <a:prstGeom prst="rect">
            <a:avLst/>
          </a:prstGeom>
          <a:solidFill>
            <a:srgbClr val="FFFFFF"/>
          </a:solidFill>
          <a:ln/>
        </p:spPr>
      </p:sp>
      <p:sp>
        <p:nvSpPr>
          <p:cNvPr id="24" name="Shape 22"/>
          <p:cNvSpPr/>
          <p:nvPr/>
        </p:nvSpPr>
        <p:spPr>
          <a:xfrm>
            <a:off x="11555273" y="6241694"/>
            <a:ext cx="12802" cy="59436"/>
          </a:xfrm>
          <a:prstGeom prst="rect">
            <a:avLst/>
          </a:prstGeom>
          <a:solidFill>
            <a:srgbClr val="FFFFFF"/>
          </a:solidFill>
          <a:ln/>
        </p:spPr>
      </p:sp>
      <p:sp>
        <p:nvSpPr>
          <p:cNvPr id="25" name="Text 23"/>
          <p:cNvSpPr txBox="1"/>
          <p:nvPr/>
        </p:nvSpPr>
        <p:spPr>
          <a:xfrm>
            <a:off x="859536" y="5870448"/>
            <a:ext cx="10469880" cy="365760"/>
          </a:xfrm>
          <a:prstGeom prst="rect">
            <a:avLst/>
          </a:prstGeom>
          <a:noFill/>
          <a:ln/>
        </p:spPr>
        <p:txBody>
          <a:bodyPr wrap="square" lIns="0" tIns="0" rIns="0" bIns="0"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This is the venture: </a:t>
            </a:r>
            <a:pPr indent="0" marL="0">
              <a:buNone/>
            </a:pPr>
            <a:r>
              <a:rPr lang="en-US" sz="1200" dirty="0">
                <a:solidFill>
                  <a:srgbClr val="E9EDE7"/>
                </a:solidFill>
                <a:latin typeface="Helvetica Neue" pitchFamily="34" charset="0"/>
                <a:ea typeface="Helvetica Neue" pitchFamily="34" charset="-122"/>
                <a:cs typeface="Helvetica Neue" pitchFamily="34" charset="-120"/>
              </a:rPr>
              <a:t>acquiring, partnering and developing it into one platform, while a succession cliff prices the pieces.</a:t>
            </a:r>
            <a:endParaRPr lang="en-US" sz="1200" dirty="0"/>
          </a:p>
        </p:txBody>
      </p:sp>
      <p:sp>
        <p:nvSpPr>
          <p:cNvPr id="26" name="Text 2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06  ·  TWB DESIGNS — CONFIDENTIAL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THE OPPORTUNITY — OUR CONSTRUCTION, EVERY ASSUMPTION ON THE PAGE</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The end-of-life bill of a $2.88 trillion rearmament.</a:t>
            </a:r>
            <a:endParaRPr lang="en-US" sz="2700" dirty="0"/>
          </a:p>
        </p:txBody>
      </p:sp>
      <p:sp>
        <p:nvSpPr>
          <p:cNvPr id="4" name="Text 2"/>
          <p:cNvSpPr txBox="1"/>
          <p:nvPr/>
        </p:nvSpPr>
        <p:spPr>
          <a:xfrm>
            <a:off x="640080" y="1691640"/>
            <a:ext cx="7315200" cy="201168"/>
          </a:xfrm>
          <a:prstGeom prst="rect">
            <a:avLst/>
          </a:prstGeom>
          <a:noFill/>
          <a:ln/>
        </p:spPr>
        <p:txBody>
          <a:bodyPr wrap="square" lIns="0" tIns="0" rIns="0" bIns="0" rtlCol="0" anchor="ctr"/>
          <a:lstStyle/>
          <a:p>
            <a:pPr indent="0" marL="0">
              <a:buNone/>
            </a:pPr>
            <a:r>
              <a:rPr lang="en-US" sz="1000" b="1" spc="200" kern="0" dirty="0">
                <a:solidFill>
                  <a:srgbClr val="66705F"/>
                </a:solidFill>
                <a:latin typeface="IBM Plex Mono" pitchFamily="34" charset="0"/>
                <a:ea typeface="IBM Plex Mono" pitchFamily="34" charset="-122"/>
                <a:cs typeface="IBM Plex Mono" pitchFamily="34" charset="-120"/>
              </a:rPr>
              <a:t>TOTAL ADDRESSABLE MARKET</a:t>
            </a:r>
            <a:endParaRPr lang="en-US" sz="1000" dirty="0"/>
          </a:p>
        </p:txBody>
      </p:sp>
      <p:sp>
        <p:nvSpPr>
          <p:cNvPr id="5" name="Text 3"/>
          <p:cNvSpPr txBox="1"/>
          <p:nvPr/>
        </p:nvSpPr>
        <p:spPr>
          <a:xfrm>
            <a:off x="640080" y="1847088"/>
            <a:ext cx="10881360" cy="1508760"/>
          </a:xfrm>
          <a:prstGeom prst="rect">
            <a:avLst/>
          </a:prstGeom>
          <a:noFill/>
          <a:ln/>
        </p:spPr>
        <p:txBody>
          <a:bodyPr wrap="square" lIns="0" tIns="0" rIns="0" bIns="0" rtlCol="0" anchor="t"/>
          <a:lstStyle/>
          <a:p>
            <a:pPr indent="0" marL="0">
              <a:buNone/>
            </a:pPr>
            <a:r>
              <a:rPr lang="en-US" sz="9200" spc="-200" kern="0" dirty="0">
                <a:solidFill>
                  <a:srgbClr val="000000"/>
                </a:solidFill>
                <a:latin typeface="Helvetica Neue" pitchFamily="34" charset="0"/>
                <a:ea typeface="Helvetica Neue" pitchFamily="34" charset="-122"/>
                <a:cs typeface="Helvetica Neue" pitchFamily="34" charset="-120"/>
              </a:rPr>
              <a:t>$4–6B</a:t>
            </a:r>
            <a:pPr indent="0" marL="0">
              <a:buNone/>
            </a:pPr>
            <a:r>
              <a:rPr lang="en-US" sz="2000" dirty="0">
                <a:solidFill>
                  <a:srgbClr val="6E6C66"/>
                </a:solidFill>
                <a:latin typeface="Helvetica Neue" pitchFamily="34" charset="0"/>
                <a:ea typeface="Helvetica Neue" pitchFamily="34" charset="-122"/>
                <a:cs typeface="Helvetica Neue" pitchFamily="34" charset="-120"/>
              </a:rPr>
              <a:t>  /yr, plus $30B+ episodic</a:t>
            </a:r>
            <a:endParaRPr lang="en-US" sz="9200" dirty="0"/>
          </a:p>
        </p:txBody>
      </p:sp>
      <p:sp>
        <p:nvSpPr>
          <p:cNvPr id="6" name="Text 4"/>
          <p:cNvSpPr txBox="1"/>
          <p:nvPr/>
        </p:nvSpPr>
        <p:spPr>
          <a:xfrm>
            <a:off x="640080" y="3419856"/>
            <a:ext cx="10881360" cy="566928"/>
          </a:xfrm>
          <a:prstGeom prst="rect">
            <a:avLst/>
          </a:prstGeom>
          <a:noFill/>
          <a:ln/>
        </p:spPr>
        <p:txBody>
          <a:bodyPr wrap="square" lIns="0" tIns="0" rIns="0" bIns="0" rtlCol="0" anchor="ctr"/>
          <a:lstStyle/>
          <a:p>
            <a:pPr indent="0" marL="0">
              <a:lnSpc>
                <a:spcPct val="128000"/>
              </a:lnSpc>
              <a:buNone/>
            </a:pPr>
            <a:r>
              <a:rPr lang="en-US" sz="1250" dirty="0">
                <a:solidFill>
                  <a:srgbClr val="33332F"/>
                </a:solidFill>
                <a:latin typeface="Helvetica Neue" pitchFamily="34" charset="0"/>
                <a:ea typeface="Helvetica Neue" pitchFamily="34" charset="-122"/>
                <a:cs typeface="Helvetica Neue" pitchFamily="34" charset="-120"/>
              </a:rPr>
              <a:t>Allied munitions end-of-life — destruction services, recovered materials, sovereign facility engineering across NATO + partners. Plus post-conflict recovery already priced (Ukraine, World Bank RDNA4).</a:t>
            </a:r>
            <a:endParaRPr lang="en-US" sz="1250" dirty="0"/>
          </a:p>
        </p:txBody>
      </p:sp>
      <p:sp>
        <p:nvSpPr>
          <p:cNvPr id="7" name="Shape 5"/>
          <p:cNvSpPr/>
          <p:nvPr/>
        </p:nvSpPr>
        <p:spPr>
          <a:xfrm>
            <a:off x="640080" y="4069080"/>
            <a:ext cx="10908792" cy="0"/>
          </a:xfrm>
          <a:prstGeom prst="line">
            <a:avLst/>
          </a:prstGeom>
          <a:noFill/>
          <a:ln w="9525">
            <a:solidFill>
              <a:srgbClr val="E2E1DA"/>
            </a:solidFill>
            <a:prstDash val="solid"/>
          </a:ln>
        </p:spPr>
      </p:sp>
      <p:sp>
        <p:nvSpPr>
          <p:cNvPr id="8" name="Text 6"/>
          <p:cNvSpPr txBox="1"/>
          <p:nvPr/>
        </p:nvSpPr>
        <p:spPr>
          <a:xfrm>
            <a:off x="640080" y="4224528"/>
            <a:ext cx="5225796" cy="182880"/>
          </a:xfrm>
          <a:prstGeom prst="rect">
            <a:avLst/>
          </a:prstGeom>
          <a:noFill/>
          <a:ln/>
        </p:spPr>
        <p:txBody>
          <a:bodyPr wrap="square" lIns="0" tIns="0" rIns="0" bIns="0" rtlCol="0" anchor="ctr"/>
          <a:lstStyle/>
          <a:p>
            <a:pPr indent="0" marL="0">
              <a:buNone/>
            </a:pPr>
            <a:r>
              <a:rPr lang="en-US" sz="950" b="1" spc="160" kern="0" dirty="0">
                <a:solidFill>
                  <a:srgbClr val="6E6C66"/>
                </a:solidFill>
                <a:latin typeface="IBM Plex Mono" pitchFamily="34" charset="0"/>
                <a:ea typeface="IBM Plex Mono" pitchFamily="34" charset="-122"/>
                <a:cs typeface="IBM Plex Mono" pitchFamily="34" charset="-120"/>
              </a:rPr>
              <a:t>SERVICEABLE MARKET (SAM)</a:t>
            </a:r>
            <a:endParaRPr lang="en-US" sz="950" dirty="0"/>
          </a:p>
        </p:txBody>
      </p:sp>
      <p:sp>
        <p:nvSpPr>
          <p:cNvPr id="9" name="Text 7"/>
          <p:cNvSpPr txBox="1"/>
          <p:nvPr/>
        </p:nvSpPr>
        <p:spPr>
          <a:xfrm>
            <a:off x="640080" y="4407408"/>
            <a:ext cx="5225796" cy="868680"/>
          </a:xfrm>
          <a:prstGeom prst="rect">
            <a:avLst/>
          </a:prstGeom>
          <a:noFill/>
          <a:ln/>
        </p:spPr>
        <p:txBody>
          <a:bodyPr wrap="square" lIns="0" tIns="0" rIns="0" bIns="0" rtlCol="0" anchor="t"/>
          <a:lstStyle/>
          <a:p>
            <a:pPr indent="0" marL="0">
              <a:buNone/>
            </a:pPr>
            <a:r>
              <a:rPr lang="en-US" sz="4800" spc="-150" kern="0" dirty="0">
                <a:solidFill>
                  <a:srgbClr val="000000"/>
                </a:solidFill>
                <a:latin typeface="Helvetica Neue" pitchFamily="34" charset="0"/>
                <a:ea typeface="Helvetica Neue" pitchFamily="34" charset="-122"/>
                <a:cs typeface="Helvetica Neue" pitchFamily="34" charset="-120"/>
              </a:rPr>
              <a:t>$1.5–2.5B</a:t>
            </a:r>
            <a:pPr indent="0" marL="0">
              <a:buNone/>
            </a:pPr>
            <a:r>
              <a:rPr lang="en-US" sz="1400" dirty="0">
                <a:solidFill>
                  <a:srgbClr val="6E6C66"/>
                </a:solidFill>
                <a:latin typeface="Helvetica Neue" pitchFamily="34" charset="0"/>
                <a:ea typeface="Helvetica Neue" pitchFamily="34" charset="-122"/>
                <a:cs typeface="Helvetica Neue" pitchFamily="34" charset="-120"/>
              </a:rPr>
              <a:t> /yr</a:t>
            </a:r>
            <a:endParaRPr lang="en-US" sz="4800" dirty="0"/>
          </a:p>
        </p:txBody>
      </p:sp>
      <p:sp>
        <p:nvSpPr>
          <p:cNvPr id="10" name="Text 8"/>
          <p:cNvSpPr txBox="1"/>
          <p:nvPr/>
        </p:nvSpPr>
        <p:spPr>
          <a:xfrm>
            <a:off x="640080" y="5276088"/>
            <a:ext cx="5225796" cy="502920"/>
          </a:xfrm>
          <a:prstGeom prst="rect">
            <a:avLst/>
          </a:prstGeom>
          <a:noFill/>
          <a:ln/>
        </p:spPr>
        <p:txBody>
          <a:bodyPr wrap="square" lIns="0" tIns="0" rIns="0" bIns="0" rtlCol="0" anchor="ctr"/>
          <a:lstStyle/>
          <a:p>
            <a:pPr indent="0" marL="0">
              <a:lnSpc>
                <a:spcPct val="125000"/>
              </a:lnSpc>
              <a:buNone/>
            </a:pPr>
            <a:r>
              <a:rPr lang="en-US" sz="1000" dirty="0">
                <a:solidFill>
                  <a:srgbClr val="33332F"/>
                </a:solidFill>
                <a:latin typeface="Helvetica Neue" pitchFamily="34" charset="0"/>
                <a:ea typeface="Helvetica Neue" pitchFamily="34" charset="-122"/>
                <a:cs typeface="Helvetica Neue" pitchFamily="34" charset="-120"/>
              </a:rPr>
              <a:t>North America + Europe: small-arms-through-artillery destruction, metals recovery and plant engineering — the scope the platform assembles.</a:t>
            </a:r>
            <a:endParaRPr lang="en-US" sz="1000" dirty="0"/>
          </a:p>
        </p:txBody>
      </p:sp>
      <p:sp>
        <p:nvSpPr>
          <p:cNvPr id="11" name="Text 9"/>
          <p:cNvSpPr txBox="1"/>
          <p:nvPr/>
        </p:nvSpPr>
        <p:spPr>
          <a:xfrm>
            <a:off x="6323076" y="4224528"/>
            <a:ext cx="5225796" cy="182880"/>
          </a:xfrm>
          <a:prstGeom prst="rect">
            <a:avLst/>
          </a:prstGeom>
          <a:noFill/>
          <a:ln/>
        </p:spPr>
        <p:txBody>
          <a:bodyPr wrap="square" lIns="0" tIns="0" rIns="0" bIns="0" rtlCol="0" anchor="ctr"/>
          <a:lstStyle/>
          <a:p>
            <a:pPr indent="0" marL="0">
              <a:buNone/>
            </a:pPr>
            <a:r>
              <a:rPr lang="en-US" sz="950" b="1" spc="160" kern="0" dirty="0">
                <a:solidFill>
                  <a:srgbClr val="6E6C66"/>
                </a:solidFill>
                <a:latin typeface="IBM Plex Mono" pitchFamily="34" charset="0"/>
                <a:ea typeface="IBM Plex Mono" pitchFamily="34" charset="-122"/>
                <a:cs typeface="IBM Plex Mono" pitchFamily="34" charset="-120"/>
              </a:rPr>
              <a:t>SERVICEABLE OBTAINABLE (SOM)</a:t>
            </a:r>
            <a:endParaRPr lang="en-US" sz="950" dirty="0"/>
          </a:p>
        </p:txBody>
      </p:sp>
      <p:sp>
        <p:nvSpPr>
          <p:cNvPr id="12" name="Text 10"/>
          <p:cNvSpPr txBox="1"/>
          <p:nvPr/>
        </p:nvSpPr>
        <p:spPr>
          <a:xfrm>
            <a:off x="6323076" y="4407408"/>
            <a:ext cx="5225796" cy="868680"/>
          </a:xfrm>
          <a:prstGeom prst="rect">
            <a:avLst/>
          </a:prstGeom>
          <a:noFill/>
          <a:ln/>
        </p:spPr>
        <p:txBody>
          <a:bodyPr wrap="square" lIns="0" tIns="0" rIns="0" bIns="0" rtlCol="0" anchor="t"/>
          <a:lstStyle/>
          <a:p>
            <a:pPr indent="0" marL="0">
              <a:buNone/>
            </a:pPr>
            <a:r>
              <a:rPr lang="en-US" sz="4800" spc="-150" kern="0" dirty="0">
                <a:solidFill>
                  <a:srgbClr val="000000"/>
                </a:solidFill>
                <a:latin typeface="Helvetica Neue" pitchFamily="34" charset="0"/>
                <a:ea typeface="Helvetica Neue" pitchFamily="34" charset="-122"/>
                <a:cs typeface="Helvetica Neue" pitchFamily="34" charset="-120"/>
              </a:rPr>
              <a:t>$50–100M</a:t>
            </a:r>
            <a:pPr indent="0" marL="0">
              <a:buNone/>
            </a:pPr>
            <a:r>
              <a:rPr lang="en-US" sz="1400" dirty="0">
                <a:solidFill>
                  <a:srgbClr val="6E6C66"/>
                </a:solidFill>
                <a:latin typeface="Helvetica Neue" pitchFamily="34" charset="0"/>
                <a:ea typeface="Helvetica Neue" pitchFamily="34" charset="-122"/>
                <a:cs typeface="Helvetica Neue" pitchFamily="34" charset="-120"/>
              </a:rPr>
              <a:t> /yr</a:t>
            </a:r>
            <a:endParaRPr lang="en-US" sz="4800" dirty="0"/>
          </a:p>
        </p:txBody>
      </p:sp>
      <p:sp>
        <p:nvSpPr>
          <p:cNvPr id="13" name="Text 11"/>
          <p:cNvSpPr txBox="1"/>
          <p:nvPr/>
        </p:nvSpPr>
        <p:spPr>
          <a:xfrm>
            <a:off x="6323076" y="5276088"/>
            <a:ext cx="5225796" cy="502920"/>
          </a:xfrm>
          <a:prstGeom prst="rect">
            <a:avLst/>
          </a:prstGeom>
          <a:noFill/>
          <a:ln/>
        </p:spPr>
        <p:txBody>
          <a:bodyPr wrap="square" lIns="0" tIns="0" rIns="0" bIns="0" rtlCol="0" anchor="ctr"/>
          <a:lstStyle/>
          <a:p>
            <a:pPr indent="0" marL="0">
              <a:lnSpc>
                <a:spcPct val="125000"/>
              </a:lnSpc>
              <a:buNone/>
            </a:pPr>
            <a:r>
              <a:rPr lang="en-US" sz="1000" dirty="0">
                <a:solidFill>
                  <a:srgbClr val="33332F"/>
                </a:solidFill>
                <a:latin typeface="Helvetica Neue" pitchFamily="34" charset="0"/>
                <a:ea typeface="Helvetica Neue" pitchFamily="34" charset="-122"/>
                <a:cs typeface="Helvetica Neue" pitchFamily="34" charset="-120"/>
              </a:rPr>
              <a:t>The foothold plus first assembly, five-year horizon: custody destruction of small arms ammunition and seized property — NA law enforcement, defence, first allied programs.</a:t>
            </a:r>
            <a:endParaRPr lang="en-US" sz="1000" dirty="0"/>
          </a:p>
        </p:txBody>
      </p:sp>
      <p:sp>
        <p:nvSpPr>
          <p:cNvPr id="14" name="Text 12"/>
          <p:cNvSpPr txBox="1"/>
          <p:nvPr/>
        </p:nvSpPr>
        <p:spPr>
          <a:xfrm>
            <a:off x="640080" y="5897880"/>
            <a:ext cx="10881360" cy="274320"/>
          </a:xfrm>
          <a:prstGeom prst="rect">
            <a:avLst/>
          </a:prstGeom>
          <a:noFill/>
          <a:ln/>
        </p:spPr>
        <p:txBody>
          <a:bodyPr wrap="square" lIns="0" tIns="0" rIns="0" bIns="0" rtlCol="0" anchor="ctr"/>
          <a:lstStyle/>
          <a:p>
            <a:pPr indent="0" marL="0">
              <a:lnSpc>
                <a:spcPct val="115000"/>
              </a:lnSpc>
              <a:buNone/>
            </a:pPr>
            <a:r>
              <a:rPr lang="en-US" sz="950" b="1" dirty="0">
                <a:solidFill>
                  <a:srgbClr val="000000"/>
                </a:solidFill>
                <a:latin typeface="Helvetica Neue" pitchFamily="34" charset="0"/>
                <a:ea typeface="Helvetica Neue" pitchFamily="34" charset="-122"/>
                <a:cs typeface="Helvetica Neue" pitchFamily="34" charset="-120"/>
              </a:rPr>
              <a:t>No analyst covers this market — which is precisely why it is available. </a:t>
            </a:r>
            <a:pPr indent="0" marL="0">
              <a:lnSpc>
                <a:spcPct val="115000"/>
              </a:lnSpc>
              <a:buNone/>
            </a:pPr>
            <a:r>
              <a:rPr lang="en-US" sz="950" dirty="0">
                <a:solidFill>
                  <a:srgbClr val="6E6C66"/>
                </a:solidFill>
                <a:latin typeface="Helvetica Neue" pitchFamily="34" charset="0"/>
                <a:ea typeface="Helvetica Neue" pitchFamily="34" charset="-122"/>
                <a:cs typeface="Helvetica Neue" pitchFamily="34" charset="-120"/>
              </a:rPr>
              <a:t>Anchors: demil at ~$2,000–2,890/ton (GAO, NAS) · &gt;$4B US weapons-destruction spend abroad since 1993.</a:t>
            </a:r>
            <a:endParaRPr lang="en-US" sz="950" dirty="0"/>
          </a:p>
        </p:txBody>
      </p:sp>
      <p:sp>
        <p:nvSpPr>
          <p:cNvPr id="15" name="Text 13"/>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07  ·  TWB DESIGNS — CONFIDENTIAL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788274"/>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E9EDE7"/>
                </a:solidFill>
                <a:latin typeface="IBM Plex Mono" pitchFamily="34" charset="0"/>
                <a:ea typeface="IBM Plex Mono" pitchFamily="34" charset="-122"/>
                <a:cs typeface="IBM Plex Mono" pitchFamily="34" charset="-120"/>
              </a:rPr>
              <a:t>ACT V — THE PLAN IS THE COMPANY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FFFFFF"/>
                </a:solidFill>
                <a:latin typeface="Helvetica Neue" pitchFamily="34" charset="0"/>
                <a:ea typeface="Helvetica Neue" pitchFamily="34" charset="-122"/>
                <a:cs typeface="Helvetica Neue" pitchFamily="34" charset="-120"/>
              </a:rPr>
              <a:t>Assemble the platform: full service, one counterparty.</a:t>
            </a:r>
            <a:endParaRPr lang="en-US" sz="2700" dirty="0"/>
          </a:p>
        </p:txBody>
      </p:sp>
      <p:sp>
        <p:nvSpPr>
          <p:cNvPr id="4" name="Text 2"/>
          <p:cNvSpPr txBox="1"/>
          <p:nvPr/>
        </p:nvSpPr>
        <p:spPr>
          <a:xfrm>
            <a:off x="640080" y="1600200"/>
            <a:ext cx="10607040" cy="594360"/>
          </a:xfrm>
          <a:prstGeom prst="rect">
            <a:avLst/>
          </a:prstGeom>
          <a:noFill/>
          <a:ln/>
        </p:spPr>
        <p:txBody>
          <a:bodyPr wrap="square" lIns="0" tIns="0" rIns="0" bIns="0" rtlCol="0" anchor="ctr"/>
          <a:lstStyle/>
          <a:p>
            <a:pPr indent="0" marL="0">
              <a:lnSpc>
                <a:spcPct val="125000"/>
              </a:lnSpc>
              <a:buNone/>
            </a:pPr>
            <a:r>
              <a:rPr lang="en-US" sz="1300" dirty="0">
                <a:solidFill>
                  <a:srgbClr val="EDF0EB"/>
                </a:solidFill>
                <a:latin typeface="Helvetica Neue" pitchFamily="34" charset="0"/>
                <a:ea typeface="Helvetica Neue" pitchFamily="34" charset="-122"/>
                <a:cs typeface="Helvetica Neue" pitchFamily="34" charset="-120"/>
              </a:rPr>
              <a:t>Not a machine business scaling a machine — a platform being assembled: the single counterparty an allied government calls for everything between “this must cease to exist” and “this is now material.” Three engines, run in parallel:</a:t>
            </a:r>
            <a:endParaRPr lang="en-US" sz="1300" dirty="0"/>
          </a:p>
        </p:txBody>
      </p:sp>
      <p:sp>
        <p:nvSpPr>
          <p:cNvPr id="5" name="Shape 3"/>
          <p:cNvSpPr/>
          <p:nvPr/>
        </p:nvSpPr>
        <p:spPr>
          <a:xfrm>
            <a:off x="640080" y="2423160"/>
            <a:ext cx="3453384" cy="3429000"/>
          </a:xfrm>
          <a:prstGeom prst="rect">
            <a:avLst/>
          </a:prstGeom>
          <a:solidFill>
            <a:srgbClr val="6B7568"/>
          </a:solidFill>
          <a:ln w="9525">
            <a:solidFill>
              <a:srgbClr val="96A093"/>
            </a:solidFill>
            <a:prstDash val="solid"/>
          </a:ln>
        </p:spPr>
      </p:sp>
      <p:sp>
        <p:nvSpPr>
          <p:cNvPr id="6" name="Text 4"/>
          <p:cNvSpPr txBox="1"/>
          <p:nvPr/>
        </p:nvSpPr>
        <p:spPr>
          <a:xfrm>
            <a:off x="877824" y="2660904"/>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ACQUIRE</a:t>
            </a:r>
            <a:endParaRPr lang="en-US" sz="1100" dirty="0"/>
          </a:p>
        </p:txBody>
      </p:sp>
      <p:sp>
        <p:nvSpPr>
          <p:cNvPr id="7" name="Text 5"/>
          <p:cNvSpPr txBox="1"/>
          <p:nvPr/>
        </p:nvSpPr>
        <p:spPr>
          <a:xfrm>
            <a:off x="859536" y="2990088"/>
            <a:ext cx="2996184" cy="777240"/>
          </a:xfrm>
          <a:prstGeom prst="rect">
            <a:avLst/>
          </a:prstGeom>
          <a:noFill/>
          <a:ln/>
        </p:spPr>
        <p:txBody>
          <a:bodyPr wrap="square" lIns="0" tIns="0" rIns="0" bIns="0" rtlCol="0" anchor="t"/>
          <a:lstStyle/>
          <a:p>
            <a:pPr algn="l" indent="0" marL="0">
              <a:buNone/>
            </a:pPr>
            <a:r>
              <a:rPr lang="en-US" sz="4800" spc="-100" kern="0" dirty="0">
                <a:solidFill>
                  <a:srgbClr val="FFFFFF"/>
                </a:solidFill>
                <a:latin typeface="Helvetica Neue" pitchFamily="34" charset="0"/>
                <a:ea typeface="Helvetica Neue" pitchFamily="34" charset="-122"/>
                <a:cs typeface="Helvetica Neue" pitchFamily="34" charset="-120"/>
              </a:rPr>
              <a:t>4–7×</a:t>
            </a:r>
            <a:endParaRPr lang="en-US" sz="4800" dirty="0"/>
          </a:p>
        </p:txBody>
      </p:sp>
      <p:sp>
        <p:nvSpPr>
          <p:cNvPr id="8" name="Text 6"/>
          <p:cNvSpPr txBox="1"/>
          <p:nvPr/>
        </p:nvSpPr>
        <p:spPr>
          <a:xfrm>
            <a:off x="877824" y="3721608"/>
            <a:ext cx="2977896" cy="274320"/>
          </a:xfrm>
          <a:prstGeom prst="rect">
            <a:avLst/>
          </a:prstGeom>
          <a:noFill/>
          <a:ln/>
        </p:spPr>
        <p:txBody>
          <a:bodyPr wrap="square" lIns="0" tIns="0" rIns="0" bIns="0" rtlCol="0" anchor="ctr"/>
          <a:lstStyle/>
          <a:p>
            <a:pPr indent="0" marL="0">
              <a:buNone/>
            </a:pPr>
            <a:r>
              <a:rPr lang="en-US" sz="850" spc="120" kern="0" dirty="0">
                <a:solidFill>
                  <a:srgbClr val="D8DED2"/>
                </a:solidFill>
                <a:latin typeface="IBM Plex Mono" pitchFamily="34" charset="0"/>
                <a:ea typeface="IBM Plex Mono" pitchFamily="34" charset="-122"/>
                <a:cs typeface="IBM Plex Mono" pitchFamily="34" charset="-120"/>
              </a:rPr>
              <a:t>EBITDA</a:t>
            </a:r>
            <a:endParaRPr lang="en-US" sz="850" dirty="0"/>
          </a:p>
        </p:txBody>
      </p:sp>
      <p:sp>
        <p:nvSpPr>
          <p:cNvPr id="9" name="Text 7"/>
          <p:cNvSpPr txBox="1"/>
          <p:nvPr/>
        </p:nvSpPr>
        <p:spPr>
          <a:xfrm>
            <a:off x="877824" y="4114800"/>
            <a:ext cx="2977896" cy="1554480"/>
          </a:xfrm>
          <a:prstGeom prst="rect">
            <a:avLst/>
          </a:prstGeom>
          <a:noFill/>
          <a:ln/>
        </p:spPr>
        <p:txBody>
          <a:bodyPr wrap="square" lIns="0" tIns="0" rIns="0" bIns="0" rtlCol="0" anchor="ctr"/>
          <a:lstStyle/>
          <a:p>
            <a:pPr indent="0" marL="0">
              <a:lnSpc>
                <a:spcPct val="128000"/>
              </a:lnSpc>
              <a:buNone/>
            </a:pPr>
            <a:r>
              <a:rPr lang="en-US" sz="1050" dirty="0">
                <a:solidFill>
                  <a:srgbClr val="E9EDE7"/>
                </a:solidFill>
                <a:latin typeface="Helvetica Neue" pitchFamily="34" charset="0"/>
                <a:ea typeface="Helvetica Neue" pitchFamily="34" charset="-122"/>
                <a:cs typeface="Helvetica Neue" pitchFamily="34" charset="-120"/>
              </a:rPr>
              <a:t>Buy the back of the lifecycle while it is cheap. Large-calibre &amp; artillery demil · metals recovery · plant &amp; equipment engineering · secure destruction for military and conflict customers.</a:t>
            </a:r>
            <a:endParaRPr lang="en-US" sz="1050" dirty="0"/>
          </a:p>
        </p:txBody>
      </p:sp>
      <p:sp>
        <p:nvSpPr>
          <p:cNvPr id="10" name="Shape 8"/>
          <p:cNvSpPr/>
          <p:nvPr/>
        </p:nvSpPr>
        <p:spPr>
          <a:xfrm>
            <a:off x="4367784" y="2423160"/>
            <a:ext cx="3453384" cy="3429000"/>
          </a:xfrm>
          <a:prstGeom prst="rect">
            <a:avLst/>
          </a:prstGeom>
          <a:solidFill>
            <a:srgbClr val="6B7568"/>
          </a:solidFill>
          <a:ln w="9525">
            <a:solidFill>
              <a:srgbClr val="96A093"/>
            </a:solidFill>
            <a:prstDash val="solid"/>
          </a:ln>
        </p:spPr>
      </p:sp>
      <p:sp>
        <p:nvSpPr>
          <p:cNvPr id="11" name="Text 9"/>
          <p:cNvSpPr txBox="1"/>
          <p:nvPr/>
        </p:nvSpPr>
        <p:spPr>
          <a:xfrm>
            <a:off x="4605528" y="2660904"/>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PARTNER</a:t>
            </a:r>
            <a:endParaRPr lang="en-US" sz="1100" dirty="0"/>
          </a:p>
        </p:txBody>
      </p:sp>
      <p:sp>
        <p:nvSpPr>
          <p:cNvPr id="12" name="Text 10"/>
          <p:cNvSpPr txBox="1"/>
          <p:nvPr/>
        </p:nvSpPr>
        <p:spPr>
          <a:xfrm>
            <a:off x="4587240" y="2990088"/>
            <a:ext cx="2996184" cy="777240"/>
          </a:xfrm>
          <a:prstGeom prst="rect">
            <a:avLst/>
          </a:prstGeom>
          <a:noFill/>
          <a:ln/>
        </p:spPr>
        <p:txBody>
          <a:bodyPr wrap="square" lIns="0" tIns="0" rIns="0" bIns="0" rtlCol="0" anchor="t"/>
          <a:lstStyle/>
          <a:p>
            <a:pPr algn="l" indent="0" marL="0">
              <a:buNone/>
            </a:pPr>
            <a:r>
              <a:rPr lang="en-US" sz="4800" spc="-100" kern="0" dirty="0">
                <a:solidFill>
                  <a:srgbClr val="FFFFFF"/>
                </a:solidFill>
                <a:latin typeface="Helvetica Neue" pitchFamily="34" charset="0"/>
                <a:ea typeface="Helvetica Neue" pitchFamily="34" charset="-122"/>
                <a:cs typeface="Helvetica Neue" pitchFamily="34" charset="-120"/>
              </a:rPr>
              <a:t>0</a:t>
            </a:r>
            <a:endParaRPr lang="en-US" sz="4800" dirty="0"/>
          </a:p>
        </p:txBody>
      </p:sp>
      <p:sp>
        <p:nvSpPr>
          <p:cNvPr id="13" name="Text 11"/>
          <p:cNvSpPr txBox="1"/>
          <p:nvPr/>
        </p:nvSpPr>
        <p:spPr>
          <a:xfrm>
            <a:off x="4605528" y="3721608"/>
            <a:ext cx="2977896" cy="274320"/>
          </a:xfrm>
          <a:prstGeom prst="rect">
            <a:avLst/>
          </a:prstGeom>
          <a:noFill/>
          <a:ln/>
        </p:spPr>
        <p:txBody>
          <a:bodyPr wrap="square" lIns="0" tIns="0" rIns="0" bIns="0" rtlCol="0" anchor="ctr"/>
          <a:lstStyle/>
          <a:p>
            <a:pPr indent="0" marL="0">
              <a:buNone/>
            </a:pPr>
            <a:r>
              <a:rPr lang="en-US" sz="850" spc="120" kern="0" dirty="0">
                <a:solidFill>
                  <a:srgbClr val="D8DED2"/>
                </a:solidFill>
                <a:latin typeface="IBM Plex Mono" pitchFamily="34" charset="0"/>
                <a:ea typeface="IBM Plex Mono" pitchFamily="34" charset="-122"/>
                <a:cs typeface="IBM Plex Mono" pitchFamily="34" charset="-120"/>
              </a:rPr>
              <a:t>imported today</a:t>
            </a:r>
            <a:endParaRPr lang="en-US" sz="850" dirty="0"/>
          </a:p>
        </p:txBody>
      </p:sp>
      <p:sp>
        <p:nvSpPr>
          <p:cNvPr id="14" name="Text 12"/>
          <p:cNvSpPr txBox="1"/>
          <p:nvPr/>
        </p:nvSpPr>
        <p:spPr>
          <a:xfrm>
            <a:off x="4605528" y="4114800"/>
            <a:ext cx="2977896" cy="1554480"/>
          </a:xfrm>
          <a:prstGeom prst="rect">
            <a:avLst/>
          </a:prstGeom>
          <a:noFill/>
          <a:ln/>
        </p:spPr>
        <p:txBody>
          <a:bodyPr wrap="square" lIns="0" tIns="0" rIns="0" bIns="0" rtlCol="0" anchor="ctr"/>
          <a:lstStyle/>
          <a:p>
            <a:pPr indent="0" marL="0">
              <a:lnSpc>
                <a:spcPct val="128000"/>
              </a:lnSpc>
              <a:buNone/>
            </a:pPr>
            <a:r>
              <a:rPr lang="en-US" sz="1050" dirty="0">
                <a:solidFill>
                  <a:srgbClr val="E9EDE7"/>
                </a:solidFill>
                <a:latin typeface="Helvetica Neue" pitchFamily="34" charset="0"/>
                <a:ea typeface="Helvetica Neue" pitchFamily="34" charset="-122"/>
                <a:cs typeface="Helvetica Neue" pitchFamily="34" charset="-120"/>
              </a:rPr>
              <a:t>Import what the industry never had. Robotics off the most dangerous work. Universities for sensing and materials science. Technologies from outside demilitarisation entirely.</a:t>
            </a:r>
            <a:endParaRPr lang="en-US" sz="1050" dirty="0"/>
          </a:p>
        </p:txBody>
      </p:sp>
      <p:sp>
        <p:nvSpPr>
          <p:cNvPr id="15" name="Shape 13"/>
          <p:cNvSpPr/>
          <p:nvPr/>
        </p:nvSpPr>
        <p:spPr>
          <a:xfrm>
            <a:off x="8095488" y="2423160"/>
            <a:ext cx="3453384" cy="3429000"/>
          </a:xfrm>
          <a:prstGeom prst="rect">
            <a:avLst/>
          </a:prstGeom>
          <a:solidFill>
            <a:srgbClr val="6B7568"/>
          </a:solidFill>
          <a:ln w="9525">
            <a:solidFill>
              <a:srgbClr val="96A093"/>
            </a:solidFill>
            <a:prstDash val="solid"/>
          </a:ln>
        </p:spPr>
      </p:sp>
      <p:sp>
        <p:nvSpPr>
          <p:cNvPr id="16" name="Text 14"/>
          <p:cNvSpPr txBox="1"/>
          <p:nvPr/>
        </p:nvSpPr>
        <p:spPr>
          <a:xfrm>
            <a:off x="8333232" y="2660904"/>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DEVELOP</a:t>
            </a:r>
            <a:endParaRPr lang="en-US" sz="1100" dirty="0"/>
          </a:p>
        </p:txBody>
      </p:sp>
      <p:sp>
        <p:nvSpPr>
          <p:cNvPr id="17" name="Text 15"/>
          <p:cNvSpPr txBox="1"/>
          <p:nvPr/>
        </p:nvSpPr>
        <p:spPr>
          <a:xfrm>
            <a:off x="8314944" y="2990088"/>
            <a:ext cx="2996184" cy="777240"/>
          </a:xfrm>
          <a:prstGeom prst="rect">
            <a:avLst/>
          </a:prstGeom>
          <a:noFill/>
          <a:ln/>
        </p:spPr>
        <p:txBody>
          <a:bodyPr wrap="square" lIns="0" tIns="0" rIns="0" bIns="0" rtlCol="0" anchor="t"/>
          <a:lstStyle/>
          <a:p>
            <a:pPr algn="l" indent="0" marL="0">
              <a:buNone/>
            </a:pPr>
            <a:r>
              <a:rPr lang="en-US" sz="4800" spc="-100" kern="0" dirty="0">
                <a:solidFill>
                  <a:srgbClr val="FFFFFF"/>
                </a:solidFill>
                <a:latin typeface="Helvetica Neue" pitchFamily="34" charset="0"/>
                <a:ea typeface="Helvetica Neue" pitchFamily="34" charset="-122"/>
                <a:cs typeface="Helvetica Neue" pitchFamily="34" charset="-120"/>
              </a:rPr>
              <a:t>1</a:t>
            </a:r>
            <a:endParaRPr lang="en-US" sz="4800" dirty="0"/>
          </a:p>
        </p:txBody>
      </p:sp>
      <p:sp>
        <p:nvSpPr>
          <p:cNvPr id="18" name="Text 16"/>
          <p:cNvSpPr txBox="1"/>
          <p:nvPr/>
        </p:nvSpPr>
        <p:spPr>
          <a:xfrm>
            <a:off x="8333232" y="3721608"/>
            <a:ext cx="2977896" cy="274320"/>
          </a:xfrm>
          <a:prstGeom prst="rect">
            <a:avLst/>
          </a:prstGeom>
          <a:noFill/>
          <a:ln/>
        </p:spPr>
        <p:txBody>
          <a:bodyPr wrap="square" lIns="0" tIns="0" rIns="0" bIns="0" rtlCol="0" anchor="ctr"/>
          <a:lstStyle/>
          <a:p>
            <a:pPr indent="0" marL="0">
              <a:buNone/>
            </a:pPr>
            <a:r>
              <a:rPr lang="en-US" sz="850" spc="120" kern="0" dirty="0">
                <a:solidFill>
                  <a:srgbClr val="D8DED2"/>
                </a:solidFill>
                <a:latin typeface="IBM Plex Mono" pitchFamily="34" charset="0"/>
                <a:ea typeface="IBM Plex Mono" pitchFamily="34" charset="-122"/>
                <a:cs typeface="IBM Plex Mono" pitchFamily="34" charset="-120"/>
              </a:rPr>
              <a:t>standard to own</a:t>
            </a:r>
            <a:endParaRPr lang="en-US" sz="850" dirty="0"/>
          </a:p>
        </p:txBody>
      </p:sp>
      <p:sp>
        <p:nvSpPr>
          <p:cNvPr id="19" name="Text 17"/>
          <p:cNvSpPr txBox="1"/>
          <p:nvPr/>
        </p:nvSpPr>
        <p:spPr>
          <a:xfrm>
            <a:off x="8333232" y="4114800"/>
            <a:ext cx="2977896" cy="1554480"/>
          </a:xfrm>
          <a:prstGeom prst="rect">
            <a:avLst/>
          </a:prstGeom>
          <a:noFill/>
          <a:ln/>
        </p:spPr>
        <p:txBody>
          <a:bodyPr wrap="square" lIns="0" tIns="0" rIns="0" bIns="0" rtlCol="0" anchor="ctr"/>
          <a:lstStyle/>
          <a:p>
            <a:pPr indent="0" marL="0">
              <a:lnSpc>
                <a:spcPct val="128000"/>
              </a:lnSpc>
              <a:buNone/>
            </a:pPr>
            <a:r>
              <a:rPr lang="en-US" sz="1050" dirty="0">
                <a:solidFill>
                  <a:srgbClr val="E9EDE7"/>
                </a:solidFill>
                <a:latin typeface="Helvetica Neue" pitchFamily="34" charset="0"/>
                <a:ea typeface="Helvetica Neue" pitchFamily="34" charset="-122"/>
                <a:cs typeface="Helvetica Neue" pitchFamily="34" charset="-120"/>
              </a:rPr>
              <a:t>Build what no one sells. Extend our destruction technology up the calibre ladder — plus the certification layer: auditable chain-of-custody records. Whoever owns the certificate owns the standard.</a:t>
            </a:r>
            <a:endParaRPr lang="en-US" sz="1050" dirty="0"/>
          </a:p>
        </p:txBody>
      </p:sp>
      <p:sp>
        <p:nvSpPr>
          <p:cNvPr id="20" name="Text 18"/>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DDE2DA"/>
                </a:solidFill>
                <a:latin typeface="Helvetica Neue" pitchFamily="34" charset="0"/>
                <a:ea typeface="Helvetica Neue" pitchFamily="34" charset="-122"/>
                <a:cs typeface="Helvetica Neue" pitchFamily="34" charset="-120"/>
              </a:rPr>
              <a:t>Capability categories only at this stage — the target work is done, named, and held for diligence.</a:t>
            </a:r>
            <a:endParaRPr lang="en-US" sz="1050" dirty="0"/>
          </a:p>
        </p:txBody>
      </p:sp>
      <p:sp>
        <p:nvSpPr>
          <p:cNvPr id="21" name="Text 19"/>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08  ·  TWB DESIGNS — CONFIDENTIAL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 — THE PHASE LADDER</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Foothold to full service in three phases.</a:t>
            </a:r>
            <a:endParaRPr lang="en-US" sz="2700" dirty="0"/>
          </a:p>
        </p:txBody>
      </p:sp>
      <p:sp>
        <p:nvSpPr>
          <p:cNvPr id="4" name="Shape 2"/>
          <p:cNvSpPr/>
          <p:nvPr/>
        </p:nvSpPr>
        <p:spPr>
          <a:xfrm>
            <a:off x="640080" y="1965960"/>
            <a:ext cx="3453384" cy="3337560"/>
          </a:xfrm>
          <a:prstGeom prst="rect">
            <a:avLst/>
          </a:prstGeom>
          <a:solidFill>
            <a:srgbClr val="F1F3F0"/>
          </a:solidFill>
          <a:ln w="9525">
            <a:solidFill>
              <a:srgbClr val="D3D9D0"/>
            </a:solidFill>
            <a:prstDash val="solid"/>
          </a:ln>
        </p:spPr>
      </p:sp>
      <p:sp>
        <p:nvSpPr>
          <p:cNvPr id="5" name="Shape 3"/>
          <p:cNvSpPr/>
          <p:nvPr/>
        </p:nvSpPr>
        <p:spPr>
          <a:xfrm>
            <a:off x="620878" y="1946758"/>
            <a:ext cx="59436" cy="12802"/>
          </a:xfrm>
          <a:prstGeom prst="rect">
            <a:avLst/>
          </a:prstGeom>
          <a:solidFill>
            <a:srgbClr val="66705F"/>
          </a:solidFill>
          <a:ln/>
        </p:spPr>
      </p:sp>
      <p:sp>
        <p:nvSpPr>
          <p:cNvPr id="6" name="Shape 4"/>
          <p:cNvSpPr/>
          <p:nvPr/>
        </p:nvSpPr>
        <p:spPr>
          <a:xfrm>
            <a:off x="620878" y="1946758"/>
            <a:ext cx="12802" cy="59436"/>
          </a:xfrm>
          <a:prstGeom prst="rect">
            <a:avLst/>
          </a:prstGeom>
          <a:solidFill>
            <a:srgbClr val="66705F"/>
          </a:solidFill>
          <a:ln/>
        </p:spPr>
      </p:sp>
      <p:sp>
        <p:nvSpPr>
          <p:cNvPr id="7" name="Shape 5"/>
          <p:cNvSpPr/>
          <p:nvPr/>
        </p:nvSpPr>
        <p:spPr>
          <a:xfrm>
            <a:off x="4053230" y="1946758"/>
            <a:ext cx="59436" cy="12802"/>
          </a:xfrm>
          <a:prstGeom prst="rect">
            <a:avLst/>
          </a:prstGeom>
          <a:solidFill>
            <a:srgbClr val="66705F"/>
          </a:solidFill>
          <a:ln/>
        </p:spPr>
      </p:sp>
      <p:sp>
        <p:nvSpPr>
          <p:cNvPr id="8" name="Shape 6"/>
          <p:cNvSpPr/>
          <p:nvPr/>
        </p:nvSpPr>
        <p:spPr>
          <a:xfrm>
            <a:off x="4099865" y="1946758"/>
            <a:ext cx="12802" cy="59436"/>
          </a:xfrm>
          <a:prstGeom prst="rect">
            <a:avLst/>
          </a:prstGeom>
          <a:solidFill>
            <a:srgbClr val="66705F"/>
          </a:solidFill>
          <a:ln/>
        </p:spPr>
      </p:sp>
      <p:sp>
        <p:nvSpPr>
          <p:cNvPr id="9" name="Shape 7"/>
          <p:cNvSpPr/>
          <p:nvPr/>
        </p:nvSpPr>
        <p:spPr>
          <a:xfrm>
            <a:off x="620878" y="5309921"/>
            <a:ext cx="59436" cy="12802"/>
          </a:xfrm>
          <a:prstGeom prst="rect">
            <a:avLst/>
          </a:prstGeom>
          <a:solidFill>
            <a:srgbClr val="66705F"/>
          </a:solidFill>
          <a:ln/>
        </p:spPr>
      </p:sp>
      <p:sp>
        <p:nvSpPr>
          <p:cNvPr id="10" name="Shape 8"/>
          <p:cNvSpPr/>
          <p:nvPr/>
        </p:nvSpPr>
        <p:spPr>
          <a:xfrm>
            <a:off x="620878" y="5263286"/>
            <a:ext cx="12802" cy="59436"/>
          </a:xfrm>
          <a:prstGeom prst="rect">
            <a:avLst/>
          </a:prstGeom>
          <a:solidFill>
            <a:srgbClr val="66705F"/>
          </a:solidFill>
          <a:ln/>
        </p:spPr>
      </p:sp>
      <p:sp>
        <p:nvSpPr>
          <p:cNvPr id="11" name="Shape 9"/>
          <p:cNvSpPr/>
          <p:nvPr/>
        </p:nvSpPr>
        <p:spPr>
          <a:xfrm>
            <a:off x="4053230" y="5309921"/>
            <a:ext cx="59436" cy="12802"/>
          </a:xfrm>
          <a:prstGeom prst="rect">
            <a:avLst/>
          </a:prstGeom>
          <a:solidFill>
            <a:srgbClr val="66705F"/>
          </a:solidFill>
          <a:ln/>
        </p:spPr>
      </p:sp>
      <p:sp>
        <p:nvSpPr>
          <p:cNvPr id="12" name="Shape 10"/>
          <p:cNvSpPr/>
          <p:nvPr/>
        </p:nvSpPr>
        <p:spPr>
          <a:xfrm>
            <a:off x="4099865" y="5263286"/>
            <a:ext cx="12802" cy="59436"/>
          </a:xfrm>
          <a:prstGeom prst="rect">
            <a:avLst/>
          </a:prstGeom>
          <a:solidFill>
            <a:srgbClr val="66705F"/>
          </a:solidFill>
          <a:ln/>
        </p:spPr>
      </p:sp>
      <p:sp>
        <p:nvSpPr>
          <p:cNvPr id="13" name="Text 11"/>
          <p:cNvSpPr txBox="1"/>
          <p:nvPr/>
        </p:nvSpPr>
        <p:spPr>
          <a:xfrm>
            <a:off x="859536" y="2148840"/>
            <a:ext cx="1463040" cy="914400"/>
          </a:xfrm>
          <a:prstGeom prst="rect">
            <a:avLst/>
          </a:prstGeom>
          <a:noFill/>
          <a:ln/>
        </p:spPr>
        <p:txBody>
          <a:bodyPr wrap="square" lIns="0" tIns="0" rIns="0" bIns="0" rtlCol="0" anchor="t"/>
          <a:lstStyle/>
          <a:p>
            <a:pPr algn="l" indent="0" marL="0">
              <a:buNone/>
            </a:pPr>
            <a:r>
              <a:rPr lang="en-US" sz="5600" spc="-100" kern="0" dirty="0">
                <a:solidFill>
                  <a:srgbClr val="66705F"/>
                </a:solidFill>
                <a:latin typeface="Helvetica Neue" pitchFamily="34" charset="0"/>
                <a:ea typeface="Helvetica Neue" pitchFamily="34" charset="-122"/>
                <a:cs typeface="Helvetica Neue" pitchFamily="34" charset="-120"/>
              </a:rPr>
              <a:t>1</a:t>
            </a:r>
            <a:endParaRPr lang="en-US" sz="5600" dirty="0"/>
          </a:p>
        </p:txBody>
      </p:sp>
      <p:sp>
        <p:nvSpPr>
          <p:cNvPr id="14" name="Text 12"/>
          <p:cNvSpPr txBox="1"/>
          <p:nvPr/>
        </p:nvSpPr>
        <p:spPr>
          <a:xfrm>
            <a:off x="877824" y="2953512"/>
            <a:ext cx="2977896" cy="256032"/>
          </a:xfrm>
          <a:prstGeom prst="rect">
            <a:avLst/>
          </a:prstGeom>
          <a:noFill/>
          <a:ln/>
        </p:spPr>
        <p:txBody>
          <a:bodyPr wrap="square" lIns="0" tIns="0" rIns="0" bIns="0" rtlCol="0" anchor="ctr"/>
          <a:lstStyle/>
          <a:p>
            <a:pPr indent="0" marL="0">
              <a:buNone/>
            </a:pPr>
            <a:r>
              <a:rPr lang="en-US" sz="950" b="1" spc="180" kern="0" dirty="0">
                <a:solidFill>
                  <a:srgbClr val="6E6C66"/>
                </a:solidFill>
                <a:latin typeface="IBM Plex Mono" pitchFamily="34" charset="0"/>
                <a:ea typeface="IBM Plex Mono" pitchFamily="34" charset="-122"/>
                <a:cs typeface="IBM Plex Mono" pitchFamily="34" charset="-120"/>
              </a:rPr>
              <a:t>NOW–18 MO</a:t>
            </a:r>
            <a:endParaRPr lang="en-US" sz="950" dirty="0"/>
          </a:p>
        </p:txBody>
      </p:sp>
      <p:sp>
        <p:nvSpPr>
          <p:cNvPr id="15" name="Text 13"/>
          <p:cNvSpPr txBox="1"/>
          <p:nvPr/>
        </p:nvSpPr>
        <p:spPr>
          <a:xfrm>
            <a:off x="877824" y="3246120"/>
            <a:ext cx="2977896" cy="685800"/>
          </a:xfrm>
          <a:prstGeom prst="rect">
            <a:avLst/>
          </a:prstGeom>
          <a:noFill/>
          <a:ln/>
        </p:spPr>
        <p:txBody>
          <a:bodyPr wrap="square" lIns="0" tIns="0" rIns="0" bIns="0" rtlCol="0" anchor="ctr"/>
          <a:lstStyle/>
          <a:p>
            <a:pPr indent="0" marL="0">
              <a:lnSpc>
                <a:spcPct val="110000"/>
              </a:lnSpc>
              <a:buNone/>
            </a:pPr>
            <a:r>
              <a:rPr lang="en-US" sz="1600" b="1" spc="-20" kern="0" dirty="0">
                <a:solidFill>
                  <a:srgbClr val="000000"/>
                </a:solidFill>
                <a:latin typeface="Helvetica Neue" pitchFamily="34" charset="0"/>
                <a:ea typeface="Helvetica Neue" pitchFamily="34" charset="-122"/>
                <a:cs typeface="Helvetica Neue" pitchFamily="34" charset="-120"/>
              </a:rPr>
              <a:t>Operate the foothold</a:t>
            </a:r>
            <a:endParaRPr lang="en-US" sz="1600" dirty="0"/>
          </a:p>
        </p:txBody>
      </p:sp>
      <p:sp>
        <p:nvSpPr>
          <p:cNvPr id="16" name="Text 14"/>
          <p:cNvSpPr txBox="1"/>
          <p:nvPr/>
        </p:nvSpPr>
        <p:spPr>
          <a:xfrm>
            <a:off x="877824" y="3977640"/>
            <a:ext cx="2977896" cy="1234440"/>
          </a:xfrm>
          <a:prstGeom prst="rect">
            <a:avLst/>
          </a:prstGeom>
          <a:noFill/>
          <a:ln/>
        </p:spPr>
        <p:txBody>
          <a:bodyPr wrap="square" lIns="0" tIns="0" rIns="0" bIns="0" rtlCol="0" anchor="ctr"/>
          <a:lstStyle/>
          <a:p>
            <a:pPr indent="0" marL="0">
              <a:lnSpc>
                <a:spcPct val="128000"/>
              </a:lnSpc>
              <a:buNone/>
            </a:pPr>
            <a:r>
              <a:rPr lang="en-US" sz="1050" dirty="0">
                <a:solidFill>
                  <a:srgbClr val="33332F"/>
                </a:solidFill>
                <a:latin typeface="Helvetica Neue" pitchFamily="34" charset="0"/>
                <a:ea typeface="Helvetica Neue" pitchFamily="34" charset="-122"/>
                <a:cs typeface="Helvetica Neue" pitchFamily="34" charset="-120"/>
              </a:rPr>
              <a:t>Revenue from what runs today — custody destruction for law enforcement and defence, NA first, first allied programs. Cash, references and destruction data while the first acquisitions are negotiated.</a:t>
            </a:r>
            <a:endParaRPr lang="en-US" sz="1050" dirty="0"/>
          </a:p>
        </p:txBody>
      </p:sp>
      <p:sp>
        <p:nvSpPr>
          <p:cNvPr id="17" name="Shape 15"/>
          <p:cNvSpPr/>
          <p:nvPr/>
        </p:nvSpPr>
        <p:spPr>
          <a:xfrm>
            <a:off x="4367784" y="1965960"/>
            <a:ext cx="3453384" cy="3337560"/>
          </a:xfrm>
          <a:prstGeom prst="rect">
            <a:avLst/>
          </a:prstGeom>
          <a:solidFill>
            <a:srgbClr val="FAFAF8"/>
          </a:solidFill>
          <a:ln w="9525">
            <a:solidFill>
              <a:srgbClr val="E2E1DA"/>
            </a:solidFill>
            <a:prstDash val="solid"/>
          </a:ln>
        </p:spPr>
      </p:sp>
      <p:sp>
        <p:nvSpPr>
          <p:cNvPr id="18" name="Text 16"/>
          <p:cNvSpPr txBox="1"/>
          <p:nvPr/>
        </p:nvSpPr>
        <p:spPr>
          <a:xfrm>
            <a:off x="4587240" y="2148840"/>
            <a:ext cx="1463040" cy="914400"/>
          </a:xfrm>
          <a:prstGeom prst="rect">
            <a:avLst/>
          </a:prstGeom>
          <a:noFill/>
          <a:ln/>
        </p:spPr>
        <p:txBody>
          <a:bodyPr wrap="square" lIns="0" tIns="0" rIns="0" bIns="0" rtlCol="0" anchor="t"/>
          <a:lstStyle/>
          <a:p>
            <a:pPr algn="l" indent="0" marL="0">
              <a:buNone/>
            </a:pPr>
            <a:r>
              <a:rPr lang="en-US" sz="5600" spc="-100" kern="0" dirty="0">
                <a:solidFill>
                  <a:srgbClr val="66705F"/>
                </a:solidFill>
                <a:latin typeface="Helvetica Neue" pitchFamily="34" charset="0"/>
                <a:ea typeface="Helvetica Neue" pitchFamily="34" charset="-122"/>
                <a:cs typeface="Helvetica Neue" pitchFamily="34" charset="-120"/>
              </a:rPr>
              <a:t>2</a:t>
            </a:r>
            <a:endParaRPr lang="en-US" sz="5600" dirty="0"/>
          </a:p>
        </p:txBody>
      </p:sp>
      <p:sp>
        <p:nvSpPr>
          <p:cNvPr id="19" name="Text 17"/>
          <p:cNvSpPr txBox="1"/>
          <p:nvPr/>
        </p:nvSpPr>
        <p:spPr>
          <a:xfrm>
            <a:off x="4605528" y="2953512"/>
            <a:ext cx="2977896" cy="256032"/>
          </a:xfrm>
          <a:prstGeom prst="rect">
            <a:avLst/>
          </a:prstGeom>
          <a:noFill/>
          <a:ln/>
        </p:spPr>
        <p:txBody>
          <a:bodyPr wrap="square" lIns="0" tIns="0" rIns="0" bIns="0" rtlCol="0" anchor="ctr"/>
          <a:lstStyle/>
          <a:p>
            <a:pPr indent="0" marL="0">
              <a:buNone/>
            </a:pPr>
            <a:r>
              <a:rPr lang="en-US" sz="950" b="1" spc="180" kern="0" dirty="0">
                <a:solidFill>
                  <a:srgbClr val="6E6C66"/>
                </a:solidFill>
                <a:latin typeface="IBM Plex Mono" pitchFamily="34" charset="0"/>
                <a:ea typeface="IBM Plex Mono" pitchFamily="34" charset="-122"/>
                <a:cs typeface="IBM Plex Mono" pitchFamily="34" charset="-120"/>
              </a:rPr>
              <a:t>18 MO–3 YR</a:t>
            </a:r>
            <a:endParaRPr lang="en-US" sz="950" dirty="0"/>
          </a:p>
        </p:txBody>
      </p:sp>
      <p:sp>
        <p:nvSpPr>
          <p:cNvPr id="20" name="Text 18"/>
          <p:cNvSpPr txBox="1"/>
          <p:nvPr/>
        </p:nvSpPr>
        <p:spPr>
          <a:xfrm>
            <a:off x="4605528" y="3246120"/>
            <a:ext cx="2977896" cy="685800"/>
          </a:xfrm>
          <a:prstGeom prst="rect">
            <a:avLst/>
          </a:prstGeom>
          <a:noFill/>
          <a:ln/>
        </p:spPr>
        <p:txBody>
          <a:bodyPr wrap="square" lIns="0" tIns="0" rIns="0" bIns="0" rtlCol="0" anchor="ctr"/>
          <a:lstStyle/>
          <a:p>
            <a:pPr indent="0" marL="0">
              <a:lnSpc>
                <a:spcPct val="110000"/>
              </a:lnSpc>
              <a:buNone/>
            </a:pPr>
            <a:r>
              <a:rPr lang="en-US" sz="1600" b="1" spc="-20" kern="0" dirty="0">
                <a:solidFill>
                  <a:srgbClr val="000000"/>
                </a:solidFill>
                <a:latin typeface="Helvetica Neue" pitchFamily="34" charset="0"/>
                <a:ea typeface="Helvetica Neue" pitchFamily="34" charset="-122"/>
                <a:cs typeface="Helvetica Neue" pitchFamily="34" charset="-120"/>
              </a:rPr>
              <a:t>Assemble the core</a:t>
            </a:r>
            <a:endParaRPr lang="en-US" sz="1600" dirty="0"/>
          </a:p>
        </p:txBody>
      </p:sp>
      <p:sp>
        <p:nvSpPr>
          <p:cNvPr id="21" name="Text 19"/>
          <p:cNvSpPr txBox="1"/>
          <p:nvPr/>
        </p:nvSpPr>
        <p:spPr>
          <a:xfrm>
            <a:off x="4605528" y="3977640"/>
            <a:ext cx="2977896" cy="1234440"/>
          </a:xfrm>
          <a:prstGeom prst="rect">
            <a:avLst/>
          </a:prstGeom>
          <a:noFill/>
          <a:ln/>
        </p:spPr>
        <p:txBody>
          <a:bodyPr wrap="square" lIns="0" tIns="0" rIns="0" bIns="0" rtlCol="0" anchor="ctr"/>
          <a:lstStyle/>
          <a:p>
            <a:pPr indent="0" marL="0">
              <a:lnSpc>
                <a:spcPct val="128000"/>
              </a:lnSpc>
              <a:buNone/>
            </a:pPr>
            <a:r>
              <a:rPr lang="en-US" sz="1050" dirty="0">
                <a:solidFill>
                  <a:srgbClr val="33332F"/>
                </a:solidFill>
                <a:latin typeface="Helvetica Neue" pitchFamily="34" charset="0"/>
                <a:ea typeface="Helvetica Neue" pitchFamily="34" charset="-122"/>
                <a:cs typeface="Helvetica Neue" pitchFamily="34" charset="-120"/>
              </a:rPr>
              <a:t>First acquisitions — artillery demil and metals recovery — plus the first robotics and university partnerships. The platform starts selling capabilities no single firm ever could.</a:t>
            </a:r>
            <a:endParaRPr lang="en-US" sz="1050" dirty="0"/>
          </a:p>
        </p:txBody>
      </p:sp>
      <p:sp>
        <p:nvSpPr>
          <p:cNvPr id="22" name="Shape 20"/>
          <p:cNvSpPr/>
          <p:nvPr/>
        </p:nvSpPr>
        <p:spPr>
          <a:xfrm>
            <a:off x="8095488" y="1965960"/>
            <a:ext cx="3453384" cy="3337560"/>
          </a:xfrm>
          <a:prstGeom prst="rect">
            <a:avLst/>
          </a:prstGeom>
          <a:solidFill>
            <a:srgbClr val="FAFAF8"/>
          </a:solidFill>
          <a:ln w="9525">
            <a:solidFill>
              <a:srgbClr val="E2E1DA"/>
            </a:solidFill>
            <a:prstDash val="solid"/>
          </a:ln>
        </p:spPr>
      </p:sp>
      <p:sp>
        <p:nvSpPr>
          <p:cNvPr id="23" name="Text 21"/>
          <p:cNvSpPr txBox="1"/>
          <p:nvPr/>
        </p:nvSpPr>
        <p:spPr>
          <a:xfrm>
            <a:off x="8314944" y="2148840"/>
            <a:ext cx="1463040" cy="914400"/>
          </a:xfrm>
          <a:prstGeom prst="rect">
            <a:avLst/>
          </a:prstGeom>
          <a:noFill/>
          <a:ln/>
        </p:spPr>
        <p:txBody>
          <a:bodyPr wrap="square" lIns="0" tIns="0" rIns="0" bIns="0" rtlCol="0" anchor="t"/>
          <a:lstStyle/>
          <a:p>
            <a:pPr algn="l" indent="0" marL="0">
              <a:buNone/>
            </a:pPr>
            <a:r>
              <a:rPr lang="en-US" sz="5600" spc="-100" kern="0" dirty="0">
                <a:solidFill>
                  <a:srgbClr val="66705F"/>
                </a:solidFill>
                <a:latin typeface="Helvetica Neue" pitchFamily="34" charset="0"/>
                <a:ea typeface="Helvetica Neue" pitchFamily="34" charset="-122"/>
                <a:cs typeface="Helvetica Neue" pitchFamily="34" charset="-120"/>
              </a:rPr>
              <a:t>3</a:t>
            </a:r>
            <a:endParaRPr lang="en-US" sz="5600" dirty="0"/>
          </a:p>
        </p:txBody>
      </p:sp>
      <p:sp>
        <p:nvSpPr>
          <p:cNvPr id="24" name="Text 22"/>
          <p:cNvSpPr txBox="1"/>
          <p:nvPr/>
        </p:nvSpPr>
        <p:spPr>
          <a:xfrm>
            <a:off x="8333232" y="2953512"/>
            <a:ext cx="2977896" cy="256032"/>
          </a:xfrm>
          <a:prstGeom prst="rect">
            <a:avLst/>
          </a:prstGeom>
          <a:noFill/>
          <a:ln/>
        </p:spPr>
        <p:txBody>
          <a:bodyPr wrap="square" lIns="0" tIns="0" rIns="0" bIns="0" rtlCol="0" anchor="ctr"/>
          <a:lstStyle/>
          <a:p>
            <a:pPr indent="0" marL="0">
              <a:buNone/>
            </a:pPr>
            <a:r>
              <a:rPr lang="en-US" sz="950" b="1" spc="180" kern="0" dirty="0">
                <a:solidFill>
                  <a:srgbClr val="6E6C66"/>
                </a:solidFill>
                <a:latin typeface="IBM Plex Mono" pitchFamily="34" charset="0"/>
                <a:ea typeface="IBM Plex Mono" pitchFamily="34" charset="-122"/>
                <a:cs typeface="IBM Plex Mono" pitchFamily="34" charset="-120"/>
              </a:rPr>
              <a:t>3–5 YR</a:t>
            </a:r>
            <a:endParaRPr lang="en-US" sz="950" dirty="0"/>
          </a:p>
        </p:txBody>
      </p:sp>
      <p:sp>
        <p:nvSpPr>
          <p:cNvPr id="25" name="Text 23"/>
          <p:cNvSpPr txBox="1"/>
          <p:nvPr/>
        </p:nvSpPr>
        <p:spPr>
          <a:xfrm>
            <a:off x="8333232" y="3246120"/>
            <a:ext cx="2977896" cy="685800"/>
          </a:xfrm>
          <a:prstGeom prst="rect">
            <a:avLst/>
          </a:prstGeom>
          <a:noFill/>
          <a:ln/>
        </p:spPr>
        <p:txBody>
          <a:bodyPr wrap="square" lIns="0" tIns="0" rIns="0" bIns="0" rtlCol="0" anchor="ctr"/>
          <a:lstStyle/>
          <a:p>
            <a:pPr indent="0" marL="0">
              <a:lnSpc>
                <a:spcPct val="110000"/>
              </a:lnSpc>
              <a:buNone/>
            </a:pPr>
            <a:r>
              <a:rPr lang="en-US" sz="1600" b="1" spc="-20" kern="0" dirty="0">
                <a:solidFill>
                  <a:srgbClr val="000000"/>
                </a:solidFill>
                <a:latin typeface="Helvetica Neue" pitchFamily="34" charset="0"/>
                <a:ea typeface="Helvetica Neue" pitchFamily="34" charset="-122"/>
                <a:cs typeface="Helvetica Neue" pitchFamily="34" charset="-120"/>
              </a:rPr>
              <a:t>The sovereign full-service offer</a:t>
            </a:r>
            <a:endParaRPr lang="en-US" sz="1600" dirty="0"/>
          </a:p>
        </p:txBody>
      </p:sp>
      <p:sp>
        <p:nvSpPr>
          <p:cNvPr id="26" name="Text 24"/>
          <p:cNvSpPr txBox="1"/>
          <p:nvPr/>
        </p:nvSpPr>
        <p:spPr>
          <a:xfrm>
            <a:off x="8333232" y="3977640"/>
            <a:ext cx="2977896" cy="1234440"/>
          </a:xfrm>
          <a:prstGeom prst="rect">
            <a:avLst/>
          </a:prstGeom>
          <a:noFill/>
          <a:ln/>
        </p:spPr>
        <p:txBody>
          <a:bodyPr wrap="square" lIns="0" tIns="0" rIns="0" bIns="0" rtlCol="0" anchor="ctr"/>
          <a:lstStyle/>
          <a:p>
            <a:pPr indent="0" marL="0">
              <a:lnSpc>
                <a:spcPct val="128000"/>
              </a:lnSpc>
              <a:buNone/>
            </a:pPr>
            <a:r>
              <a:rPr lang="en-US" sz="1050" dirty="0">
                <a:solidFill>
                  <a:srgbClr val="33332F"/>
                </a:solidFill>
                <a:latin typeface="Helvetica Neue" pitchFamily="34" charset="0"/>
                <a:ea typeface="Helvetica Neue" pitchFamily="34" charset="-122"/>
                <a:cs typeface="Helvetica Neue" pitchFamily="34" charset="-120"/>
              </a:rPr>
              <a:t>Design, build, operate and certify national munitions end-of-life capability inside allied borders — machines, plants, recovery, certification, post-conflict programs. One counterparty.</a:t>
            </a:r>
            <a:endParaRPr lang="en-US" sz="1050" dirty="0"/>
          </a:p>
        </p:txBody>
      </p:sp>
      <p:sp>
        <p:nvSpPr>
          <p:cNvPr id="27" name="Shape 25"/>
          <p:cNvSpPr/>
          <p:nvPr/>
        </p:nvSpPr>
        <p:spPr>
          <a:xfrm>
            <a:off x="640080" y="5486400"/>
            <a:ext cx="10908792" cy="777240"/>
          </a:xfrm>
          <a:prstGeom prst="rect">
            <a:avLst/>
          </a:prstGeom>
          <a:solidFill>
            <a:srgbClr val="F1F3F0"/>
          </a:solidFill>
          <a:ln w="9525">
            <a:solidFill>
              <a:srgbClr val="D3D9D0"/>
            </a:solidFill>
            <a:prstDash val="solid"/>
          </a:ln>
        </p:spPr>
      </p:sp>
      <p:sp>
        <p:nvSpPr>
          <p:cNvPr id="28" name="Shape 26"/>
          <p:cNvSpPr/>
          <p:nvPr/>
        </p:nvSpPr>
        <p:spPr>
          <a:xfrm>
            <a:off x="620878" y="5467198"/>
            <a:ext cx="59436" cy="12802"/>
          </a:xfrm>
          <a:prstGeom prst="rect">
            <a:avLst/>
          </a:prstGeom>
          <a:solidFill>
            <a:srgbClr val="66705F"/>
          </a:solidFill>
          <a:ln/>
        </p:spPr>
      </p:sp>
      <p:sp>
        <p:nvSpPr>
          <p:cNvPr id="29" name="Shape 27"/>
          <p:cNvSpPr/>
          <p:nvPr/>
        </p:nvSpPr>
        <p:spPr>
          <a:xfrm>
            <a:off x="620878" y="5467198"/>
            <a:ext cx="12802" cy="59436"/>
          </a:xfrm>
          <a:prstGeom prst="rect">
            <a:avLst/>
          </a:prstGeom>
          <a:solidFill>
            <a:srgbClr val="66705F"/>
          </a:solidFill>
          <a:ln/>
        </p:spPr>
      </p:sp>
      <p:sp>
        <p:nvSpPr>
          <p:cNvPr id="30" name="Shape 28"/>
          <p:cNvSpPr/>
          <p:nvPr/>
        </p:nvSpPr>
        <p:spPr>
          <a:xfrm>
            <a:off x="11508638" y="5467198"/>
            <a:ext cx="59436" cy="12802"/>
          </a:xfrm>
          <a:prstGeom prst="rect">
            <a:avLst/>
          </a:prstGeom>
          <a:solidFill>
            <a:srgbClr val="66705F"/>
          </a:solidFill>
          <a:ln/>
        </p:spPr>
      </p:sp>
      <p:sp>
        <p:nvSpPr>
          <p:cNvPr id="31" name="Shape 29"/>
          <p:cNvSpPr/>
          <p:nvPr/>
        </p:nvSpPr>
        <p:spPr>
          <a:xfrm>
            <a:off x="11555273" y="5467198"/>
            <a:ext cx="12802" cy="59436"/>
          </a:xfrm>
          <a:prstGeom prst="rect">
            <a:avLst/>
          </a:prstGeom>
          <a:solidFill>
            <a:srgbClr val="66705F"/>
          </a:solidFill>
          <a:ln/>
        </p:spPr>
      </p:sp>
      <p:sp>
        <p:nvSpPr>
          <p:cNvPr id="32" name="Shape 30"/>
          <p:cNvSpPr/>
          <p:nvPr/>
        </p:nvSpPr>
        <p:spPr>
          <a:xfrm>
            <a:off x="620878" y="6270041"/>
            <a:ext cx="59436" cy="12802"/>
          </a:xfrm>
          <a:prstGeom prst="rect">
            <a:avLst/>
          </a:prstGeom>
          <a:solidFill>
            <a:srgbClr val="66705F"/>
          </a:solidFill>
          <a:ln/>
        </p:spPr>
      </p:sp>
      <p:sp>
        <p:nvSpPr>
          <p:cNvPr id="33" name="Shape 31"/>
          <p:cNvSpPr/>
          <p:nvPr/>
        </p:nvSpPr>
        <p:spPr>
          <a:xfrm>
            <a:off x="620878" y="6223406"/>
            <a:ext cx="12802" cy="59436"/>
          </a:xfrm>
          <a:prstGeom prst="rect">
            <a:avLst/>
          </a:prstGeom>
          <a:solidFill>
            <a:srgbClr val="66705F"/>
          </a:solidFill>
          <a:ln/>
        </p:spPr>
      </p:sp>
      <p:sp>
        <p:nvSpPr>
          <p:cNvPr id="34" name="Shape 32"/>
          <p:cNvSpPr/>
          <p:nvPr/>
        </p:nvSpPr>
        <p:spPr>
          <a:xfrm>
            <a:off x="11508638" y="6270041"/>
            <a:ext cx="59436" cy="12802"/>
          </a:xfrm>
          <a:prstGeom prst="rect">
            <a:avLst/>
          </a:prstGeom>
          <a:solidFill>
            <a:srgbClr val="66705F"/>
          </a:solidFill>
          <a:ln/>
        </p:spPr>
      </p:sp>
      <p:sp>
        <p:nvSpPr>
          <p:cNvPr id="35" name="Shape 33"/>
          <p:cNvSpPr/>
          <p:nvPr/>
        </p:nvSpPr>
        <p:spPr>
          <a:xfrm>
            <a:off x="11555273" y="6223406"/>
            <a:ext cx="12802" cy="59436"/>
          </a:xfrm>
          <a:prstGeom prst="rect">
            <a:avLst/>
          </a:prstGeom>
          <a:solidFill>
            <a:srgbClr val="66705F"/>
          </a:solidFill>
          <a:ln/>
        </p:spPr>
      </p:sp>
      <p:sp>
        <p:nvSpPr>
          <p:cNvPr id="36" name="Text 34"/>
          <p:cNvSpPr txBox="1"/>
          <p:nvPr/>
        </p:nvSpPr>
        <p:spPr>
          <a:xfrm>
            <a:off x="932688" y="5605272"/>
            <a:ext cx="10323576" cy="548640"/>
          </a:xfrm>
          <a:prstGeom prst="rect">
            <a:avLst/>
          </a:prstGeom>
          <a:noFill/>
          <a:ln/>
        </p:spPr>
        <p:txBody>
          <a:bodyPr wrap="square" lIns="0" tIns="0" rIns="0" bIns="0" rtlCol="0" anchor="ctr"/>
          <a:lstStyle/>
          <a:p>
            <a:pPr indent="0" marL="0">
              <a:lnSpc>
                <a:spcPct val="120000"/>
              </a:lnSpc>
              <a:buNone/>
            </a:pPr>
            <a:r>
              <a:rPr lang="en-US" sz="1250" b="1" dirty="0">
                <a:solidFill>
                  <a:srgbClr val="000000"/>
                </a:solidFill>
                <a:latin typeface="Helvetica Neue" pitchFamily="34" charset="0"/>
                <a:ea typeface="Helvetica Neue" pitchFamily="34" charset="-122"/>
                <a:cs typeface="Helvetica Neue" pitchFamily="34" charset="-120"/>
              </a:rPr>
              <a:t>End state: when an allied nation decides ammunition must cease to exist, the call comes to us — and the property never leaves their custody on the way.</a:t>
            </a:r>
            <a:endParaRPr lang="en-US" sz="1250" dirty="0"/>
          </a:p>
        </p:txBody>
      </p:sp>
      <p:sp>
        <p:nvSpPr>
          <p:cNvPr id="37" name="Text 3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09  ·  TWB DESIGNS — CONFIDENTIAL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VI — THE FOOTHOLD</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We are not assembling from a whiteboard.</a:t>
            </a:r>
            <a:endParaRPr lang="en-US" sz="2700" dirty="0"/>
          </a:p>
        </p:txBody>
      </p:sp>
      <p:sp>
        <p:nvSpPr>
          <p:cNvPr id="4" name="Text 2"/>
          <p:cNvSpPr txBox="1"/>
          <p:nvPr/>
        </p:nvSpPr>
        <p:spPr>
          <a:xfrm>
            <a:off x="640080" y="1874520"/>
            <a:ext cx="3108960" cy="1554480"/>
          </a:xfrm>
          <a:prstGeom prst="rect">
            <a:avLst/>
          </a:prstGeom>
          <a:noFill/>
          <a:ln/>
        </p:spPr>
        <p:txBody>
          <a:bodyPr wrap="square" lIns="0" tIns="0" rIns="0" bIns="0" rtlCol="0" anchor="t"/>
          <a:lstStyle/>
          <a:p>
            <a:pPr algn="l" indent="0" marL="0">
              <a:buNone/>
            </a:pPr>
            <a:r>
              <a:rPr lang="en-US" sz="9000" spc="-300" kern="0" dirty="0">
                <a:solidFill>
                  <a:srgbClr val="000000"/>
                </a:solidFill>
                <a:latin typeface="Helvetica Neue" pitchFamily="34" charset="0"/>
                <a:ea typeface="Helvetica Neue" pitchFamily="34" charset="-122"/>
                <a:cs typeface="Helvetica Neue" pitchFamily="34" charset="-120"/>
              </a:rPr>
              <a:t>25</a:t>
            </a:r>
            <a:endParaRPr lang="en-US" sz="9000" dirty="0"/>
          </a:p>
        </p:txBody>
      </p:sp>
      <p:sp>
        <p:nvSpPr>
          <p:cNvPr id="5" name="Text 3"/>
          <p:cNvSpPr txBox="1"/>
          <p:nvPr/>
        </p:nvSpPr>
        <p:spPr>
          <a:xfrm>
            <a:off x="640080" y="3410712"/>
            <a:ext cx="32004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YEARS OPERATING — EMACS, IN SERVICE SINCE 2001, CO-DEVELOPED WITH THE RCMP</a:t>
            </a:r>
            <a:endParaRPr lang="en-US" sz="1050" dirty="0"/>
          </a:p>
        </p:txBody>
      </p:sp>
      <p:sp>
        <p:nvSpPr>
          <p:cNvPr id="6" name="Shape 4"/>
          <p:cNvSpPr/>
          <p:nvPr/>
        </p:nvSpPr>
        <p:spPr>
          <a:xfrm>
            <a:off x="640080" y="4160520"/>
            <a:ext cx="3200400" cy="0"/>
          </a:xfrm>
          <a:prstGeom prst="line">
            <a:avLst/>
          </a:prstGeom>
          <a:noFill/>
          <a:ln w="9525">
            <a:solidFill>
              <a:srgbClr val="E2E1DA"/>
            </a:solidFill>
            <a:prstDash val="solid"/>
          </a:ln>
        </p:spPr>
      </p:sp>
      <p:sp>
        <p:nvSpPr>
          <p:cNvPr id="7" name="Text 5"/>
          <p:cNvSpPr txBox="1"/>
          <p:nvPr/>
        </p:nvSpPr>
        <p:spPr>
          <a:xfrm>
            <a:off x="640080" y="4251960"/>
            <a:ext cx="3200400" cy="228600"/>
          </a:xfrm>
          <a:prstGeom prst="rect">
            <a:avLst/>
          </a:prstGeom>
          <a:noFill/>
          <a:ln/>
        </p:spPr>
        <p:txBody>
          <a:bodyPr wrap="square" lIns="0" tIns="0" rIns="0" bIns="0" rtlCol="0" anchor="ctr"/>
          <a:lstStyle/>
          <a:p>
            <a:pPr indent="0" marL="0">
              <a:buNone/>
            </a:pPr>
            <a:r>
              <a:rPr lang="en-US" sz="850" b="1" spc="180" kern="0" dirty="0">
                <a:solidFill>
                  <a:srgbClr val="66705F"/>
                </a:solidFill>
                <a:latin typeface="IBM Plex Mono" pitchFamily="34" charset="0"/>
                <a:ea typeface="IBM Plex Mono" pitchFamily="34" charset="-122"/>
                <a:cs typeface="IBM Plex Mono" pitchFamily="34" charset="-120"/>
              </a:rPr>
              <a:t>SCOPE</a:t>
            </a:r>
            <a:endParaRPr lang="en-US" sz="850" dirty="0"/>
          </a:p>
        </p:txBody>
      </p:sp>
      <p:sp>
        <p:nvSpPr>
          <p:cNvPr id="8" name="Text 6"/>
          <p:cNvSpPr txBox="1"/>
          <p:nvPr/>
        </p:nvSpPr>
        <p:spPr>
          <a:xfrm>
            <a:off x="640080" y="4480560"/>
            <a:ext cx="3200400" cy="365760"/>
          </a:xfrm>
          <a:prstGeom prst="rect">
            <a:avLst/>
          </a:prstGeom>
          <a:noFill/>
          <a:ln/>
        </p:spPr>
        <p:txBody>
          <a:bodyPr wrap="square" lIns="0" tIns="0" rIns="0" bIns="0" rtlCol="0" anchor="ctr"/>
          <a:lstStyle/>
          <a:p>
            <a:pPr indent="0" marL="0">
              <a:lnSpc>
                <a:spcPct val="115000"/>
              </a:lnSpc>
              <a:buNone/>
            </a:pPr>
            <a:r>
              <a:rPr lang="en-US" sz="950" dirty="0">
                <a:solidFill>
                  <a:srgbClr val="33332F"/>
                </a:solidFill>
                <a:latin typeface="Helvetica Neue" pitchFamily="34" charset="0"/>
                <a:ea typeface="Helvetica Neue" pitchFamily="34" charset="-122"/>
                <a:cs typeface="Helvetica Neue" pitchFamily="34" charset="-120"/>
              </a:rPr>
              <a:t>Small arms ammunition to .50 calibre · seized narcotics &amp; property (LE)</a:t>
            </a:r>
            <a:endParaRPr lang="en-US" sz="950" dirty="0"/>
          </a:p>
        </p:txBody>
      </p:sp>
      <p:sp>
        <p:nvSpPr>
          <p:cNvPr id="9" name="Shape 7"/>
          <p:cNvSpPr/>
          <p:nvPr/>
        </p:nvSpPr>
        <p:spPr>
          <a:xfrm>
            <a:off x="640080" y="4818888"/>
            <a:ext cx="3200400" cy="0"/>
          </a:xfrm>
          <a:prstGeom prst="line">
            <a:avLst/>
          </a:prstGeom>
          <a:noFill/>
          <a:ln w="9525">
            <a:solidFill>
              <a:srgbClr val="E2E1DA"/>
            </a:solidFill>
            <a:prstDash val="solid"/>
          </a:ln>
        </p:spPr>
      </p:sp>
      <p:sp>
        <p:nvSpPr>
          <p:cNvPr id="10" name="Text 8"/>
          <p:cNvSpPr txBox="1"/>
          <p:nvPr/>
        </p:nvSpPr>
        <p:spPr>
          <a:xfrm>
            <a:off x="640080" y="4910328"/>
            <a:ext cx="3200400" cy="228600"/>
          </a:xfrm>
          <a:prstGeom prst="rect">
            <a:avLst/>
          </a:prstGeom>
          <a:noFill/>
          <a:ln/>
        </p:spPr>
        <p:txBody>
          <a:bodyPr wrap="square" lIns="0" tIns="0" rIns="0" bIns="0" rtlCol="0" anchor="ctr"/>
          <a:lstStyle/>
          <a:p>
            <a:pPr indent="0" marL="0">
              <a:buNone/>
            </a:pPr>
            <a:r>
              <a:rPr lang="en-US" sz="850" b="1" spc="180" kern="0" dirty="0">
                <a:solidFill>
                  <a:srgbClr val="66705F"/>
                </a:solidFill>
                <a:latin typeface="IBM Plex Mono" pitchFamily="34" charset="0"/>
                <a:ea typeface="IBM Plex Mono" pitchFamily="34" charset="-122"/>
                <a:cs typeface="IBM Plex Mono" pitchFamily="34" charset="-120"/>
              </a:rPr>
              <a:t>FOOTPRINT</a:t>
            </a:r>
            <a:endParaRPr lang="en-US" sz="850" dirty="0"/>
          </a:p>
        </p:txBody>
      </p:sp>
      <p:sp>
        <p:nvSpPr>
          <p:cNvPr id="11" name="Text 9"/>
          <p:cNvSpPr txBox="1"/>
          <p:nvPr/>
        </p:nvSpPr>
        <p:spPr>
          <a:xfrm>
            <a:off x="640080" y="5138928"/>
            <a:ext cx="3200400" cy="365760"/>
          </a:xfrm>
          <a:prstGeom prst="rect">
            <a:avLst/>
          </a:prstGeom>
          <a:noFill/>
          <a:ln/>
        </p:spPr>
        <p:txBody>
          <a:bodyPr wrap="square" lIns="0" tIns="0" rIns="0" bIns="0" rtlCol="0" anchor="ctr"/>
          <a:lstStyle/>
          <a:p>
            <a:pPr indent="0" marL="0">
              <a:lnSpc>
                <a:spcPct val="115000"/>
              </a:lnSpc>
              <a:buNone/>
            </a:pPr>
            <a:r>
              <a:rPr lang="en-US" sz="950" dirty="0">
                <a:solidFill>
                  <a:srgbClr val="33332F"/>
                </a:solidFill>
                <a:latin typeface="Helvetica Neue" pitchFamily="34" charset="0"/>
                <a:ea typeface="Helvetica Neue" pitchFamily="34" charset="-122"/>
                <a:cs typeface="Helvetica Neue" pitchFamily="34" charset="-120"/>
              </a:rPr>
              <a:t>Canadian federal policing · US county LE · European defence disposal · allied militaries under NDA</a:t>
            </a:r>
            <a:endParaRPr lang="en-US" sz="950" dirty="0"/>
          </a:p>
        </p:txBody>
      </p:sp>
      <p:sp>
        <p:nvSpPr>
          <p:cNvPr id="12" name="Shape 10"/>
          <p:cNvSpPr/>
          <p:nvPr/>
        </p:nvSpPr>
        <p:spPr>
          <a:xfrm>
            <a:off x="640080" y="5477256"/>
            <a:ext cx="3200400" cy="0"/>
          </a:xfrm>
          <a:prstGeom prst="line">
            <a:avLst/>
          </a:prstGeom>
          <a:noFill/>
          <a:ln w="9525">
            <a:solidFill>
              <a:srgbClr val="E2E1DA"/>
            </a:solidFill>
            <a:prstDash val="solid"/>
          </a:ln>
        </p:spPr>
      </p:sp>
      <p:sp>
        <p:nvSpPr>
          <p:cNvPr id="13" name="Text 11"/>
          <p:cNvSpPr txBox="1"/>
          <p:nvPr/>
        </p:nvSpPr>
        <p:spPr>
          <a:xfrm>
            <a:off x="640080" y="5568696"/>
            <a:ext cx="3200400" cy="228600"/>
          </a:xfrm>
          <a:prstGeom prst="rect">
            <a:avLst/>
          </a:prstGeom>
          <a:noFill/>
          <a:ln/>
        </p:spPr>
        <p:txBody>
          <a:bodyPr wrap="square" lIns="0" tIns="0" rIns="0" bIns="0" rtlCol="0" anchor="ctr"/>
          <a:lstStyle/>
          <a:p>
            <a:pPr indent="0" marL="0">
              <a:buNone/>
            </a:pPr>
            <a:r>
              <a:rPr lang="en-US" sz="850" b="1" spc="180" kern="0" dirty="0">
                <a:solidFill>
                  <a:srgbClr val="66705F"/>
                </a:solidFill>
                <a:latin typeface="IBM Plex Mono" pitchFamily="34" charset="0"/>
                <a:ea typeface="IBM Plex Mono" pitchFamily="34" charset="-122"/>
                <a:cs typeface="IBM Plex Mono" pitchFamily="34" charset="-120"/>
              </a:rPr>
              <a:t>REGISTER</a:t>
            </a:r>
            <a:endParaRPr lang="en-US" sz="850" dirty="0"/>
          </a:p>
        </p:txBody>
      </p:sp>
      <p:sp>
        <p:nvSpPr>
          <p:cNvPr id="14" name="Text 12"/>
          <p:cNvSpPr txBox="1"/>
          <p:nvPr/>
        </p:nvSpPr>
        <p:spPr>
          <a:xfrm>
            <a:off x="640080" y="5797296"/>
            <a:ext cx="3200400" cy="365760"/>
          </a:xfrm>
          <a:prstGeom prst="rect">
            <a:avLst/>
          </a:prstGeom>
          <a:noFill/>
          <a:ln/>
        </p:spPr>
        <p:txBody>
          <a:bodyPr wrap="square" lIns="0" tIns="0" rIns="0" bIns="0" rtlCol="0" anchor="ctr"/>
          <a:lstStyle/>
          <a:p>
            <a:pPr indent="0" marL="0">
              <a:lnSpc>
                <a:spcPct val="115000"/>
              </a:lnSpc>
              <a:buNone/>
            </a:pPr>
            <a:r>
              <a:rPr lang="en-US" sz="950" dirty="0">
                <a:solidFill>
                  <a:srgbClr val="33332F"/>
                </a:solidFill>
                <a:latin typeface="Helvetica Neue" pitchFamily="34" charset="0"/>
                <a:ea typeface="Helvetica Neue" pitchFamily="34" charset="-122"/>
                <a:cs typeface="Helvetica Neue" pitchFamily="34" charset="-120"/>
              </a:rPr>
              <a:t>Closed chamber — categorically not open burning under 40 CFR 260.10</a:t>
            </a:r>
            <a:endParaRPr lang="en-US" sz="950" dirty="0"/>
          </a:p>
        </p:txBody>
      </p:sp>
      <p:sp>
        <p:nvSpPr>
          <p:cNvPr id="15" name="Shape 13"/>
          <p:cNvSpPr/>
          <p:nvPr/>
        </p:nvSpPr>
        <p:spPr>
          <a:xfrm>
            <a:off x="3977640" y="1874520"/>
            <a:ext cx="7571232" cy="4160520"/>
          </a:xfrm>
          <a:prstGeom prst="rect">
            <a:avLst/>
          </a:prstGeom>
          <a:solidFill>
            <a:srgbClr val="F1F3F0"/>
          </a:solidFill>
          <a:ln w="9525">
            <a:solidFill>
              <a:srgbClr val="D3D9D0"/>
            </a:solidFill>
            <a:prstDash val="solid"/>
          </a:ln>
        </p:spPr>
      </p:sp>
      <p:sp>
        <p:nvSpPr>
          <p:cNvPr id="16" name="Shape 14"/>
          <p:cNvSpPr/>
          <p:nvPr/>
        </p:nvSpPr>
        <p:spPr>
          <a:xfrm>
            <a:off x="3958438" y="1855318"/>
            <a:ext cx="59436" cy="12802"/>
          </a:xfrm>
          <a:prstGeom prst="rect">
            <a:avLst/>
          </a:prstGeom>
          <a:solidFill>
            <a:srgbClr val="66705F"/>
          </a:solidFill>
          <a:ln/>
        </p:spPr>
      </p:sp>
      <p:sp>
        <p:nvSpPr>
          <p:cNvPr id="17" name="Shape 15"/>
          <p:cNvSpPr/>
          <p:nvPr/>
        </p:nvSpPr>
        <p:spPr>
          <a:xfrm>
            <a:off x="3958438" y="1855318"/>
            <a:ext cx="12802" cy="59436"/>
          </a:xfrm>
          <a:prstGeom prst="rect">
            <a:avLst/>
          </a:prstGeom>
          <a:solidFill>
            <a:srgbClr val="66705F"/>
          </a:solidFill>
          <a:ln/>
        </p:spPr>
      </p:sp>
      <p:sp>
        <p:nvSpPr>
          <p:cNvPr id="18" name="Shape 16"/>
          <p:cNvSpPr/>
          <p:nvPr/>
        </p:nvSpPr>
        <p:spPr>
          <a:xfrm>
            <a:off x="11508638" y="1855318"/>
            <a:ext cx="59436" cy="12802"/>
          </a:xfrm>
          <a:prstGeom prst="rect">
            <a:avLst/>
          </a:prstGeom>
          <a:solidFill>
            <a:srgbClr val="66705F"/>
          </a:solidFill>
          <a:ln/>
        </p:spPr>
      </p:sp>
      <p:sp>
        <p:nvSpPr>
          <p:cNvPr id="19" name="Shape 17"/>
          <p:cNvSpPr/>
          <p:nvPr/>
        </p:nvSpPr>
        <p:spPr>
          <a:xfrm>
            <a:off x="11555273" y="1855318"/>
            <a:ext cx="12802" cy="59436"/>
          </a:xfrm>
          <a:prstGeom prst="rect">
            <a:avLst/>
          </a:prstGeom>
          <a:solidFill>
            <a:srgbClr val="66705F"/>
          </a:solidFill>
          <a:ln/>
        </p:spPr>
      </p:sp>
      <p:sp>
        <p:nvSpPr>
          <p:cNvPr id="20" name="Shape 18"/>
          <p:cNvSpPr/>
          <p:nvPr/>
        </p:nvSpPr>
        <p:spPr>
          <a:xfrm>
            <a:off x="3958438" y="6041441"/>
            <a:ext cx="59436" cy="12802"/>
          </a:xfrm>
          <a:prstGeom prst="rect">
            <a:avLst/>
          </a:prstGeom>
          <a:solidFill>
            <a:srgbClr val="66705F"/>
          </a:solidFill>
          <a:ln/>
        </p:spPr>
      </p:sp>
      <p:sp>
        <p:nvSpPr>
          <p:cNvPr id="21" name="Shape 19"/>
          <p:cNvSpPr/>
          <p:nvPr/>
        </p:nvSpPr>
        <p:spPr>
          <a:xfrm>
            <a:off x="3958438" y="5994806"/>
            <a:ext cx="12802" cy="59436"/>
          </a:xfrm>
          <a:prstGeom prst="rect">
            <a:avLst/>
          </a:prstGeom>
          <a:solidFill>
            <a:srgbClr val="66705F"/>
          </a:solidFill>
          <a:ln/>
        </p:spPr>
      </p:sp>
      <p:sp>
        <p:nvSpPr>
          <p:cNvPr id="22" name="Shape 20"/>
          <p:cNvSpPr/>
          <p:nvPr/>
        </p:nvSpPr>
        <p:spPr>
          <a:xfrm>
            <a:off x="11508638" y="6041441"/>
            <a:ext cx="59436" cy="12802"/>
          </a:xfrm>
          <a:prstGeom prst="rect">
            <a:avLst/>
          </a:prstGeom>
          <a:solidFill>
            <a:srgbClr val="66705F"/>
          </a:solidFill>
          <a:ln/>
        </p:spPr>
      </p:sp>
      <p:sp>
        <p:nvSpPr>
          <p:cNvPr id="23" name="Shape 21"/>
          <p:cNvSpPr/>
          <p:nvPr/>
        </p:nvSpPr>
        <p:spPr>
          <a:xfrm>
            <a:off x="11555273" y="5994806"/>
            <a:ext cx="12802" cy="59436"/>
          </a:xfrm>
          <a:prstGeom prst="rect">
            <a:avLst/>
          </a:prstGeom>
          <a:solidFill>
            <a:srgbClr val="66705F"/>
          </a:solidFill>
          <a:ln/>
        </p:spPr>
      </p:sp>
      <p:sp>
        <p:nvSpPr>
          <p:cNvPr id="24" name="Text 22"/>
          <p:cNvSpPr txBox="1"/>
          <p:nvPr/>
        </p:nvSpPr>
        <p:spPr>
          <a:xfrm>
            <a:off x="4251960" y="2121408"/>
            <a:ext cx="7040880" cy="274320"/>
          </a:xfrm>
          <a:prstGeom prst="rect">
            <a:avLst/>
          </a:prstGeom>
          <a:noFill/>
          <a:ln/>
        </p:spPr>
        <p:txBody>
          <a:bodyPr wrap="square" lIns="0" tIns="0" rIns="0" bIns="0" rtlCol="0" anchor="ctr"/>
          <a:lstStyle/>
          <a:p>
            <a:pPr indent="0" marL="0">
              <a:buNone/>
            </a:pPr>
            <a:r>
              <a:rPr lang="en-US" sz="1000" b="1" spc="200" kern="0" dirty="0">
                <a:solidFill>
                  <a:srgbClr val="66705F"/>
                </a:solidFill>
                <a:latin typeface="IBM Plex Mono" pitchFamily="34" charset="0"/>
                <a:ea typeface="IBM Plex Mono" pitchFamily="34" charset="-122"/>
                <a:cs typeface="IBM Plex Mono" pitchFamily="34" charset="-120"/>
              </a:rPr>
              <a:t>WHAT THE FOOTHOLD GIVES THE PLATFORM</a:t>
            </a:r>
            <a:endParaRPr lang="en-US" sz="1000" dirty="0"/>
          </a:p>
        </p:txBody>
      </p:sp>
      <p:sp>
        <p:nvSpPr>
          <p:cNvPr id="25" name="Text 23"/>
          <p:cNvSpPr txBox="1"/>
          <p:nvPr/>
        </p:nvSpPr>
        <p:spPr>
          <a:xfrm>
            <a:off x="4251960" y="2487168"/>
            <a:ext cx="7040880" cy="1371600"/>
          </a:xfrm>
          <a:prstGeom prst="rect">
            <a:avLst/>
          </a:prstGeom>
          <a:noFill/>
          <a:ln/>
        </p:spPr>
        <p:txBody>
          <a:bodyPr wrap="square" lIns="0" tIns="0" rIns="0" bIns="0" rtlCol="0" anchor="ctr"/>
          <a:lstStyle/>
          <a:p>
            <a:pPr indent="0" marL="0">
              <a:lnSpc>
                <a:spcPct val="135000"/>
              </a:lnSpc>
              <a:buNone/>
            </a:pPr>
            <a:r>
              <a:rPr lang="en-US" sz="1500" dirty="0">
                <a:solidFill>
                  <a:srgbClr val="33332F"/>
                </a:solidFill>
                <a:latin typeface="Helvetica Neue" pitchFamily="34" charset="0"/>
                <a:ea typeface="Helvetica Neue" pitchFamily="34" charset="-122"/>
                <a:cs typeface="Helvetica Neue" pitchFamily="34" charset="-120"/>
              </a:rPr>
              <a:t>The operating doctrine every acquired and developed capability will run on: </a:t>
            </a:r>
            <a:pPr indent="0" marL="0">
              <a:lnSpc>
                <a:spcPct val="135000"/>
              </a:lnSpc>
              <a:buNone/>
            </a:pPr>
            <a:r>
              <a:rPr lang="en-US" sz="1500" b="1" dirty="0">
                <a:solidFill>
                  <a:srgbClr val="000000"/>
                </a:solidFill>
                <a:latin typeface="Helvetica Neue" pitchFamily="34" charset="0"/>
                <a:ea typeface="Helvetica Neue" pitchFamily="34" charset="-122"/>
                <a:cs typeface="Helvetica Neue" pitchFamily="34" charset="-120"/>
              </a:rPr>
              <a:t>same day, on site, the owner’s own people. Zero transfers. Recovered, not released. Nobody standing over live ordnance.</a:t>
            </a:r>
            <a:endParaRPr lang="en-US" sz="1500" dirty="0"/>
          </a:p>
        </p:txBody>
      </p:sp>
      <p:sp>
        <p:nvSpPr>
          <p:cNvPr id="26" name="Text 24"/>
          <p:cNvSpPr txBox="1"/>
          <p:nvPr/>
        </p:nvSpPr>
        <p:spPr>
          <a:xfrm>
            <a:off x="4251960" y="3977640"/>
            <a:ext cx="7040880" cy="822960"/>
          </a:xfrm>
          <a:prstGeom prst="rect">
            <a:avLst/>
          </a:prstGeom>
          <a:noFill/>
          <a:ln/>
        </p:spPr>
        <p:txBody>
          <a:bodyPr wrap="square" lIns="0" tIns="0" rIns="0" bIns="0" rtlCol="0" anchor="ctr"/>
          <a:lstStyle/>
          <a:p>
            <a:pPr indent="0" marL="0">
              <a:lnSpc>
                <a:spcPct val="130000"/>
              </a:lnSpc>
              <a:buNone/>
            </a:pPr>
            <a:r>
              <a:rPr lang="en-US" sz="1400" dirty="0">
                <a:solidFill>
                  <a:srgbClr val="33332F"/>
                </a:solidFill>
                <a:latin typeface="Helvetica Neue" pitchFamily="34" charset="0"/>
                <a:ea typeface="Helvetica Neue" pitchFamily="34" charset="-122"/>
                <a:cs typeface="Helvetica Neue" pitchFamily="34" charset="-120"/>
              </a:rPr>
              <a:t>Custody is the standard the whole catalogue inherits — and its data becomes the platform’s certification layer.</a:t>
            </a:r>
            <a:endParaRPr lang="en-US" sz="1400" dirty="0"/>
          </a:p>
        </p:txBody>
      </p:sp>
      <p:sp>
        <p:nvSpPr>
          <p:cNvPr id="27" name="Text 25"/>
          <p:cNvSpPr txBox="1"/>
          <p:nvPr/>
        </p:nvSpPr>
        <p:spPr>
          <a:xfrm>
            <a:off x="4251960" y="5029200"/>
            <a:ext cx="7040880" cy="777240"/>
          </a:xfrm>
          <a:prstGeom prst="rect">
            <a:avLst/>
          </a:prstGeom>
          <a:noFill/>
          <a:ln/>
        </p:spPr>
        <p:txBody>
          <a:bodyPr wrap="square" lIns="0" tIns="0" rIns="0" bIns="0" rtlCol="0" anchor="ctr"/>
          <a:lstStyle/>
          <a:p>
            <a:pPr indent="0" marL="0">
              <a:lnSpc>
                <a:spcPct val="130000"/>
              </a:lnSpc>
              <a:buNone/>
            </a:pPr>
            <a:r>
              <a:rPr lang="en-US" sz="1400" b="1" dirty="0">
                <a:solidFill>
                  <a:srgbClr val="000000"/>
                </a:solidFill>
                <a:latin typeface="Helvetica Neue" pitchFamily="34" charset="0"/>
                <a:ea typeface="Helvetica Neue" pitchFamily="34" charset="-122"/>
                <a:cs typeface="Helvetica Neue" pitchFamily="34" charset="-120"/>
              </a:rPr>
              <a:t>Everyone else moves the material. We move the machine </a:t>
            </a:r>
            <a:pPr indent="0" marL="0">
              <a:lnSpc>
                <a:spcPct val="130000"/>
              </a:lnSpc>
              <a:buNone/>
            </a:pPr>
            <a:r>
              <a:rPr lang="en-US" sz="1400" dirty="0">
                <a:solidFill>
                  <a:srgbClr val="33332F"/>
                </a:solidFill>
                <a:latin typeface="Helvetica Neue" pitchFamily="34" charset="0"/>
                <a:ea typeface="Helvetica Neue" pitchFamily="34" charset="-122"/>
                <a:cs typeface="Helvetica Neue" pitchFamily="34" charset="-120"/>
              </a:rPr>
              <a:t>— and soon, the whole capability set.</a:t>
            </a:r>
            <a:endParaRPr lang="en-US" sz="1400" dirty="0"/>
          </a:p>
        </p:txBody>
      </p:sp>
      <p:sp>
        <p:nvSpPr>
          <p:cNvPr id="28" name="Text 26"/>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10  ·  TWB DESIGNS — CONFIDENTIAL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 + VI — THE ASSEMBLED OFFER</a:t>
            </a:r>
            <a:endParaRPr lang="en-US" sz="1000" dirty="0"/>
          </a:p>
        </p:txBody>
      </p:sp>
      <p:sp>
        <p:nvSpPr>
          <p:cNvPr id="3" name="Text 1"/>
          <p:cNvSpPr txBox="1"/>
          <p:nvPr/>
        </p:nvSpPr>
        <p:spPr>
          <a:xfrm>
            <a:off x="640080" y="868680"/>
            <a:ext cx="768096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One counterparty. Six service lines.</a:t>
            </a:r>
            <a:endParaRPr lang="en-US" sz="2700" dirty="0"/>
          </a:p>
        </p:txBody>
      </p:sp>
      <p:sp>
        <p:nvSpPr>
          <p:cNvPr id="4" name="Text 2"/>
          <p:cNvSpPr txBox="1"/>
          <p:nvPr/>
        </p:nvSpPr>
        <p:spPr>
          <a:xfrm>
            <a:off x="8869680" y="640080"/>
            <a:ext cx="1371600" cy="914400"/>
          </a:xfrm>
          <a:prstGeom prst="rect">
            <a:avLst/>
          </a:prstGeom>
          <a:noFill/>
          <a:ln/>
        </p:spPr>
        <p:txBody>
          <a:bodyPr wrap="square" lIns="0" tIns="0" rIns="0" bIns="0" rtlCol="0" anchor="t"/>
          <a:lstStyle/>
          <a:p>
            <a:pPr algn="r" indent="0" marL="0">
              <a:buNone/>
            </a:pPr>
            <a:r>
              <a:rPr lang="en-US" sz="5600" spc="-100" kern="0" dirty="0">
                <a:solidFill>
                  <a:srgbClr val="66705F"/>
                </a:solidFill>
                <a:latin typeface="Helvetica Neue" pitchFamily="34" charset="0"/>
                <a:ea typeface="Helvetica Neue" pitchFamily="34" charset="-122"/>
                <a:cs typeface="Helvetica Neue" pitchFamily="34" charset="-120"/>
              </a:rPr>
              <a:t>1</a:t>
            </a:r>
            <a:endParaRPr lang="en-US" sz="5600" dirty="0"/>
          </a:p>
        </p:txBody>
      </p:sp>
      <p:sp>
        <p:nvSpPr>
          <p:cNvPr id="5" name="Text 3"/>
          <p:cNvSpPr txBox="1"/>
          <p:nvPr/>
        </p:nvSpPr>
        <p:spPr>
          <a:xfrm>
            <a:off x="10195560" y="640080"/>
            <a:ext cx="1463040" cy="914400"/>
          </a:xfrm>
          <a:prstGeom prst="rect">
            <a:avLst/>
          </a:prstGeom>
          <a:noFill/>
          <a:ln/>
        </p:spPr>
        <p:txBody>
          <a:bodyPr wrap="square" lIns="0" tIns="0" rIns="0" bIns="0" rtlCol="0" anchor="t"/>
          <a:lstStyle/>
          <a:p>
            <a:pPr algn="r" indent="0" marL="0">
              <a:buNone/>
            </a:pPr>
            <a:r>
              <a:rPr lang="en-US" sz="5600" spc="-100" kern="0" dirty="0">
                <a:solidFill>
                  <a:srgbClr val="000000"/>
                </a:solidFill>
                <a:latin typeface="Helvetica Neue" pitchFamily="34" charset="0"/>
                <a:ea typeface="Helvetica Neue" pitchFamily="34" charset="-122"/>
                <a:cs typeface="Helvetica Neue" pitchFamily="34" charset="-120"/>
              </a:rPr>
              <a:t>→6</a:t>
            </a:r>
            <a:endParaRPr lang="en-US" sz="5600" dirty="0"/>
          </a:p>
        </p:txBody>
      </p:sp>
      <p:sp>
        <p:nvSpPr>
          <p:cNvPr id="6" name="Shape 4"/>
          <p:cNvSpPr/>
          <p:nvPr/>
        </p:nvSpPr>
        <p:spPr>
          <a:xfrm>
            <a:off x="640080" y="1965960"/>
            <a:ext cx="5317236" cy="1115568"/>
          </a:xfrm>
          <a:prstGeom prst="rect">
            <a:avLst/>
          </a:prstGeom>
          <a:solidFill>
            <a:srgbClr val="F1F3F0"/>
          </a:solidFill>
          <a:ln w="9525">
            <a:solidFill>
              <a:srgbClr val="D3D9D0"/>
            </a:solidFill>
            <a:prstDash val="solid"/>
          </a:ln>
        </p:spPr>
      </p:sp>
      <p:sp>
        <p:nvSpPr>
          <p:cNvPr id="7" name="Shape 5"/>
          <p:cNvSpPr/>
          <p:nvPr/>
        </p:nvSpPr>
        <p:spPr>
          <a:xfrm>
            <a:off x="620878" y="1946758"/>
            <a:ext cx="59436" cy="12802"/>
          </a:xfrm>
          <a:prstGeom prst="rect">
            <a:avLst/>
          </a:prstGeom>
          <a:solidFill>
            <a:srgbClr val="66705F"/>
          </a:solidFill>
          <a:ln/>
        </p:spPr>
      </p:sp>
      <p:sp>
        <p:nvSpPr>
          <p:cNvPr id="8" name="Shape 6"/>
          <p:cNvSpPr/>
          <p:nvPr/>
        </p:nvSpPr>
        <p:spPr>
          <a:xfrm>
            <a:off x="620878" y="1946758"/>
            <a:ext cx="12802" cy="59436"/>
          </a:xfrm>
          <a:prstGeom prst="rect">
            <a:avLst/>
          </a:prstGeom>
          <a:solidFill>
            <a:srgbClr val="66705F"/>
          </a:solidFill>
          <a:ln/>
        </p:spPr>
      </p:sp>
      <p:sp>
        <p:nvSpPr>
          <p:cNvPr id="9" name="Shape 7"/>
          <p:cNvSpPr/>
          <p:nvPr/>
        </p:nvSpPr>
        <p:spPr>
          <a:xfrm>
            <a:off x="5917082" y="1946758"/>
            <a:ext cx="59436" cy="12802"/>
          </a:xfrm>
          <a:prstGeom prst="rect">
            <a:avLst/>
          </a:prstGeom>
          <a:solidFill>
            <a:srgbClr val="66705F"/>
          </a:solidFill>
          <a:ln/>
        </p:spPr>
      </p:sp>
      <p:sp>
        <p:nvSpPr>
          <p:cNvPr id="10" name="Shape 8"/>
          <p:cNvSpPr/>
          <p:nvPr/>
        </p:nvSpPr>
        <p:spPr>
          <a:xfrm>
            <a:off x="5963717" y="1946758"/>
            <a:ext cx="12802" cy="59436"/>
          </a:xfrm>
          <a:prstGeom prst="rect">
            <a:avLst/>
          </a:prstGeom>
          <a:solidFill>
            <a:srgbClr val="66705F"/>
          </a:solidFill>
          <a:ln/>
        </p:spPr>
      </p:sp>
      <p:sp>
        <p:nvSpPr>
          <p:cNvPr id="11" name="Shape 9"/>
          <p:cNvSpPr/>
          <p:nvPr/>
        </p:nvSpPr>
        <p:spPr>
          <a:xfrm>
            <a:off x="620878" y="3087929"/>
            <a:ext cx="59436" cy="12802"/>
          </a:xfrm>
          <a:prstGeom prst="rect">
            <a:avLst/>
          </a:prstGeom>
          <a:solidFill>
            <a:srgbClr val="66705F"/>
          </a:solidFill>
          <a:ln/>
        </p:spPr>
      </p:sp>
      <p:sp>
        <p:nvSpPr>
          <p:cNvPr id="12" name="Shape 10"/>
          <p:cNvSpPr/>
          <p:nvPr/>
        </p:nvSpPr>
        <p:spPr>
          <a:xfrm>
            <a:off x="620878" y="3041294"/>
            <a:ext cx="12802" cy="59436"/>
          </a:xfrm>
          <a:prstGeom prst="rect">
            <a:avLst/>
          </a:prstGeom>
          <a:solidFill>
            <a:srgbClr val="66705F"/>
          </a:solidFill>
          <a:ln/>
        </p:spPr>
      </p:sp>
      <p:sp>
        <p:nvSpPr>
          <p:cNvPr id="13" name="Shape 11"/>
          <p:cNvSpPr/>
          <p:nvPr/>
        </p:nvSpPr>
        <p:spPr>
          <a:xfrm>
            <a:off x="5917082" y="3087929"/>
            <a:ext cx="59436" cy="12802"/>
          </a:xfrm>
          <a:prstGeom prst="rect">
            <a:avLst/>
          </a:prstGeom>
          <a:solidFill>
            <a:srgbClr val="66705F"/>
          </a:solidFill>
          <a:ln/>
        </p:spPr>
      </p:sp>
      <p:sp>
        <p:nvSpPr>
          <p:cNvPr id="14" name="Shape 12"/>
          <p:cNvSpPr/>
          <p:nvPr/>
        </p:nvSpPr>
        <p:spPr>
          <a:xfrm>
            <a:off x="5963717" y="3041294"/>
            <a:ext cx="12802" cy="59436"/>
          </a:xfrm>
          <a:prstGeom prst="rect">
            <a:avLst/>
          </a:prstGeom>
          <a:solidFill>
            <a:srgbClr val="66705F"/>
          </a:solidFill>
          <a:ln/>
        </p:spPr>
      </p:sp>
      <p:sp>
        <p:nvSpPr>
          <p:cNvPr id="15" name="Text 13"/>
          <p:cNvSpPr txBox="1"/>
          <p:nvPr/>
        </p:nvSpPr>
        <p:spPr>
          <a:xfrm>
            <a:off x="877824" y="2112264"/>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Deployable destruction</a:t>
            </a:r>
            <a:endParaRPr lang="en-US" sz="1400" dirty="0"/>
          </a:p>
        </p:txBody>
      </p:sp>
      <p:sp>
        <p:nvSpPr>
          <p:cNvPr id="16" name="Text 14"/>
          <p:cNvSpPr txBox="1"/>
          <p:nvPr/>
        </p:nvSpPr>
        <p:spPr>
          <a:xfrm>
            <a:off x="877824" y="2496312"/>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Mobile, on-site, same-day — inside the owner’s custody</a:t>
            </a:r>
            <a:endParaRPr lang="en-US" sz="1050" dirty="0"/>
          </a:p>
        </p:txBody>
      </p:sp>
      <p:sp>
        <p:nvSpPr>
          <p:cNvPr id="17" name="Text 15"/>
          <p:cNvSpPr txBox="1"/>
          <p:nvPr/>
        </p:nvSpPr>
        <p:spPr>
          <a:xfrm>
            <a:off x="4311396" y="2148840"/>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OPERATING TODAY</a:t>
            </a:r>
            <a:endParaRPr lang="en-US" sz="800" dirty="0"/>
          </a:p>
        </p:txBody>
      </p:sp>
      <p:sp>
        <p:nvSpPr>
          <p:cNvPr id="18" name="Shape 16"/>
          <p:cNvSpPr/>
          <p:nvPr/>
        </p:nvSpPr>
        <p:spPr>
          <a:xfrm>
            <a:off x="6231636" y="1965960"/>
            <a:ext cx="5317236" cy="1115568"/>
          </a:xfrm>
          <a:prstGeom prst="rect">
            <a:avLst/>
          </a:prstGeom>
          <a:solidFill>
            <a:srgbClr val="FAFAF8"/>
          </a:solidFill>
          <a:ln w="9525">
            <a:solidFill>
              <a:srgbClr val="E2E1DA"/>
            </a:solidFill>
            <a:prstDash val="solid"/>
          </a:ln>
        </p:spPr>
      </p:sp>
      <p:sp>
        <p:nvSpPr>
          <p:cNvPr id="19" name="Text 17"/>
          <p:cNvSpPr txBox="1"/>
          <p:nvPr/>
        </p:nvSpPr>
        <p:spPr>
          <a:xfrm>
            <a:off x="6469380" y="2112264"/>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Large-calibre &amp; artillery demil</a:t>
            </a:r>
            <a:endParaRPr lang="en-US" sz="1400" dirty="0"/>
          </a:p>
        </p:txBody>
      </p:sp>
      <p:sp>
        <p:nvSpPr>
          <p:cNvPr id="20" name="Text 18"/>
          <p:cNvSpPr txBox="1"/>
          <p:nvPr/>
        </p:nvSpPr>
        <p:spPr>
          <a:xfrm>
            <a:off x="6469380" y="2496312"/>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The tonnage end of the market — up the calibre ladder</a:t>
            </a:r>
            <a:endParaRPr lang="en-US" sz="1050" dirty="0"/>
          </a:p>
        </p:txBody>
      </p:sp>
      <p:sp>
        <p:nvSpPr>
          <p:cNvPr id="21" name="Text 19"/>
          <p:cNvSpPr txBox="1"/>
          <p:nvPr/>
        </p:nvSpPr>
        <p:spPr>
          <a:xfrm>
            <a:off x="9902952" y="2148840"/>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ACQUIRE</a:t>
            </a:r>
            <a:endParaRPr lang="en-US" sz="800" dirty="0"/>
          </a:p>
        </p:txBody>
      </p:sp>
      <p:sp>
        <p:nvSpPr>
          <p:cNvPr id="22" name="Shape 20"/>
          <p:cNvSpPr/>
          <p:nvPr/>
        </p:nvSpPr>
        <p:spPr>
          <a:xfrm>
            <a:off x="640080" y="3264408"/>
            <a:ext cx="5317236" cy="1115568"/>
          </a:xfrm>
          <a:prstGeom prst="rect">
            <a:avLst/>
          </a:prstGeom>
          <a:solidFill>
            <a:srgbClr val="FAFAF8"/>
          </a:solidFill>
          <a:ln w="9525">
            <a:solidFill>
              <a:srgbClr val="E2E1DA"/>
            </a:solidFill>
            <a:prstDash val="solid"/>
          </a:ln>
        </p:spPr>
      </p:sp>
      <p:sp>
        <p:nvSpPr>
          <p:cNvPr id="23" name="Text 21"/>
          <p:cNvSpPr txBox="1"/>
          <p:nvPr/>
        </p:nvSpPr>
        <p:spPr>
          <a:xfrm>
            <a:off x="877824" y="3410712"/>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Materials recovery &amp; reclamation</a:t>
            </a:r>
            <a:endParaRPr lang="en-US" sz="1400" dirty="0"/>
          </a:p>
        </p:txBody>
      </p:sp>
      <p:sp>
        <p:nvSpPr>
          <p:cNvPr id="24" name="Text 22"/>
          <p:cNvSpPr txBox="1"/>
          <p:nvPr/>
        </p:nvSpPr>
        <p:spPr>
          <a:xfrm>
            <a:off x="877824" y="3794760"/>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Critical minerals returned to allied supply</a:t>
            </a:r>
            <a:endParaRPr lang="en-US" sz="1050" dirty="0"/>
          </a:p>
        </p:txBody>
      </p:sp>
      <p:sp>
        <p:nvSpPr>
          <p:cNvPr id="25" name="Text 23"/>
          <p:cNvSpPr txBox="1"/>
          <p:nvPr/>
        </p:nvSpPr>
        <p:spPr>
          <a:xfrm>
            <a:off x="4311396" y="3447288"/>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ACQUIRE</a:t>
            </a:r>
            <a:endParaRPr lang="en-US" sz="800" dirty="0"/>
          </a:p>
        </p:txBody>
      </p:sp>
      <p:sp>
        <p:nvSpPr>
          <p:cNvPr id="26" name="Shape 24"/>
          <p:cNvSpPr/>
          <p:nvPr/>
        </p:nvSpPr>
        <p:spPr>
          <a:xfrm>
            <a:off x="6231636" y="3264408"/>
            <a:ext cx="5317236" cy="1115568"/>
          </a:xfrm>
          <a:prstGeom prst="rect">
            <a:avLst/>
          </a:prstGeom>
          <a:solidFill>
            <a:srgbClr val="FAFAF8"/>
          </a:solidFill>
          <a:ln w="9525">
            <a:solidFill>
              <a:srgbClr val="E2E1DA"/>
            </a:solidFill>
            <a:prstDash val="solid"/>
          </a:ln>
        </p:spPr>
      </p:sp>
      <p:sp>
        <p:nvSpPr>
          <p:cNvPr id="27" name="Text 25"/>
          <p:cNvSpPr txBox="1"/>
          <p:nvPr/>
        </p:nvSpPr>
        <p:spPr>
          <a:xfrm>
            <a:off x="6469380" y="3410712"/>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Plant &amp; equipment engineering</a:t>
            </a:r>
            <a:endParaRPr lang="en-US" sz="1400" dirty="0"/>
          </a:p>
        </p:txBody>
      </p:sp>
      <p:sp>
        <p:nvSpPr>
          <p:cNvPr id="28" name="Text 26"/>
          <p:cNvSpPr txBox="1"/>
          <p:nvPr/>
        </p:nvSpPr>
        <p:spPr>
          <a:xfrm>
            <a:off x="6469380" y="3794760"/>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Design-build of sovereign end-of-life facilities</a:t>
            </a:r>
            <a:endParaRPr lang="en-US" sz="1050" dirty="0"/>
          </a:p>
        </p:txBody>
      </p:sp>
      <p:sp>
        <p:nvSpPr>
          <p:cNvPr id="29" name="Text 27"/>
          <p:cNvSpPr txBox="1"/>
          <p:nvPr/>
        </p:nvSpPr>
        <p:spPr>
          <a:xfrm>
            <a:off x="9902952" y="3447288"/>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ACQUIRE</a:t>
            </a:r>
            <a:endParaRPr lang="en-US" sz="800" dirty="0"/>
          </a:p>
        </p:txBody>
      </p:sp>
      <p:sp>
        <p:nvSpPr>
          <p:cNvPr id="30" name="Shape 28"/>
          <p:cNvSpPr/>
          <p:nvPr/>
        </p:nvSpPr>
        <p:spPr>
          <a:xfrm>
            <a:off x="640080" y="4562856"/>
            <a:ext cx="5317236" cy="1115568"/>
          </a:xfrm>
          <a:prstGeom prst="rect">
            <a:avLst/>
          </a:prstGeom>
          <a:solidFill>
            <a:srgbClr val="FAFAF8"/>
          </a:solidFill>
          <a:ln w="9525">
            <a:solidFill>
              <a:srgbClr val="E2E1DA"/>
            </a:solidFill>
            <a:prstDash val="solid"/>
          </a:ln>
        </p:spPr>
      </p:sp>
      <p:sp>
        <p:nvSpPr>
          <p:cNvPr id="31" name="Text 29"/>
          <p:cNvSpPr txBox="1"/>
          <p:nvPr/>
        </p:nvSpPr>
        <p:spPr>
          <a:xfrm>
            <a:off x="877824" y="4709160"/>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Automated &amp; unmanned processing</a:t>
            </a:r>
            <a:endParaRPr lang="en-US" sz="1400" dirty="0"/>
          </a:p>
        </p:txBody>
      </p:sp>
      <p:sp>
        <p:nvSpPr>
          <p:cNvPr id="32" name="Text 30"/>
          <p:cNvSpPr txBox="1"/>
          <p:nvPr/>
        </p:nvSpPr>
        <p:spPr>
          <a:xfrm>
            <a:off x="877824" y="5093208"/>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Robotics and sensing over the dangerous work</a:t>
            </a:r>
            <a:endParaRPr lang="en-US" sz="1050" dirty="0"/>
          </a:p>
        </p:txBody>
      </p:sp>
      <p:sp>
        <p:nvSpPr>
          <p:cNvPr id="33" name="Text 31"/>
          <p:cNvSpPr txBox="1"/>
          <p:nvPr/>
        </p:nvSpPr>
        <p:spPr>
          <a:xfrm>
            <a:off x="4311396" y="4745736"/>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PARTNER</a:t>
            </a:r>
            <a:endParaRPr lang="en-US" sz="800" dirty="0"/>
          </a:p>
        </p:txBody>
      </p:sp>
      <p:sp>
        <p:nvSpPr>
          <p:cNvPr id="34" name="Shape 32"/>
          <p:cNvSpPr/>
          <p:nvPr/>
        </p:nvSpPr>
        <p:spPr>
          <a:xfrm>
            <a:off x="6231636" y="4562856"/>
            <a:ext cx="5317236" cy="1115568"/>
          </a:xfrm>
          <a:prstGeom prst="rect">
            <a:avLst/>
          </a:prstGeom>
          <a:solidFill>
            <a:srgbClr val="FAFAF8"/>
          </a:solidFill>
          <a:ln w="9525">
            <a:solidFill>
              <a:srgbClr val="E2E1DA"/>
            </a:solidFill>
            <a:prstDash val="solid"/>
          </a:ln>
        </p:spPr>
      </p:sp>
      <p:sp>
        <p:nvSpPr>
          <p:cNvPr id="35" name="Text 33"/>
          <p:cNvSpPr txBox="1"/>
          <p:nvPr/>
        </p:nvSpPr>
        <p:spPr>
          <a:xfrm>
            <a:off x="6469380" y="4709160"/>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Certification &amp; custody data</a:t>
            </a:r>
            <a:endParaRPr lang="en-US" sz="1400" dirty="0"/>
          </a:p>
        </p:txBody>
      </p:sp>
      <p:sp>
        <p:nvSpPr>
          <p:cNvPr id="36" name="Text 34"/>
          <p:cNvSpPr txBox="1"/>
          <p:nvPr/>
        </p:nvSpPr>
        <p:spPr>
          <a:xfrm>
            <a:off x="6469380" y="5093208"/>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The audit standard for the category</a:t>
            </a:r>
            <a:endParaRPr lang="en-US" sz="1050" dirty="0"/>
          </a:p>
        </p:txBody>
      </p:sp>
      <p:sp>
        <p:nvSpPr>
          <p:cNvPr id="37" name="Text 35"/>
          <p:cNvSpPr txBox="1"/>
          <p:nvPr/>
        </p:nvSpPr>
        <p:spPr>
          <a:xfrm>
            <a:off x="9902952" y="4745736"/>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DEVELOP</a:t>
            </a:r>
            <a:endParaRPr lang="en-US" sz="800" dirty="0"/>
          </a:p>
        </p:txBody>
      </p:sp>
      <p:sp>
        <p:nvSpPr>
          <p:cNvPr id="38" name="Text 36"/>
          <p:cNvSpPr txBox="1"/>
          <p:nvPr/>
        </p:nvSpPr>
        <p:spPr>
          <a:xfrm>
            <a:off x="640080" y="6016752"/>
            <a:ext cx="10881360" cy="365760"/>
          </a:xfrm>
          <a:prstGeom prst="rect">
            <a:avLst/>
          </a:prstGeom>
          <a:noFill/>
          <a:ln/>
        </p:spPr>
        <p:txBody>
          <a:bodyPr wrap="square" lIns="0" tIns="0" rIns="0" bIns="0" rtlCol="0" anchor="ctr"/>
          <a:lstStyle/>
          <a:p>
            <a:pPr indent="0" marL="0">
              <a:lnSpc>
                <a:spcPct val="120000"/>
              </a:lnSpc>
              <a:buNone/>
            </a:pPr>
            <a:r>
              <a:rPr lang="en-US" sz="1200" dirty="0">
                <a:solidFill>
                  <a:srgbClr val="33332F"/>
                </a:solidFill>
                <a:latin typeface="Helvetica Neue" pitchFamily="34" charset="0"/>
                <a:ea typeface="Helvetica Neue" pitchFamily="34" charset="-122"/>
                <a:cs typeface="Helvetica Neue" pitchFamily="34" charset="-120"/>
              </a:rPr>
              <a:t>Governments already buy every line — separately, from single-capability vendors. The platform sells the lifecycle.</a:t>
            </a:r>
            <a:endParaRPr lang="en-US" sz="1200" dirty="0"/>
          </a:p>
        </p:txBody>
      </p:sp>
      <p:sp>
        <p:nvSpPr>
          <p:cNvPr id="39" name="Text 3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11  ·  TWB DESIGNS — CONFIDENTIAL</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VI — ALLIED BY DESIGN</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Sovereignty is the product.</a:t>
            </a:r>
            <a:endParaRPr lang="en-US" sz="2700" dirty="0"/>
          </a:p>
        </p:txBody>
      </p:sp>
      <p:sp>
        <p:nvSpPr>
          <p:cNvPr id="4" name="Text 2"/>
          <p:cNvSpPr txBox="1"/>
          <p:nvPr/>
        </p:nvSpPr>
        <p:spPr>
          <a:xfrm>
            <a:off x="640080" y="1783080"/>
            <a:ext cx="2926080" cy="1371600"/>
          </a:xfrm>
          <a:prstGeom prst="rect">
            <a:avLst/>
          </a:prstGeom>
          <a:noFill/>
          <a:ln/>
        </p:spPr>
        <p:txBody>
          <a:bodyPr wrap="square" lIns="0" tIns="0" rIns="0" bIns="0" rtlCol="0" anchor="t"/>
          <a:lstStyle/>
          <a:p>
            <a:pPr algn="l" indent="0" marL="0">
              <a:buNone/>
            </a:pPr>
            <a:r>
              <a:rPr lang="en-US" sz="7600" spc="-250" kern="0" dirty="0">
                <a:solidFill>
                  <a:srgbClr val="000000"/>
                </a:solidFill>
                <a:latin typeface="Helvetica Neue" pitchFamily="34" charset="0"/>
                <a:ea typeface="Helvetica Neue" pitchFamily="34" charset="-122"/>
                <a:cs typeface="Helvetica Neue" pitchFamily="34" charset="-120"/>
              </a:rPr>
              <a:t>65</a:t>
            </a:r>
            <a:endParaRPr lang="en-US" sz="7600" dirty="0"/>
          </a:p>
        </p:txBody>
      </p:sp>
      <p:sp>
        <p:nvSpPr>
          <p:cNvPr id="5" name="Text 3"/>
          <p:cNvSpPr txBox="1"/>
          <p:nvPr/>
        </p:nvSpPr>
        <p:spPr>
          <a:xfrm>
            <a:off x="640080" y="3127248"/>
            <a:ext cx="3108960" cy="10058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ARMED CONFLICTS, 2025. NO GOVERNMENT WANTS ITS MUNITIONS — OR THE CRITICAL METALS INSIDE THEM — CROSSING BORDERS TO DIE</a:t>
            </a:r>
            <a:endParaRPr lang="en-US" sz="1050" dirty="0"/>
          </a:p>
        </p:txBody>
      </p:sp>
      <p:sp>
        <p:nvSpPr>
          <p:cNvPr id="6" name="Shape 4"/>
          <p:cNvSpPr/>
          <p:nvPr/>
        </p:nvSpPr>
        <p:spPr>
          <a:xfrm>
            <a:off x="640080" y="4434840"/>
            <a:ext cx="3108960" cy="0"/>
          </a:xfrm>
          <a:prstGeom prst="line">
            <a:avLst/>
          </a:prstGeom>
          <a:noFill/>
          <a:ln w="9525">
            <a:solidFill>
              <a:srgbClr val="E2E1DA"/>
            </a:solidFill>
            <a:prstDash val="solid"/>
          </a:ln>
        </p:spPr>
      </p:sp>
      <p:sp>
        <p:nvSpPr>
          <p:cNvPr id="7" name="Text 5"/>
          <p:cNvSpPr txBox="1"/>
          <p:nvPr/>
        </p:nvSpPr>
        <p:spPr>
          <a:xfrm>
            <a:off x="640080" y="4617720"/>
            <a:ext cx="3108960" cy="1143000"/>
          </a:xfrm>
          <a:prstGeom prst="rect">
            <a:avLst/>
          </a:prstGeom>
          <a:noFill/>
          <a:ln/>
        </p:spPr>
        <p:txBody>
          <a:bodyPr wrap="square" lIns="0" tIns="0" rIns="0" bIns="0" rtlCol="0" anchor="ctr"/>
          <a:lstStyle/>
          <a:p>
            <a:pPr indent="0" marL="0">
              <a:lnSpc>
                <a:spcPct val="130000"/>
              </a:lnSpc>
              <a:buNone/>
            </a:pPr>
            <a:r>
              <a:rPr lang="en-US" sz="1150" b="1" dirty="0">
                <a:solidFill>
                  <a:srgbClr val="000000"/>
                </a:solidFill>
                <a:latin typeface="Helvetica Neue" pitchFamily="34" charset="0"/>
                <a:ea typeface="Helvetica Neue" pitchFamily="34" charset="-122"/>
                <a:cs typeface="Helvetica Neue" pitchFamily="34" charset="-120"/>
              </a:rPr>
              <a:t>A domestic answer is the only politically survivable one. </a:t>
            </a:r>
            <a:pPr indent="0" marL="0">
              <a:lnSpc>
                <a:spcPct val="130000"/>
              </a:lnSpc>
              <a:buNone/>
            </a:pPr>
            <a:r>
              <a:rPr lang="en-US" sz="1150" dirty="0">
                <a:solidFill>
                  <a:srgbClr val="33332F"/>
                </a:solidFill>
                <a:latin typeface="Helvetica Neue" pitchFamily="34" charset="0"/>
                <a:ea typeface="Helvetica Neue" pitchFamily="34" charset="-122"/>
                <a:cs typeface="Helvetica Neue" pitchFamily="34" charset="-120"/>
              </a:rPr>
              <a:t>Sovereign custody, sovereign disposal, sovereign standing.</a:t>
            </a:r>
            <a:endParaRPr lang="en-US" sz="1150" dirty="0"/>
          </a:p>
        </p:txBody>
      </p:sp>
      <p:sp>
        <p:nvSpPr>
          <p:cNvPr id="8" name="Shape 6"/>
          <p:cNvSpPr/>
          <p:nvPr/>
        </p:nvSpPr>
        <p:spPr>
          <a:xfrm>
            <a:off x="3977640" y="1783080"/>
            <a:ext cx="7571232" cy="1207008"/>
          </a:xfrm>
          <a:prstGeom prst="rect">
            <a:avLst/>
          </a:prstGeom>
          <a:solidFill>
            <a:srgbClr val="FAFAF8"/>
          </a:solidFill>
          <a:ln w="9525">
            <a:solidFill>
              <a:srgbClr val="E2E1DA"/>
            </a:solidFill>
            <a:prstDash val="solid"/>
          </a:ln>
        </p:spPr>
      </p:sp>
      <p:sp>
        <p:nvSpPr>
          <p:cNvPr id="9" name="Text 7"/>
          <p:cNvSpPr txBox="1"/>
          <p:nvPr/>
        </p:nvSpPr>
        <p:spPr>
          <a:xfrm>
            <a:off x="4197096" y="1911096"/>
            <a:ext cx="201168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IBM Plex Mono" pitchFamily="34" charset="0"/>
                <a:ea typeface="IBM Plex Mono" pitchFamily="34" charset="-122"/>
                <a:cs typeface="IBM Plex Mono" pitchFamily="34" charset="-120"/>
              </a:rPr>
              <a:t>THE MARKET</a:t>
            </a:r>
            <a:endParaRPr lang="en-US" sz="950" dirty="0"/>
          </a:p>
        </p:txBody>
      </p:sp>
      <p:sp>
        <p:nvSpPr>
          <p:cNvPr id="10" name="Text 8"/>
          <p:cNvSpPr txBox="1"/>
          <p:nvPr/>
        </p:nvSpPr>
        <p:spPr>
          <a:xfrm>
            <a:off x="6263640" y="1901952"/>
            <a:ext cx="5047488" cy="100584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NATO, the United States, Canada, Israel and partners — governments that buy sovereign capability, allied standing, and auditable custody.</a:t>
            </a:r>
            <a:endParaRPr lang="en-US" sz="1050" dirty="0"/>
          </a:p>
        </p:txBody>
      </p:sp>
      <p:sp>
        <p:nvSpPr>
          <p:cNvPr id="11" name="Shape 9"/>
          <p:cNvSpPr/>
          <p:nvPr/>
        </p:nvSpPr>
        <p:spPr>
          <a:xfrm>
            <a:off x="3977640" y="3154680"/>
            <a:ext cx="7571232" cy="1207008"/>
          </a:xfrm>
          <a:prstGeom prst="rect">
            <a:avLst/>
          </a:prstGeom>
          <a:solidFill>
            <a:srgbClr val="FAFAF8"/>
          </a:solidFill>
          <a:ln w="9525">
            <a:solidFill>
              <a:srgbClr val="E2E1DA"/>
            </a:solidFill>
            <a:prstDash val="solid"/>
          </a:ln>
        </p:spPr>
      </p:sp>
      <p:sp>
        <p:nvSpPr>
          <p:cNvPr id="12" name="Text 10"/>
          <p:cNvSpPr txBox="1"/>
          <p:nvPr/>
        </p:nvSpPr>
        <p:spPr>
          <a:xfrm>
            <a:off x="4197096" y="3282696"/>
            <a:ext cx="201168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IBM Plex Mono" pitchFamily="34" charset="0"/>
                <a:ea typeface="IBM Plex Mono" pitchFamily="34" charset="-122"/>
                <a:cs typeface="IBM Plex Mono" pitchFamily="34" charset="-120"/>
              </a:rPr>
              <a:t>THE STANDING</a:t>
            </a:r>
            <a:endParaRPr lang="en-US" sz="950" dirty="0"/>
          </a:p>
        </p:txBody>
      </p:sp>
      <p:sp>
        <p:nvSpPr>
          <p:cNvPr id="13" name="Text 11"/>
          <p:cNvSpPr txBox="1"/>
          <p:nvPr/>
        </p:nvSpPr>
        <p:spPr>
          <a:xfrm>
            <a:off x="6263640" y="3273552"/>
            <a:ext cx="5047488" cy="100584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Canada is a DFARS 225.872 qualifying country — Canadian end products exempt from Buy American in US defence acquisition. Checkable, and underused. US entity planned; US-ready, allied-forward.</a:t>
            </a:r>
            <a:endParaRPr lang="en-US" sz="1050" dirty="0"/>
          </a:p>
        </p:txBody>
      </p:sp>
      <p:sp>
        <p:nvSpPr>
          <p:cNvPr id="14" name="Shape 12"/>
          <p:cNvSpPr/>
          <p:nvPr/>
        </p:nvSpPr>
        <p:spPr>
          <a:xfrm>
            <a:off x="3977640" y="4526280"/>
            <a:ext cx="7571232" cy="1207008"/>
          </a:xfrm>
          <a:prstGeom prst="rect">
            <a:avLst/>
          </a:prstGeom>
          <a:solidFill>
            <a:srgbClr val="F1F3F0"/>
          </a:solidFill>
          <a:ln w="9525">
            <a:solidFill>
              <a:srgbClr val="D3D9D0"/>
            </a:solidFill>
            <a:prstDash val="solid"/>
          </a:ln>
        </p:spPr>
      </p:sp>
      <p:sp>
        <p:nvSpPr>
          <p:cNvPr id="15" name="Text 13"/>
          <p:cNvSpPr txBox="1"/>
          <p:nvPr/>
        </p:nvSpPr>
        <p:spPr>
          <a:xfrm>
            <a:off x="4197096" y="4654296"/>
            <a:ext cx="201168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IBM Plex Mono" pitchFamily="34" charset="0"/>
                <a:ea typeface="IBM Plex Mono" pitchFamily="34" charset="-122"/>
                <a:cs typeface="IBM Plex Mono" pitchFamily="34" charset="-120"/>
              </a:rPr>
              <a:t>THE GIFT</a:t>
            </a:r>
            <a:endParaRPr lang="en-US" sz="950" dirty="0"/>
          </a:p>
        </p:txBody>
      </p:sp>
      <p:sp>
        <p:nvSpPr>
          <p:cNvPr id="16" name="Text 14"/>
          <p:cNvSpPr txBox="1"/>
          <p:nvPr/>
        </p:nvSpPr>
        <p:spPr>
          <a:xfrm>
            <a:off x="6263640" y="4645152"/>
            <a:ext cx="5047488" cy="100584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Every allied ammunition plant opening today compounds future demand for the back of the lifecycle. Our market is being built for us, at record pace, by the largest industrial mobilisation since 1945.</a:t>
            </a:r>
            <a:endParaRPr lang="en-US" sz="1050" dirty="0"/>
          </a:p>
        </p:txBody>
      </p:sp>
      <p:sp>
        <p:nvSpPr>
          <p:cNvPr id="17" name="Text 1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12  ·  TWB DESIGNS — CONFIDENTIAL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THE MODEL</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Paid to destroy. Paid for what returns.</a:t>
            </a:r>
            <a:endParaRPr lang="en-US" sz="2700" dirty="0"/>
          </a:p>
        </p:txBody>
      </p:sp>
      <p:sp>
        <p:nvSpPr>
          <p:cNvPr id="4" name="Text 2"/>
          <p:cNvSpPr txBox="1"/>
          <p:nvPr/>
        </p:nvSpPr>
        <p:spPr>
          <a:xfrm>
            <a:off x="640080" y="1920240"/>
            <a:ext cx="8686800" cy="1280160"/>
          </a:xfrm>
          <a:prstGeom prst="rect">
            <a:avLst/>
          </a:prstGeom>
          <a:noFill/>
          <a:ln/>
        </p:spPr>
        <p:txBody>
          <a:bodyPr wrap="square" lIns="0" tIns="0" rIns="0" bIns="0" rtlCol="0" anchor="t"/>
          <a:lstStyle/>
          <a:p>
            <a:pPr algn="l" indent="0" marL="0">
              <a:buNone/>
            </a:pPr>
            <a:r>
              <a:rPr lang="en-US" sz="6800" spc="-150" kern="0" dirty="0">
                <a:solidFill>
                  <a:srgbClr val="000000"/>
                </a:solidFill>
                <a:latin typeface="Helvetica Neue" pitchFamily="34" charset="0"/>
                <a:ea typeface="Helvetica Neue" pitchFamily="34" charset="-122"/>
                <a:cs typeface="Helvetica Neue" pitchFamily="34" charset="-120"/>
              </a:rPr>
              <a:t>$2,000–2,890</a:t>
            </a:r>
            <a:endParaRPr lang="en-US" sz="6800" dirty="0"/>
          </a:p>
        </p:txBody>
      </p:sp>
      <p:sp>
        <p:nvSpPr>
          <p:cNvPr id="5" name="Text 3"/>
          <p:cNvSpPr txBox="1"/>
          <p:nvPr/>
        </p:nvSpPr>
        <p:spPr>
          <a:xfrm>
            <a:off x="640080" y="3063240"/>
            <a:ext cx="82296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PER TON — THE PUBLISHED MARKET RATE FOR CONVENTIONAL DEMIL, TODAY (GAO FY15 / NAS)</a:t>
            </a:r>
            <a:endParaRPr lang="en-US" sz="1050" dirty="0"/>
          </a:p>
        </p:txBody>
      </p:sp>
      <p:sp>
        <p:nvSpPr>
          <p:cNvPr id="6" name="Shape 4"/>
          <p:cNvSpPr/>
          <p:nvPr/>
        </p:nvSpPr>
        <p:spPr>
          <a:xfrm>
            <a:off x="640080" y="3657600"/>
            <a:ext cx="10908792" cy="0"/>
          </a:xfrm>
          <a:prstGeom prst="line">
            <a:avLst/>
          </a:prstGeom>
          <a:noFill/>
          <a:ln w="9525">
            <a:solidFill>
              <a:srgbClr val="E2E1DA"/>
            </a:solidFill>
            <a:prstDash val="solid"/>
          </a:ln>
        </p:spPr>
      </p:sp>
      <p:sp>
        <p:nvSpPr>
          <p:cNvPr id="7" name="Shape 5"/>
          <p:cNvSpPr/>
          <p:nvPr/>
        </p:nvSpPr>
        <p:spPr>
          <a:xfrm>
            <a:off x="640080" y="3840480"/>
            <a:ext cx="3465576" cy="1783080"/>
          </a:xfrm>
          <a:prstGeom prst="rect">
            <a:avLst/>
          </a:prstGeom>
          <a:solidFill>
            <a:srgbClr val="FAFAF8"/>
          </a:solidFill>
          <a:ln w="9525">
            <a:solidFill>
              <a:srgbClr val="E2E1DA"/>
            </a:solidFill>
            <a:prstDash val="solid"/>
          </a:ln>
        </p:spPr>
      </p:sp>
      <p:sp>
        <p:nvSpPr>
          <p:cNvPr id="8" name="Text 6"/>
          <p:cNvSpPr txBox="1"/>
          <p:nvPr/>
        </p:nvSpPr>
        <p:spPr>
          <a:xfrm>
            <a:off x="859536" y="4023360"/>
            <a:ext cx="3026664" cy="320040"/>
          </a:xfrm>
          <a:prstGeom prst="rect">
            <a:avLst/>
          </a:prstGeom>
          <a:noFill/>
          <a:ln/>
        </p:spPr>
        <p:txBody>
          <a:bodyPr wrap="square" lIns="0" tIns="0" rIns="0" bIns="0" rtlCol="0" anchor="ctr"/>
          <a:lstStyle/>
          <a:p>
            <a:pPr indent="0" marL="0">
              <a:buNone/>
            </a:pPr>
            <a:r>
              <a:rPr lang="en-US" sz="1000" b="1" spc="150" kern="0" dirty="0">
                <a:solidFill>
                  <a:srgbClr val="000000"/>
                </a:solidFill>
                <a:latin typeface="IBM Plex Mono" pitchFamily="34" charset="0"/>
                <a:ea typeface="IBM Plex Mono" pitchFamily="34" charset="-122"/>
                <a:cs typeface="IBM Plex Mono" pitchFamily="34" charset="-120"/>
              </a:rPr>
              <a:t>1 · THE FEE</a:t>
            </a:r>
            <a:endParaRPr lang="en-US" sz="1000" dirty="0"/>
          </a:p>
        </p:txBody>
      </p:sp>
      <p:sp>
        <p:nvSpPr>
          <p:cNvPr id="9" name="Text 7"/>
          <p:cNvSpPr txBox="1"/>
          <p:nvPr/>
        </p:nvSpPr>
        <p:spPr>
          <a:xfrm>
            <a:off x="859536" y="4407408"/>
            <a:ext cx="3026664" cy="1143000"/>
          </a:xfrm>
          <a:prstGeom prst="rect">
            <a:avLst/>
          </a:prstGeom>
          <a:noFill/>
          <a:ln/>
        </p:spPr>
        <p:txBody>
          <a:bodyPr wrap="square" lIns="0" tIns="0" rIns="0" bIns="0" rtlCol="0" anchor="ctr"/>
          <a:lstStyle/>
          <a:p>
            <a:pPr indent="0" marL="0">
              <a:lnSpc>
                <a:spcPct val="128000"/>
              </a:lnSpc>
              <a:buNone/>
            </a:pPr>
            <a:r>
              <a:rPr lang="en-US" sz="1100" dirty="0">
                <a:solidFill>
                  <a:srgbClr val="33332F"/>
                </a:solidFill>
                <a:latin typeface="Helvetica Neue" pitchFamily="34" charset="0"/>
                <a:ea typeface="Helvetica Neue" pitchFamily="34" charset="-122"/>
                <a:cs typeface="Helvetica Neue" pitchFamily="34" charset="-120"/>
              </a:rPr>
              <a:t>We don't need to beat this rate to win. Same-day, on-site, zero-transfer custody is a different product — not a discount on the incumbent's price.</a:t>
            </a:r>
            <a:endParaRPr lang="en-US" sz="1100" dirty="0"/>
          </a:p>
        </p:txBody>
      </p:sp>
      <p:sp>
        <p:nvSpPr>
          <p:cNvPr id="10" name="Shape 8"/>
          <p:cNvSpPr/>
          <p:nvPr/>
        </p:nvSpPr>
        <p:spPr>
          <a:xfrm>
            <a:off x="4361688" y="3840480"/>
            <a:ext cx="3465576" cy="1783080"/>
          </a:xfrm>
          <a:prstGeom prst="rect">
            <a:avLst/>
          </a:prstGeom>
          <a:solidFill>
            <a:srgbClr val="F1F3F0"/>
          </a:solidFill>
          <a:ln w="9525">
            <a:solidFill>
              <a:srgbClr val="D3D9D0"/>
            </a:solidFill>
            <a:prstDash val="solid"/>
          </a:ln>
        </p:spPr>
      </p:sp>
      <p:sp>
        <p:nvSpPr>
          <p:cNvPr id="11" name="Shape 9"/>
          <p:cNvSpPr/>
          <p:nvPr/>
        </p:nvSpPr>
        <p:spPr>
          <a:xfrm>
            <a:off x="4342486" y="3821278"/>
            <a:ext cx="59436" cy="12802"/>
          </a:xfrm>
          <a:prstGeom prst="rect">
            <a:avLst/>
          </a:prstGeom>
          <a:solidFill>
            <a:srgbClr val="66705F"/>
          </a:solidFill>
          <a:ln/>
        </p:spPr>
      </p:sp>
      <p:sp>
        <p:nvSpPr>
          <p:cNvPr id="12" name="Shape 10"/>
          <p:cNvSpPr/>
          <p:nvPr/>
        </p:nvSpPr>
        <p:spPr>
          <a:xfrm>
            <a:off x="4342486" y="3821278"/>
            <a:ext cx="12802" cy="59436"/>
          </a:xfrm>
          <a:prstGeom prst="rect">
            <a:avLst/>
          </a:prstGeom>
          <a:solidFill>
            <a:srgbClr val="66705F"/>
          </a:solidFill>
          <a:ln/>
        </p:spPr>
      </p:sp>
      <p:sp>
        <p:nvSpPr>
          <p:cNvPr id="13" name="Shape 11"/>
          <p:cNvSpPr/>
          <p:nvPr/>
        </p:nvSpPr>
        <p:spPr>
          <a:xfrm>
            <a:off x="7787030" y="3821278"/>
            <a:ext cx="59436" cy="12802"/>
          </a:xfrm>
          <a:prstGeom prst="rect">
            <a:avLst/>
          </a:prstGeom>
          <a:solidFill>
            <a:srgbClr val="66705F"/>
          </a:solidFill>
          <a:ln/>
        </p:spPr>
      </p:sp>
      <p:sp>
        <p:nvSpPr>
          <p:cNvPr id="14" name="Shape 12"/>
          <p:cNvSpPr/>
          <p:nvPr/>
        </p:nvSpPr>
        <p:spPr>
          <a:xfrm>
            <a:off x="7833665" y="3821278"/>
            <a:ext cx="12802" cy="59436"/>
          </a:xfrm>
          <a:prstGeom prst="rect">
            <a:avLst/>
          </a:prstGeom>
          <a:solidFill>
            <a:srgbClr val="66705F"/>
          </a:solidFill>
          <a:ln/>
        </p:spPr>
      </p:sp>
      <p:sp>
        <p:nvSpPr>
          <p:cNvPr id="15" name="Shape 13"/>
          <p:cNvSpPr/>
          <p:nvPr/>
        </p:nvSpPr>
        <p:spPr>
          <a:xfrm>
            <a:off x="4342486" y="5629961"/>
            <a:ext cx="59436" cy="12802"/>
          </a:xfrm>
          <a:prstGeom prst="rect">
            <a:avLst/>
          </a:prstGeom>
          <a:solidFill>
            <a:srgbClr val="66705F"/>
          </a:solidFill>
          <a:ln/>
        </p:spPr>
      </p:sp>
      <p:sp>
        <p:nvSpPr>
          <p:cNvPr id="16" name="Shape 14"/>
          <p:cNvSpPr/>
          <p:nvPr/>
        </p:nvSpPr>
        <p:spPr>
          <a:xfrm>
            <a:off x="4342486" y="5583326"/>
            <a:ext cx="12802" cy="59436"/>
          </a:xfrm>
          <a:prstGeom prst="rect">
            <a:avLst/>
          </a:prstGeom>
          <a:solidFill>
            <a:srgbClr val="66705F"/>
          </a:solidFill>
          <a:ln/>
        </p:spPr>
      </p:sp>
      <p:sp>
        <p:nvSpPr>
          <p:cNvPr id="17" name="Shape 15"/>
          <p:cNvSpPr/>
          <p:nvPr/>
        </p:nvSpPr>
        <p:spPr>
          <a:xfrm>
            <a:off x="7787030" y="5629961"/>
            <a:ext cx="59436" cy="12802"/>
          </a:xfrm>
          <a:prstGeom prst="rect">
            <a:avLst/>
          </a:prstGeom>
          <a:solidFill>
            <a:srgbClr val="66705F"/>
          </a:solidFill>
          <a:ln/>
        </p:spPr>
      </p:sp>
      <p:sp>
        <p:nvSpPr>
          <p:cNvPr id="18" name="Shape 16"/>
          <p:cNvSpPr/>
          <p:nvPr/>
        </p:nvSpPr>
        <p:spPr>
          <a:xfrm>
            <a:off x="7833665" y="5583326"/>
            <a:ext cx="12802" cy="59436"/>
          </a:xfrm>
          <a:prstGeom prst="rect">
            <a:avLst/>
          </a:prstGeom>
          <a:solidFill>
            <a:srgbClr val="66705F"/>
          </a:solidFill>
          <a:ln/>
        </p:spPr>
      </p:sp>
      <p:sp>
        <p:nvSpPr>
          <p:cNvPr id="19" name="Text 17"/>
          <p:cNvSpPr txBox="1"/>
          <p:nvPr/>
        </p:nvSpPr>
        <p:spPr>
          <a:xfrm>
            <a:off x="4581144" y="4023360"/>
            <a:ext cx="3026664" cy="320040"/>
          </a:xfrm>
          <a:prstGeom prst="rect">
            <a:avLst/>
          </a:prstGeom>
          <a:noFill/>
          <a:ln/>
        </p:spPr>
        <p:txBody>
          <a:bodyPr wrap="square" lIns="0" tIns="0" rIns="0" bIns="0" rtlCol="0" anchor="ctr"/>
          <a:lstStyle/>
          <a:p>
            <a:pPr indent="0" marL="0">
              <a:buNone/>
            </a:pPr>
            <a:r>
              <a:rPr lang="en-US" sz="1000" b="1" spc="150" kern="0" dirty="0">
                <a:solidFill>
                  <a:srgbClr val="66705F"/>
                </a:solidFill>
                <a:latin typeface="IBM Plex Mono" pitchFamily="34" charset="0"/>
                <a:ea typeface="IBM Plex Mono" pitchFamily="34" charset="-122"/>
                <a:cs typeface="IBM Plex Mono" pitchFamily="34" charset="-120"/>
              </a:rPr>
              <a:t>2 · THE MATERIALS MARGIN</a:t>
            </a:r>
            <a:endParaRPr lang="en-US" sz="1000" dirty="0"/>
          </a:p>
        </p:txBody>
      </p:sp>
      <p:sp>
        <p:nvSpPr>
          <p:cNvPr id="20" name="Text 18"/>
          <p:cNvSpPr txBox="1"/>
          <p:nvPr/>
        </p:nvSpPr>
        <p:spPr>
          <a:xfrm>
            <a:off x="4581144" y="4407408"/>
            <a:ext cx="3026664" cy="1143000"/>
          </a:xfrm>
          <a:prstGeom prst="rect">
            <a:avLst/>
          </a:prstGeom>
          <a:noFill/>
          <a:ln/>
        </p:spPr>
        <p:txBody>
          <a:bodyPr wrap="square" lIns="0" tIns="0" rIns="0" bIns="0" rtlCol="0" anchor="ctr"/>
          <a:lstStyle/>
          <a:p>
            <a:pPr indent="0" marL="0">
              <a:lnSpc>
                <a:spcPct val="128000"/>
              </a:lnSpc>
              <a:buNone/>
            </a:pPr>
            <a:r>
              <a:rPr lang="en-US" sz="1100" dirty="0">
                <a:solidFill>
                  <a:srgbClr val="33332F"/>
                </a:solidFill>
                <a:latin typeface="Helvetica Neue" pitchFamily="34" charset="0"/>
                <a:ea typeface="Helvetica Neue" pitchFamily="34" charset="-122"/>
                <a:cs typeface="Helvetica Neue" pitchFamily="34" charset="-120"/>
              </a:rPr>
              <a:t>Graded brass, copper and lead–antimony, sold into existing secondary markets at critical-minerals pricing — a revenue line the incumbents structurally can't capture.</a:t>
            </a:r>
            <a:endParaRPr lang="en-US" sz="1100" dirty="0"/>
          </a:p>
        </p:txBody>
      </p:sp>
      <p:sp>
        <p:nvSpPr>
          <p:cNvPr id="21" name="Shape 19"/>
          <p:cNvSpPr/>
          <p:nvPr/>
        </p:nvSpPr>
        <p:spPr>
          <a:xfrm>
            <a:off x="8083296" y="3840480"/>
            <a:ext cx="3465576" cy="1783080"/>
          </a:xfrm>
          <a:prstGeom prst="rect">
            <a:avLst/>
          </a:prstGeom>
          <a:solidFill>
            <a:srgbClr val="F2F1EC"/>
          </a:solidFill>
          <a:ln w="9525">
            <a:solidFill>
              <a:srgbClr val="CFCDC4"/>
            </a:solidFill>
            <a:prstDash val="solid"/>
          </a:ln>
        </p:spPr>
      </p:sp>
      <p:sp>
        <p:nvSpPr>
          <p:cNvPr id="22" name="Text 20"/>
          <p:cNvSpPr txBox="1"/>
          <p:nvPr/>
        </p:nvSpPr>
        <p:spPr>
          <a:xfrm>
            <a:off x="8302752" y="4023360"/>
            <a:ext cx="3026664" cy="320040"/>
          </a:xfrm>
          <a:prstGeom prst="rect">
            <a:avLst/>
          </a:prstGeom>
          <a:noFill/>
          <a:ln/>
        </p:spPr>
        <p:txBody>
          <a:bodyPr wrap="square" lIns="0" tIns="0" rIns="0" bIns="0" rtlCol="0" anchor="ctr"/>
          <a:lstStyle/>
          <a:p>
            <a:pPr indent="0" marL="0">
              <a:buNone/>
            </a:pPr>
            <a:r>
              <a:rPr lang="en-US" sz="1000" b="1" spc="150" kern="0" dirty="0">
                <a:solidFill>
                  <a:srgbClr val="000000"/>
                </a:solidFill>
                <a:latin typeface="IBM Plex Mono" pitchFamily="34" charset="0"/>
                <a:ea typeface="IBM Plex Mono" pitchFamily="34" charset="-122"/>
                <a:cs typeface="IBM Plex Mono" pitchFamily="34" charset="-120"/>
              </a:rPr>
              <a:t>3 · THE NET COST</a:t>
            </a:r>
            <a:endParaRPr lang="en-US" sz="1000" dirty="0"/>
          </a:p>
        </p:txBody>
      </p:sp>
      <p:sp>
        <p:nvSpPr>
          <p:cNvPr id="23" name="Text 21"/>
          <p:cNvSpPr txBox="1"/>
          <p:nvPr/>
        </p:nvSpPr>
        <p:spPr>
          <a:xfrm>
            <a:off x="8302752" y="4407408"/>
            <a:ext cx="3026664" cy="1143000"/>
          </a:xfrm>
          <a:prstGeom prst="rect">
            <a:avLst/>
          </a:prstGeom>
          <a:noFill/>
          <a:ln/>
        </p:spPr>
        <p:txBody>
          <a:bodyPr wrap="square" lIns="0" tIns="0" rIns="0" bIns="0" rtlCol="0" anchor="ctr"/>
          <a:lstStyle/>
          <a:p>
            <a:pPr indent="0" marL="0">
              <a:lnSpc>
                <a:spcPct val="128000"/>
              </a:lnSpc>
              <a:buNone/>
            </a:pPr>
            <a:r>
              <a:rPr lang="en-US" sz="1100" dirty="0">
                <a:solidFill>
                  <a:srgbClr val="33332F"/>
                </a:solidFill>
                <a:latin typeface="Helvetica Neue" pitchFamily="34" charset="0"/>
                <a:ea typeface="Helvetica Neue" pitchFamily="34" charset="-122"/>
                <a:cs typeface="Helvetica Neue" pitchFamily="34" charset="-120"/>
              </a:rPr>
              <a:t>Fee minus verified recovered value. The pricing argument no open pit and no fixed site can match — published once third-party verification lands.</a:t>
            </a:r>
            <a:endParaRPr lang="en-US" sz="1100" dirty="0"/>
          </a:p>
        </p:txBody>
      </p:sp>
      <p:sp>
        <p:nvSpPr>
          <p:cNvPr id="24" name="Text 22"/>
          <p:cNvSpPr txBox="1"/>
          <p:nvPr/>
        </p:nvSpPr>
        <p:spPr>
          <a:xfrm>
            <a:off x="640080" y="5852160"/>
            <a:ext cx="10881360" cy="640080"/>
          </a:xfrm>
          <a:prstGeom prst="rect">
            <a:avLst/>
          </a:prstGeom>
          <a:noFill/>
          <a:ln/>
        </p:spPr>
        <p:txBody>
          <a:bodyPr wrap="square" lIns="0" tIns="0" rIns="0" bIns="0" rtlCol="0" anchor="ctr"/>
          <a:lstStyle/>
          <a:p>
            <a:pPr indent="0" marL="0">
              <a:lnSpc>
                <a:spcPct val="130000"/>
              </a:lnSpc>
              <a:buNone/>
            </a:pPr>
            <a:r>
              <a:rPr lang="en-US" sz="1250" b="1" dirty="0">
                <a:solidFill>
                  <a:srgbClr val="000000"/>
                </a:solidFill>
                <a:latin typeface="Helvetica Neue" pitchFamily="34" charset="0"/>
                <a:ea typeface="Helvetica Neue" pitchFamily="34" charset="-122"/>
                <a:cs typeface="Helvetica Neue" pitchFamily="34" charset="-120"/>
              </a:rPr>
              <a:t>Then it compounds up the plan: </a:t>
            </a:r>
            <a:pPr indent="0" marL="0">
              <a:lnSpc>
                <a:spcPct val="130000"/>
              </a:lnSpc>
              <a:buNone/>
            </a:pPr>
            <a:r>
              <a:rPr lang="en-US" sz="1250" dirty="0">
                <a:solidFill>
                  <a:srgbClr val="33332F"/>
                </a:solidFill>
                <a:latin typeface="Helvetica Neue" pitchFamily="34" charset="0"/>
                <a:ea typeface="Helvetica Neue" pitchFamily="34" charset="-122"/>
                <a:cs typeface="Helvetica Neue" pitchFamily="34" charset="-120"/>
              </a:rPr>
              <a:t>destruction fee → destruction + recovery contracts → sovereign build-operate-certify programs. Each phase adds a revenue layer without abandoning the last.</a:t>
            </a:r>
            <a:endParaRPr lang="en-US" sz="1250" dirty="0"/>
          </a:p>
        </p:txBody>
      </p:sp>
      <p:sp>
        <p:nvSpPr>
          <p:cNvPr id="25" name="Text 23"/>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13  ·  TWB DESIGNS — CONFIDENTIAL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WHY NOW</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Four clocks, all running. None of them re-opens.</a:t>
            </a:r>
            <a:endParaRPr lang="en-US" sz="2700" dirty="0"/>
          </a:p>
        </p:txBody>
      </p:sp>
      <p:sp>
        <p:nvSpPr>
          <p:cNvPr id="4" name="Text 2"/>
          <p:cNvSpPr txBox="1"/>
          <p:nvPr/>
        </p:nvSpPr>
        <p:spPr>
          <a:xfrm>
            <a:off x="640080" y="1828800"/>
            <a:ext cx="2103120" cy="2834640"/>
          </a:xfrm>
          <a:prstGeom prst="rect">
            <a:avLst/>
          </a:prstGeom>
          <a:noFill/>
          <a:ln/>
        </p:spPr>
        <p:txBody>
          <a:bodyPr wrap="square" lIns="0" tIns="0" rIns="0" bIns="0" rtlCol="0" anchor="t"/>
          <a:lstStyle/>
          <a:p>
            <a:pPr algn="l" indent="0" marL="0">
              <a:buNone/>
            </a:pPr>
            <a:r>
              <a:rPr lang="en-US" sz="17000" spc="-200" kern="0" dirty="0">
                <a:solidFill>
                  <a:srgbClr val="66705F"/>
                </a:solidFill>
                <a:latin typeface="Helvetica Neue" pitchFamily="34" charset="0"/>
                <a:ea typeface="Helvetica Neue" pitchFamily="34" charset="-122"/>
                <a:cs typeface="Helvetica Neue" pitchFamily="34" charset="-120"/>
              </a:rPr>
              <a:t>4</a:t>
            </a:r>
            <a:endParaRPr lang="en-US" sz="17000" dirty="0"/>
          </a:p>
        </p:txBody>
      </p:sp>
      <p:sp>
        <p:nvSpPr>
          <p:cNvPr id="5" name="Text 3"/>
          <p:cNvSpPr txBox="1"/>
          <p:nvPr/>
        </p:nvSpPr>
        <p:spPr>
          <a:xfrm>
            <a:off x="640080" y="4617720"/>
            <a:ext cx="2377440" cy="548640"/>
          </a:xfrm>
          <a:prstGeom prst="rect">
            <a:avLst/>
          </a:prstGeom>
          <a:noFill/>
          <a:ln/>
        </p:spPr>
        <p:txBody>
          <a:bodyPr wrap="square" lIns="0" tIns="0" rIns="0" bIns="0" rtlCol="0" anchor="ctr"/>
          <a:lstStyle/>
          <a:p>
            <a:pPr indent="0" marL="0">
              <a:lnSpc>
                <a:spcPct val="130000"/>
              </a:lnSpc>
              <a:buNone/>
            </a:pPr>
            <a:r>
              <a:rPr lang="en-US" sz="1000" b="1" spc="180" kern="0" dirty="0">
                <a:solidFill>
                  <a:srgbClr val="66705F"/>
                </a:solidFill>
                <a:latin typeface="IBM Plex Mono" pitchFamily="34" charset="0"/>
                <a:ea typeface="IBM Plex Mono" pitchFamily="34" charset="-122"/>
                <a:cs typeface="IBM Plex Mono" pitchFamily="34" charset="-120"/>
              </a:rPr>
              <a:t>CLOCKS CONVERGING</a:t>
            </a:r>
            <a:endParaRPr lang="en-US" sz="1000" dirty="0"/>
          </a:p>
        </p:txBody>
      </p:sp>
      <p:sp>
        <p:nvSpPr>
          <p:cNvPr id="6" name="Shape 4"/>
          <p:cNvSpPr/>
          <p:nvPr/>
        </p:nvSpPr>
        <p:spPr>
          <a:xfrm>
            <a:off x="3017520" y="1828800"/>
            <a:ext cx="4137660" cy="1554480"/>
          </a:xfrm>
          <a:prstGeom prst="rect">
            <a:avLst/>
          </a:prstGeom>
          <a:solidFill>
            <a:srgbClr val="FAFAF8"/>
          </a:solidFill>
          <a:ln w="9525">
            <a:solidFill>
              <a:srgbClr val="E2E1DA"/>
            </a:solidFill>
            <a:prstDash val="solid"/>
          </a:ln>
        </p:spPr>
      </p:sp>
      <p:sp>
        <p:nvSpPr>
          <p:cNvPr id="7" name="Text 5"/>
          <p:cNvSpPr txBox="1"/>
          <p:nvPr/>
        </p:nvSpPr>
        <p:spPr>
          <a:xfrm>
            <a:off x="3218688" y="199339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01 · REARMAMENT</a:t>
            </a:r>
            <a:endParaRPr lang="en-US" sz="950" dirty="0"/>
          </a:p>
        </p:txBody>
      </p:sp>
      <p:sp>
        <p:nvSpPr>
          <p:cNvPr id="8" name="Text 6"/>
          <p:cNvSpPr txBox="1"/>
          <p:nvPr/>
        </p:nvSpPr>
        <p:spPr>
          <a:xfrm>
            <a:off x="3218688" y="233172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Surge production is compounding allied stockpiles — today's shells are tomorrow's destruction queue.</a:t>
            </a:r>
            <a:endParaRPr lang="en-US" sz="1100" dirty="0"/>
          </a:p>
        </p:txBody>
      </p:sp>
      <p:sp>
        <p:nvSpPr>
          <p:cNvPr id="9" name="Shape 7"/>
          <p:cNvSpPr/>
          <p:nvPr/>
        </p:nvSpPr>
        <p:spPr>
          <a:xfrm>
            <a:off x="7411212" y="1828800"/>
            <a:ext cx="4137660" cy="1554480"/>
          </a:xfrm>
          <a:prstGeom prst="rect">
            <a:avLst/>
          </a:prstGeom>
          <a:solidFill>
            <a:srgbClr val="FAFAF8"/>
          </a:solidFill>
          <a:ln w="9525">
            <a:solidFill>
              <a:srgbClr val="E2E1DA"/>
            </a:solidFill>
            <a:prstDash val="solid"/>
          </a:ln>
        </p:spPr>
      </p:sp>
      <p:sp>
        <p:nvSpPr>
          <p:cNvPr id="10" name="Text 8"/>
          <p:cNvSpPr txBox="1"/>
          <p:nvPr/>
        </p:nvSpPr>
        <p:spPr>
          <a:xfrm>
            <a:off x="7612380" y="199339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02 · REGULATION</a:t>
            </a:r>
            <a:endParaRPr lang="en-US" sz="950" dirty="0"/>
          </a:p>
        </p:txBody>
      </p:sp>
      <p:sp>
        <p:nvSpPr>
          <p:cNvPr id="11" name="Text 9"/>
          <p:cNvSpPr txBox="1"/>
          <p:nvPr/>
        </p:nvSpPr>
        <p:spPr>
          <a:xfrm>
            <a:off x="7612380" y="233172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The EPA is closing open burn / open detonation — 67 facilities targeted. The incumbent method is being outlawed in real time.</a:t>
            </a:r>
            <a:endParaRPr lang="en-US" sz="1100" dirty="0"/>
          </a:p>
        </p:txBody>
      </p:sp>
      <p:sp>
        <p:nvSpPr>
          <p:cNvPr id="12" name="Shape 10"/>
          <p:cNvSpPr/>
          <p:nvPr/>
        </p:nvSpPr>
        <p:spPr>
          <a:xfrm>
            <a:off x="3017520" y="3566160"/>
            <a:ext cx="4137660" cy="1554480"/>
          </a:xfrm>
          <a:prstGeom prst="rect">
            <a:avLst/>
          </a:prstGeom>
          <a:solidFill>
            <a:srgbClr val="FAFAF8"/>
          </a:solidFill>
          <a:ln w="9525">
            <a:solidFill>
              <a:srgbClr val="E2E1DA"/>
            </a:solidFill>
            <a:prstDash val="solid"/>
          </a:ln>
        </p:spPr>
      </p:sp>
      <p:sp>
        <p:nvSpPr>
          <p:cNvPr id="13" name="Text 11"/>
          <p:cNvSpPr txBox="1"/>
          <p:nvPr/>
        </p:nvSpPr>
        <p:spPr>
          <a:xfrm>
            <a:off x="3218688" y="373075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03 · CRITICAL MINERALS</a:t>
            </a:r>
            <a:endParaRPr lang="en-US" sz="950" dirty="0"/>
          </a:p>
        </p:txBody>
      </p:sp>
      <p:sp>
        <p:nvSpPr>
          <p:cNvPr id="14" name="Text 12"/>
          <p:cNvSpPr txBox="1"/>
          <p:nvPr/>
        </p:nvSpPr>
        <p:spPr>
          <a:xfrm>
            <a:off x="3218688" y="406908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Copper, lead and antimony repriced by policy — the output of destruction became strategic feedstock.</a:t>
            </a:r>
            <a:endParaRPr lang="en-US" sz="1100" dirty="0"/>
          </a:p>
        </p:txBody>
      </p:sp>
      <p:sp>
        <p:nvSpPr>
          <p:cNvPr id="15" name="Shape 13"/>
          <p:cNvSpPr/>
          <p:nvPr/>
        </p:nvSpPr>
        <p:spPr>
          <a:xfrm>
            <a:off x="7411212" y="3566160"/>
            <a:ext cx="4137660" cy="1554480"/>
          </a:xfrm>
          <a:prstGeom prst="rect">
            <a:avLst/>
          </a:prstGeom>
          <a:solidFill>
            <a:srgbClr val="FAFAF8"/>
          </a:solidFill>
          <a:ln w="9525">
            <a:solidFill>
              <a:srgbClr val="E2E1DA"/>
            </a:solidFill>
            <a:prstDash val="solid"/>
          </a:ln>
        </p:spPr>
      </p:sp>
      <p:sp>
        <p:nvSpPr>
          <p:cNvPr id="16" name="Text 14"/>
          <p:cNvSpPr txBox="1"/>
          <p:nvPr/>
        </p:nvSpPr>
        <p:spPr>
          <a:xfrm>
            <a:off x="7612380" y="373075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04 · SUCCESSION</a:t>
            </a:r>
            <a:endParaRPr lang="en-US" sz="950" dirty="0"/>
          </a:p>
        </p:txBody>
      </p:sp>
      <p:sp>
        <p:nvSpPr>
          <p:cNvPr id="17" name="Text 15"/>
          <p:cNvSpPr txBox="1"/>
          <p:nvPr/>
        </p:nvSpPr>
        <p:spPr>
          <a:xfrm>
            <a:off x="7612380" y="406908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The founder generation that holds the capability is retiring — pricing the M&amp;A at 4–7× EBITDA, for now.</a:t>
            </a:r>
            <a:endParaRPr lang="en-US" sz="1100" dirty="0"/>
          </a:p>
        </p:txBody>
      </p:sp>
      <p:sp>
        <p:nvSpPr>
          <p:cNvPr id="18" name="Text 16"/>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600" b="1" dirty="0">
                <a:solidFill>
                  <a:srgbClr val="000000"/>
                </a:solidFill>
                <a:latin typeface="Helvetica Neue" pitchFamily="34" charset="0"/>
                <a:ea typeface="Helvetica Neue" pitchFamily="34" charset="-122"/>
                <a:cs typeface="Helvetica Neue" pitchFamily="34" charset="-120"/>
              </a:rPr>
              <a:t>Any one clock is a tailwind. All four at once is a category being born.</a:t>
            </a:r>
            <a:endParaRPr lang="en-US" sz="1600" dirty="0"/>
          </a:p>
        </p:txBody>
      </p:sp>
      <p:sp>
        <p:nvSpPr>
          <p:cNvPr id="19" name="Text 1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14  ·  TWB DESIGNS — CONFIDENTIAL</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788274"/>
        </a:solidFill>
      </p:bgPr>
    </p:bg>
    <p:spTree>
      <p:nvGrpSpPr>
        <p:cNvPr id="1" name=""/>
        <p:cNvGrpSpPr/>
        <p:nvPr/>
      </p:nvGrpSpPr>
      <p:grpSpPr>
        <a:xfrm>
          <a:off x="0" y="0"/>
          <a:ext cx="0" cy="0"/>
          <a:chOff x="0" y="0"/>
          <a:chExt cx="0" cy="0"/>
        </a:xfrm>
      </p:grpSpPr>
      <p:pic>
        <p:nvPicPr>
          <p:cNvPr id="2" name="Image 0" descr="/mnt/user-data/uploads/TWB Designs/brand/twb-logo-white.png">    </p:cNvPr>
          <p:cNvPicPr>
            <a:picLocks noChangeAspect="1"/>
          </p:cNvPicPr>
          <p:nvPr/>
        </p:nvPicPr>
        <p:blipFill>
          <a:blip r:embed="rId1"/>
          <a:stretch>
            <a:fillRect/>
          </a:stretch>
        </p:blipFill>
        <p:spPr>
          <a:xfrm>
            <a:off x="640080" y="559613"/>
            <a:ext cx="919343" cy="141732"/>
          </a:xfrm>
          <a:prstGeom prst="rect">
            <a:avLst/>
          </a:prstGeom>
        </p:spPr>
      </p:pic>
      <p:sp>
        <p:nvSpPr>
          <p:cNvPr id="3" name="Text 0"/>
          <p:cNvSpPr txBox="1"/>
          <p:nvPr/>
        </p:nvSpPr>
        <p:spPr>
          <a:xfrm>
            <a:off x="1623431" y="489204"/>
            <a:ext cx="1097280" cy="347472"/>
          </a:xfrm>
          <a:prstGeom prst="rect">
            <a:avLst/>
          </a:prstGeom>
          <a:noFill/>
          <a:ln/>
        </p:spPr>
        <p:txBody>
          <a:bodyPr wrap="square" lIns="0" tIns="0" rIns="0" bIns="0" rtlCol="0" anchor="ctr"/>
          <a:lstStyle/>
          <a:p>
            <a:pPr indent="0" marL="0">
              <a:buNone/>
            </a:pPr>
            <a:r>
              <a:rPr lang="en-US" sz="1500" b="1" dirty="0">
                <a:solidFill>
                  <a:srgbClr val="FFFFFF"/>
                </a:solidFill>
                <a:latin typeface="Helvetica Neue" pitchFamily="34" charset="0"/>
                <a:ea typeface="Helvetica Neue" pitchFamily="34" charset="-122"/>
                <a:cs typeface="Helvetica Neue" pitchFamily="34" charset="-120"/>
              </a:rPr>
              <a:t>Designs</a:t>
            </a:r>
            <a:endParaRPr lang="en-US" sz="1500" dirty="0"/>
          </a:p>
        </p:txBody>
      </p:sp>
      <p:sp>
        <p:nvSpPr>
          <p:cNvPr id="4" name="Text 1"/>
          <p:cNvSpPr txBox="1"/>
          <p:nvPr/>
        </p:nvSpPr>
        <p:spPr>
          <a:xfrm>
            <a:off x="640080" y="1371600"/>
            <a:ext cx="10698480" cy="1737360"/>
          </a:xfrm>
          <a:prstGeom prst="rect">
            <a:avLst/>
          </a:prstGeom>
          <a:noFill/>
          <a:ln/>
        </p:spPr>
        <p:txBody>
          <a:bodyPr wrap="square" lIns="0" tIns="0" rIns="0" bIns="0" rtlCol="0" anchor="ctr"/>
          <a:lstStyle/>
          <a:p>
            <a:pPr indent="0" marL="0">
              <a:lnSpc>
                <a:spcPct val="118000"/>
              </a:lnSpc>
              <a:buNone/>
            </a:pPr>
            <a:r>
              <a:rPr lang="en-US" sz="2700" spc="-30" kern="0" dirty="0">
                <a:solidFill>
                  <a:srgbClr val="FFFFFF"/>
                </a:solidFill>
                <a:latin typeface="Helvetica Neue" pitchFamily="34" charset="0"/>
                <a:ea typeface="Helvetica Neue" pitchFamily="34" charset="-122"/>
                <a:cs typeface="Helvetica Neue" pitchFamily="34" charset="-120"/>
              </a:rPr>
              <a:t>Every war ends. Every stockpile ages. Every round, one day, must be unmade — </a:t>
            </a:r>
            <a:pPr indent="0" marL="0">
              <a:lnSpc>
                <a:spcPct val="118000"/>
              </a:lnSpc>
              <a:buNone/>
            </a:pPr>
            <a:r>
              <a:rPr lang="en-US" sz="2700" i="1" spc="-30" kern="0" dirty="0">
                <a:solidFill>
                  <a:srgbClr val="E9EDE7"/>
                </a:solidFill>
                <a:latin typeface="Helvetica Neue" pitchFamily="34" charset="0"/>
                <a:ea typeface="Helvetica Neue" pitchFamily="34" charset="-122"/>
                <a:cs typeface="Helvetica Neue" pitchFamily="34" charset="-120"/>
              </a:rPr>
              <a:t>inside its owner's custody, by the company that built the back of the lifecycle.</a:t>
            </a:r>
            <a:endParaRPr lang="en-US" sz="2700" dirty="0"/>
          </a:p>
        </p:txBody>
      </p:sp>
      <p:sp>
        <p:nvSpPr>
          <p:cNvPr id="5" name="Text 2"/>
          <p:cNvSpPr txBox="1"/>
          <p:nvPr/>
        </p:nvSpPr>
        <p:spPr>
          <a:xfrm>
            <a:off x="640080" y="3246120"/>
            <a:ext cx="4206240" cy="960120"/>
          </a:xfrm>
          <a:prstGeom prst="rect">
            <a:avLst/>
          </a:prstGeom>
          <a:noFill/>
          <a:ln/>
        </p:spPr>
        <p:txBody>
          <a:bodyPr wrap="square" lIns="0" tIns="0" rIns="0" bIns="0" rtlCol="0" anchor="t"/>
          <a:lstStyle/>
          <a:p>
            <a:pPr algn="l" indent="0" marL="0">
              <a:buNone/>
            </a:pPr>
            <a:r>
              <a:rPr lang="en-US" sz="6200" spc="-150" kern="0" dirty="0">
                <a:solidFill>
                  <a:srgbClr val="FFFFFF"/>
                </a:solidFill>
                <a:latin typeface="Helvetica Neue" pitchFamily="34" charset="0"/>
                <a:ea typeface="Helvetica Neue" pitchFamily="34" charset="-122"/>
                <a:cs typeface="Helvetica Neue" pitchFamily="34" charset="-120"/>
              </a:rPr>
              <a:t>$2.88T</a:t>
            </a:r>
            <a:endParaRPr lang="en-US" sz="6200" dirty="0"/>
          </a:p>
        </p:txBody>
      </p:sp>
      <p:sp>
        <p:nvSpPr>
          <p:cNvPr id="6" name="Text 3"/>
          <p:cNvSpPr txBox="1"/>
          <p:nvPr/>
        </p:nvSpPr>
        <p:spPr>
          <a:xfrm>
            <a:off x="640080" y="4114800"/>
            <a:ext cx="384048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D8DED2"/>
                </a:solidFill>
                <a:latin typeface="IBM Plex Mono" pitchFamily="34" charset="0"/>
                <a:ea typeface="IBM Plex Mono" pitchFamily="34" charset="-122"/>
                <a:cs typeface="IBM Plex Mono" pitchFamily="34" charset="-120"/>
              </a:rPr>
              <a:t>SPENT MAKING IT, 2025</a:t>
            </a:r>
            <a:endParaRPr lang="en-US" sz="1050" dirty="0"/>
          </a:p>
        </p:txBody>
      </p:sp>
      <p:sp>
        <p:nvSpPr>
          <p:cNvPr id="7" name="Text 4"/>
          <p:cNvSpPr txBox="1"/>
          <p:nvPr/>
        </p:nvSpPr>
        <p:spPr>
          <a:xfrm>
            <a:off x="4709160" y="3337560"/>
            <a:ext cx="502920" cy="731520"/>
          </a:xfrm>
          <a:prstGeom prst="rect">
            <a:avLst/>
          </a:prstGeom>
          <a:noFill/>
          <a:ln/>
        </p:spPr>
        <p:txBody>
          <a:bodyPr wrap="square" lIns="0" tIns="0" rIns="0" bIns="0" rtlCol="0" anchor="ctr"/>
          <a:lstStyle/>
          <a:p>
            <a:pPr algn="ctr" indent="0" marL="0">
              <a:buNone/>
            </a:pPr>
            <a:r>
              <a:rPr lang="en-US" sz="2800" dirty="0">
                <a:solidFill>
                  <a:srgbClr val="C9CEC6"/>
                </a:solidFill>
                <a:latin typeface="Helvetica Neue" pitchFamily="34" charset="0"/>
                <a:ea typeface="Helvetica Neue" pitchFamily="34" charset="-122"/>
                <a:cs typeface="Helvetica Neue" pitchFamily="34" charset="-120"/>
              </a:rPr>
              <a:t>→</a:t>
            </a:r>
            <a:endParaRPr lang="en-US" sz="2800" dirty="0"/>
          </a:p>
        </p:txBody>
      </p:sp>
      <p:sp>
        <p:nvSpPr>
          <p:cNvPr id="8" name="Text 5"/>
          <p:cNvSpPr txBox="1"/>
          <p:nvPr/>
        </p:nvSpPr>
        <p:spPr>
          <a:xfrm>
            <a:off x="5257800" y="3246120"/>
            <a:ext cx="2011680" cy="960120"/>
          </a:xfrm>
          <a:prstGeom prst="rect">
            <a:avLst/>
          </a:prstGeom>
          <a:noFill/>
          <a:ln/>
        </p:spPr>
        <p:txBody>
          <a:bodyPr wrap="square" lIns="0" tIns="0" rIns="0" bIns="0" rtlCol="0" anchor="t"/>
          <a:lstStyle/>
          <a:p>
            <a:pPr algn="l" indent="0" marL="0">
              <a:buNone/>
            </a:pPr>
            <a:r>
              <a:rPr lang="en-US" sz="6200" spc="-150" kern="0" dirty="0">
                <a:solidFill>
                  <a:srgbClr val="FFFFFF"/>
                </a:solidFill>
                <a:latin typeface="Helvetica Neue" pitchFamily="34" charset="0"/>
                <a:ea typeface="Helvetica Neue" pitchFamily="34" charset="-122"/>
                <a:cs typeface="Helvetica Neue" pitchFamily="34" charset="-120"/>
              </a:rPr>
              <a:t>$0</a:t>
            </a:r>
            <a:endParaRPr lang="en-US" sz="6200" dirty="0"/>
          </a:p>
        </p:txBody>
      </p:sp>
      <p:sp>
        <p:nvSpPr>
          <p:cNvPr id="9" name="Text 6"/>
          <p:cNvSpPr txBox="1"/>
          <p:nvPr/>
        </p:nvSpPr>
        <p:spPr>
          <a:xfrm>
            <a:off x="5257800" y="4114800"/>
            <a:ext cx="27432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D8DED2"/>
                </a:solidFill>
                <a:latin typeface="IBM Plex Mono" pitchFamily="34" charset="0"/>
                <a:ea typeface="IBM Plex Mono" pitchFamily="34" charset="-122"/>
                <a:cs typeface="IBM Plex Mono" pitchFamily="34" charset="-120"/>
              </a:rPr>
              <a:t>PLATFORMS TO UNMAKE IT</a:t>
            </a:r>
            <a:endParaRPr lang="en-US" sz="1050" dirty="0"/>
          </a:p>
        </p:txBody>
      </p:sp>
      <p:sp>
        <p:nvSpPr>
          <p:cNvPr id="10" name="Shape 7"/>
          <p:cNvSpPr/>
          <p:nvPr/>
        </p:nvSpPr>
        <p:spPr>
          <a:xfrm>
            <a:off x="640080" y="4709160"/>
            <a:ext cx="10908792" cy="1417320"/>
          </a:xfrm>
          <a:prstGeom prst="rect">
            <a:avLst/>
          </a:prstGeom>
          <a:solidFill>
            <a:srgbClr val="6B7568"/>
          </a:solidFill>
          <a:ln w="9525">
            <a:solidFill>
              <a:srgbClr val="96A093"/>
            </a:solidFill>
            <a:prstDash val="solid"/>
          </a:ln>
        </p:spPr>
      </p:sp>
      <p:sp>
        <p:nvSpPr>
          <p:cNvPr id="11" name="Shape 8"/>
          <p:cNvSpPr/>
          <p:nvPr/>
        </p:nvSpPr>
        <p:spPr>
          <a:xfrm>
            <a:off x="620878" y="4689958"/>
            <a:ext cx="59436" cy="12802"/>
          </a:xfrm>
          <a:prstGeom prst="rect">
            <a:avLst/>
          </a:prstGeom>
          <a:solidFill>
            <a:srgbClr val="FFFFFF"/>
          </a:solidFill>
          <a:ln/>
        </p:spPr>
      </p:sp>
      <p:sp>
        <p:nvSpPr>
          <p:cNvPr id="12" name="Shape 9"/>
          <p:cNvSpPr/>
          <p:nvPr/>
        </p:nvSpPr>
        <p:spPr>
          <a:xfrm>
            <a:off x="620878" y="4689958"/>
            <a:ext cx="12802" cy="59436"/>
          </a:xfrm>
          <a:prstGeom prst="rect">
            <a:avLst/>
          </a:prstGeom>
          <a:solidFill>
            <a:srgbClr val="FFFFFF"/>
          </a:solidFill>
          <a:ln/>
        </p:spPr>
      </p:sp>
      <p:sp>
        <p:nvSpPr>
          <p:cNvPr id="13" name="Shape 10"/>
          <p:cNvSpPr/>
          <p:nvPr/>
        </p:nvSpPr>
        <p:spPr>
          <a:xfrm>
            <a:off x="11508638" y="4689958"/>
            <a:ext cx="59436" cy="12802"/>
          </a:xfrm>
          <a:prstGeom prst="rect">
            <a:avLst/>
          </a:prstGeom>
          <a:solidFill>
            <a:srgbClr val="FFFFFF"/>
          </a:solidFill>
          <a:ln/>
        </p:spPr>
      </p:sp>
      <p:sp>
        <p:nvSpPr>
          <p:cNvPr id="14" name="Shape 11"/>
          <p:cNvSpPr/>
          <p:nvPr/>
        </p:nvSpPr>
        <p:spPr>
          <a:xfrm>
            <a:off x="11555273" y="4689958"/>
            <a:ext cx="12802" cy="59436"/>
          </a:xfrm>
          <a:prstGeom prst="rect">
            <a:avLst/>
          </a:prstGeom>
          <a:solidFill>
            <a:srgbClr val="FFFFFF"/>
          </a:solidFill>
          <a:ln/>
        </p:spPr>
      </p:sp>
      <p:sp>
        <p:nvSpPr>
          <p:cNvPr id="15" name="Shape 12"/>
          <p:cNvSpPr/>
          <p:nvPr/>
        </p:nvSpPr>
        <p:spPr>
          <a:xfrm>
            <a:off x="620878" y="6132881"/>
            <a:ext cx="59436" cy="12802"/>
          </a:xfrm>
          <a:prstGeom prst="rect">
            <a:avLst/>
          </a:prstGeom>
          <a:solidFill>
            <a:srgbClr val="FFFFFF"/>
          </a:solidFill>
          <a:ln/>
        </p:spPr>
      </p:sp>
      <p:sp>
        <p:nvSpPr>
          <p:cNvPr id="16" name="Shape 13"/>
          <p:cNvSpPr/>
          <p:nvPr/>
        </p:nvSpPr>
        <p:spPr>
          <a:xfrm>
            <a:off x="620878" y="6086246"/>
            <a:ext cx="12802" cy="59436"/>
          </a:xfrm>
          <a:prstGeom prst="rect">
            <a:avLst/>
          </a:prstGeom>
          <a:solidFill>
            <a:srgbClr val="FFFFFF"/>
          </a:solidFill>
          <a:ln/>
        </p:spPr>
      </p:sp>
      <p:sp>
        <p:nvSpPr>
          <p:cNvPr id="17" name="Shape 14"/>
          <p:cNvSpPr/>
          <p:nvPr/>
        </p:nvSpPr>
        <p:spPr>
          <a:xfrm>
            <a:off x="11508638" y="6132881"/>
            <a:ext cx="59436" cy="12802"/>
          </a:xfrm>
          <a:prstGeom prst="rect">
            <a:avLst/>
          </a:prstGeom>
          <a:solidFill>
            <a:srgbClr val="FFFFFF"/>
          </a:solidFill>
          <a:ln/>
        </p:spPr>
      </p:sp>
      <p:sp>
        <p:nvSpPr>
          <p:cNvPr id="18" name="Shape 15"/>
          <p:cNvSpPr/>
          <p:nvPr/>
        </p:nvSpPr>
        <p:spPr>
          <a:xfrm>
            <a:off x="11555273" y="6086246"/>
            <a:ext cx="12802" cy="59436"/>
          </a:xfrm>
          <a:prstGeom prst="rect">
            <a:avLst/>
          </a:prstGeom>
          <a:solidFill>
            <a:srgbClr val="FFFFFF"/>
          </a:solidFill>
          <a:ln/>
        </p:spPr>
      </p:sp>
      <p:sp>
        <p:nvSpPr>
          <p:cNvPr id="19" name="Text 16"/>
          <p:cNvSpPr txBox="1"/>
          <p:nvPr/>
        </p:nvSpPr>
        <p:spPr>
          <a:xfrm>
            <a:off x="896112" y="4892040"/>
            <a:ext cx="7315200" cy="256032"/>
          </a:xfrm>
          <a:prstGeom prst="rect">
            <a:avLst/>
          </a:prstGeom>
          <a:noFill/>
          <a:ln/>
        </p:spPr>
        <p:txBody>
          <a:bodyPr wrap="square" lIns="0" tIns="0" rIns="0" bIns="0" rtlCol="0" anchor="ctr"/>
          <a:lstStyle/>
          <a:p>
            <a:pPr indent="0" marL="0">
              <a:buNone/>
            </a:pPr>
            <a:r>
              <a:rPr lang="en-US" sz="1000" b="1" spc="180" kern="0" dirty="0">
                <a:solidFill>
                  <a:srgbClr val="FFFFFF"/>
                </a:solidFill>
                <a:latin typeface="IBM Plex Mono" pitchFamily="34" charset="0"/>
                <a:ea typeface="IBM Plex Mono" pitchFamily="34" charset="-122"/>
                <a:cs typeface="IBM Plex Mono" pitchFamily="34" charset="-120"/>
              </a:rPr>
              <a:t>THE ASK — PLACEHOLDER, SIZED FROM THE PLAN</a:t>
            </a:r>
            <a:endParaRPr lang="en-US" sz="1000" dirty="0"/>
          </a:p>
        </p:txBody>
      </p:sp>
      <p:sp>
        <p:nvSpPr>
          <p:cNvPr id="20" name="Text 17"/>
          <p:cNvSpPr txBox="1"/>
          <p:nvPr/>
        </p:nvSpPr>
        <p:spPr>
          <a:xfrm>
            <a:off x="896112" y="5193792"/>
            <a:ext cx="10396728" cy="868680"/>
          </a:xfrm>
          <a:prstGeom prst="rect">
            <a:avLst/>
          </a:prstGeom>
          <a:noFill/>
          <a:ln/>
        </p:spPr>
        <p:txBody>
          <a:bodyPr wrap="square" lIns="0" tIns="0" rIns="0" bIns="0" rtlCol="0" anchor="ctr"/>
          <a:lstStyle/>
          <a:p>
            <a:pPr indent="0" marL="0">
              <a:lnSpc>
                <a:spcPct val="130000"/>
              </a:lnSpc>
              <a:buNone/>
            </a:pPr>
            <a:r>
              <a:rPr lang="en-US" sz="1150" dirty="0">
                <a:solidFill>
                  <a:srgbClr val="EDF0EB"/>
                </a:solidFill>
                <a:latin typeface="Helvetica Neue" pitchFamily="34" charset="0"/>
                <a:ea typeface="Helvetica Neue" pitchFamily="34" charset="-122"/>
                <a:cs typeface="Helvetica Neue" pitchFamily="34" charset="-120"/>
              </a:rPr>
              <a:t>Raise, instrument and use of proceeds follow the phase ladder: acquisition capital at real multiples · partnership and development programs · working capital for first allied contracts. Reserved slides behind: milestones · team · references &amp; past performance · financial model.</a:t>
            </a:r>
            <a:endParaRPr lang="en-US" sz="1150" dirty="0"/>
          </a:p>
        </p:txBody>
      </p:sp>
      <p:sp>
        <p:nvSpPr>
          <p:cNvPr id="21" name="Text 18"/>
          <p:cNvSpPr txBox="1"/>
          <p:nvPr/>
        </p:nvSpPr>
        <p:spPr>
          <a:xfrm>
            <a:off x="6336792" y="6382512"/>
            <a:ext cx="5212080" cy="256032"/>
          </a:xfrm>
          <a:prstGeom prst="rect">
            <a:avLst/>
          </a:prstGeom>
          <a:noFill/>
          <a:ln/>
        </p:spPr>
        <p:txBody>
          <a:bodyPr wrap="square" lIns="0" tIns="0" rIns="0" bIns="0" rtlCol="0" anchor="ctr"/>
          <a:lstStyle/>
          <a:p>
            <a:pPr algn="r" indent="0" marL="0">
              <a:buNone/>
            </a:pPr>
            <a:r>
              <a:rPr lang="en-US" sz="850" spc="200" kern="0" dirty="0">
                <a:solidFill>
                  <a:srgbClr val="C9CEC6"/>
                </a:solidFill>
                <a:latin typeface="IBM Plex Mono" pitchFamily="34" charset="0"/>
                <a:ea typeface="IBM Plex Mono" pitchFamily="34" charset="-122"/>
                <a:cs typeface="IBM Plex Mono" pitchFamily="34" charset="-120"/>
              </a:rPr>
              <a:t>TWB DESIGNS INC. · HAMILTON, ONTARIO · A CLN COMPANY</a:t>
            </a:r>
            <a:endParaRPr lang="en-US" sz="850" dirty="0"/>
          </a:p>
        </p:txBody>
      </p:sp>
      <p:sp>
        <p:nvSpPr>
          <p:cNvPr id="22" name="Text 19"/>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15  ·  TWB DESIGNS — CONFIDENTIAL</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2026-08-26T19:43:30Z</dcterms:created>
  <dcterms:modified xsi:type="dcterms:W3CDTF">2026-08-26T19:43:30Z</dcterms:modified>
</cp:coreProperties>
</file>