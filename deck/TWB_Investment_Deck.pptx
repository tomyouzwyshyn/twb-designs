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Three sentences, then let the room sit with the pair of numbers: $2.88T spent, $0 platforms built to unmake it. That contrast is the entire pitch in two figures — return to 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production climbing for a decade across every region, conflicts climbing with it to a post-1946 record. Two panels, one timeline, one axis each — deliberately NOT a dual-axis overlay, so nobody can accuse us of scaling two series to look correlated. Note the honest gap: no 2025 production bar because SIPRI has not published it. If asked why arms-company revenue rather than 'ammunition production': there is no audited global ammunition-production series — the market-research numbers are unsourced and contradict each other. This is the closest verifiable proxy and it is checkable in two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one problem: tons AND dollars. The queue number is proof the best-resourced military on earth is already behind, in peacetime, before the surge lands. The dollar figure is our calculation from two verified anchors — say so plainly if asked. Ukraine's $30B cleanup bill (World Bank RDNA4) is the same logic compressed into one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number, not the sentence — let '3' sit before you explain it. Dashed strokes and dark neutral for the negative register. Never mock the incumbents; state the three methods flatly. This slide is why the mission matters beyond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changes the category from waste management to strategic materials. Three of the output metals here are on the 2025 Critical Minerals List (90 FR 50494); steel is the fourth. Discipline: net cost of destruction — never 'cheaper' in the gross, and no dollar-recovery tables until third-party verification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strangest fact in the market, and the heart of the thesis. Let '0' sit in silence before naming what it means. Fragmented supply, surging demand, repriced outputs, no incumbent platform: category assembly, the year before it happens. Disclosed sector deals cleared 1.5–3.1× revenue; we underwrite at real multiples.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scale drawing does the work a table cannot: SOM is visibly a sliver of TAM, which is the honest shape of a venture case and pre-empts the 'your SOM is your TAM' objection before it is raised. Say plainly that this construction is ours — an uncovered market with no index is where category-defining returns live. Never let it be re-scored on tons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venture slide — the story IS the roadmap. We are not selling a machine business; we are assembling the category. The acquisition homework exists as a ranked, contacted-ready shortlist; it stays out of circulating decks and comes out in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funds and de-risks the next: Phase 1 cash and references price Phase 2 acquisitions; Phase 2 capability wins Phase 3 sovereign programs. The ladder is the use-of-proceeds logic — the ask slide sizes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present, placed after the plan on purpose: proof we operate, not the story itself. 25 is the number that separates us from a slide deck — a quarter-century of custody destruction, references on three continents. Named references are ammunition work only; narcotics and seized property stated as capability, never as referenced past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catalogue makes 'full service' concrete and shows the assembly logic at a glance — every line tagged by the engine that delivers it. Capability categories only; the named target work is held for diligence.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Allied-forward is a strategy, not a constraint: sovereign custody is what these governments are newly willing to pay for. Never claim US CAGE, small-business status, ATF FEL or DDTC registration — the DFARS qualifying-country line is the accurate, checkable version of US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 discipline under questioning: never 'cheaper' in the gross — open burning runs ~$750/ton and wins any raw price race. The hero number is the market's own published rate, not ours — we're showing we don't need to win a price war to win the deal. No dollar-recovery tables until third-party verification of recovery rates publishes.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is the point — each clock alone is an interesting trend; together they create a moment that will not repeat. Lead with '4' before naming them. This is the emotional peak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AND the bookend numbers — return to slide one's contrast deliberately. V1/V2 leaves the ask open by design — the story earns the meeting; the number is set when the M&amp;A math is locked. Then hand them the narrative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these up during Q&amp;A. The point is not that anyone reads them in the room — it is that the deck visibly survives being checked. If challenged on a number, go to the superscript, not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these up during Q&amp;A. The point is not that anyone reads them in the room — it is that the deck visibly survives being checked. If challenged on a number, go to the superscript, not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mnt/user-data/uploads/TWB Designs/brand/twb-logo-black.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000000"/>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793992" y="530352"/>
            <a:ext cx="4754880" cy="274320"/>
          </a:xfrm>
          <a:prstGeom prst="rect">
            <a:avLst/>
          </a:prstGeom>
          <a:noFill/>
          <a:ln/>
        </p:spPr>
        <p:txBody>
          <a:bodyPr wrap="square" lIns="0" tIns="0" rIns="0" bIns="0" rtlCol="0" anchor="ctr"/>
          <a:lstStyle/>
          <a:p>
            <a:pPr algn="r" indent="0" marL="0">
              <a:buNone/>
            </a:pPr>
            <a:r>
              <a:rPr lang="en-US" sz="1000" spc="200" kern="0" dirty="0">
                <a:solidFill>
                  <a:srgbClr val="6E6C66"/>
                </a:solidFill>
                <a:latin typeface="IBM Plex Mono" pitchFamily="34" charset="0"/>
                <a:ea typeface="IBM Plex Mono" pitchFamily="34" charset="-122"/>
                <a:cs typeface="IBM Plex Mono" pitchFamily="34" charset="-120"/>
              </a:rPr>
              <a:t>INVESTMENT NARRATIVE · V2 · AUGUST 2026</a:t>
            </a:r>
            <a:endParaRPr lang="en-US" sz="1000" dirty="0"/>
          </a:p>
        </p:txBody>
      </p:sp>
      <p:sp>
        <p:nvSpPr>
          <p:cNvPr id="5" name="Text 2"/>
          <p:cNvSpPr txBox="1"/>
          <p:nvPr/>
        </p:nvSpPr>
        <p:spPr>
          <a:xfrm>
            <a:off x="640080" y="1371600"/>
            <a:ext cx="10881360" cy="1965960"/>
          </a:xfrm>
          <a:prstGeom prst="rect">
            <a:avLst/>
          </a:prstGeom>
          <a:noFill/>
          <a:ln/>
        </p:spPr>
        <p:txBody>
          <a:bodyPr wrap="square" lIns="0" tIns="0" rIns="0" bIns="0" rtlCol="0" anchor="t"/>
          <a:lstStyle/>
          <a:p>
            <a:pPr indent="0" marL="0">
              <a:lnSpc>
                <a:spcPct val="112000"/>
              </a:lnSpc>
              <a:buNone/>
            </a:pPr>
            <a:r>
              <a:rPr lang="en-US" sz="3300" spc="-40" kern="0" dirty="0">
                <a:solidFill>
                  <a:srgbClr val="000000"/>
                </a:solidFill>
                <a:latin typeface="Helvetica Neue" pitchFamily="34" charset="0"/>
                <a:ea typeface="Helvetica Neue" pitchFamily="34" charset="-122"/>
                <a:cs typeface="Helvetica Neue" pitchFamily="34" charset="-120"/>
              </a:rPr>
              <a:t>The world has never spent more making ammunition. Nobody has built the industry that unmakes it. </a:t>
            </a:r>
            <a:pPr indent="0" marL="0">
              <a:lnSpc>
                <a:spcPct val="112000"/>
              </a:lnSpc>
              <a:buNone/>
            </a:pPr>
            <a:r>
              <a:rPr lang="en-US" sz="3300" spc="-40" kern="0" dirty="0">
                <a:solidFill>
                  <a:srgbClr val="66705F"/>
                </a:solidFill>
                <a:latin typeface="Helvetica Neue" pitchFamily="34" charset="0"/>
                <a:ea typeface="Helvetica Neue" pitchFamily="34" charset="-122"/>
                <a:cs typeface="Helvetica Neue" pitchFamily="34" charset="-120"/>
              </a:rPr>
              <a:t>We are assembling it.</a:t>
            </a:r>
            <a:endParaRPr lang="en-US" sz="3300" dirty="0"/>
          </a:p>
        </p:txBody>
      </p:sp>
      <p:sp>
        <p:nvSpPr>
          <p:cNvPr id="6" name="Text 3"/>
          <p:cNvSpPr txBox="1"/>
          <p:nvPr/>
        </p:nvSpPr>
        <p:spPr>
          <a:xfrm>
            <a:off x="640080" y="3401568"/>
            <a:ext cx="9875520" cy="411480"/>
          </a:xfrm>
          <a:prstGeom prst="rect">
            <a:avLst/>
          </a:prstGeom>
          <a:noFill/>
          <a:ln/>
        </p:spPr>
        <p:txBody>
          <a:bodyPr wrap="square" lIns="0" tIns="0" rIns="0" bIns="0" rtlCol="0" anchor="ctr"/>
          <a:lstStyle/>
          <a:p>
            <a:pPr indent="0" marL="0">
              <a:buNone/>
            </a:pPr>
            <a:r>
              <a:rPr lang="en-US" sz="1450" dirty="0">
                <a:solidFill>
                  <a:srgbClr val="33332F"/>
                </a:solidFill>
                <a:latin typeface="Helvetica Neue" pitchFamily="34" charset="0"/>
                <a:ea typeface="Helvetica Neue" pitchFamily="34" charset="-122"/>
                <a:cs typeface="Helvetica Neue" pitchFamily="34" charset="-120"/>
              </a:rPr>
              <a:t>TWB Designs — assembling the full-service platform for munitions end-of-life across allied nations.</a:t>
            </a:r>
            <a:endParaRPr lang="en-US" sz="1450" dirty="0"/>
          </a:p>
        </p:txBody>
      </p:sp>
      <p:sp>
        <p:nvSpPr>
          <p:cNvPr id="7" name="Shape 4"/>
          <p:cNvSpPr/>
          <p:nvPr/>
        </p:nvSpPr>
        <p:spPr>
          <a:xfrm>
            <a:off x="640080" y="3977640"/>
            <a:ext cx="10908792" cy="0"/>
          </a:xfrm>
          <a:prstGeom prst="line">
            <a:avLst/>
          </a:prstGeom>
          <a:noFill/>
          <a:ln w="9525">
            <a:solidFill>
              <a:srgbClr val="E2E1DA"/>
            </a:solidFill>
            <a:prstDash val="solid"/>
          </a:ln>
        </p:spPr>
      </p:sp>
      <p:sp>
        <p:nvSpPr>
          <p:cNvPr id="8" name="Text 5"/>
          <p:cNvSpPr txBox="1"/>
          <p:nvPr/>
        </p:nvSpPr>
        <p:spPr>
          <a:xfrm>
            <a:off x="640080" y="4206240"/>
            <a:ext cx="5120640" cy="1463040"/>
          </a:xfrm>
          <a:prstGeom prst="rect">
            <a:avLst/>
          </a:prstGeom>
          <a:noFill/>
          <a:ln/>
        </p:spPr>
        <p:txBody>
          <a:bodyPr wrap="square" lIns="0" tIns="0" rIns="0" bIns="0" rtlCol="0" anchor="t"/>
          <a:lstStyle/>
          <a:p>
            <a:pPr algn="l" indent="0" marL="0">
              <a:buNone/>
            </a:pPr>
            <a:r>
              <a:rPr lang="en-US" sz="8200" spc="-200" kern="0" dirty="0">
                <a:solidFill>
                  <a:srgbClr val="000000"/>
                </a:solidFill>
                <a:latin typeface="Helvetica Neue" pitchFamily="34" charset="0"/>
                <a:ea typeface="Helvetica Neue" pitchFamily="34" charset="-122"/>
                <a:cs typeface="Helvetica Neue" pitchFamily="34" charset="-120"/>
              </a:rPr>
              <a:t>$2.88T</a:t>
            </a:r>
            <a:endParaRPr lang="en-US" sz="8200" dirty="0"/>
          </a:p>
        </p:txBody>
      </p:sp>
      <p:sp>
        <p:nvSpPr>
          <p:cNvPr id="9" name="Text 6"/>
          <p:cNvSpPr txBox="1"/>
          <p:nvPr/>
        </p:nvSpPr>
        <p:spPr>
          <a:xfrm>
            <a:off x="640080" y="5742432"/>
            <a:ext cx="493776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E6C66"/>
                </a:solidFill>
                <a:latin typeface="IBM Plex Mono" pitchFamily="34" charset="0"/>
                <a:ea typeface="IBM Plex Mono" pitchFamily="34" charset="-122"/>
                <a:cs typeface="IBM Plex Mono" pitchFamily="34" charset="-120"/>
              </a:rPr>
              <a:t>SPENT MAKING IT — WORLD MILITARY EXPENDITURE, 2025 (SIPRI)</a:t>
            </a:r>
            <a:endParaRPr lang="en-US" sz="1050" dirty="0"/>
          </a:p>
        </p:txBody>
      </p:sp>
      <p:sp>
        <p:nvSpPr>
          <p:cNvPr id="10" name="Text 7"/>
          <p:cNvSpPr txBox="1"/>
          <p:nvPr/>
        </p:nvSpPr>
        <p:spPr>
          <a:xfrm>
            <a:off x="5806440" y="4480560"/>
            <a:ext cx="640080" cy="822960"/>
          </a:xfrm>
          <a:prstGeom prst="rect">
            <a:avLst/>
          </a:prstGeom>
          <a:noFill/>
          <a:ln/>
        </p:spPr>
        <p:txBody>
          <a:bodyPr wrap="square" lIns="0" tIns="0" rIns="0" bIns="0" rtlCol="0" anchor="ctr"/>
          <a:lstStyle/>
          <a:p>
            <a:pPr algn="ctr" indent="0" marL="0">
              <a:buNone/>
            </a:pPr>
            <a:r>
              <a:rPr lang="en-US" sz="3200" dirty="0">
                <a:solidFill>
                  <a:srgbClr val="6E6C66"/>
                </a:solidFill>
                <a:latin typeface="Helvetica Neue" pitchFamily="34" charset="0"/>
                <a:ea typeface="Helvetica Neue" pitchFamily="34" charset="-122"/>
                <a:cs typeface="Helvetica Neue" pitchFamily="34" charset="-120"/>
              </a:rPr>
              <a:t>→</a:t>
            </a:r>
            <a:endParaRPr lang="en-US" sz="3200" dirty="0"/>
          </a:p>
        </p:txBody>
      </p:sp>
      <p:sp>
        <p:nvSpPr>
          <p:cNvPr id="11" name="Text 8"/>
          <p:cNvSpPr txBox="1"/>
          <p:nvPr/>
        </p:nvSpPr>
        <p:spPr>
          <a:xfrm>
            <a:off x="6446520" y="4206240"/>
            <a:ext cx="2743200" cy="1463040"/>
          </a:xfrm>
          <a:prstGeom prst="rect">
            <a:avLst/>
          </a:prstGeom>
          <a:noFill/>
          <a:ln/>
        </p:spPr>
        <p:txBody>
          <a:bodyPr wrap="square" lIns="0" tIns="0" rIns="0" bIns="0" rtlCol="0" anchor="t"/>
          <a:lstStyle/>
          <a:p>
            <a:pPr algn="l" indent="0" marL="0">
              <a:buNone/>
            </a:pPr>
            <a:r>
              <a:rPr lang="en-US" sz="8200" spc="-200" kern="0" dirty="0">
                <a:solidFill>
                  <a:srgbClr val="66705F"/>
                </a:solidFill>
                <a:latin typeface="Helvetica Neue" pitchFamily="34" charset="0"/>
                <a:ea typeface="Helvetica Neue" pitchFamily="34" charset="-122"/>
                <a:cs typeface="Helvetica Neue" pitchFamily="34" charset="-120"/>
              </a:rPr>
              <a:t>$0</a:t>
            </a:r>
            <a:endParaRPr lang="en-US" sz="8200" dirty="0"/>
          </a:p>
        </p:txBody>
      </p:sp>
      <p:sp>
        <p:nvSpPr>
          <p:cNvPr id="12" name="Text 9"/>
          <p:cNvSpPr txBox="1"/>
          <p:nvPr/>
        </p:nvSpPr>
        <p:spPr>
          <a:xfrm>
            <a:off x="6446520" y="5742432"/>
            <a:ext cx="475488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PLATFORMS BUILT TO UNMAKE IT — UNTIL NOW</a:t>
            </a:r>
            <a:endParaRPr lang="en-US" sz="1050" dirty="0"/>
          </a:p>
        </p:txBody>
      </p:sp>
      <p:sp>
        <p:nvSpPr>
          <p:cNvPr id="13" name="Text 1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01  ·  TWB DESIGNS — CONFIDENTIAL</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 — THE REARMAMENT</a:t>
            </a:r>
            <a:endParaRPr lang="en-US" sz="1000" dirty="0"/>
          </a:p>
        </p:txBody>
      </p:sp>
      <p:sp>
        <p:nvSpPr>
          <p:cNvPr id="3" name="Text 1"/>
          <p:cNvSpPr txBox="1"/>
          <p:nvPr/>
        </p:nvSpPr>
        <p:spPr>
          <a:xfrm>
            <a:off x="640080" y="768096"/>
            <a:ext cx="7498080" cy="566928"/>
          </a:xfrm>
          <a:prstGeom prst="rect">
            <a:avLst/>
          </a:prstGeom>
          <a:noFill/>
          <a:ln/>
        </p:spPr>
        <p:txBody>
          <a:bodyPr wrap="square" lIns="0" tIns="0" rIns="0" bIns="0" rtlCol="0" anchor="ctr"/>
          <a:lstStyle/>
          <a:p>
            <a:pPr indent="0" marL="0">
              <a:buNone/>
            </a:pPr>
            <a:r>
              <a:rPr lang="en-US" sz="2500" spc="-30" kern="0" dirty="0">
                <a:solidFill>
                  <a:srgbClr val="000000"/>
                </a:solidFill>
                <a:latin typeface="Helvetica Neue" pitchFamily="34" charset="0"/>
                <a:ea typeface="Helvetica Neue" pitchFamily="34" charset="-122"/>
                <a:cs typeface="Helvetica Neue" pitchFamily="34" charset="-120"/>
              </a:rPr>
              <a:t>The largest buildup in eighty years.</a:t>
            </a:r>
            <a:endParaRPr lang="en-US" sz="2500" dirty="0"/>
          </a:p>
        </p:txBody>
      </p:sp>
      <p:sp>
        <p:nvSpPr>
          <p:cNvPr id="4" name="Text 2"/>
          <p:cNvSpPr txBox="1"/>
          <p:nvPr/>
        </p:nvSpPr>
        <p:spPr>
          <a:xfrm>
            <a:off x="8229600" y="786384"/>
            <a:ext cx="3319272" cy="566928"/>
          </a:xfrm>
          <a:prstGeom prst="rect">
            <a:avLst/>
          </a:prstGeom>
          <a:noFill/>
          <a:ln/>
        </p:spPr>
        <p:txBody>
          <a:bodyPr wrap="square" lIns="0" tIns="0" rIns="0" bIns="0" rtlCol="0" anchor="ctr"/>
          <a:lstStyle/>
          <a:p>
            <a:pPr algn="r" indent="0" marL="0">
              <a:buNone/>
            </a:pPr>
            <a:r>
              <a:rPr lang="en-US" sz="3000" spc="-100" kern="0" dirty="0">
                <a:solidFill>
                  <a:srgbClr val="000000"/>
                </a:solidFill>
                <a:latin typeface="Helvetica Neue" pitchFamily="34" charset="0"/>
                <a:ea typeface="Helvetica Neue" pitchFamily="34" charset="-122"/>
                <a:cs typeface="Helvetica Neue" pitchFamily="34" charset="-120"/>
              </a:rPr>
              <a:t>$2.88T</a:t>
            </a:r>
            <a:pPr algn="r" indent="0" marL="0">
              <a:buNone/>
            </a:pPr>
            <a:r>
              <a:rPr lang="en-US" sz="850" b="1" spc="120" kern="0" dirty="0">
                <a:solidFill>
                  <a:srgbClr val="66705F"/>
                </a:solidFill>
                <a:latin typeface="IBM Plex Mono" pitchFamily="34" charset="0"/>
                <a:ea typeface="IBM Plex Mono" pitchFamily="34" charset="-122"/>
                <a:cs typeface="IBM Plex Mono" pitchFamily="34" charset="-120"/>
              </a:rPr>
              <a:t>   world military expenditure, 2025 — an all-time record¹</a:t>
            </a:r>
            <a:endParaRPr lang="en-US" sz="3000" dirty="0"/>
          </a:p>
        </p:txBody>
      </p:sp>
      <p:pic>
        <p:nvPicPr>
          <p:cNvPr id="5" name="Image 0" descr="/root/twb-build/deck/charts/slide2_production_conflict.png">    </p:cNvPr>
          <p:cNvPicPr>
            <a:picLocks noChangeAspect="1"/>
          </p:cNvPicPr>
          <p:nvPr/>
        </p:nvPicPr>
        <p:blipFill>
          <a:blip r:embed="rId1"/>
          <a:stretch>
            <a:fillRect/>
          </a:stretch>
        </p:blipFill>
        <p:spPr>
          <a:xfrm>
            <a:off x="882396" y="1444752"/>
            <a:ext cx="10424160" cy="4638751"/>
          </a:xfrm>
          <a:prstGeom prst="rect">
            <a:avLst/>
          </a:prstGeom>
        </p:spPr>
      </p:pic>
      <p:sp>
        <p:nvSpPr>
          <p:cNvPr id="6" name="Text 3"/>
          <p:cNvSpPr txBox="1"/>
          <p:nvPr/>
        </p:nvSpPr>
        <p:spPr>
          <a:xfrm>
            <a:off x="640080" y="6163056"/>
            <a:ext cx="7863840" cy="292608"/>
          </a:xfrm>
          <a:prstGeom prst="rect">
            <a:avLst/>
          </a:prstGeom>
          <a:noFill/>
          <a:ln/>
        </p:spPr>
        <p:txBody>
          <a:bodyPr wrap="square" lIns="0" tIns="0" rIns="0" bIns="0" rtlCol="0" anchor="ctr"/>
          <a:lstStyle/>
          <a:p>
            <a:pPr indent="0" marL="0">
              <a:buNone/>
            </a:pPr>
            <a:r>
              <a:rPr lang="en-US" sz="1050" b="1" dirty="0">
                <a:solidFill>
                  <a:srgbClr val="000000"/>
                </a:solidFill>
                <a:latin typeface="Helvetica Neue" pitchFamily="34" charset="0"/>
                <a:ea typeface="Helvetica Neue" pitchFamily="34" charset="-122"/>
                <a:cs typeface="Helvetica Neue" pitchFamily="34" charset="-120"/>
              </a:rPr>
              <a:t>Production is a crowded trade. </a:t>
            </a:r>
            <a:pPr indent="0" marL="0">
              <a:buNone/>
            </a:pPr>
            <a:r>
              <a:rPr lang="en-US" sz="1050" dirty="0">
                <a:solidFill>
                  <a:srgbClr val="33332F"/>
                </a:solidFill>
                <a:latin typeface="Helvetica Neue" pitchFamily="34" charset="0"/>
                <a:ea typeface="Helvetica Neue" pitchFamily="34" charset="-122"/>
                <a:cs typeface="Helvetica Neue" pitchFamily="34" charset="-120"/>
              </a:rPr>
              <a:t>Unmaking it is not — no incumbent, no index, almost no capacity.</a:t>
            </a:r>
            <a:endParaRPr lang="en-US" sz="1050" dirty="0"/>
          </a:p>
        </p:txBody>
      </p:sp>
      <p:sp>
        <p:nvSpPr>
          <p:cNvPr id="7" name="Text 4"/>
          <p:cNvSpPr txBox="1"/>
          <p:nvPr/>
        </p:nvSpPr>
        <p:spPr>
          <a:xfrm>
            <a:off x="8595360" y="6153912"/>
            <a:ext cx="2953512" cy="329184"/>
          </a:xfrm>
          <a:prstGeom prst="rect">
            <a:avLst/>
          </a:prstGeom>
          <a:noFill/>
          <a:ln/>
        </p:spPr>
        <p:txBody>
          <a:bodyPr wrap="square" lIns="0" tIns="0" rIns="0" bIns="0" rtlCol="0" anchor="ctr"/>
          <a:lstStyle/>
          <a:p>
            <a:pPr algn="r" indent="0" marL="0">
              <a:lnSpc>
                <a:spcPct val="125000"/>
              </a:lnSpc>
              <a:buNone/>
            </a:pPr>
            <a:r>
              <a:rPr lang="en-US" sz="700" b="1" spc="140" kern="0" dirty="0">
                <a:solidFill>
                  <a:srgbClr val="6E6C66"/>
                </a:solidFill>
                <a:latin typeface="IBM Plex Mono" pitchFamily="34" charset="0"/>
                <a:ea typeface="IBM Plex Mono" pitchFamily="34" charset="-122"/>
                <a:cs typeface="IBM Plex Mono" pitchFamily="34" charset="-120"/>
              </a:rPr>
              <a:t>SOURCES </a:t>
            </a:r>
            <a:pPr algn="r" indent="0" marL="0">
              <a:lnSpc>
                <a:spcPct val="125000"/>
              </a:lnSpc>
              <a:buNone/>
            </a:pPr>
            <a:r>
              <a:rPr lang="en-US" sz="700" spc="60" kern="0" dirty="0">
                <a:solidFill>
                  <a:srgbClr val="6E6C66"/>
                </a:solidFill>
                <a:latin typeface="IBM Plex Mono" pitchFamily="34" charset="0"/>
                <a:ea typeface="IBM Plex Mono" pitchFamily="34" charset="-122"/>
                <a:cs typeface="IBM Plex Mono" pitchFamily="34" charset="-120"/>
              </a:rPr>
              <a:t>SIPRI Top 100 2002–24, regional aggregation ours, Russia excluded³ · UCDP/PRIO v26.1²</a:t>
            </a:r>
            <a:endParaRPr lang="en-US" sz="700" dirty="0"/>
          </a:p>
        </p:txBody>
      </p:sp>
      <p:sp>
        <p:nvSpPr>
          <p:cNvPr id="8" name="Text 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02  ·  TWB DESIGNS — CONFIDENTIAL</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LIABILITY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Ammunition is the only weapon you must destroy to retire.</a:t>
            </a:r>
            <a:endParaRPr lang="en-US" sz="2800" dirty="0"/>
          </a:p>
        </p:txBody>
      </p:sp>
      <p:sp>
        <p:nvSpPr>
          <p:cNvPr id="4" name="Text 2"/>
          <p:cNvSpPr txBox="1"/>
          <p:nvPr/>
        </p:nvSpPr>
        <p:spPr>
          <a:xfrm>
            <a:off x="640080" y="1874520"/>
            <a:ext cx="5577840" cy="1371600"/>
          </a:xfrm>
          <a:prstGeom prst="rect">
            <a:avLst/>
          </a:prstGeom>
          <a:noFill/>
          <a:ln/>
        </p:spPr>
        <p:txBody>
          <a:bodyPr wrap="square" lIns="0" tIns="0" rIns="0" bIns="0" rtlCol="0" anchor="t"/>
          <a:lstStyle/>
          <a:p>
            <a:pPr algn="l" indent="0" marL="0">
              <a:buNone/>
            </a:pPr>
            <a:r>
              <a:rPr lang="en-US" sz="7600" spc="-200" kern="0" dirty="0">
                <a:solidFill>
                  <a:srgbClr val="000000"/>
                </a:solidFill>
                <a:latin typeface="Helvetica Neue" pitchFamily="34" charset="0"/>
                <a:ea typeface="Helvetica Neue" pitchFamily="34" charset="-122"/>
                <a:cs typeface="Helvetica Neue" pitchFamily="34" charset="-120"/>
              </a:rPr>
              <a:t>309,065</a:t>
            </a:r>
            <a:endParaRPr lang="en-US" sz="7600" dirty="0"/>
          </a:p>
        </p:txBody>
      </p:sp>
      <p:sp>
        <p:nvSpPr>
          <p:cNvPr id="5" name="Text 3"/>
          <p:cNvSpPr txBox="1"/>
          <p:nvPr/>
        </p:nvSpPr>
        <p:spPr>
          <a:xfrm>
            <a:off x="640080" y="3191256"/>
            <a:ext cx="539496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TONS AWAITING DEMILITARIZATION — US STOCKPILE, 30 JAN 2025 (ARMY BUDGET JUSTIFICATION)⁵</a:t>
            </a:r>
            <a:endParaRPr lang="en-US" sz="1050" dirty="0"/>
          </a:p>
        </p:txBody>
      </p:sp>
      <p:sp>
        <p:nvSpPr>
          <p:cNvPr id="6" name="Text 4"/>
          <p:cNvSpPr txBox="1"/>
          <p:nvPr/>
        </p:nvSpPr>
        <p:spPr>
          <a:xfrm>
            <a:off x="640080" y="3730752"/>
            <a:ext cx="5394960" cy="320040"/>
          </a:xfrm>
          <a:prstGeom prst="rect">
            <a:avLst/>
          </a:prstGeom>
          <a:noFill/>
          <a:ln/>
        </p:spPr>
        <p:txBody>
          <a:bodyPr wrap="square" lIns="0" tIns="0" rIns="0" bIns="0" rtlCol="0" anchor="ctr"/>
          <a:lstStyle/>
          <a:p>
            <a:pPr indent="0" marL="0">
              <a:buNone/>
            </a:pPr>
            <a:r>
              <a:rPr lang="en-US" sz="820" spc="100" kern="0" dirty="0">
                <a:solidFill>
                  <a:srgbClr val="6E6C66"/>
                </a:solidFill>
                <a:latin typeface="IBM Plex Mono" pitchFamily="34" charset="0"/>
                <a:ea typeface="IBM Plex Mono" pitchFamily="34" charset="-122"/>
                <a:cs typeface="IBM Plex Mono" pitchFamily="34" charset="-120"/>
              </a:rPr>
              <a:t>260,032 T CONVENTIONAL · 49,033 T MISSILE COMPONENTS · &gt;7,000 MUNITION TYPES</a:t>
            </a:r>
            <a:endParaRPr lang="en-US" sz="820" dirty="0"/>
          </a:p>
        </p:txBody>
      </p:sp>
      <p:sp>
        <p:nvSpPr>
          <p:cNvPr id="7" name="Text 5"/>
          <p:cNvSpPr txBox="1"/>
          <p:nvPr/>
        </p:nvSpPr>
        <p:spPr>
          <a:xfrm>
            <a:off x="6446520" y="1874520"/>
            <a:ext cx="5120640" cy="1371600"/>
          </a:xfrm>
          <a:prstGeom prst="rect">
            <a:avLst/>
          </a:prstGeom>
          <a:noFill/>
          <a:ln/>
        </p:spPr>
        <p:txBody>
          <a:bodyPr wrap="square" lIns="0" tIns="0" rIns="0" bIns="0" rtlCol="0" anchor="t"/>
          <a:lstStyle/>
          <a:p>
            <a:pPr algn="l" indent="0" marL="0">
              <a:buNone/>
            </a:pPr>
            <a:r>
              <a:rPr lang="en-US" sz="6600" spc="-200" kern="0" dirty="0">
                <a:solidFill>
                  <a:srgbClr val="66705F"/>
                </a:solidFill>
                <a:latin typeface="Helvetica Neue" pitchFamily="34" charset="0"/>
                <a:ea typeface="Helvetica Neue" pitchFamily="34" charset="-122"/>
                <a:cs typeface="Helvetica Neue" pitchFamily="34" charset="-120"/>
              </a:rPr>
              <a:t>$0.6–0.9B</a:t>
            </a:r>
            <a:endParaRPr lang="en-US" sz="6600" dirty="0"/>
          </a:p>
        </p:txBody>
      </p:sp>
      <p:sp>
        <p:nvSpPr>
          <p:cNvPr id="8" name="Text 6"/>
          <p:cNvSpPr txBox="1"/>
          <p:nvPr/>
        </p:nvSpPr>
        <p:spPr>
          <a:xfrm>
            <a:off x="6446520" y="3191256"/>
            <a:ext cx="50292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IMPLIED COST TO CLEAR IT, AT PUBLISHED DEMIL RATES⁵ ⁶</a:t>
            </a:r>
            <a:endParaRPr lang="en-US" sz="1050" dirty="0"/>
          </a:p>
        </p:txBody>
      </p:sp>
      <p:sp>
        <p:nvSpPr>
          <p:cNvPr id="9" name="Text 7"/>
          <p:cNvSpPr txBox="1"/>
          <p:nvPr/>
        </p:nvSpPr>
        <p:spPr>
          <a:xfrm>
            <a:off x="6446520" y="3730752"/>
            <a:ext cx="5120640" cy="457200"/>
          </a:xfrm>
          <a:prstGeom prst="rect">
            <a:avLst/>
          </a:prstGeom>
          <a:noFill/>
          <a:ln/>
        </p:spPr>
        <p:txBody>
          <a:bodyPr wrap="square" lIns="0" tIns="0" rIns="0" bIns="0" rtlCol="0" anchor="ctr"/>
          <a:lstStyle/>
          <a:p>
            <a:pPr indent="0" marL="0">
              <a:lnSpc>
                <a:spcPct val="130000"/>
              </a:lnSpc>
              <a:buNone/>
            </a:pPr>
            <a:r>
              <a:rPr lang="en-US" sz="800" spc="60" kern="0" dirty="0">
                <a:solidFill>
                  <a:srgbClr val="6E6C66"/>
                </a:solidFill>
                <a:latin typeface="IBM Plex Mono" pitchFamily="34" charset="0"/>
                <a:ea typeface="IBM Plex Mono" pitchFamily="34" charset="-122"/>
                <a:cs typeface="IBM Plex Mono" pitchFamily="34" charset="-120"/>
              </a:rPr>
              <a:t>Illustrative: 309,065 t × $2,000–2,890/ton (GAO FY15 / NAS demil cost range). Not an official total.</a:t>
            </a:r>
            <a:endParaRPr lang="en-US" sz="800" dirty="0"/>
          </a:p>
        </p:txBody>
      </p:sp>
      <p:sp>
        <p:nvSpPr>
          <p:cNvPr id="10" name="Shape 8"/>
          <p:cNvSpPr/>
          <p:nvPr/>
        </p:nvSpPr>
        <p:spPr>
          <a:xfrm>
            <a:off x="640080" y="4224528"/>
            <a:ext cx="10908792" cy="0"/>
          </a:xfrm>
          <a:prstGeom prst="line">
            <a:avLst/>
          </a:prstGeom>
          <a:noFill/>
          <a:ln w="9525">
            <a:solidFill>
              <a:srgbClr val="E2E1DA"/>
            </a:solidFill>
            <a:prstDash val="solid"/>
          </a:ln>
        </p:spPr>
      </p:sp>
      <p:sp>
        <p:nvSpPr>
          <p:cNvPr id="11" name="Text 9"/>
          <p:cNvSpPr txBox="1"/>
          <p:nvPr/>
        </p:nvSpPr>
        <p:spPr>
          <a:xfrm>
            <a:off x="640080" y="4434840"/>
            <a:ext cx="5486400" cy="1371600"/>
          </a:xfrm>
          <a:prstGeom prst="rect">
            <a:avLst/>
          </a:prstGeom>
          <a:noFill/>
          <a:ln/>
        </p:spPr>
        <p:txBody>
          <a:bodyPr wrap="square" lIns="0" tIns="0" rIns="0" bIns="0" rtlCol="0" anchor="ctr"/>
          <a:lstStyle/>
          <a:p>
            <a:pPr indent="0" marL="0">
              <a:lnSpc>
                <a:spcPct val="130000"/>
              </a:lnSpc>
              <a:buNone/>
            </a:pPr>
            <a:r>
              <a:rPr lang="en-US" sz="1300" dirty="0">
                <a:solidFill>
                  <a:srgbClr val="33332F"/>
                </a:solidFill>
                <a:latin typeface="Helvetica Neue" pitchFamily="34" charset="0"/>
                <a:ea typeface="Helvetica Neue" pitchFamily="34" charset="-122"/>
                <a:cs typeface="Helvetica Neue" pitchFamily="34" charset="-120"/>
              </a:rPr>
              <a:t>A warship is scrapped. A rifle sits in a rack for a century. Ammunition ages chemically </a:t>
            </a:r>
            <a:pPr indent="0" marL="0">
              <a:lnSpc>
                <a:spcPct val="130000"/>
              </a:lnSpc>
              <a:buNone/>
            </a:pPr>
            <a:r>
              <a:rPr lang="en-US" sz="1300" dirty="0">
                <a:solidFill>
                  <a:srgbClr val="33332F"/>
                </a:solidFill>
                <a:latin typeface="Helvetica Neue" pitchFamily="34" charset="0"/>
                <a:ea typeface="Helvetica Neue" pitchFamily="34" charset="-122"/>
                <a:cs typeface="Helvetica Neue" pitchFamily="34" charset="-120"/>
              </a:rPr>
              <a:t>— propellants destabilise, primers corrode, calibres are orphaned every time the gun changes. Every round must be guarded, inventoried and inspected — at cost, forever — until it is destroyed.</a:t>
            </a:r>
            <a:endParaRPr lang="en-US" sz="1300" dirty="0"/>
          </a:p>
        </p:txBody>
      </p:sp>
      <p:sp>
        <p:nvSpPr>
          <p:cNvPr id="12" name="Shape 10"/>
          <p:cNvSpPr/>
          <p:nvPr/>
        </p:nvSpPr>
        <p:spPr>
          <a:xfrm>
            <a:off x="6446520" y="4434840"/>
            <a:ext cx="5120640" cy="1371600"/>
          </a:xfrm>
          <a:prstGeom prst="rect">
            <a:avLst/>
          </a:prstGeom>
          <a:solidFill>
            <a:srgbClr val="F1F3F0"/>
          </a:solidFill>
          <a:ln w="9525">
            <a:solidFill>
              <a:srgbClr val="D3D9D0"/>
            </a:solidFill>
            <a:prstDash val="solid"/>
          </a:ln>
        </p:spPr>
      </p:sp>
      <p:sp>
        <p:nvSpPr>
          <p:cNvPr id="13" name="Shape 11"/>
          <p:cNvSpPr/>
          <p:nvPr/>
        </p:nvSpPr>
        <p:spPr>
          <a:xfrm>
            <a:off x="6427318" y="4415638"/>
            <a:ext cx="59436" cy="12802"/>
          </a:xfrm>
          <a:prstGeom prst="rect">
            <a:avLst/>
          </a:prstGeom>
          <a:solidFill>
            <a:srgbClr val="66705F"/>
          </a:solidFill>
          <a:ln/>
        </p:spPr>
      </p:sp>
      <p:sp>
        <p:nvSpPr>
          <p:cNvPr id="14" name="Shape 12"/>
          <p:cNvSpPr/>
          <p:nvPr/>
        </p:nvSpPr>
        <p:spPr>
          <a:xfrm>
            <a:off x="6427318" y="4415638"/>
            <a:ext cx="12802" cy="59436"/>
          </a:xfrm>
          <a:prstGeom prst="rect">
            <a:avLst/>
          </a:prstGeom>
          <a:solidFill>
            <a:srgbClr val="66705F"/>
          </a:solidFill>
          <a:ln/>
        </p:spPr>
      </p:sp>
      <p:sp>
        <p:nvSpPr>
          <p:cNvPr id="15" name="Shape 13"/>
          <p:cNvSpPr/>
          <p:nvPr/>
        </p:nvSpPr>
        <p:spPr>
          <a:xfrm>
            <a:off x="11526926" y="4415638"/>
            <a:ext cx="59436" cy="12802"/>
          </a:xfrm>
          <a:prstGeom prst="rect">
            <a:avLst/>
          </a:prstGeom>
          <a:solidFill>
            <a:srgbClr val="66705F"/>
          </a:solidFill>
          <a:ln/>
        </p:spPr>
      </p:sp>
      <p:sp>
        <p:nvSpPr>
          <p:cNvPr id="16" name="Shape 14"/>
          <p:cNvSpPr/>
          <p:nvPr/>
        </p:nvSpPr>
        <p:spPr>
          <a:xfrm>
            <a:off x="11573561" y="4415638"/>
            <a:ext cx="12802" cy="59436"/>
          </a:xfrm>
          <a:prstGeom prst="rect">
            <a:avLst/>
          </a:prstGeom>
          <a:solidFill>
            <a:srgbClr val="66705F"/>
          </a:solidFill>
          <a:ln/>
        </p:spPr>
      </p:sp>
      <p:sp>
        <p:nvSpPr>
          <p:cNvPr id="17" name="Shape 15"/>
          <p:cNvSpPr/>
          <p:nvPr/>
        </p:nvSpPr>
        <p:spPr>
          <a:xfrm>
            <a:off x="6427318" y="5812841"/>
            <a:ext cx="59436" cy="12802"/>
          </a:xfrm>
          <a:prstGeom prst="rect">
            <a:avLst/>
          </a:prstGeom>
          <a:solidFill>
            <a:srgbClr val="66705F"/>
          </a:solidFill>
          <a:ln/>
        </p:spPr>
      </p:sp>
      <p:sp>
        <p:nvSpPr>
          <p:cNvPr id="18" name="Shape 16"/>
          <p:cNvSpPr/>
          <p:nvPr/>
        </p:nvSpPr>
        <p:spPr>
          <a:xfrm>
            <a:off x="6427318" y="5766206"/>
            <a:ext cx="12802" cy="59436"/>
          </a:xfrm>
          <a:prstGeom prst="rect">
            <a:avLst/>
          </a:prstGeom>
          <a:solidFill>
            <a:srgbClr val="66705F"/>
          </a:solidFill>
          <a:ln/>
        </p:spPr>
      </p:sp>
      <p:sp>
        <p:nvSpPr>
          <p:cNvPr id="19" name="Shape 17"/>
          <p:cNvSpPr/>
          <p:nvPr/>
        </p:nvSpPr>
        <p:spPr>
          <a:xfrm>
            <a:off x="11526926" y="5812841"/>
            <a:ext cx="59436" cy="12802"/>
          </a:xfrm>
          <a:prstGeom prst="rect">
            <a:avLst/>
          </a:prstGeom>
          <a:solidFill>
            <a:srgbClr val="66705F"/>
          </a:solidFill>
          <a:ln/>
        </p:spPr>
      </p:sp>
      <p:sp>
        <p:nvSpPr>
          <p:cNvPr id="20" name="Shape 18"/>
          <p:cNvSpPr/>
          <p:nvPr/>
        </p:nvSpPr>
        <p:spPr>
          <a:xfrm>
            <a:off x="11573561" y="5766206"/>
            <a:ext cx="12802" cy="59436"/>
          </a:xfrm>
          <a:prstGeom prst="rect">
            <a:avLst/>
          </a:prstGeom>
          <a:solidFill>
            <a:srgbClr val="66705F"/>
          </a:solidFill>
          <a:ln/>
        </p:spPr>
      </p:sp>
      <p:sp>
        <p:nvSpPr>
          <p:cNvPr id="21" name="Text 19"/>
          <p:cNvSpPr txBox="1"/>
          <p:nvPr/>
        </p:nvSpPr>
        <p:spPr>
          <a:xfrm>
            <a:off x="6675120" y="4590288"/>
            <a:ext cx="4663440" cy="1097280"/>
          </a:xfrm>
          <a:prstGeom prst="rect">
            <a:avLst/>
          </a:prstGeom>
          <a:noFill/>
          <a:ln/>
        </p:spPr>
        <p:txBody>
          <a:bodyPr wrap="square" lIns="0" tIns="0" rIns="0" bIns="0" rtlCol="0" anchor="ctr"/>
          <a:lstStyle/>
          <a:p>
            <a:pPr indent="0" marL="0">
              <a:lnSpc>
                <a:spcPct val="128000"/>
              </a:lnSpc>
              <a:buNone/>
            </a:pPr>
            <a:r>
              <a:rPr lang="en-US" sz="1200" b="1" dirty="0">
                <a:solidFill>
                  <a:srgbClr val="000000"/>
                </a:solidFill>
                <a:latin typeface="Helvetica Neue" pitchFamily="34" charset="0"/>
                <a:ea typeface="Helvetica Neue" pitchFamily="34" charset="-122"/>
                <a:cs typeface="Helvetica Neue" pitchFamily="34" charset="-120"/>
              </a:rPr>
              <a:t>Meanwhile destruction capacity is collapsing. </a:t>
            </a:r>
            <a:pPr indent="0" marL="0">
              <a:lnSpc>
                <a:spcPct val="128000"/>
              </a:lnSpc>
              <a:buNone/>
            </a:pPr>
            <a:r>
              <a:rPr lang="en-US" sz="1200" dirty="0">
                <a:solidFill>
                  <a:srgbClr val="33332F"/>
                </a:solidFill>
                <a:latin typeface="Helvetica Neue" pitchFamily="34" charset="0"/>
                <a:ea typeface="Helvetica Neue" pitchFamily="34" charset="-122"/>
                <a:cs typeface="Helvetica Neue" pitchFamily="34" charset="-120"/>
              </a:rPr>
              <a:t>The US destroyed roughly 82,000 tons in FY2015. Its funded plan for FY2026 is 29,313 — a 64% fall, just as the surge begins to refill the queue.¹⁸</a:t>
            </a:r>
            <a:endParaRPr lang="en-US" sz="1200" dirty="0"/>
          </a:p>
        </p:txBody>
      </p:sp>
      <p:sp>
        <p:nvSpPr>
          <p:cNvPr id="22" name="Text 2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03  ·  TWB DESIGNS — CONFIDENTIAL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 — THE STATUS QUO</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Destruction never industrialised.</a:t>
            </a:r>
            <a:endParaRPr lang="en-US" sz="2800" dirty="0"/>
          </a:p>
        </p:txBody>
      </p:sp>
      <p:sp>
        <p:nvSpPr>
          <p:cNvPr id="4" name="Text 2"/>
          <p:cNvSpPr txBox="1"/>
          <p:nvPr/>
        </p:nvSpPr>
        <p:spPr>
          <a:xfrm>
            <a:off x="640080" y="1783080"/>
            <a:ext cx="2103120" cy="1600200"/>
          </a:xfrm>
          <a:prstGeom prst="rect">
            <a:avLst/>
          </a:prstGeom>
          <a:noFill/>
          <a:ln/>
        </p:spPr>
        <p:txBody>
          <a:bodyPr wrap="square" lIns="0" tIns="0" rIns="0" bIns="0" rtlCol="0" anchor="t"/>
          <a:lstStyle/>
          <a:p>
            <a:pPr algn="l" indent="0" marL="0">
              <a:buNone/>
            </a:pPr>
            <a:r>
              <a:rPr lang="en-US" sz="15000" spc="-200" kern="0" dirty="0">
                <a:solidFill>
                  <a:srgbClr val="1C1C19"/>
                </a:solidFill>
                <a:latin typeface="Helvetica Neue" pitchFamily="34" charset="0"/>
                <a:ea typeface="Helvetica Neue" pitchFamily="34" charset="-122"/>
                <a:cs typeface="Helvetica Neue" pitchFamily="34" charset="-120"/>
              </a:rPr>
              <a:t>3</a:t>
            </a:r>
            <a:endParaRPr lang="en-US" sz="15000" dirty="0"/>
          </a:p>
        </p:txBody>
      </p:sp>
      <p:sp>
        <p:nvSpPr>
          <p:cNvPr id="5" name="Text 3"/>
          <p:cNvSpPr txBox="1"/>
          <p:nvPr/>
        </p:nvSpPr>
        <p:spPr>
          <a:xfrm>
            <a:off x="2880360" y="1965960"/>
            <a:ext cx="8686800" cy="1234440"/>
          </a:xfrm>
          <a:prstGeom prst="rect">
            <a:avLst/>
          </a:prstGeom>
          <a:noFill/>
          <a:ln/>
        </p:spPr>
        <p:txBody>
          <a:bodyPr wrap="square" lIns="0" tIns="0" rIns="0" bIns="0" rtlCol="0" anchor="ctr"/>
          <a:lstStyle/>
          <a:p>
            <a:pPr indent="0" marL="0">
              <a:lnSpc>
                <a:spcPct val="130000"/>
              </a:lnSpc>
              <a:buNone/>
            </a:pPr>
            <a:r>
              <a:rPr lang="en-US" sz="1550" b="1" dirty="0">
                <a:solidFill>
                  <a:srgbClr val="000000"/>
                </a:solidFill>
                <a:latin typeface="Helvetica Neue" pitchFamily="34" charset="0"/>
                <a:ea typeface="Helvetica Neue" pitchFamily="34" charset="-122"/>
                <a:cs typeface="Helvetica Neue" pitchFamily="34" charset="-120"/>
              </a:rPr>
              <a:t>Sheriff's detectives killed⁷ </a:t>
            </a:r>
            <a:pPr indent="0" marL="0">
              <a:lnSpc>
                <a:spcPct val="130000"/>
              </a:lnSpc>
              <a:buNone/>
            </a:pPr>
            <a:r>
              <a:rPr lang="en-US" sz="1550" dirty="0">
                <a:solidFill>
                  <a:srgbClr val="33332F"/>
                </a:solidFill>
                <a:latin typeface="Helvetica Neue" pitchFamily="34" charset="0"/>
                <a:ea typeface="Helvetica Neue" pitchFamily="34" charset="-122"/>
                <a:cs typeface="Helvetica Neue" pitchFamily="34" charset="-120"/>
              </a:rPr>
              <a:t>— Los Angeles County, 18 July 2025, processing seized ordnance by hand. The status quo prices human hands over live munitions — until it doesn't.</a:t>
            </a:r>
            <a:endParaRPr lang="en-US" sz="1550" dirty="0"/>
          </a:p>
        </p:txBody>
      </p:sp>
      <p:sp>
        <p:nvSpPr>
          <p:cNvPr id="6" name="Shape 4"/>
          <p:cNvSpPr/>
          <p:nvPr/>
        </p:nvSpPr>
        <p:spPr>
          <a:xfrm>
            <a:off x="640080" y="3657600"/>
            <a:ext cx="3465576" cy="1920240"/>
          </a:xfrm>
          <a:prstGeom prst="rect">
            <a:avLst/>
          </a:prstGeom>
          <a:solidFill>
            <a:srgbClr val="FFFFFF"/>
          </a:solidFill>
          <a:ln w="12700">
            <a:solidFill>
              <a:srgbClr val="8C8A83"/>
            </a:solidFill>
            <a:prstDash val="dash"/>
          </a:ln>
        </p:spPr>
      </p:sp>
      <p:sp>
        <p:nvSpPr>
          <p:cNvPr id="7" name="Text 5"/>
          <p:cNvSpPr txBox="1"/>
          <p:nvPr/>
        </p:nvSpPr>
        <p:spPr>
          <a:xfrm>
            <a:off x="859536"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BURN IT IN A PIT</a:t>
            </a:r>
            <a:endParaRPr lang="en-US" sz="1050" dirty="0"/>
          </a:p>
        </p:txBody>
      </p:sp>
      <p:sp>
        <p:nvSpPr>
          <p:cNvPr id="8" name="Text 6"/>
          <p:cNvSpPr txBox="1"/>
          <p:nvPr/>
        </p:nvSpPr>
        <p:spPr>
          <a:xfrm>
            <a:off x="859536"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Open burning / open detonation — no containment, no emissions control. ~$750/ton⁹, and being regulated out: the EPA's proposed rule (89 FR 19952) targets 67 US facilities still doing it.⁸</a:t>
            </a:r>
            <a:endParaRPr lang="en-US" sz="1100" dirty="0"/>
          </a:p>
        </p:txBody>
      </p:sp>
      <p:sp>
        <p:nvSpPr>
          <p:cNvPr id="9" name="Shape 7"/>
          <p:cNvSpPr/>
          <p:nvPr/>
        </p:nvSpPr>
        <p:spPr>
          <a:xfrm>
            <a:off x="4361688" y="3657600"/>
            <a:ext cx="3465576" cy="1920240"/>
          </a:xfrm>
          <a:prstGeom prst="rect">
            <a:avLst/>
          </a:prstGeom>
          <a:solidFill>
            <a:srgbClr val="FFFFFF"/>
          </a:solidFill>
          <a:ln w="12700">
            <a:solidFill>
              <a:srgbClr val="8C8A83"/>
            </a:solidFill>
            <a:prstDash val="dash"/>
          </a:ln>
        </p:spPr>
      </p:sp>
      <p:sp>
        <p:nvSpPr>
          <p:cNvPr id="10" name="Text 8"/>
          <p:cNvSpPr txBox="1"/>
          <p:nvPr/>
        </p:nvSpPr>
        <p:spPr>
          <a:xfrm>
            <a:off x="4581144"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TRUCK IT AWAY</a:t>
            </a:r>
            <a:endParaRPr lang="en-US" sz="1050" dirty="0"/>
          </a:p>
        </p:txBody>
      </p:sp>
      <p:sp>
        <p:nvSpPr>
          <p:cNvPr id="11" name="Text 9"/>
          <p:cNvSpPr txBox="1"/>
          <p:nvPr/>
        </p:nvSpPr>
        <p:spPr>
          <a:xfrm>
            <a:off x="4581144"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Live ammunition loaded onto highways to reach a fixed site. Every mile a diversion window. Every transfer a custody break. Every escort a cost the owner carries.</a:t>
            </a:r>
            <a:endParaRPr lang="en-US" sz="1100" dirty="0"/>
          </a:p>
        </p:txBody>
      </p:sp>
      <p:sp>
        <p:nvSpPr>
          <p:cNvPr id="12" name="Shape 10"/>
          <p:cNvSpPr/>
          <p:nvPr/>
        </p:nvSpPr>
        <p:spPr>
          <a:xfrm>
            <a:off x="8083296" y="3657600"/>
            <a:ext cx="3465576" cy="1920240"/>
          </a:xfrm>
          <a:prstGeom prst="rect">
            <a:avLst/>
          </a:prstGeom>
          <a:solidFill>
            <a:srgbClr val="FFFFFF"/>
          </a:solidFill>
          <a:ln w="12700">
            <a:solidFill>
              <a:srgbClr val="8C8A83"/>
            </a:solidFill>
            <a:prstDash val="dash"/>
          </a:ln>
        </p:spPr>
      </p:sp>
      <p:sp>
        <p:nvSpPr>
          <p:cNvPr id="13" name="Text 11"/>
          <p:cNvSpPr txBox="1"/>
          <p:nvPr/>
        </p:nvSpPr>
        <p:spPr>
          <a:xfrm>
            <a:off x="8302752" y="3840480"/>
            <a:ext cx="3026664" cy="320040"/>
          </a:xfrm>
          <a:prstGeom prst="rect">
            <a:avLst/>
          </a:prstGeom>
          <a:noFill/>
          <a:ln/>
        </p:spPr>
        <p:txBody>
          <a:bodyPr wrap="square" lIns="0" tIns="0" rIns="0" bIns="0" rtlCol="0" anchor="ctr"/>
          <a:lstStyle/>
          <a:p>
            <a:pPr indent="0" marL="0">
              <a:buNone/>
            </a:pPr>
            <a:r>
              <a:rPr lang="en-US" sz="1050" b="1" spc="180" kern="0" dirty="0">
                <a:solidFill>
                  <a:srgbClr val="1C1C19"/>
                </a:solidFill>
                <a:latin typeface="IBM Plex Mono" pitchFamily="34" charset="0"/>
                <a:ea typeface="IBM Plex Mono" pitchFamily="34" charset="-122"/>
                <a:cs typeface="IBM Plex Mono" pitchFamily="34" charset="-120"/>
              </a:rPr>
              <a:t>DO IT BY HAND</a:t>
            </a:r>
            <a:endParaRPr lang="en-US" sz="1050" dirty="0"/>
          </a:p>
        </p:txBody>
      </p:sp>
      <p:sp>
        <p:nvSpPr>
          <p:cNvPr id="14" name="Text 12"/>
          <p:cNvSpPr txBox="1"/>
          <p:nvPr/>
        </p:nvSpPr>
        <p:spPr>
          <a:xfrm>
            <a:off x="8302752" y="4224528"/>
            <a:ext cx="3026664" cy="1234440"/>
          </a:xfrm>
          <a:prstGeom prst="rect">
            <a:avLst/>
          </a:prstGeom>
          <a:noFill/>
          <a:ln/>
        </p:spPr>
        <p:txBody>
          <a:bodyPr wrap="square" lIns="0" tIns="0" rIns="0" bIns="0" rtlCol="0" anchor="ctr"/>
          <a:lstStyle/>
          <a:p>
            <a:pPr indent="0" marL="0">
              <a:lnSpc>
                <a:spcPct val="125000"/>
              </a:lnSpc>
              <a:buNone/>
            </a:pPr>
            <a:r>
              <a:rPr lang="en-US" sz="1100" dirty="0">
                <a:solidFill>
                  <a:srgbClr val="1C1C19"/>
                </a:solidFill>
                <a:latin typeface="Helvetica Neue" pitchFamily="34" charset="0"/>
                <a:ea typeface="Helvetica Neue" pitchFamily="34" charset="-122"/>
                <a:cs typeface="Helvetica Neue" pitchFamily="34" charset="-120"/>
              </a:rPr>
              <a:t>The default when nothing else is on site. No machine, no containment — just people and live ordnance in the same room.</a:t>
            </a:r>
            <a:endParaRPr lang="en-US" sz="1100" dirty="0"/>
          </a:p>
        </p:txBody>
      </p:sp>
      <p:sp>
        <p:nvSpPr>
          <p:cNvPr id="15" name="Text 13"/>
          <p:cNvSpPr txBox="1"/>
          <p:nvPr/>
        </p:nvSpPr>
        <p:spPr>
          <a:xfrm>
            <a:off x="640080" y="5760720"/>
            <a:ext cx="10881360" cy="411480"/>
          </a:xfrm>
          <a:prstGeom prst="rect">
            <a:avLst/>
          </a:prstGeom>
          <a:noFill/>
          <a:ln/>
        </p:spPr>
        <p:txBody>
          <a:bodyPr wrap="square" lIns="0" tIns="0" rIns="0" bIns="0" rtlCol="0" anchor="ctr"/>
          <a:lstStyle/>
          <a:p>
            <a:pPr indent="0" marL="0">
              <a:lnSpc>
                <a:spcPct val="120000"/>
              </a:lnSpc>
              <a:buNone/>
            </a:pPr>
            <a:r>
              <a:rPr lang="en-US" sz="1450" b="1" dirty="0">
                <a:solidFill>
                  <a:srgbClr val="000000"/>
                </a:solidFill>
                <a:latin typeface="Helvetica Neue" pitchFamily="34" charset="0"/>
                <a:ea typeface="Helvetica Neue" pitchFamily="34" charset="-122"/>
                <a:cs typeface="Helvetica Neue" pitchFamily="34" charset="-120"/>
              </a:rPr>
              <a:t>Production has been industrialised. Destruction never was. </a:t>
            </a:r>
            <a:pPr indent="0" marL="0">
              <a:lnSpc>
                <a:spcPct val="120000"/>
              </a:lnSpc>
              <a:buNone/>
            </a:pPr>
            <a:r>
              <a:rPr lang="en-US" sz="1450" dirty="0">
                <a:solidFill>
                  <a:srgbClr val="33332F"/>
                </a:solidFill>
                <a:latin typeface="Helvetica Neue" pitchFamily="34" charset="0"/>
                <a:ea typeface="Helvetica Neue" pitchFamily="34" charset="-122"/>
                <a:cs typeface="Helvetica Neue" pitchFamily="34" charset="-120"/>
              </a:rPr>
              <a:t>That gap — the widest in eighty years — is the company.</a:t>
            </a:r>
            <a:endParaRPr lang="en-US" sz="1450" dirty="0"/>
          </a:p>
        </p:txBody>
      </p:sp>
      <p:sp>
        <p:nvSpPr>
          <p:cNvPr id="16" name="Text 1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04  ·  TWB DESIGNS — CONFIDENTIAL</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III — THE FLIP</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800" spc="-30" kern="0" dirty="0">
                <a:solidFill>
                  <a:srgbClr val="000000"/>
                </a:solidFill>
                <a:latin typeface="Helvetica Neue" pitchFamily="34" charset="0"/>
                <a:ea typeface="Helvetica Neue" pitchFamily="34" charset="-122"/>
                <a:cs typeface="Helvetica Neue" pitchFamily="34" charset="-120"/>
              </a:rPr>
              <a:t>Geopolitics turned the waste stream into an ore body.</a:t>
            </a:r>
            <a:endParaRPr lang="en-US" sz="2800" dirty="0"/>
          </a:p>
        </p:txBody>
      </p:sp>
      <p:sp>
        <p:nvSpPr>
          <p:cNvPr id="4" name="Text 2"/>
          <p:cNvSpPr txBox="1"/>
          <p:nvPr/>
        </p:nvSpPr>
        <p:spPr>
          <a:xfrm>
            <a:off x="640080" y="1920240"/>
            <a:ext cx="6583680" cy="1463040"/>
          </a:xfrm>
          <a:prstGeom prst="rect">
            <a:avLst/>
          </a:prstGeom>
          <a:noFill/>
          <a:ln/>
        </p:spPr>
        <p:txBody>
          <a:bodyPr wrap="square" lIns="0" tIns="0" rIns="0" bIns="0" rtlCol="0" anchor="t"/>
          <a:lstStyle/>
          <a:p>
            <a:pPr algn="l" indent="0" marL="0">
              <a:buNone/>
            </a:pPr>
            <a:r>
              <a:rPr lang="en-US" sz="9000" spc="-250" kern="0" dirty="0">
                <a:solidFill>
                  <a:srgbClr val="000000"/>
                </a:solidFill>
                <a:latin typeface="Helvetica Neue" pitchFamily="34" charset="0"/>
                <a:ea typeface="Helvetica Neue" pitchFamily="34" charset="-122"/>
                <a:cs typeface="Helvetica Neue" pitchFamily="34" charset="-120"/>
              </a:rPr>
              <a:t>2,600%</a:t>
            </a:r>
            <a:endParaRPr lang="en-US" sz="9000" dirty="0"/>
          </a:p>
        </p:txBody>
      </p:sp>
      <p:sp>
        <p:nvSpPr>
          <p:cNvPr id="5" name="Text 3"/>
          <p:cNvSpPr txBox="1"/>
          <p:nvPr/>
        </p:nvSpPr>
        <p:spPr>
          <a:xfrm>
            <a:off x="640080" y="3456432"/>
            <a:ext cx="6400800" cy="548640"/>
          </a:xfrm>
          <a:prstGeom prst="rect">
            <a:avLst/>
          </a:prstGeom>
          <a:noFill/>
          <a:ln/>
        </p:spPr>
        <p:txBody>
          <a:bodyPr wrap="square" lIns="0" tIns="0" rIns="0" bIns="0" rtlCol="0" anchor="ctr"/>
          <a:lstStyle/>
          <a:p>
            <a:pPr algn="l" indent="0" marL="0">
              <a:lnSpc>
                <a:spcPct val="145000"/>
              </a:lnSpc>
              <a:buNone/>
            </a:pPr>
            <a:r>
              <a:rPr lang="en-US" sz="1050" b="1" spc="180" kern="0" dirty="0">
                <a:solidFill>
                  <a:srgbClr val="66705F"/>
                </a:solidFill>
                <a:latin typeface="IBM Plex Mono" pitchFamily="34" charset="0"/>
                <a:ea typeface="IBM Plex Mono" pitchFamily="34" charset="-122"/>
                <a:cs typeface="IBM Plex Mono" pitchFamily="34" charset="-120"/>
              </a:rPr>
              <a:t>ANTIMONY PRICE MOVE SINCE CHINA'S EXPORT RESTRICTIONS — PAST $50,000/TON. PENTAGON COMMITTED A REPORTED $1B TO SECURE SUPPLY¹⁰</a:t>
            </a:r>
            <a:endParaRPr lang="en-US" sz="1050" dirty="0"/>
          </a:p>
        </p:txBody>
      </p:sp>
      <p:sp>
        <p:nvSpPr>
          <p:cNvPr id="6" name="Shape 4"/>
          <p:cNvSpPr/>
          <p:nvPr/>
        </p:nvSpPr>
        <p:spPr>
          <a:xfrm>
            <a:off x="640080" y="4114800"/>
            <a:ext cx="10908792" cy="0"/>
          </a:xfrm>
          <a:prstGeom prst="line">
            <a:avLst/>
          </a:prstGeom>
          <a:noFill/>
          <a:ln w="9525">
            <a:solidFill>
              <a:srgbClr val="E2E1DA"/>
            </a:solidFill>
            <a:prstDash val="solid"/>
          </a:ln>
        </p:spPr>
      </p:sp>
      <p:sp>
        <p:nvSpPr>
          <p:cNvPr id="7" name="Shape 5"/>
          <p:cNvSpPr/>
          <p:nvPr/>
        </p:nvSpPr>
        <p:spPr>
          <a:xfrm>
            <a:off x="640080" y="4343400"/>
            <a:ext cx="3489960" cy="1097280"/>
          </a:xfrm>
          <a:prstGeom prst="rect">
            <a:avLst/>
          </a:prstGeom>
          <a:solidFill>
            <a:srgbClr val="F1F3F0"/>
          </a:solidFill>
          <a:ln w="9525">
            <a:solidFill>
              <a:srgbClr val="D3D9D0"/>
            </a:solidFill>
            <a:prstDash val="solid"/>
          </a:ln>
        </p:spPr>
      </p:sp>
      <p:sp>
        <p:nvSpPr>
          <p:cNvPr id="8" name="Text 6"/>
          <p:cNvSpPr txBox="1"/>
          <p:nvPr/>
        </p:nvSpPr>
        <p:spPr>
          <a:xfrm>
            <a:off x="841248"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Cu</a:t>
            </a:r>
            <a:endParaRPr lang="en-US" sz="2600" dirty="0"/>
          </a:p>
        </p:txBody>
      </p:sp>
      <p:sp>
        <p:nvSpPr>
          <p:cNvPr id="9" name="Text 7"/>
          <p:cNvSpPr txBox="1"/>
          <p:nvPr/>
        </p:nvSpPr>
        <p:spPr>
          <a:xfrm>
            <a:off x="2011680"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COPPER</a:t>
            </a:r>
            <a:endParaRPr lang="en-US" sz="900" dirty="0"/>
          </a:p>
        </p:txBody>
      </p:sp>
      <p:sp>
        <p:nvSpPr>
          <p:cNvPr id="10" name="Text 8"/>
          <p:cNvSpPr txBox="1"/>
          <p:nvPr/>
        </p:nvSpPr>
        <p:spPr>
          <a:xfrm>
            <a:off x="2011680"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Added to the US Critical Minerals List, 2025¹¹</a:t>
            </a:r>
            <a:endParaRPr lang="en-US" sz="950" dirty="0"/>
          </a:p>
        </p:txBody>
      </p:sp>
      <p:sp>
        <p:nvSpPr>
          <p:cNvPr id="11" name="Shape 9"/>
          <p:cNvSpPr/>
          <p:nvPr/>
        </p:nvSpPr>
        <p:spPr>
          <a:xfrm>
            <a:off x="4349496" y="4343400"/>
            <a:ext cx="3489960" cy="1097280"/>
          </a:xfrm>
          <a:prstGeom prst="rect">
            <a:avLst/>
          </a:prstGeom>
          <a:solidFill>
            <a:srgbClr val="F1F3F0"/>
          </a:solidFill>
          <a:ln w="9525">
            <a:solidFill>
              <a:srgbClr val="D3D9D0"/>
            </a:solidFill>
            <a:prstDash val="solid"/>
          </a:ln>
        </p:spPr>
      </p:sp>
      <p:sp>
        <p:nvSpPr>
          <p:cNvPr id="12" name="Text 10"/>
          <p:cNvSpPr txBox="1"/>
          <p:nvPr/>
        </p:nvSpPr>
        <p:spPr>
          <a:xfrm>
            <a:off x="4550664"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Pb</a:t>
            </a:r>
            <a:endParaRPr lang="en-US" sz="2600" dirty="0"/>
          </a:p>
        </p:txBody>
      </p:sp>
      <p:sp>
        <p:nvSpPr>
          <p:cNvPr id="13" name="Text 11"/>
          <p:cNvSpPr txBox="1"/>
          <p:nvPr/>
        </p:nvSpPr>
        <p:spPr>
          <a:xfrm>
            <a:off x="5721096"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LEAD</a:t>
            </a:r>
            <a:endParaRPr lang="en-US" sz="900" dirty="0"/>
          </a:p>
        </p:txBody>
      </p:sp>
      <p:sp>
        <p:nvSpPr>
          <p:cNvPr id="14" name="Text 12"/>
          <p:cNvSpPr txBox="1"/>
          <p:nvPr/>
        </p:nvSpPr>
        <p:spPr>
          <a:xfrm>
            <a:off x="5721096"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Added to the US Critical Minerals List, 2025¹¹</a:t>
            </a:r>
            <a:endParaRPr lang="en-US" sz="950" dirty="0"/>
          </a:p>
        </p:txBody>
      </p:sp>
      <p:sp>
        <p:nvSpPr>
          <p:cNvPr id="15" name="Shape 13"/>
          <p:cNvSpPr/>
          <p:nvPr/>
        </p:nvSpPr>
        <p:spPr>
          <a:xfrm>
            <a:off x="8058912" y="4343400"/>
            <a:ext cx="3489960" cy="1097280"/>
          </a:xfrm>
          <a:prstGeom prst="rect">
            <a:avLst/>
          </a:prstGeom>
          <a:solidFill>
            <a:srgbClr val="F1F3F0"/>
          </a:solidFill>
          <a:ln w="9525">
            <a:solidFill>
              <a:srgbClr val="D3D9D0"/>
            </a:solidFill>
            <a:prstDash val="solid"/>
          </a:ln>
        </p:spPr>
      </p:sp>
      <p:sp>
        <p:nvSpPr>
          <p:cNvPr id="16" name="Text 14"/>
          <p:cNvSpPr txBox="1"/>
          <p:nvPr/>
        </p:nvSpPr>
        <p:spPr>
          <a:xfrm>
            <a:off x="8260080" y="4480560"/>
            <a:ext cx="1097280" cy="502920"/>
          </a:xfrm>
          <a:prstGeom prst="rect">
            <a:avLst/>
          </a:prstGeom>
          <a:noFill/>
          <a:ln/>
        </p:spPr>
        <p:txBody>
          <a:bodyPr wrap="square" lIns="0" tIns="0" rIns="0" bIns="0" rtlCol="0" anchor="ctr"/>
          <a:lstStyle/>
          <a:p>
            <a:pPr indent="0" marL="0">
              <a:buNone/>
            </a:pPr>
            <a:r>
              <a:rPr lang="en-US" sz="2600" spc="-50" kern="0" dirty="0">
                <a:solidFill>
                  <a:srgbClr val="66705F"/>
                </a:solidFill>
                <a:latin typeface="Helvetica Neue" pitchFamily="34" charset="0"/>
                <a:ea typeface="Helvetica Neue" pitchFamily="34" charset="-122"/>
                <a:cs typeface="Helvetica Neue" pitchFamily="34" charset="-120"/>
              </a:rPr>
              <a:t>Sb</a:t>
            </a:r>
            <a:endParaRPr lang="en-US" sz="2600" dirty="0"/>
          </a:p>
        </p:txBody>
      </p:sp>
      <p:sp>
        <p:nvSpPr>
          <p:cNvPr id="17" name="Text 15"/>
          <p:cNvSpPr txBox="1"/>
          <p:nvPr/>
        </p:nvSpPr>
        <p:spPr>
          <a:xfrm>
            <a:off x="9430512" y="4498848"/>
            <a:ext cx="1935480" cy="256032"/>
          </a:xfrm>
          <a:prstGeom prst="rect">
            <a:avLst/>
          </a:prstGeom>
          <a:noFill/>
          <a:ln/>
        </p:spPr>
        <p:txBody>
          <a:bodyPr wrap="square" lIns="0" tIns="0" rIns="0" bIns="0" rtlCol="0" anchor="ctr"/>
          <a:lstStyle/>
          <a:p>
            <a:pPr indent="0" marL="0">
              <a:buNone/>
            </a:pPr>
            <a:r>
              <a:rPr lang="en-US" sz="900" b="1" spc="150" kern="0" dirty="0">
                <a:solidFill>
                  <a:srgbClr val="66705F"/>
                </a:solidFill>
                <a:latin typeface="IBM Plex Mono" pitchFamily="34" charset="0"/>
                <a:ea typeface="IBM Plex Mono" pitchFamily="34" charset="-122"/>
                <a:cs typeface="IBM Plex Mono" pitchFamily="34" charset="-120"/>
              </a:rPr>
              <a:t>ANTIMONY</a:t>
            </a:r>
            <a:endParaRPr lang="en-US" sz="900" dirty="0"/>
          </a:p>
        </p:txBody>
      </p:sp>
      <p:sp>
        <p:nvSpPr>
          <p:cNvPr id="18" name="Text 16"/>
          <p:cNvSpPr txBox="1"/>
          <p:nvPr/>
        </p:nvSpPr>
        <p:spPr>
          <a:xfrm>
            <a:off x="9430512" y="4782312"/>
            <a:ext cx="1935480" cy="640080"/>
          </a:xfrm>
          <a:prstGeom prst="rect">
            <a:avLst/>
          </a:prstGeom>
          <a:noFill/>
          <a:ln/>
        </p:spPr>
        <p:txBody>
          <a:bodyPr wrap="square" lIns="0" tIns="0" rIns="0" bIns="0" rtlCol="0" anchor="ctr"/>
          <a:lstStyle/>
          <a:p>
            <a:pPr indent="0" marL="0">
              <a:lnSpc>
                <a:spcPct val="120000"/>
              </a:lnSpc>
              <a:buNone/>
            </a:pPr>
            <a:r>
              <a:rPr lang="en-US" sz="950" dirty="0">
                <a:solidFill>
                  <a:srgbClr val="33332F"/>
                </a:solidFill>
                <a:latin typeface="Helvetica Neue" pitchFamily="34" charset="0"/>
                <a:ea typeface="Helvetica Neue" pitchFamily="34" charset="-122"/>
                <a:cs typeface="Helvetica Neue" pitchFamily="34" charset="-120"/>
              </a:rPr>
              <a:t>China-restricted — repriced overnight¹⁰</a:t>
            </a:r>
            <a:endParaRPr lang="en-US" sz="950" dirty="0"/>
          </a:p>
        </p:txBody>
      </p:sp>
      <p:sp>
        <p:nvSpPr>
          <p:cNvPr id="19" name="Shape 17"/>
          <p:cNvSpPr/>
          <p:nvPr/>
        </p:nvSpPr>
        <p:spPr>
          <a:xfrm>
            <a:off x="640080" y="5596128"/>
            <a:ext cx="10908792" cy="566928"/>
          </a:xfrm>
          <a:prstGeom prst="rect">
            <a:avLst/>
          </a:prstGeom>
          <a:solidFill>
            <a:srgbClr val="FAFAF8"/>
          </a:solidFill>
          <a:ln w="9525">
            <a:solidFill>
              <a:srgbClr val="CFCDC4"/>
            </a:solidFill>
            <a:prstDash val="solid"/>
          </a:ln>
        </p:spPr>
      </p:sp>
      <p:sp>
        <p:nvSpPr>
          <p:cNvPr id="20" name="Shape 18"/>
          <p:cNvSpPr/>
          <p:nvPr/>
        </p:nvSpPr>
        <p:spPr>
          <a:xfrm>
            <a:off x="620878" y="5576926"/>
            <a:ext cx="59436" cy="12802"/>
          </a:xfrm>
          <a:prstGeom prst="rect">
            <a:avLst/>
          </a:prstGeom>
          <a:solidFill>
            <a:srgbClr val="000000"/>
          </a:solidFill>
          <a:ln/>
        </p:spPr>
      </p:sp>
      <p:sp>
        <p:nvSpPr>
          <p:cNvPr id="21" name="Shape 19"/>
          <p:cNvSpPr/>
          <p:nvPr/>
        </p:nvSpPr>
        <p:spPr>
          <a:xfrm>
            <a:off x="620878" y="5576926"/>
            <a:ext cx="12802" cy="59436"/>
          </a:xfrm>
          <a:prstGeom prst="rect">
            <a:avLst/>
          </a:prstGeom>
          <a:solidFill>
            <a:srgbClr val="000000"/>
          </a:solidFill>
          <a:ln/>
        </p:spPr>
      </p:sp>
      <p:sp>
        <p:nvSpPr>
          <p:cNvPr id="22" name="Shape 20"/>
          <p:cNvSpPr/>
          <p:nvPr/>
        </p:nvSpPr>
        <p:spPr>
          <a:xfrm>
            <a:off x="11508638" y="5576926"/>
            <a:ext cx="59436" cy="12802"/>
          </a:xfrm>
          <a:prstGeom prst="rect">
            <a:avLst/>
          </a:prstGeom>
          <a:solidFill>
            <a:srgbClr val="000000"/>
          </a:solidFill>
          <a:ln/>
        </p:spPr>
      </p:sp>
      <p:sp>
        <p:nvSpPr>
          <p:cNvPr id="23" name="Shape 21"/>
          <p:cNvSpPr/>
          <p:nvPr/>
        </p:nvSpPr>
        <p:spPr>
          <a:xfrm>
            <a:off x="11555273" y="5576926"/>
            <a:ext cx="12802" cy="59436"/>
          </a:xfrm>
          <a:prstGeom prst="rect">
            <a:avLst/>
          </a:prstGeom>
          <a:solidFill>
            <a:srgbClr val="000000"/>
          </a:solidFill>
          <a:ln/>
        </p:spPr>
      </p:sp>
      <p:sp>
        <p:nvSpPr>
          <p:cNvPr id="24" name="Shape 22"/>
          <p:cNvSpPr/>
          <p:nvPr/>
        </p:nvSpPr>
        <p:spPr>
          <a:xfrm>
            <a:off x="620878" y="6169457"/>
            <a:ext cx="59436" cy="12802"/>
          </a:xfrm>
          <a:prstGeom prst="rect">
            <a:avLst/>
          </a:prstGeom>
          <a:solidFill>
            <a:srgbClr val="000000"/>
          </a:solidFill>
          <a:ln/>
        </p:spPr>
      </p:sp>
      <p:sp>
        <p:nvSpPr>
          <p:cNvPr id="25" name="Shape 23"/>
          <p:cNvSpPr/>
          <p:nvPr/>
        </p:nvSpPr>
        <p:spPr>
          <a:xfrm>
            <a:off x="620878" y="6122822"/>
            <a:ext cx="12802" cy="59436"/>
          </a:xfrm>
          <a:prstGeom prst="rect">
            <a:avLst/>
          </a:prstGeom>
          <a:solidFill>
            <a:srgbClr val="000000"/>
          </a:solidFill>
          <a:ln/>
        </p:spPr>
      </p:sp>
      <p:sp>
        <p:nvSpPr>
          <p:cNvPr id="26" name="Shape 24"/>
          <p:cNvSpPr/>
          <p:nvPr/>
        </p:nvSpPr>
        <p:spPr>
          <a:xfrm>
            <a:off x="11508638" y="6169457"/>
            <a:ext cx="59436" cy="12802"/>
          </a:xfrm>
          <a:prstGeom prst="rect">
            <a:avLst/>
          </a:prstGeom>
          <a:solidFill>
            <a:srgbClr val="000000"/>
          </a:solidFill>
          <a:ln/>
        </p:spPr>
      </p:sp>
      <p:sp>
        <p:nvSpPr>
          <p:cNvPr id="27" name="Shape 25"/>
          <p:cNvSpPr/>
          <p:nvPr/>
        </p:nvSpPr>
        <p:spPr>
          <a:xfrm>
            <a:off x="11555273" y="6122822"/>
            <a:ext cx="12802" cy="59436"/>
          </a:xfrm>
          <a:prstGeom prst="rect">
            <a:avLst/>
          </a:prstGeom>
          <a:solidFill>
            <a:srgbClr val="000000"/>
          </a:solidFill>
          <a:ln/>
        </p:spPr>
      </p:sp>
      <p:sp>
        <p:nvSpPr>
          <p:cNvPr id="28" name="Text 26"/>
          <p:cNvSpPr txBox="1"/>
          <p:nvPr/>
        </p:nvSpPr>
        <p:spPr>
          <a:xfrm>
            <a:off x="859536" y="5687568"/>
            <a:ext cx="10469880" cy="402336"/>
          </a:xfrm>
          <a:prstGeom prst="rect">
            <a:avLst/>
          </a:prstGeom>
          <a:noFill/>
          <a:ln/>
        </p:spPr>
        <p:txBody>
          <a:bodyPr wrap="square" lIns="0" tIns="0" rIns="0" bIns="0" rtlCol="0" anchor="ctr"/>
          <a:lstStyle/>
          <a:p>
            <a:pPr indent="0" marL="0">
              <a:lnSpc>
                <a:spcPct val="120000"/>
              </a:lnSpc>
              <a:buNone/>
            </a:pPr>
            <a:r>
              <a:rPr lang="en-US" sz="1150" b="1" dirty="0">
                <a:solidFill>
                  <a:srgbClr val="000000"/>
                </a:solidFill>
                <a:latin typeface="Helvetica Neue" pitchFamily="34" charset="0"/>
                <a:ea typeface="Helvetica Neue" pitchFamily="34" charset="-122"/>
                <a:cs typeface="Helvetica Neue" pitchFamily="34" charset="-120"/>
              </a:rPr>
              <a:t>An allied depot is an above-ground deposit of the metals the West just declared strategic. </a:t>
            </a:r>
            <a:pPr indent="0" marL="0">
              <a:lnSpc>
                <a:spcPct val="120000"/>
              </a:lnSpc>
              <a:buNone/>
            </a:pPr>
            <a:r>
              <a:rPr lang="en-US" sz="1150" dirty="0">
                <a:solidFill>
                  <a:srgbClr val="33332F"/>
                </a:solidFill>
                <a:latin typeface="Helvetica Neue" pitchFamily="34" charset="0"/>
                <a:ea typeface="Helvetica Neue" pitchFamily="34" charset="-122"/>
                <a:cs typeface="Helvetica Neue" pitchFamily="34" charset="-120"/>
              </a:rPr>
              <a:t>Paid once to destroy the liability. Paid again for what comes back.</a:t>
            </a:r>
            <a:endParaRPr lang="en-US" sz="1150" dirty="0"/>
          </a:p>
        </p:txBody>
      </p:sp>
      <p:sp>
        <p:nvSpPr>
          <p:cNvPr id="29" name="Text 2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05  ·  TWB DESIGNS — CONFIDENTIAL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788274"/>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E9EDE7"/>
                </a:solidFill>
                <a:latin typeface="IBM Plex Mono" pitchFamily="34" charset="0"/>
                <a:ea typeface="IBM Plex Mono" pitchFamily="34" charset="-122"/>
                <a:cs typeface="IBM Plex Mono" pitchFamily="34" charset="-120"/>
              </a:rPr>
              <a:t>ACT IV — THE UNASSEMBLED INDUSTRY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FFFFFF"/>
                </a:solidFill>
                <a:latin typeface="Helvetica Neue" pitchFamily="34" charset="0"/>
                <a:ea typeface="Helvetica Neue" pitchFamily="34" charset="-122"/>
                <a:cs typeface="Helvetica Neue" pitchFamily="34" charset="-120"/>
              </a:rPr>
              <a:t>The capability exists — scattered. </a:t>
            </a:r>
            <a:pPr indent="0" marL="0">
              <a:buNone/>
            </a:pPr>
            <a:r>
              <a:rPr lang="en-US" sz="2700" spc="-30" kern="0" dirty="0">
                <a:solidFill>
                  <a:srgbClr val="D8DED2"/>
                </a:solidFill>
                <a:latin typeface="Helvetica Neue" pitchFamily="34" charset="0"/>
                <a:ea typeface="Helvetica Neue" pitchFamily="34" charset="-122"/>
                <a:cs typeface="Helvetica Neue" pitchFamily="34" charset="-120"/>
              </a:rPr>
              <a:t>The company never has.</a:t>
            </a:r>
            <a:endParaRPr lang="en-US" sz="2700" dirty="0"/>
          </a:p>
        </p:txBody>
      </p:sp>
      <p:sp>
        <p:nvSpPr>
          <p:cNvPr id="4" name="Text 2"/>
          <p:cNvSpPr txBox="1"/>
          <p:nvPr/>
        </p:nvSpPr>
        <p:spPr>
          <a:xfrm>
            <a:off x="640080" y="1874520"/>
            <a:ext cx="2377440" cy="1600200"/>
          </a:xfrm>
          <a:prstGeom prst="rect">
            <a:avLst/>
          </a:prstGeom>
          <a:noFill/>
          <a:ln/>
        </p:spPr>
        <p:txBody>
          <a:bodyPr wrap="square" lIns="0" tIns="0" rIns="0" bIns="0" rtlCol="0" anchor="t"/>
          <a:lstStyle/>
          <a:p>
            <a:pPr algn="l" indent="0" marL="0">
              <a:buNone/>
            </a:pPr>
            <a:r>
              <a:rPr lang="en-US" sz="15000" spc="-400" kern="0" dirty="0">
                <a:solidFill>
                  <a:srgbClr val="FFFFFF"/>
                </a:solidFill>
                <a:latin typeface="Helvetica Neue" pitchFamily="34" charset="0"/>
                <a:ea typeface="Helvetica Neue" pitchFamily="34" charset="-122"/>
                <a:cs typeface="Helvetica Neue" pitchFamily="34" charset="-120"/>
              </a:rPr>
              <a:t>0</a:t>
            </a:r>
            <a:endParaRPr lang="en-US" sz="15000" dirty="0"/>
          </a:p>
        </p:txBody>
      </p:sp>
      <p:sp>
        <p:nvSpPr>
          <p:cNvPr id="5" name="Text 3"/>
          <p:cNvSpPr txBox="1"/>
          <p:nvPr/>
        </p:nvSpPr>
        <p:spPr>
          <a:xfrm>
            <a:off x="2880360" y="2057400"/>
            <a:ext cx="3566160" cy="1508760"/>
          </a:xfrm>
          <a:prstGeom prst="rect">
            <a:avLst/>
          </a:prstGeom>
          <a:noFill/>
          <a:ln/>
        </p:spPr>
        <p:txBody>
          <a:bodyPr wrap="square" lIns="0" tIns="0" rIns="0" bIns="0" rtlCol="0" anchor="ctr"/>
          <a:lstStyle/>
          <a:p>
            <a:pPr indent="0" marL="0">
              <a:lnSpc>
                <a:spcPct val="132000"/>
              </a:lnSpc>
              <a:buNone/>
            </a:pPr>
            <a:r>
              <a:rPr lang="en-US" sz="1400" b="1" dirty="0">
                <a:solidFill>
                  <a:srgbClr val="FFFFFF"/>
                </a:solidFill>
                <a:latin typeface="Helvetica Neue" pitchFamily="34" charset="0"/>
                <a:ea typeface="Helvetica Neue" pitchFamily="34" charset="-122"/>
                <a:cs typeface="Helvetica Neue" pitchFamily="34" charset="-120"/>
              </a:rPr>
              <a:t>Consolidators at the founder scale. </a:t>
            </a:r>
            <a:pPr indent="0" marL="0">
              <a:lnSpc>
                <a:spcPct val="132000"/>
              </a:lnSpc>
              <a:buNone/>
            </a:pPr>
            <a:r>
              <a:rPr lang="en-US" sz="1400" dirty="0">
                <a:solidFill>
                  <a:srgbClr val="D8DED2"/>
                </a:solidFill>
                <a:latin typeface="Helvetica Neue" pitchFamily="34" charset="0"/>
                <a:ea typeface="Helvetica Neue" pitchFamily="34" charset="-122"/>
                <a:cs typeface="Helvetica Neue" pitchFamily="34" charset="-120"/>
              </a:rPr>
              <a:t>Strategics take the large end; nobody is assembling ours.</a:t>
            </a:r>
            <a:endParaRPr lang="en-US" sz="1400" dirty="0"/>
          </a:p>
        </p:txBody>
      </p:sp>
      <p:sp>
        <p:nvSpPr>
          <p:cNvPr id="6" name="Shape 4"/>
          <p:cNvSpPr/>
          <p:nvPr/>
        </p:nvSpPr>
        <p:spPr>
          <a:xfrm>
            <a:off x="6720840" y="1874520"/>
            <a:ext cx="4846320" cy="0"/>
          </a:xfrm>
          <a:prstGeom prst="line">
            <a:avLst/>
          </a:prstGeom>
          <a:noFill/>
          <a:ln w="9525">
            <a:solidFill>
              <a:srgbClr val="96A093"/>
            </a:solidFill>
            <a:prstDash val="solid"/>
          </a:ln>
        </p:spPr>
      </p:sp>
      <p:sp>
        <p:nvSpPr>
          <p:cNvPr id="7" name="Text 5"/>
          <p:cNvSpPr txBox="1"/>
          <p:nvPr/>
        </p:nvSpPr>
        <p:spPr>
          <a:xfrm>
            <a:off x="6720840" y="2002536"/>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30–45 yrs</a:t>
            </a:r>
            <a:endParaRPr lang="en-US" sz="3800" dirty="0"/>
          </a:p>
        </p:txBody>
      </p:sp>
      <p:sp>
        <p:nvSpPr>
          <p:cNvPr id="8" name="Text 6"/>
          <p:cNvSpPr txBox="1"/>
          <p:nvPr/>
        </p:nvSpPr>
        <p:spPr>
          <a:xfrm>
            <a:off x="6720840" y="2715768"/>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AGE OF THE SPECIALIST FIRMS — FOUNDED 1980S–90S, STILL FOUNDER- OR FAMILY-HELD</a:t>
            </a:r>
            <a:endParaRPr lang="en-US" sz="950" dirty="0"/>
          </a:p>
        </p:txBody>
      </p:sp>
      <p:sp>
        <p:nvSpPr>
          <p:cNvPr id="9" name="Shape 7"/>
          <p:cNvSpPr/>
          <p:nvPr/>
        </p:nvSpPr>
        <p:spPr>
          <a:xfrm>
            <a:off x="6720840" y="3172968"/>
            <a:ext cx="4846320" cy="0"/>
          </a:xfrm>
          <a:prstGeom prst="line">
            <a:avLst/>
          </a:prstGeom>
          <a:noFill/>
          <a:ln w="9525">
            <a:solidFill>
              <a:srgbClr val="96A093"/>
            </a:solidFill>
            <a:prstDash val="solid"/>
          </a:ln>
        </p:spPr>
      </p:sp>
      <p:sp>
        <p:nvSpPr>
          <p:cNvPr id="10" name="Text 8"/>
          <p:cNvSpPr txBox="1"/>
          <p:nvPr/>
        </p:nvSpPr>
        <p:spPr>
          <a:xfrm>
            <a:off x="6720840" y="3300984"/>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4–7×</a:t>
            </a:r>
            <a:endParaRPr lang="en-US" sz="3800" dirty="0"/>
          </a:p>
        </p:txBody>
      </p:sp>
      <p:sp>
        <p:nvSpPr>
          <p:cNvPr id="11" name="Text 9"/>
          <p:cNvSpPr txBox="1"/>
          <p:nvPr/>
        </p:nvSpPr>
        <p:spPr>
          <a:xfrm>
            <a:off x="6720840" y="4014216"/>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EBITDA WHERE FOUNDER-HELD CAPABILITY TRADES TODAY — PRICED LIKE PLUMBING¹⁷</a:t>
            </a:r>
            <a:endParaRPr lang="en-US" sz="950" dirty="0"/>
          </a:p>
        </p:txBody>
      </p:sp>
      <p:sp>
        <p:nvSpPr>
          <p:cNvPr id="12" name="Shape 10"/>
          <p:cNvSpPr/>
          <p:nvPr/>
        </p:nvSpPr>
        <p:spPr>
          <a:xfrm>
            <a:off x="6720840" y="4471416"/>
            <a:ext cx="4846320" cy="0"/>
          </a:xfrm>
          <a:prstGeom prst="line">
            <a:avLst/>
          </a:prstGeom>
          <a:noFill/>
          <a:ln w="9525">
            <a:solidFill>
              <a:srgbClr val="96A093"/>
            </a:solidFill>
            <a:prstDash val="solid"/>
          </a:ln>
        </p:spPr>
      </p:sp>
      <p:sp>
        <p:nvSpPr>
          <p:cNvPr id="13" name="Text 11"/>
          <p:cNvSpPr txBox="1"/>
          <p:nvPr/>
        </p:nvSpPr>
        <p:spPr>
          <a:xfrm>
            <a:off x="6720840" y="4599432"/>
            <a:ext cx="2743200" cy="731520"/>
          </a:xfrm>
          <a:prstGeom prst="rect">
            <a:avLst/>
          </a:prstGeom>
          <a:noFill/>
          <a:ln/>
        </p:spPr>
        <p:txBody>
          <a:bodyPr wrap="square" lIns="0" tIns="0" rIns="0" bIns="0" rtlCol="0" anchor="t"/>
          <a:lstStyle/>
          <a:p>
            <a:pPr algn="l" indent="0" marL="0">
              <a:buNone/>
            </a:pPr>
            <a:r>
              <a:rPr lang="en-US" sz="3800" spc="-100" kern="0" dirty="0">
                <a:solidFill>
                  <a:srgbClr val="FFFFFF"/>
                </a:solidFill>
                <a:latin typeface="Helvetica Neue" pitchFamily="34" charset="0"/>
                <a:ea typeface="Helvetica Neue" pitchFamily="34" charset="-122"/>
                <a:cs typeface="Helvetica Neue" pitchFamily="34" charset="-120"/>
              </a:rPr>
              <a:t>1</a:t>
            </a:r>
            <a:endParaRPr lang="en-US" sz="3800" dirty="0"/>
          </a:p>
        </p:txBody>
      </p:sp>
      <p:sp>
        <p:nvSpPr>
          <p:cNvPr id="14" name="Text 12"/>
          <p:cNvSpPr txBox="1"/>
          <p:nvPr/>
        </p:nvSpPr>
        <p:spPr>
          <a:xfrm>
            <a:off x="6720840" y="5312664"/>
            <a:ext cx="4800600" cy="365760"/>
          </a:xfrm>
          <a:prstGeom prst="rect">
            <a:avLst/>
          </a:prstGeom>
          <a:noFill/>
          <a:ln/>
        </p:spPr>
        <p:txBody>
          <a:bodyPr wrap="square" lIns="0" tIns="0" rIns="0" bIns="0" rtlCol="0" anchor="ctr"/>
          <a:lstStyle/>
          <a:p>
            <a:pPr algn="l" indent="0" marL="0">
              <a:lnSpc>
                <a:spcPct val="120000"/>
              </a:lnSpc>
              <a:buNone/>
            </a:pPr>
            <a:r>
              <a:rPr lang="en-US" sz="950" b="1" spc="180" kern="0" dirty="0">
                <a:solidFill>
                  <a:srgbClr val="D8DED2"/>
                </a:solidFill>
                <a:latin typeface="IBM Plex Mono" pitchFamily="34" charset="0"/>
                <a:ea typeface="IBM Plex Mono" pitchFamily="34" charset="-122"/>
                <a:cs typeface="IBM Plex Mono" pitchFamily="34" charset="-120"/>
              </a:rPr>
              <a:t>CAPABILITY PER FIRM, TYPICALLY — GOVERNMENTS ASSEMBLE THEIR OWN SUPPLY CHAIN</a:t>
            </a:r>
            <a:endParaRPr lang="en-US" sz="950" dirty="0"/>
          </a:p>
        </p:txBody>
      </p:sp>
      <p:sp>
        <p:nvSpPr>
          <p:cNvPr id="15" name="Text 13"/>
          <p:cNvSpPr txBox="1"/>
          <p:nvPr/>
        </p:nvSpPr>
        <p:spPr>
          <a:xfrm>
            <a:off x="640080" y="3977640"/>
            <a:ext cx="5852160" cy="822960"/>
          </a:xfrm>
          <a:prstGeom prst="rect">
            <a:avLst/>
          </a:prstGeom>
          <a:noFill/>
          <a:ln/>
        </p:spPr>
        <p:txBody>
          <a:bodyPr wrap="square" lIns="0" tIns="0" rIns="0" bIns="0" rtlCol="0" anchor="ctr"/>
          <a:lstStyle/>
          <a:p>
            <a:pPr indent="0" marL="0">
              <a:lnSpc>
                <a:spcPct val="130000"/>
              </a:lnSpc>
              <a:buNone/>
            </a:pPr>
            <a:r>
              <a:rPr lang="en-US" sz="1200" dirty="0">
                <a:solidFill>
                  <a:srgbClr val="D8DED2"/>
                </a:solidFill>
                <a:latin typeface="Helvetica Neue" pitchFamily="34" charset="0"/>
                <a:ea typeface="Helvetica Neue" pitchFamily="34" charset="-122"/>
                <a:cs typeface="Helvetica Neue" pitchFamily="34" charset="-120"/>
              </a:rPr>
              <a:t>Every specialist above sits at a different owner, a different depot, a different country — bought, partnered or built into one balance sheet.</a:t>
            </a:r>
            <a:endParaRPr lang="en-US" sz="1200" dirty="0"/>
          </a:p>
        </p:txBody>
      </p:sp>
      <p:sp>
        <p:nvSpPr>
          <p:cNvPr id="16" name="Shape 14"/>
          <p:cNvSpPr/>
          <p:nvPr/>
        </p:nvSpPr>
        <p:spPr>
          <a:xfrm>
            <a:off x="640080" y="5779008"/>
            <a:ext cx="10908792" cy="502920"/>
          </a:xfrm>
          <a:prstGeom prst="rect">
            <a:avLst/>
          </a:prstGeom>
          <a:solidFill>
            <a:srgbClr val="6B7568"/>
          </a:solidFill>
          <a:ln w="9525">
            <a:solidFill>
              <a:srgbClr val="96A093"/>
            </a:solidFill>
            <a:prstDash val="solid"/>
          </a:ln>
        </p:spPr>
      </p:sp>
      <p:sp>
        <p:nvSpPr>
          <p:cNvPr id="17" name="Shape 15"/>
          <p:cNvSpPr/>
          <p:nvPr/>
        </p:nvSpPr>
        <p:spPr>
          <a:xfrm>
            <a:off x="620878" y="5759806"/>
            <a:ext cx="59436" cy="12802"/>
          </a:xfrm>
          <a:prstGeom prst="rect">
            <a:avLst/>
          </a:prstGeom>
          <a:solidFill>
            <a:srgbClr val="FFFFFF"/>
          </a:solidFill>
          <a:ln/>
        </p:spPr>
      </p:sp>
      <p:sp>
        <p:nvSpPr>
          <p:cNvPr id="18" name="Shape 16"/>
          <p:cNvSpPr/>
          <p:nvPr/>
        </p:nvSpPr>
        <p:spPr>
          <a:xfrm>
            <a:off x="620878" y="5759806"/>
            <a:ext cx="12802" cy="59436"/>
          </a:xfrm>
          <a:prstGeom prst="rect">
            <a:avLst/>
          </a:prstGeom>
          <a:solidFill>
            <a:srgbClr val="FFFFFF"/>
          </a:solidFill>
          <a:ln/>
        </p:spPr>
      </p:sp>
      <p:sp>
        <p:nvSpPr>
          <p:cNvPr id="19" name="Shape 17"/>
          <p:cNvSpPr/>
          <p:nvPr/>
        </p:nvSpPr>
        <p:spPr>
          <a:xfrm>
            <a:off x="11508638" y="5759806"/>
            <a:ext cx="59436" cy="12802"/>
          </a:xfrm>
          <a:prstGeom prst="rect">
            <a:avLst/>
          </a:prstGeom>
          <a:solidFill>
            <a:srgbClr val="FFFFFF"/>
          </a:solidFill>
          <a:ln/>
        </p:spPr>
      </p:sp>
      <p:sp>
        <p:nvSpPr>
          <p:cNvPr id="20" name="Shape 18"/>
          <p:cNvSpPr/>
          <p:nvPr/>
        </p:nvSpPr>
        <p:spPr>
          <a:xfrm>
            <a:off x="11555273" y="5759806"/>
            <a:ext cx="12802" cy="59436"/>
          </a:xfrm>
          <a:prstGeom prst="rect">
            <a:avLst/>
          </a:prstGeom>
          <a:solidFill>
            <a:srgbClr val="FFFFFF"/>
          </a:solidFill>
          <a:ln/>
        </p:spPr>
      </p:sp>
      <p:sp>
        <p:nvSpPr>
          <p:cNvPr id="21" name="Shape 19"/>
          <p:cNvSpPr/>
          <p:nvPr/>
        </p:nvSpPr>
        <p:spPr>
          <a:xfrm>
            <a:off x="620878" y="6288329"/>
            <a:ext cx="59436" cy="12802"/>
          </a:xfrm>
          <a:prstGeom prst="rect">
            <a:avLst/>
          </a:prstGeom>
          <a:solidFill>
            <a:srgbClr val="FFFFFF"/>
          </a:solidFill>
          <a:ln/>
        </p:spPr>
      </p:sp>
      <p:sp>
        <p:nvSpPr>
          <p:cNvPr id="22" name="Shape 20"/>
          <p:cNvSpPr/>
          <p:nvPr/>
        </p:nvSpPr>
        <p:spPr>
          <a:xfrm>
            <a:off x="620878" y="6241694"/>
            <a:ext cx="12802" cy="59436"/>
          </a:xfrm>
          <a:prstGeom prst="rect">
            <a:avLst/>
          </a:prstGeom>
          <a:solidFill>
            <a:srgbClr val="FFFFFF"/>
          </a:solidFill>
          <a:ln/>
        </p:spPr>
      </p:sp>
      <p:sp>
        <p:nvSpPr>
          <p:cNvPr id="23" name="Shape 21"/>
          <p:cNvSpPr/>
          <p:nvPr/>
        </p:nvSpPr>
        <p:spPr>
          <a:xfrm>
            <a:off x="11508638" y="6288329"/>
            <a:ext cx="59436" cy="12802"/>
          </a:xfrm>
          <a:prstGeom prst="rect">
            <a:avLst/>
          </a:prstGeom>
          <a:solidFill>
            <a:srgbClr val="FFFFFF"/>
          </a:solidFill>
          <a:ln/>
        </p:spPr>
      </p:sp>
      <p:sp>
        <p:nvSpPr>
          <p:cNvPr id="24" name="Shape 22"/>
          <p:cNvSpPr/>
          <p:nvPr/>
        </p:nvSpPr>
        <p:spPr>
          <a:xfrm>
            <a:off x="11555273" y="6241694"/>
            <a:ext cx="12802" cy="59436"/>
          </a:xfrm>
          <a:prstGeom prst="rect">
            <a:avLst/>
          </a:prstGeom>
          <a:solidFill>
            <a:srgbClr val="FFFFFF"/>
          </a:solidFill>
          <a:ln/>
        </p:spPr>
      </p:sp>
      <p:sp>
        <p:nvSpPr>
          <p:cNvPr id="25" name="Text 23"/>
          <p:cNvSpPr txBox="1"/>
          <p:nvPr/>
        </p:nvSpPr>
        <p:spPr>
          <a:xfrm>
            <a:off x="859536" y="5870448"/>
            <a:ext cx="10469880" cy="365760"/>
          </a:xfrm>
          <a:prstGeom prst="rect">
            <a:avLst/>
          </a:prstGeom>
          <a:noFill/>
          <a:ln/>
        </p:spPr>
        <p:txBody>
          <a:bodyPr wrap="square" lIns="0" tIns="0" rIns="0" bIns="0"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This is the venture: </a:t>
            </a:r>
            <a:pPr indent="0" marL="0">
              <a:buNone/>
            </a:pPr>
            <a:r>
              <a:rPr lang="en-US" sz="1200" dirty="0">
                <a:solidFill>
                  <a:srgbClr val="E9EDE7"/>
                </a:solidFill>
                <a:latin typeface="Helvetica Neue" pitchFamily="34" charset="0"/>
                <a:ea typeface="Helvetica Neue" pitchFamily="34" charset="-122"/>
                <a:cs typeface="Helvetica Neue" pitchFamily="34" charset="-120"/>
              </a:rPr>
              <a:t>acquiring, partnering and developing it into one platform, while a succession cliff prices the pieces.</a:t>
            </a:r>
            <a:endParaRPr lang="en-US" sz="1200" dirty="0"/>
          </a:p>
        </p:txBody>
      </p:sp>
      <p:sp>
        <p:nvSpPr>
          <p:cNvPr id="26" name="Text 2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06  ·  TWB DESIGNS — CONFIDENTIAL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OPPORTUNITY — OUR CONSTRUCTION, EVERY ASSUMPTION ON THE PAGE</a:t>
            </a:r>
            <a:endParaRPr lang="en-US" sz="1000" dirty="0"/>
          </a:p>
        </p:txBody>
      </p:sp>
      <p:sp>
        <p:nvSpPr>
          <p:cNvPr id="3" name="Text 1"/>
          <p:cNvSpPr txBox="1"/>
          <p:nvPr/>
        </p:nvSpPr>
        <p:spPr>
          <a:xfrm>
            <a:off x="640080" y="804672"/>
            <a:ext cx="10789920" cy="566928"/>
          </a:xfrm>
          <a:prstGeom prst="rect">
            <a:avLst/>
          </a:prstGeom>
          <a:noFill/>
          <a:ln/>
        </p:spPr>
        <p:txBody>
          <a:bodyPr wrap="square" lIns="0" tIns="0" rIns="0" bIns="0" rtlCol="0" anchor="ctr"/>
          <a:lstStyle/>
          <a:p>
            <a:pPr indent="0" marL="0">
              <a:buNone/>
            </a:pPr>
            <a:r>
              <a:rPr lang="en-US" sz="2600" spc="-30" kern="0" dirty="0">
                <a:solidFill>
                  <a:srgbClr val="000000"/>
                </a:solidFill>
                <a:latin typeface="Helvetica Neue" pitchFamily="34" charset="0"/>
                <a:ea typeface="Helvetica Neue" pitchFamily="34" charset="-122"/>
                <a:cs typeface="Helvetica Neue" pitchFamily="34" charset="-120"/>
              </a:rPr>
              <a:t>The end-of-life bill of a $2.88 trillion rearmament.</a:t>
            </a:r>
            <a:endParaRPr lang="en-US" sz="2600" dirty="0"/>
          </a:p>
        </p:txBody>
      </p:sp>
      <p:sp>
        <p:nvSpPr>
          <p:cNvPr id="4" name="Text 2"/>
          <p:cNvSpPr txBox="1"/>
          <p:nvPr/>
        </p:nvSpPr>
        <p:spPr>
          <a:xfrm>
            <a:off x="640080" y="1389888"/>
            <a:ext cx="10881360" cy="310896"/>
          </a:xfrm>
          <a:prstGeom prst="rect">
            <a:avLst/>
          </a:prstGeom>
          <a:noFill/>
          <a:ln/>
        </p:spPr>
        <p:txBody>
          <a:bodyPr wrap="square" lIns="0" tIns="0" rIns="0" bIns="0" rtlCol="0" anchor="ctr"/>
          <a:lstStyle/>
          <a:p>
            <a:pPr indent="0" marL="0">
              <a:buNone/>
            </a:pPr>
            <a:r>
              <a:rPr lang="en-US" sz="1200" b="1" dirty="0">
                <a:solidFill>
                  <a:srgbClr val="000000"/>
                </a:solidFill>
                <a:latin typeface="Helvetica Neue" pitchFamily="34" charset="0"/>
                <a:ea typeface="Helvetica Neue" pitchFamily="34" charset="-122"/>
                <a:cs typeface="Helvetica Neue" pitchFamily="34" charset="-120"/>
              </a:rPr>
              <a:t>Three tiers, drawn to true relative scale. </a:t>
            </a:r>
            <a:pPr indent="0" marL="0">
              <a:buNone/>
            </a:pPr>
            <a:r>
              <a:rPr lang="en-US" sz="1200" dirty="0">
                <a:solidFill>
                  <a:srgbClr val="33332F"/>
                </a:solidFill>
                <a:latin typeface="Helvetica Neue" pitchFamily="34" charset="0"/>
                <a:ea typeface="Helvetica Neue" pitchFamily="34" charset="-122"/>
                <a:cs typeface="Helvetica Neue" pitchFamily="34" charset="-120"/>
              </a:rPr>
              <a:t>We are underwriting the sliver, in a market being built for us at record pace.¹⁷</a:t>
            </a:r>
            <a:endParaRPr lang="en-US" sz="1200" dirty="0"/>
          </a:p>
        </p:txBody>
      </p:sp>
      <p:pic>
        <p:nvPicPr>
          <p:cNvPr id="5" name="Image 0" descr="/root/twb-build/deck/charts/slide7_tam.png">    </p:cNvPr>
          <p:cNvPicPr>
            <a:picLocks noChangeAspect="1"/>
          </p:cNvPicPr>
          <p:nvPr/>
        </p:nvPicPr>
        <p:blipFill>
          <a:blip r:embed="rId1"/>
          <a:stretch>
            <a:fillRect/>
          </a:stretch>
        </p:blipFill>
        <p:spPr>
          <a:xfrm>
            <a:off x="640080" y="1810512"/>
            <a:ext cx="10908792" cy="3006547"/>
          </a:xfrm>
          <a:prstGeom prst="rect">
            <a:avLst/>
          </a:prstGeom>
        </p:spPr>
      </p:pic>
      <p:sp>
        <p:nvSpPr>
          <p:cNvPr id="6" name="Shape 3"/>
          <p:cNvSpPr/>
          <p:nvPr/>
        </p:nvSpPr>
        <p:spPr>
          <a:xfrm>
            <a:off x="640080" y="5047488"/>
            <a:ext cx="10908792" cy="0"/>
          </a:xfrm>
          <a:prstGeom prst="line">
            <a:avLst/>
          </a:prstGeom>
          <a:noFill/>
          <a:ln w="9525">
            <a:solidFill>
              <a:srgbClr val="E2E1DA"/>
            </a:solidFill>
            <a:prstDash val="solid"/>
          </a:ln>
        </p:spPr>
      </p:sp>
      <p:sp>
        <p:nvSpPr>
          <p:cNvPr id="7" name="Text 4"/>
          <p:cNvSpPr txBox="1"/>
          <p:nvPr/>
        </p:nvSpPr>
        <p:spPr>
          <a:xfrm>
            <a:off x="640080" y="5248656"/>
            <a:ext cx="3453384" cy="237744"/>
          </a:xfrm>
          <a:prstGeom prst="rect">
            <a:avLst/>
          </a:prstGeom>
          <a:noFill/>
          <a:ln/>
        </p:spPr>
        <p:txBody>
          <a:bodyPr wrap="square" lIns="0" tIns="0" rIns="0" bIns="0" rtlCol="0" anchor="ctr"/>
          <a:lstStyle/>
          <a:p>
            <a:pPr indent="0" marL="0">
              <a:buNone/>
            </a:pPr>
            <a:r>
              <a:rPr lang="en-US" sz="950" b="1" spc="160" kern="0" dirty="0">
                <a:solidFill>
                  <a:srgbClr val="66705F"/>
                </a:solidFill>
                <a:latin typeface="IBM Plex Mono" pitchFamily="34" charset="0"/>
                <a:ea typeface="IBM Plex Mono" pitchFamily="34" charset="-122"/>
                <a:cs typeface="IBM Plex Mono" pitchFamily="34" charset="-120"/>
              </a:rPr>
              <a:t>HOW IT IS BUILT</a:t>
            </a:r>
            <a:endParaRPr lang="en-US" sz="950" dirty="0"/>
          </a:p>
        </p:txBody>
      </p:sp>
      <p:sp>
        <p:nvSpPr>
          <p:cNvPr id="8" name="Text 5"/>
          <p:cNvSpPr txBox="1"/>
          <p:nvPr/>
        </p:nvSpPr>
        <p:spPr>
          <a:xfrm>
            <a:off x="640080" y="5522976"/>
            <a:ext cx="3453384" cy="786384"/>
          </a:xfrm>
          <a:prstGeom prst="rect">
            <a:avLst/>
          </a:prstGeom>
          <a:noFill/>
          <a:ln/>
        </p:spPr>
        <p:txBody>
          <a:bodyPr wrap="square" lIns="0" tIns="0" rIns="0" bIns="0" rtlCol="0" anchor="ctr"/>
          <a:lstStyle/>
          <a:p>
            <a:pPr indent="0" marL="0">
              <a:lnSpc>
                <a:spcPct val="124000"/>
              </a:lnSpc>
              <a:buNone/>
            </a:pPr>
            <a:r>
              <a:rPr lang="en-US" sz="950" dirty="0">
                <a:solidFill>
                  <a:srgbClr val="33332F"/>
                </a:solidFill>
                <a:latin typeface="Helvetica Neue" pitchFamily="34" charset="0"/>
                <a:ea typeface="Helvetica Neue" pitchFamily="34" charset="-122"/>
                <a:cs typeface="Helvetica Neue" pitchFamily="34" charset="-120"/>
              </a:rPr>
              <a:t>Published demil rates⁶ applied to the allied stockpile that has to move, plus recovered materials and sovereign facility engineering. Every assumption is on this page.</a:t>
            </a:r>
            <a:endParaRPr lang="en-US" sz="950" dirty="0"/>
          </a:p>
        </p:txBody>
      </p:sp>
      <p:sp>
        <p:nvSpPr>
          <p:cNvPr id="9" name="Text 6"/>
          <p:cNvSpPr txBox="1"/>
          <p:nvPr/>
        </p:nvSpPr>
        <p:spPr>
          <a:xfrm>
            <a:off x="4367784" y="5248656"/>
            <a:ext cx="3453384" cy="237744"/>
          </a:xfrm>
          <a:prstGeom prst="rect">
            <a:avLst/>
          </a:prstGeom>
          <a:noFill/>
          <a:ln/>
        </p:spPr>
        <p:txBody>
          <a:bodyPr wrap="square" lIns="0" tIns="0" rIns="0" bIns="0" rtlCol="0" anchor="ctr"/>
          <a:lstStyle/>
          <a:p>
            <a:pPr indent="0" marL="0">
              <a:buNone/>
            </a:pPr>
            <a:r>
              <a:rPr lang="en-US" sz="950" b="1" spc="160" kern="0" dirty="0">
                <a:solidFill>
                  <a:srgbClr val="66705F"/>
                </a:solidFill>
                <a:latin typeface="IBM Plex Mono" pitchFamily="34" charset="0"/>
                <a:ea typeface="IBM Plex Mono" pitchFamily="34" charset="-122"/>
                <a:cs typeface="IBM Plex Mono" pitchFamily="34" charset="-120"/>
              </a:rPr>
              <a:t>WHY IT IS AVAILABLE</a:t>
            </a:r>
            <a:endParaRPr lang="en-US" sz="950" dirty="0"/>
          </a:p>
        </p:txBody>
      </p:sp>
      <p:sp>
        <p:nvSpPr>
          <p:cNvPr id="10" name="Text 7"/>
          <p:cNvSpPr txBox="1"/>
          <p:nvPr/>
        </p:nvSpPr>
        <p:spPr>
          <a:xfrm>
            <a:off x="4367784" y="5522976"/>
            <a:ext cx="3453384" cy="786384"/>
          </a:xfrm>
          <a:prstGeom prst="rect">
            <a:avLst/>
          </a:prstGeom>
          <a:noFill/>
          <a:ln/>
        </p:spPr>
        <p:txBody>
          <a:bodyPr wrap="square" lIns="0" tIns="0" rIns="0" bIns="0" rtlCol="0" anchor="ctr"/>
          <a:lstStyle/>
          <a:p>
            <a:pPr indent="0" marL="0">
              <a:lnSpc>
                <a:spcPct val="124000"/>
              </a:lnSpc>
              <a:buNone/>
            </a:pPr>
            <a:r>
              <a:rPr lang="en-US" sz="950" dirty="0">
                <a:solidFill>
                  <a:srgbClr val="33332F"/>
                </a:solidFill>
                <a:latin typeface="Helvetica Neue" pitchFamily="34" charset="0"/>
                <a:ea typeface="Helvetica Neue" pitchFamily="34" charset="-122"/>
                <a:cs typeface="Helvetica Neue" pitchFamily="34" charset="-120"/>
              </a:rPr>
              <a:t>No analyst covers this market. There is no index, no comparable set, no incumbent platform to be re-rated against. That is precisely why it is still purchasable at founder-scale multiples.¹⁷</a:t>
            </a:r>
            <a:endParaRPr lang="en-US" sz="950" dirty="0"/>
          </a:p>
        </p:txBody>
      </p:sp>
      <p:sp>
        <p:nvSpPr>
          <p:cNvPr id="11" name="Text 8"/>
          <p:cNvSpPr txBox="1"/>
          <p:nvPr/>
        </p:nvSpPr>
        <p:spPr>
          <a:xfrm>
            <a:off x="8095488" y="5248656"/>
            <a:ext cx="3453384" cy="237744"/>
          </a:xfrm>
          <a:prstGeom prst="rect">
            <a:avLst/>
          </a:prstGeom>
          <a:noFill/>
          <a:ln/>
        </p:spPr>
        <p:txBody>
          <a:bodyPr wrap="square" lIns="0" tIns="0" rIns="0" bIns="0" rtlCol="0" anchor="ctr"/>
          <a:lstStyle/>
          <a:p>
            <a:pPr indent="0" marL="0">
              <a:buNone/>
            </a:pPr>
            <a:r>
              <a:rPr lang="en-US" sz="950" b="1" spc="160" kern="0" dirty="0">
                <a:solidFill>
                  <a:srgbClr val="66705F"/>
                </a:solidFill>
                <a:latin typeface="IBM Plex Mono" pitchFamily="34" charset="0"/>
                <a:ea typeface="IBM Plex Mono" pitchFamily="34" charset="-122"/>
                <a:cs typeface="IBM Plex Mono" pitchFamily="34" charset="-120"/>
              </a:rPr>
              <a:t>THE EPISODIC LAYER</a:t>
            </a:r>
            <a:endParaRPr lang="en-US" sz="950" dirty="0"/>
          </a:p>
        </p:txBody>
      </p:sp>
      <p:sp>
        <p:nvSpPr>
          <p:cNvPr id="12" name="Text 9"/>
          <p:cNvSpPr txBox="1"/>
          <p:nvPr/>
        </p:nvSpPr>
        <p:spPr>
          <a:xfrm>
            <a:off x="8095488" y="5522976"/>
            <a:ext cx="3453384" cy="786384"/>
          </a:xfrm>
          <a:prstGeom prst="rect">
            <a:avLst/>
          </a:prstGeom>
          <a:noFill/>
          <a:ln/>
        </p:spPr>
        <p:txBody>
          <a:bodyPr wrap="square" lIns="0" tIns="0" rIns="0" bIns="0" rtlCol="0" anchor="ctr"/>
          <a:lstStyle/>
          <a:p>
            <a:pPr indent="0" marL="0">
              <a:lnSpc>
                <a:spcPct val="124000"/>
              </a:lnSpc>
              <a:buNone/>
            </a:pPr>
            <a:r>
              <a:rPr lang="en-US" sz="950" dirty="0">
                <a:solidFill>
                  <a:srgbClr val="33332F"/>
                </a:solidFill>
                <a:latin typeface="Helvetica Neue" pitchFamily="34" charset="0"/>
                <a:ea typeface="Helvetica Neue" pitchFamily="34" charset="-122"/>
                <a:cs typeface="Helvetica Neue" pitchFamily="34" charset="-120"/>
              </a:rPr>
              <a:t>Post-conflict recovery sits on top and is already priced: Ukraine's demining and explosive-ordnance requirement alone exceeds $30B.¹²</a:t>
            </a:r>
            <a:endParaRPr lang="en-US" sz="950" dirty="0"/>
          </a:p>
        </p:txBody>
      </p:sp>
      <p:sp>
        <p:nvSpPr>
          <p:cNvPr id="13" name="Text 10"/>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07  ·  TWB DESIGNS — CONFIDENTIAL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788274"/>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E9EDE7"/>
                </a:solidFill>
                <a:latin typeface="IBM Plex Mono" pitchFamily="34" charset="0"/>
                <a:ea typeface="IBM Plex Mono" pitchFamily="34" charset="-122"/>
                <a:cs typeface="IBM Plex Mono" pitchFamily="34" charset="-120"/>
              </a:rPr>
              <a:t>ACT V — THE PLAN IS THE COMPANY</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FFFFFF"/>
                </a:solidFill>
                <a:latin typeface="Helvetica Neue" pitchFamily="34" charset="0"/>
                <a:ea typeface="Helvetica Neue" pitchFamily="34" charset="-122"/>
                <a:cs typeface="Helvetica Neue" pitchFamily="34" charset="-120"/>
              </a:rPr>
              <a:t>Assemble the platform: full service, one counterparty.</a:t>
            </a:r>
            <a:endParaRPr lang="en-US" sz="2700" dirty="0"/>
          </a:p>
        </p:txBody>
      </p:sp>
      <p:sp>
        <p:nvSpPr>
          <p:cNvPr id="4" name="Text 2"/>
          <p:cNvSpPr txBox="1"/>
          <p:nvPr/>
        </p:nvSpPr>
        <p:spPr>
          <a:xfrm>
            <a:off x="640080" y="1600200"/>
            <a:ext cx="10607040" cy="594360"/>
          </a:xfrm>
          <a:prstGeom prst="rect">
            <a:avLst/>
          </a:prstGeom>
          <a:noFill/>
          <a:ln/>
        </p:spPr>
        <p:txBody>
          <a:bodyPr wrap="square" lIns="0" tIns="0" rIns="0" bIns="0" rtlCol="0" anchor="ctr"/>
          <a:lstStyle/>
          <a:p>
            <a:pPr indent="0" marL="0">
              <a:lnSpc>
                <a:spcPct val="125000"/>
              </a:lnSpc>
              <a:buNone/>
            </a:pPr>
            <a:r>
              <a:rPr lang="en-US" sz="1300" dirty="0">
                <a:solidFill>
                  <a:srgbClr val="EDF0EB"/>
                </a:solidFill>
                <a:latin typeface="Helvetica Neue" pitchFamily="34" charset="0"/>
                <a:ea typeface="Helvetica Neue" pitchFamily="34" charset="-122"/>
                <a:cs typeface="Helvetica Neue" pitchFamily="34" charset="-120"/>
              </a:rPr>
              <a:t>Not a machine business scaling a machine — a platform being assembled: the single counterparty an allied government calls for everything between “this must cease to exist” and “this is now material.” Three engines, run in parallel:</a:t>
            </a:r>
            <a:endParaRPr lang="en-US" sz="1300" dirty="0"/>
          </a:p>
        </p:txBody>
      </p:sp>
      <p:sp>
        <p:nvSpPr>
          <p:cNvPr id="5" name="Shape 3"/>
          <p:cNvSpPr/>
          <p:nvPr/>
        </p:nvSpPr>
        <p:spPr>
          <a:xfrm>
            <a:off x="640080" y="2423160"/>
            <a:ext cx="3453384" cy="3429000"/>
          </a:xfrm>
          <a:prstGeom prst="rect">
            <a:avLst/>
          </a:prstGeom>
          <a:solidFill>
            <a:srgbClr val="6B7568"/>
          </a:solidFill>
          <a:ln w="9525">
            <a:solidFill>
              <a:srgbClr val="96A093"/>
            </a:solidFill>
            <a:prstDash val="solid"/>
          </a:ln>
        </p:spPr>
      </p:sp>
      <p:sp>
        <p:nvSpPr>
          <p:cNvPr id="6" name="Text 4"/>
          <p:cNvSpPr txBox="1"/>
          <p:nvPr/>
        </p:nvSpPr>
        <p:spPr>
          <a:xfrm>
            <a:off x="877824"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ACQUIRE</a:t>
            </a:r>
            <a:endParaRPr lang="en-US" sz="1100" dirty="0"/>
          </a:p>
        </p:txBody>
      </p:sp>
      <p:sp>
        <p:nvSpPr>
          <p:cNvPr id="7" name="Text 5"/>
          <p:cNvSpPr txBox="1"/>
          <p:nvPr/>
        </p:nvSpPr>
        <p:spPr>
          <a:xfrm>
            <a:off x="859536"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4–7×</a:t>
            </a:r>
            <a:endParaRPr lang="en-US" sz="4800" dirty="0"/>
          </a:p>
        </p:txBody>
      </p:sp>
      <p:sp>
        <p:nvSpPr>
          <p:cNvPr id="8" name="Text 6"/>
          <p:cNvSpPr txBox="1"/>
          <p:nvPr/>
        </p:nvSpPr>
        <p:spPr>
          <a:xfrm>
            <a:off x="877824"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EBITDA¹⁷</a:t>
            </a:r>
            <a:endParaRPr lang="en-US" sz="850" dirty="0"/>
          </a:p>
        </p:txBody>
      </p:sp>
      <p:sp>
        <p:nvSpPr>
          <p:cNvPr id="9" name="Text 7"/>
          <p:cNvSpPr txBox="1"/>
          <p:nvPr/>
        </p:nvSpPr>
        <p:spPr>
          <a:xfrm>
            <a:off x="877824"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Buy the back of the lifecycle while it is cheap. Large-calibre &amp; artillery demil · metals recovery · plant &amp; equipment engineering · secure destruction for military and conflict customers.</a:t>
            </a:r>
            <a:endParaRPr lang="en-US" sz="1050" dirty="0"/>
          </a:p>
        </p:txBody>
      </p:sp>
      <p:sp>
        <p:nvSpPr>
          <p:cNvPr id="10" name="Shape 8"/>
          <p:cNvSpPr/>
          <p:nvPr/>
        </p:nvSpPr>
        <p:spPr>
          <a:xfrm>
            <a:off x="4367784" y="2423160"/>
            <a:ext cx="3453384" cy="3429000"/>
          </a:xfrm>
          <a:prstGeom prst="rect">
            <a:avLst/>
          </a:prstGeom>
          <a:solidFill>
            <a:srgbClr val="6B7568"/>
          </a:solidFill>
          <a:ln w="9525">
            <a:solidFill>
              <a:srgbClr val="96A093"/>
            </a:solidFill>
            <a:prstDash val="solid"/>
          </a:ln>
        </p:spPr>
      </p:sp>
      <p:sp>
        <p:nvSpPr>
          <p:cNvPr id="11" name="Text 9"/>
          <p:cNvSpPr txBox="1"/>
          <p:nvPr/>
        </p:nvSpPr>
        <p:spPr>
          <a:xfrm>
            <a:off x="4605528"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PARTNER</a:t>
            </a:r>
            <a:endParaRPr lang="en-US" sz="1100" dirty="0"/>
          </a:p>
        </p:txBody>
      </p:sp>
      <p:sp>
        <p:nvSpPr>
          <p:cNvPr id="12" name="Text 10"/>
          <p:cNvSpPr txBox="1"/>
          <p:nvPr/>
        </p:nvSpPr>
        <p:spPr>
          <a:xfrm>
            <a:off x="4587240"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0</a:t>
            </a:r>
            <a:endParaRPr lang="en-US" sz="4800" dirty="0"/>
          </a:p>
        </p:txBody>
      </p:sp>
      <p:sp>
        <p:nvSpPr>
          <p:cNvPr id="13" name="Text 11"/>
          <p:cNvSpPr txBox="1"/>
          <p:nvPr/>
        </p:nvSpPr>
        <p:spPr>
          <a:xfrm>
            <a:off x="4605528"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imported today</a:t>
            </a:r>
            <a:endParaRPr lang="en-US" sz="850" dirty="0"/>
          </a:p>
        </p:txBody>
      </p:sp>
      <p:sp>
        <p:nvSpPr>
          <p:cNvPr id="14" name="Text 12"/>
          <p:cNvSpPr txBox="1"/>
          <p:nvPr/>
        </p:nvSpPr>
        <p:spPr>
          <a:xfrm>
            <a:off x="4605528"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Import what the industry never had. Robotics off the most dangerous work. Universities for sensing and materials science. Technologies from outside demilitarisation entirely.</a:t>
            </a:r>
            <a:endParaRPr lang="en-US" sz="1050" dirty="0"/>
          </a:p>
        </p:txBody>
      </p:sp>
      <p:sp>
        <p:nvSpPr>
          <p:cNvPr id="15" name="Shape 13"/>
          <p:cNvSpPr/>
          <p:nvPr/>
        </p:nvSpPr>
        <p:spPr>
          <a:xfrm>
            <a:off x="8095488" y="2423160"/>
            <a:ext cx="3453384" cy="3429000"/>
          </a:xfrm>
          <a:prstGeom prst="rect">
            <a:avLst/>
          </a:prstGeom>
          <a:solidFill>
            <a:srgbClr val="6B7568"/>
          </a:solidFill>
          <a:ln w="9525">
            <a:solidFill>
              <a:srgbClr val="96A093"/>
            </a:solidFill>
            <a:prstDash val="solid"/>
          </a:ln>
        </p:spPr>
      </p:sp>
      <p:sp>
        <p:nvSpPr>
          <p:cNvPr id="16" name="Text 14"/>
          <p:cNvSpPr txBox="1"/>
          <p:nvPr/>
        </p:nvSpPr>
        <p:spPr>
          <a:xfrm>
            <a:off x="8333232" y="2660904"/>
            <a:ext cx="2977896" cy="274320"/>
          </a:xfrm>
          <a:prstGeom prst="rect">
            <a:avLst/>
          </a:prstGeom>
          <a:noFill/>
          <a:ln/>
        </p:spPr>
        <p:txBody>
          <a:bodyPr wrap="square" lIns="0" tIns="0" rIns="0" bIns="0" rtlCol="0" anchor="ctr"/>
          <a:lstStyle/>
          <a:p>
            <a:pPr indent="0" marL="0">
              <a:buNone/>
            </a:pPr>
            <a:r>
              <a:rPr lang="en-US" sz="1100" b="1" spc="250" kern="0" dirty="0">
                <a:solidFill>
                  <a:srgbClr val="FFFFFF"/>
                </a:solidFill>
                <a:latin typeface="IBM Plex Mono" pitchFamily="34" charset="0"/>
                <a:ea typeface="IBM Plex Mono" pitchFamily="34" charset="-122"/>
                <a:cs typeface="IBM Plex Mono" pitchFamily="34" charset="-120"/>
              </a:rPr>
              <a:t>DEVELOP</a:t>
            </a:r>
            <a:endParaRPr lang="en-US" sz="1100" dirty="0"/>
          </a:p>
        </p:txBody>
      </p:sp>
      <p:sp>
        <p:nvSpPr>
          <p:cNvPr id="17" name="Text 15"/>
          <p:cNvSpPr txBox="1"/>
          <p:nvPr/>
        </p:nvSpPr>
        <p:spPr>
          <a:xfrm>
            <a:off x="8314944" y="2990088"/>
            <a:ext cx="2996184" cy="777240"/>
          </a:xfrm>
          <a:prstGeom prst="rect">
            <a:avLst/>
          </a:prstGeom>
          <a:noFill/>
          <a:ln/>
        </p:spPr>
        <p:txBody>
          <a:bodyPr wrap="square" lIns="0" tIns="0" rIns="0" bIns="0" rtlCol="0" anchor="t"/>
          <a:lstStyle/>
          <a:p>
            <a:pPr algn="l" indent="0" marL="0">
              <a:buNone/>
            </a:pPr>
            <a:r>
              <a:rPr lang="en-US" sz="4800" spc="-100" kern="0" dirty="0">
                <a:solidFill>
                  <a:srgbClr val="FFFFFF"/>
                </a:solidFill>
                <a:latin typeface="Helvetica Neue" pitchFamily="34" charset="0"/>
                <a:ea typeface="Helvetica Neue" pitchFamily="34" charset="-122"/>
                <a:cs typeface="Helvetica Neue" pitchFamily="34" charset="-120"/>
              </a:rPr>
              <a:t>1</a:t>
            </a:r>
            <a:endParaRPr lang="en-US" sz="4800" dirty="0"/>
          </a:p>
        </p:txBody>
      </p:sp>
      <p:sp>
        <p:nvSpPr>
          <p:cNvPr id="18" name="Text 16"/>
          <p:cNvSpPr txBox="1"/>
          <p:nvPr/>
        </p:nvSpPr>
        <p:spPr>
          <a:xfrm>
            <a:off x="8333232" y="3721608"/>
            <a:ext cx="2977896" cy="274320"/>
          </a:xfrm>
          <a:prstGeom prst="rect">
            <a:avLst/>
          </a:prstGeom>
          <a:noFill/>
          <a:ln/>
        </p:spPr>
        <p:txBody>
          <a:bodyPr wrap="square" lIns="0" tIns="0" rIns="0" bIns="0" rtlCol="0" anchor="ctr"/>
          <a:lstStyle/>
          <a:p>
            <a:pPr indent="0" marL="0">
              <a:buNone/>
            </a:pPr>
            <a:r>
              <a:rPr lang="en-US" sz="850" spc="120" kern="0" dirty="0">
                <a:solidFill>
                  <a:srgbClr val="D8DED2"/>
                </a:solidFill>
                <a:latin typeface="IBM Plex Mono" pitchFamily="34" charset="0"/>
                <a:ea typeface="IBM Plex Mono" pitchFamily="34" charset="-122"/>
                <a:cs typeface="IBM Plex Mono" pitchFamily="34" charset="-120"/>
              </a:rPr>
              <a:t>standard to own</a:t>
            </a:r>
            <a:endParaRPr lang="en-US" sz="850" dirty="0"/>
          </a:p>
        </p:txBody>
      </p:sp>
      <p:sp>
        <p:nvSpPr>
          <p:cNvPr id="19" name="Text 17"/>
          <p:cNvSpPr txBox="1"/>
          <p:nvPr/>
        </p:nvSpPr>
        <p:spPr>
          <a:xfrm>
            <a:off x="8333232" y="4114800"/>
            <a:ext cx="2977896" cy="1554480"/>
          </a:xfrm>
          <a:prstGeom prst="rect">
            <a:avLst/>
          </a:prstGeom>
          <a:noFill/>
          <a:ln/>
        </p:spPr>
        <p:txBody>
          <a:bodyPr wrap="square" lIns="0" tIns="0" rIns="0" bIns="0" rtlCol="0" anchor="ctr"/>
          <a:lstStyle/>
          <a:p>
            <a:pPr indent="0" marL="0">
              <a:lnSpc>
                <a:spcPct val="128000"/>
              </a:lnSpc>
              <a:buNone/>
            </a:pPr>
            <a:r>
              <a:rPr lang="en-US" sz="1050" dirty="0">
                <a:solidFill>
                  <a:srgbClr val="E9EDE7"/>
                </a:solidFill>
                <a:latin typeface="Helvetica Neue" pitchFamily="34" charset="0"/>
                <a:ea typeface="Helvetica Neue" pitchFamily="34" charset="-122"/>
                <a:cs typeface="Helvetica Neue" pitchFamily="34" charset="-120"/>
              </a:rPr>
              <a:t>Build what no one sells. Extend our destruction technology up the calibre ladder — plus the certification layer: auditable chain-of-custody records. Whoever owns the certificate owns the standard.</a:t>
            </a:r>
            <a:endParaRPr lang="en-US" sz="1050" dirty="0"/>
          </a:p>
        </p:txBody>
      </p:sp>
      <p:sp>
        <p:nvSpPr>
          <p:cNvPr id="20" name="Text 18"/>
          <p:cNvSpPr txBox="1"/>
          <p:nvPr/>
        </p:nvSpPr>
        <p:spPr>
          <a:xfrm>
            <a:off x="640080" y="6144768"/>
            <a:ext cx="10881360" cy="320040"/>
          </a:xfrm>
          <a:prstGeom prst="rect">
            <a:avLst/>
          </a:prstGeom>
          <a:noFill/>
          <a:ln/>
        </p:spPr>
        <p:txBody>
          <a:bodyPr wrap="square" lIns="0" tIns="0" rIns="0" bIns="0" rtlCol="0" anchor="ctr"/>
          <a:lstStyle/>
          <a:p>
            <a:pPr indent="0" marL="0">
              <a:buNone/>
            </a:pPr>
            <a:r>
              <a:rPr lang="en-US" sz="1050" i="1" dirty="0">
                <a:solidFill>
                  <a:srgbClr val="DDE2DA"/>
                </a:solidFill>
                <a:latin typeface="Helvetica Neue" pitchFamily="34" charset="0"/>
                <a:ea typeface="Helvetica Neue" pitchFamily="34" charset="-122"/>
                <a:cs typeface="Helvetica Neue" pitchFamily="34" charset="-120"/>
              </a:rPr>
              <a:t>Capability categories only at this stage — the target work is done, named, and held for diligence.</a:t>
            </a:r>
            <a:endParaRPr lang="en-US" sz="1050" dirty="0"/>
          </a:p>
        </p:txBody>
      </p:sp>
      <p:sp>
        <p:nvSpPr>
          <p:cNvPr id="21" name="Text 19"/>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08  ·  TWB DESIGNS — CONFIDENTIAL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THE PHASE LADDER</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Foothold to full service in three phases.</a:t>
            </a:r>
            <a:endParaRPr lang="en-US" sz="2700" dirty="0"/>
          </a:p>
        </p:txBody>
      </p:sp>
      <p:sp>
        <p:nvSpPr>
          <p:cNvPr id="4" name="Shape 2"/>
          <p:cNvSpPr/>
          <p:nvPr/>
        </p:nvSpPr>
        <p:spPr>
          <a:xfrm>
            <a:off x="640080" y="1965960"/>
            <a:ext cx="3453384" cy="3337560"/>
          </a:xfrm>
          <a:prstGeom prst="rect">
            <a:avLst/>
          </a:prstGeom>
          <a:solidFill>
            <a:srgbClr val="F1F3F0"/>
          </a:solidFill>
          <a:ln w="9525">
            <a:solidFill>
              <a:srgbClr val="D3D9D0"/>
            </a:solidFill>
            <a:prstDash val="solid"/>
          </a:ln>
        </p:spPr>
      </p:sp>
      <p:sp>
        <p:nvSpPr>
          <p:cNvPr id="5" name="Shape 3"/>
          <p:cNvSpPr/>
          <p:nvPr/>
        </p:nvSpPr>
        <p:spPr>
          <a:xfrm>
            <a:off x="620878" y="1946758"/>
            <a:ext cx="59436" cy="12802"/>
          </a:xfrm>
          <a:prstGeom prst="rect">
            <a:avLst/>
          </a:prstGeom>
          <a:solidFill>
            <a:srgbClr val="66705F"/>
          </a:solidFill>
          <a:ln/>
        </p:spPr>
      </p:sp>
      <p:sp>
        <p:nvSpPr>
          <p:cNvPr id="6" name="Shape 4"/>
          <p:cNvSpPr/>
          <p:nvPr/>
        </p:nvSpPr>
        <p:spPr>
          <a:xfrm>
            <a:off x="620878" y="1946758"/>
            <a:ext cx="12802" cy="59436"/>
          </a:xfrm>
          <a:prstGeom prst="rect">
            <a:avLst/>
          </a:prstGeom>
          <a:solidFill>
            <a:srgbClr val="66705F"/>
          </a:solidFill>
          <a:ln/>
        </p:spPr>
      </p:sp>
      <p:sp>
        <p:nvSpPr>
          <p:cNvPr id="7" name="Shape 5"/>
          <p:cNvSpPr/>
          <p:nvPr/>
        </p:nvSpPr>
        <p:spPr>
          <a:xfrm>
            <a:off x="4053230" y="1946758"/>
            <a:ext cx="59436" cy="12802"/>
          </a:xfrm>
          <a:prstGeom prst="rect">
            <a:avLst/>
          </a:prstGeom>
          <a:solidFill>
            <a:srgbClr val="66705F"/>
          </a:solidFill>
          <a:ln/>
        </p:spPr>
      </p:sp>
      <p:sp>
        <p:nvSpPr>
          <p:cNvPr id="8" name="Shape 6"/>
          <p:cNvSpPr/>
          <p:nvPr/>
        </p:nvSpPr>
        <p:spPr>
          <a:xfrm>
            <a:off x="4099865" y="1946758"/>
            <a:ext cx="12802" cy="59436"/>
          </a:xfrm>
          <a:prstGeom prst="rect">
            <a:avLst/>
          </a:prstGeom>
          <a:solidFill>
            <a:srgbClr val="66705F"/>
          </a:solidFill>
          <a:ln/>
        </p:spPr>
      </p:sp>
      <p:sp>
        <p:nvSpPr>
          <p:cNvPr id="9" name="Shape 7"/>
          <p:cNvSpPr/>
          <p:nvPr/>
        </p:nvSpPr>
        <p:spPr>
          <a:xfrm>
            <a:off x="620878" y="5309921"/>
            <a:ext cx="59436" cy="12802"/>
          </a:xfrm>
          <a:prstGeom prst="rect">
            <a:avLst/>
          </a:prstGeom>
          <a:solidFill>
            <a:srgbClr val="66705F"/>
          </a:solidFill>
          <a:ln/>
        </p:spPr>
      </p:sp>
      <p:sp>
        <p:nvSpPr>
          <p:cNvPr id="10" name="Shape 8"/>
          <p:cNvSpPr/>
          <p:nvPr/>
        </p:nvSpPr>
        <p:spPr>
          <a:xfrm>
            <a:off x="620878" y="5263286"/>
            <a:ext cx="12802" cy="59436"/>
          </a:xfrm>
          <a:prstGeom prst="rect">
            <a:avLst/>
          </a:prstGeom>
          <a:solidFill>
            <a:srgbClr val="66705F"/>
          </a:solidFill>
          <a:ln/>
        </p:spPr>
      </p:sp>
      <p:sp>
        <p:nvSpPr>
          <p:cNvPr id="11" name="Shape 9"/>
          <p:cNvSpPr/>
          <p:nvPr/>
        </p:nvSpPr>
        <p:spPr>
          <a:xfrm>
            <a:off x="4053230" y="5309921"/>
            <a:ext cx="59436" cy="12802"/>
          </a:xfrm>
          <a:prstGeom prst="rect">
            <a:avLst/>
          </a:prstGeom>
          <a:solidFill>
            <a:srgbClr val="66705F"/>
          </a:solidFill>
          <a:ln/>
        </p:spPr>
      </p:sp>
      <p:sp>
        <p:nvSpPr>
          <p:cNvPr id="12" name="Shape 10"/>
          <p:cNvSpPr/>
          <p:nvPr/>
        </p:nvSpPr>
        <p:spPr>
          <a:xfrm>
            <a:off x="4099865" y="5263286"/>
            <a:ext cx="12802" cy="59436"/>
          </a:xfrm>
          <a:prstGeom prst="rect">
            <a:avLst/>
          </a:prstGeom>
          <a:solidFill>
            <a:srgbClr val="66705F"/>
          </a:solidFill>
          <a:ln/>
        </p:spPr>
      </p:sp>
      <p:sp>
        <p:nvSpPr>
          <p:cNvPr id="13" name="Text 11"/>
          <p:cNvSpPr txBox="1"/>
          <p:nvPr/>
        </p:nvSpPr>
        <p:spPr>
          <a:xfrm>
            <a:off x="859536"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1</a:t>
            </a:r>
            <a:endParaRPr lang="en-US" sz="5600" dirty="0"/>
          </a:p>
        </p:txBody>
      </p:sp>
      <p:sp>
        <p:nvSpPr>
          <p:cNvPr id="14" name="Text 12"/>
          <p:cNvSpPr txBox="1"/>
          <p:nvPr/>
        </p:nvSpPr>
        <p:spPr>
          <a:xfrm>
            <a:off x="877824"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NOW–18 MO</a:t>
            </a:r>
            <a:endParaRPr lang="en-US" sz="950" dirty="0"/>
          </a:p>
        </p:txBody>
      </p:sp>
      <p:sp>
        <p:nvSpPr>
          <p:cNvPr id="15" name="Text 13"/>
          <p:cNvSpPr txBox="1"/>
          <p:nvPr/>
        </p:nvSpPr>
        <p:spPr>
          <a:xfrm>
            <a:off x="877824"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Operate the foothold</a:t>
            </a:r>
            <a:endParaRPr lang="en-US" sz="1600" dirty="0"/>
          </a:p>
        </p:txBody>
      </p:sp>
      <p:sp>
        <p:nvSpPr>
          <p:cNvPr id="16" name="Text 14"/>
          <p:cNvSpPr txBox="1"/>
          <p:nvPr/>
        </p:nvSpPr>
        <p:spPr>
          <a:xfrm>
            <a:off x="877824"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Revenue from what runs today — custody destruction for law enforcement and defence, NA first, first allied programs. Cash, references and destruction data while the first acquisitions are negotiated.</a:t>
            </a:r>
            <a:endParaRPr lang="en-US" sz="1050" dirty="0"/>
          </a:p>
        </p:txBody>
      </p:sp>
      <p:sp>
        <p:nvSpPr>
          <p:cNvPr id="17" name="Shape 15"/>
          <p:cNvSpPr/>
          <p:nvPr/>
        </p:nvSpPr>
        <p:spPr>
          <a:xfrm>
            <a:off x="4367784" y="1965960"/>
            <a:ext cx="3453384" cy="3337560"/>
          </a:xfrm>
          <a:prstGeom prst="rect">
            <a:avLst/>
          </a:prstGeom>
          <a:solidFill>
            <a:srgbClr val="FAFAF8"/>
          </a:solidFill>
          <a:ln w="9525">
            <a:solidFill>
              <a:srgbClr val="E2E1DA"/>
            </a:solidFill>
            <a:prstDash val="solid"/>
          </a:ln>
        </p:spPr>
      </p:sp>
      <p:sp>
        <p:nvSpPr>
          <p:cNvPr id="18" name="Text 16"/>
          <p:cNvSpPr txBox="1"/>
          <p:nvPr/>
        </p:nvSpPr>
        <p:spPr>
          <a:xfrm>
            <a:off x="4587240"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2</a:t>
            </a:r>
            <a:endParaRPr lang="en-US" sz="5600" dirty="0"/>
          </a:p>
        </p:txBody>
      </p:sp>
      <p:sp>
        <p:nvSpPr>
          <p:cNvPr id="19" name="Text 17"/>
          <p:cNvSpPr txBox="1"/>
          <p:nvPr/>
        </p:nvSpPr>
        <p:spPr>
          <a:xfrm>
            <a:off x="4605528"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18 MO–3 YR</a:t>
            </a:r>
            <a:endParaRPr lang="en-US" sz="950" dirty="0"/>
          </a:p>
        </p:txBody>
      </p:sp>
      <p:sp>
        <p:nvSpPr>
          <p:cNvPr id="20" name="Text 18"/>
          <p:cNvSpPr txBox="1"/>
          <p:nvPr/>
        </p:nvSpPr>
        <p:spPr>
          <a:xfrm>
            <a:off x="4605528"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Assemble the core</a:t>
            </a:r>
            <a:endParaRPr lang="en-US" sz="1600" dirty="0"/>
          </a:p>
        </p:txBody>
      </p:sp>
      <p:sp>
        <p:nvSpPr>
          <p:cNvPr id="21" name="Text 19"/>
          <p:cNvSpPr txBox="1"/>
          <p:nvPr/>
        </p:nvSpPr>
        <p:spPr>
          <a:xfrm>
            <a:off x="4605528"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First acquisitions — artillery demil and metals recovery — plus the first robotics and university partnerships. The platform starts selling capabilities no single firm ever could.</a:t>
            </a:r>
            <a:endParaRPr lang="en-US" sz="1050" dirty="0"/>
          </a:p>
        </p:txBody>
      </p:sp>
      <p:sp>
        <p:nvSpPr>
          <p:cNvPr id="22" name="Shape 20"/>
          <p:cNvSpPr/>
          <p:nvPr/>
        </p:nvSpPr>
        <p:spPr>
          <a:xfrm>
            <a:off x="8095488" y="1965960"/>
            <a:ext cx="3453384" cy="3337560"/>
          </a:xfrm>
          <a:prstGeom prst="rect">
            <a:avLst/>
          </a:prstGeom>
          <a:solidFill>
            <a:srgbClr val="FAFAF8"/>
          </a:solidFill>
          <a:ln w="9525">
            <a:solidFill>
              <a:srgbClr val="E2E1DA"/>
            </a:solidFill>
            <a:prstDash val="solid"/>
          </a:ln>
        </p:spPr>
      </p:sp>
      <p:sp>
        <p:nvSpPr>
          <p:cNvPr id="23" name="Text 21"/>
          <p:cNvSpPr txBox="1"/>
          <p:nvPr/>
        </p:nvSpPr>
        <p:spPr>
          <a:xfrm>
            <a:off x="8314944" y="2148840"/>
            <a:ext cx="1463040" cy="914400"/>
          </a:xfrm>
          <a:prstGeom prst="rect">
            <a:avLst/>
          </a:prstGeom>
          <a:noFill/>
          <a:ln/>
        </p:spPr>
        <p:txBody>
          <a:bodyPr wrap="square" lIns="0" tIns="0" rIns="0" bIns="0" rtlCol="0" anchor="t"/>
          <a:lstStyle/>
          <a:p>
            <a:pPr algn="l" indent="0" marL="0">
              <a:buNone/>
            </a:pPr>
            <a:r>
              <a:rPr lang="en-US" sz="5600" spc="-100" kern="0" dirty="0">
                <a:solidFill>
                  <a:srgbClr val="66705F"/>
                </a:solidFill>
                <a:latin typeface="Helvetica Neue" pitchFamily="34" charset="0"/>
                <a:ea typeface="Helvetica Neue" pitchFamily="34" charset="-122"/>
                <a:cs typeface="Helvetica Neue" pitchFamily="34" charset="-120"/>
              </a:rPr>
              <a:t>3</a:t>
            </a:r>
            <a:endParaRPr lang="en-US" sz="5600" dirty="0"/>
          </a:p>
        </p:txBody>
      </p:sp>
      <p:sp>
        <p:nvSpPr>
          <p:cNvPr id="24" name="Text 22"/>
          <p:cNvSpPr txBox="1"/>
          <p:nvPr/>
        </p:nvSpPr>
        <p:spPr>
          <a:xfrm>
            <a:off x="8333232" y="2953512"/>
            <a:ext cx="2977896" cy="256032"/>
          </a:xfrm>
          <a:prstGeom prst="rect">
            <a:avLst/>
          </a:prstGeom>
          <a:noFill/>
          <a:ln/>
        </p:spPr>
        <p:txBody>
          <a:bodyPr wrap="square" lIns="0" tIns="0" rIns="0" bIns="0" rtlCol="0" anchor="ctr"/>
          <a:lstStyle/>
          <a:p>
            <a:pPr indent="0" marL="0">
              <a:buNone/>
            </a:pPr>
            <a:r>
              <a:rPr lang="en-US" sz="950" b="1" spc="180" kern="0" dirty="0">
                <a:solidFill>
                  <a:srgbClr val="6E6C66"/>
                </a:solidFill>
                <a:latin typeface="IBM Plex Mono" pitchFamily="34" charset="0"/>
                <a:ea typeface="IBM Plex Mono" pitchFamily="34" charset="-122"/>
                <a:cs typeface="IBM Plex Mono" pitchFamily="34" charset="-120"/>
              </a:rPr>
              <a:t>3–5 YR</a:t>
            </a:r>
            <a:endParaRPr lang="en-US" sz="950" dirty="0"/>
          </a:p>
        </p:txBody>
      </p:sp>
      <p:sp>
        <p:nvSpPr>
          <p:cNvPr id="25" name="Text 23"/>
          <p:cNvSpPr txBox="1"/>
          <p:nvPr/>
        </p:nvSpPr>
        <p:spPr>
          <a:xfrm>
            <a:off x="8333232" y="3246120"/>
            <a:ext cx="2977896" cy="685800"/>
          </a:xfrm>
          <a:prstGeom prst="rect">
            <a:avLst/>
          </a:prstGeom>
          <a:noFill/>
          <a:ln/>
        </p:spPr>
        <p:txBody>
          <a:bodyPr wrap="square" lIns="0" tIns="0" rIns="0" bIns="0" rtlCol="0" anchor="ctr"/>
          <a:lstStyle/>
          <a:p>
            <a:pPr indent="0" marL="0">
              <a:lnSpc>
                <a:spcPct val="110000"/>
              </a:lnSpc>
              <a:buNone/>
            </a:pPr>
            <a:r>
              <a:rPr lang="en-US" sz="1600" b="1" spc="-20" kern="0" dirty="0">
                <a:solidFill>
                  <a:srgbClr val="000000"/>
                </a:solidFill>
                <a:latin typeface="Helvetica Neue" pitchFamily="34" charset="0"/>
                <a:ea typeface="Helvetica Neue" pitchFamily="34" charset="-122"/>
                <a:cs typeface="Helvetica Neue" pitchFamily="34" charset="-120"/>
              </a:rPr>
              <a:t>The sovereign full-service offer</a:t>
            </a:r>
            <a:endParaRPr lang="en-US" sz="1600" dirty="0"/>
          </a:p>
        </p:txBody>
      </p:sp>
      <p:sp>
        <p:nvSpPr>
          <p:cNvPr id="26" name="Text 24"/>
          <p:cNvSpPr txBox="1"/>
          <p:nvPr/>
        </p:nvSpPr>
        <p:spPr>
          <a:xfrm>
            <a:off x="8333232" y="3977640"/>
            <a:ext cx="2977896" cy="1234440"/>
          </a:xfrm>
          <a:prstGeom prst="rect">
            <a:avLst/>
          </a:prstGeom>
          <a:noFill/>
          <a:ln/>
        </p:spPr>
        <p:txBody>
          <a:bodyPr wrap="square" lIns="0" tIns="0" rIns="0" bIns="0" rtlCol="0" anchor="ctr"/>
          <a:lstStyle/>
          <a:p>
            <a:pPr indent="0" marL="0">
              <a:lnSpc>
                <a:spcPct val="128000"/>
              </a:lnSpc>
              <a:buNone/>
            </a:pPr>
            <a:r>
              <a:rPr lang="en-US" sz="1050" dirty="0">
                <a:solidFill>
                  <a:srgbClr val="33332F"/>
                </a:solidFill>
                <a:latin typeface="Helvetica Neue" pitchFamily="34" charset="0"/>
                <a:ea typeface="Helvetica Neue" pitchFamily="34" charset="-122"/>
                <a:cs typeface="Helvetica Neue" pitchFamily="34" charset="-120"/>
              </a:rPr>
              <a:t>Design, build, operate and certify national munitions end-of-life capability inside allied borders — machines, plants, recovery, certification, post-conflict programs. One counterparty.</a:t>
            </a:r>
            <a:endParaRPr lang="en-US" sz="1050" dirty="0"/>
          </a:p>
        </p:txBody>
      </p:sp>
      <p:sp>
        <p:nvSpPr>
          <p:cNvPr id="27" name="Shape 25"/>
          <p:cNvSpPr/>
          <p:nvPr/>
        </p:nvSpPr>
        <p:spPr>
          <a:xfrm>
            <a:off x="640080" y="5486400"/>
            <a:ext cx="10908792" cy="777240"/>
          </a:xfrm>
          <a:prstGeom prst="rect">
            <a:avLst/>
          </a:prstGeom>
          <a:solidFill>
            <a:srgbClr val="F1F3F0"/>
          </a:solidFill>
          <a:ln w="9525">
            <a:solidFill>
              <a:srgbClr val="D3D9D0"/>
            </a:solidFill>
            <a:prstDash val="solid"/>
          </a:ln>
        </p:spPr>
      </p:sp>
      <p:sp>
        <p:nvSpPr>
          <p:cNvPr id="28" name="Shape 26"/>
          <p:cNvSpPr/>
          <p:nvPr/>
        </p:nvSpPr>
        <p:spPr>
          <a:xfrm>
            <a:off x="620878" y="5467198"/>
            <a:ext cx="59436" cy="12802"/>
          </a:xfrm>
          <a:prstGeom prst="rect">
            <a:avLst/>
          </a:prstGeom>
          <a:solidFill>
            <a:srgbClr val="66705F"/>
          </a:solidFill>
          <a:ln/>
        </p:spPr>
      </p:sp>
      <p:sp>
        <p:nvSpPr>
          <p:cNvPr id="29" name="Shape 27"/>
          <p:cNvSpPr/>
          <p:nvPr/>
        </p:nvSpPr>
        <p:spPr>
          <a:xfrm>
            <a:off x="620878" y="5467198"/>
            <a:ext cx="12802" cy="59436"/>
          </a:xfrm>
          <a:prstGeom prst="rect">
            <a:avLst/>
          </a:prstGeom>
          <a:solidFill>
            <a:srgbClr val="66705F"/>
          </a:solidFill>
          <a:ln/>
        </p:spPr>
      </p:sp>
      <p:sp>
        <p:nvSpPr>
          <p:cNvPr id="30" name="Shape 28"/>
          <p:cNvSpPr/>
          <p:nvPr/>
        </p:nvSpPr>
        <p:spPr>
          <a:xfrm>
            <a:off x="11508638" y="5467198"/>
            <a:ext cx="59436" cy="12802"/>
          </a:xfrm>
          <a:prstGeom prst="rect">
            <a:avLst/>
          </a:prstGeom>
          <a:solidFill>
            <a:srgbClr val="66705F"/>
          </a:solidFill>
          <a:ln/>
        </p:spPr>
      </p:sp>
      <p:sp>
        <p:nvSpPr>
          <p:cNvPr id="31" name="Shape 29"/>
          <p:cNvSpPr/>
          <p:nvPr/>
        </p:nvSpPr>
        <p:spPr>
          <a:xfrm>
            <a:off x="11555273" y="5467198"/>
            <a:ext cx="12802" cy="59436"/>
          </a:xfrm>
          <a:prstGeom prst="rect">
            <a:avLst/>
          </a:prstGeom>
          <a:solidFill>
            <a:srgbClr val="66705F"/>
          </a:solidFill>
          <a:ln/>
        </p:spPr>
      </p:sp>
      <p:sp>
        <p:nvSpPr>
          <p:cNvPr id="32" name="Shape 30"/>
          <p:cNvSpPr/>
          <p:nvPr/>
        </p:nvSpPr>
        <p:spPr>
          <a:xfrm>
            <a:off x="620878" y="6270041"/>
            <a:ext cx="59436" cy="12802"/>
          </a:xfrm>
          <a:prstGeom prst="rect">
            <a:avLst/>
          </a:prstGeom>
          <a:solidFill>
            <a:srgbClr val="66705F"/>
          </a:solidFill>
          <a:ln/>
        </p:spPr>
      </p:sp>
      <p:sp>
        <p:nvSpPr>
          <p:cNvPr id="33" name="Shape 31"/>
          <p:cNvSpPr/>
          <p:nvPr/>
        </p:nvSpPr>
        <p:spPr>
          <a:xfrm>
            <a:off x="620878" y="6223406"/>
            <a:ext cx="12802" cy="59436"/>
          </a:xfrm>
          <a:prstGeom prst="rect">
            <a:avLst/>
          </a:prstGeom>
          <a:solidFill>
            <a:srgbClr val="66705F"/>
          </a:solidFill>
          <a:ln/>
        </p:spPr>
      </p:sp>
      <p:sp>
        <p:nvSpPr>
          <p:cNvPr id="34" name="Shape 32"/>
          <p:cNvSpPr/>
          <p:nvPr/>
        </p:nvSpPr>
        <p:spPr>
          <a:xfrm>
            <a:off x="11508638" y="6270041"/>
            <a:ext cx="59436" cy="12802"/>
          </a:xfrm>
          <a:prstGeom prst="rect">
            <a:avLst/>
          </a:prstGeom>
          <a:solidFill>
            <a:srgbClr val="66705F"/>
          </a:solidFill>
          <a:ln/>
        </p:spPr>
      </p:sp>
      <p:sp>
        <p:nvSpPr>
          <p:cNvPr id="35" name="Shape 33"/>
          <p:cNvSpPr/>
          <p:nvPr/>
        </p:nvSpPr>
        <p:spPr>
          <a:xfrm>
            <a:off x="11555273" y="6223406"/>
            <a:ext cx="12802" cy="59436"/>
          </a:xfrm>
          <a:prstGeom prst="rect">
            <a:avLst/>
          </a:prstGeom>
          <a:solidFill>
            <a:srgbClr val="66705F"/>
          </a:solidFill>
          <a:ln/>
        </p:spPr>
      </p:sp>
      <p:sp>
        <p:nvSpPr>
          <p:cNvPr id="36" name="Text 34"/>
          <p:cNvSpPr txBox="1"/>
          <p:nvPr/>
        </p:nvSpPr>
        <p:spPr>
          <a:xfrm>
            <a:off x="932688" y="5605272"/>
            <a:ext cx="10323576" cy="548640"/>
          </a:xfrm>
          <a:prstGeom prst="rect">
            <a:avLst/>
          </a:prstGeom>
          <a:noFill/>
          <a:ln/>
        </p:spPr>
        <p:txBody>
          <a:bodyPr wrap="square" lIns="0" tIns="0" rIns="0" bIns="0" rtlCol="0" anchor="ctr"/>
          <a:lstStyle/>
          <a:p>
            <a:pPr indent="0" marL="0">
              <a:lnSpc>
                <a:spcPct val="120000"/>
              </a:lnSpc>
              <a:buNone/>
            </a:pPr>
            <a:r>
              <a:rPr lang="en-US" sz="1250" b="1" dirty="0">
                <a:solidFill>
                  <a:srgbClr val="000000"/>
                </a:solidFill>
                <a:latin typeface="Helvetica Neue" pitchFamily="34" charset="0"/>
                <a:ea typeface="Helvetica Neue" pitchFamily="34" charset="-122"/>
                <a:cs typeface="Helvetica Neue" pitchFamily="34" charset="-120"/>
              </a:rPr>
              <a:t>End state: when an allied nation decides ammunition must cease to exist, the call comes to us — and the property never leaves their custody on the way.</a:t>
            </a:r>
            <a:endParaRPr lang="en-US" sz="1250" dirty="0"/>
          </a:p>
        </p:txBody>
      </p:sp>
      <p:sp>
        <p:nvSpPr>
          <p:cNvPr id="37" name="Text 3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09  ·  TWB DESIGNS — CONFIDENTIAL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THE FOOTHOLD</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We are not assembling from a whiteboard.</a:t>
            </a:r>
            <a:endParaRPr lang="en-US" sz="2700" dirty="0"/>
          </a:p>
        </p:txBody>
      </p:sp>
      <p:sp>
        <p:nvSpPr>
          <p:cNvPr id="4" name="Text 2"/>
          <p:cNvSpPr txBox="1"/>
          <p:nvPr/>
        </p:nvSpPr>
        <p:spPr>
          <a:xfrm>
            <a:off x="640080" y="1874520"/>
            <a:ext cx="3108960" cy="1554480"/>
          </a:xfrm>
          <a:prstGeom prst="rect">
            <a:avLst/>
          </a:prstGeom>
          <a:noFill/>
          <a:ln/>
        </p:spPr>
        <p:txBody>
          <a:bodyPr wrap="square" lIns="0" tIns="0" rIns="0" bIns="0" rtlCol="0" anchor="t"/>
          <a:lstStyle/>
          <a:p>
            <a:pPr algn="l" indent="0" marL="0">
              <a:buNone/>
            </a:pPr>
            <a:r>
              <a:rPr lang="en-US" sz="9000" spc="-300" kern="0" dirty="0">
                <a:solidFill>
                  <a:srgbClr val="000000"/>
                </a:solidFill>
                <a:latin typeface="Helvetica Neue" pitchFamily="34" charset="0"/>
                <a:ea typeface="Helvetica Neue" pitchFamily="34" charset="-122"/>
                <a:cs typeface="Helvetica Neue" pitchFamily="34" charset="-120"/>
              </a:rPr>
              <a:t>25</a:t>
            </a:r>
            <a:endParaRPr lang="en-US" sz="9000" dirty="0"/>
          </a:p>
        </p:txBody>
      </p:sp>
      <p:sp>
        <p:nvSpPr>
          <p:cNvPr id="5" name="Text 3"/>
          <p:cNvSpPr txBox="1"/>
          <p:nvPr/>
        </p:nvSpPr>
        <p:spPr>
          <a:xfrm>
            <a:off x="640080" y="3410712"/>
            <a:ext cx="32004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YEARS OPERATING — EMACS, IN SERVICE SINCE 2001, CO-DEVELOPED WITH THE RCMP¹⁶</a:t>
            </a:r>
            <a:endParaRPr lang="en-US" sz="1050" dirty="0"/>
          </a:p>
        </p:txBody>
      </p:sp>
      <p:sp>
        <p:nvSpPr>
          <p:cNvPr id="6" name="Shape 4"/>
          <p:cNvSpPr/>
          <p:nvPr/>
        </p:nvSpPr>
        <p:spPr>
          <a:xfrm>
            <a:off x="640080" y="4160520"/>
            <a:ext cx="3200400" cy="0"/>
          </a:xfrm>
          <a:prstGeom prst="line">
            <a:avLst/>
          </a:prstGeom>
          <a:noFill/>
          <a:ln w="9525">
            <a:solidFill>
              <a:srgbClr val="E2E1DA"/>
            </a:solidFill>
            <a:prstDash val="solid"/>
          </a:ln>
        </p:spPr>
      </p:sp>
      <p:sp>
        <p:nvSpPr>
          <p:cNvPr id="7" name="Text 5"/>
          <p:cNvSpPr txBox="1"/>
          <p:nvPr/>
        </p:nvSpPr>
        <p:spPr>
          <a:xfrm>
            <a:off x="640080" y="4251960"/>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SCOPE</a:t>
            </a:r>
            <a:endParaRPr lang="en-US" sz="850" dirty="0"/>
          </a:p>
        </p:txBody>
      </p:sp>
      <p:sp>
        <p:nvSpPr>
          <p:cNvPr id="8" name="Text 6"/>
          <p:cNvSpPr txBox="1"/>
          <p:nvPr/>
        </p:nvSpPr>
        <p:spPr>
          <a:xfrm>
            <a:off x="640080" y="4480560"/>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Small arms ammunition to .50 calibre · seized narcotics &amp; property (LE)</a:t>
            </a:r>
            <a:endParaRPr lang="en-US" sz="950" dirty="0"/>
          </a:p>
        </p:txBody>
      </p:sp>
      <p:sp>
        <p:nvSpPr>
          <p:cNvPr id="9" name="Shape 7"/>
          <p:cNvSpPr/>
          <p:nvPr/>
        </p:nvSpPr>
        <p:spPr>
          <a:xfrm>
            <a:off x="640080" y="4818888"/>
            <a:ext cx="3200400" cy="0"/>
          </a:xfrm>
          <a:prstGeom prst="line">
            <a:avLst/>
          </a:prstGeom>
          <a:noFill/>
          <a:ln w="9525">
            <a:solidFill>
              <a:srgbClr val="E2E1DA"/>
            </a:solidFill>
            <a:prstDash val="solid"/>
          </a:ln>
        </p:spPr>
      </p:sp>
      <p:sp>
        <p:nvSpPr>
          <p:cNvPr id="10" name="Text 8"/>
          <p:cNvSpPr txBox="1"/>
          <p:nvPr/>
        </p:nvSpPr>
        <p:spPr>
          <a:xfrm>
            <a:off x="640080" y="4910328"/>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FOOTPRINT</a:t>
            </a:r>
            <a:endParaRPr lang="en-US" sz="850" dirty="0"/>
          </a:p>
        </p:txBody>
      </p:sp>
      <p:sp>
        <p:nvSpPr>
          <p:cNvPr id="11" name="Text 9"/>
          <p:cNvSpPr txBox="1"/>
          <p:nvPr/>
        </p:nvSpPr>
        <p:spPr>
          <a:xfrm>
            <a:off x="640080" y="5138928"/>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Canadian federal policing · US county LE · European defence disposal · allied militaries under NDA</a:t>
            </a:r>
            <a:endParaRPr lang="en-US" sz="950" dirty="0"/>
          </a:p>
        </p:txBody>
      </p:sp>
      <p:sp>
        <p:nvSpPr>
          <p:cNvPr id="12" name="Shape 10"/>
          <p:cNvSpPr/>
          <p:nvPr/>
        </p:nvSpPr>
        <p:spPr>
          <a:xfrm>
            <a:off x="640080" y="5477256"/>
            <a:ext cx="3200400" cy="0"/>
          </a:xfrm>
          <a:prstGeom prst="line">
            <a:avLst/>
          </a:prstGeom>
          <a:noFill/>
          <a:ln w="9525">
            <a:solidFill>
              <a:srgbClr val="E2E1DA"/>
            </a:solidFill>
            <a:prstDash val="solid"/>
          </a:ln>
        </p:spPr>
      </p:sp>
      <p:sp>
        <p:nvSpPr>
          <p:cNvPr id="13" name="Text 11"/>
          <p:cNvSpPr txBox="1"/>
          <p:nvPr/>
        </p:nvSpPr>
        <p:spPr>
          <a:xfrm>
            <a:off x="640080" y="5568696"/>
            <a:ext cx="3200400" cy="228600"/>
          </a:xfrm>
          <a:prstGeom prst="rect">
            <a:avLst/>
          </a:prstGeom>
          <a:noFill/>
          <a:ln/>
        </p:spPr>
        <p:txBody>
          <a:bodyPr wrap="square" lIns="0" tIns="0" rIns="0" bIns="0" rtlCol="0" anchor="ctr"/>
          <a:lstStyle/>
          <a:p>
            <a:pPr indent="0" marL="0">
              <a:buNone/>
            </a:pPr>
            <a:r>
              <a:rPr lang="en-US" sz="850" b="1" spc="180" kern="0" dirty="0">
                <a:solidFill>
                  <a:srgbClr val="66705F"/>
                </a:solidFill>
                <a:latin typeface="IBM Plex Mono" pitchFamily="34" charset="0"/>
                <a:ea typeface="IBM Plex Mono" pitchFamily="34" charset="-122"/>
                <a:cs typeface="IBM Plex Mono" pitchFamily="34" charset="-120"/>
              </a:rPr>
              <a:t>REGISTER</a:t>
            </a:r>
            <a:endParaRPr lang="en-US" sz="850" dirty="0"/>
          </a:p>
        </p:txBody>
      </p:sp>
      <p:sp>
        <p:nvSpPr>
          <p:cNvPr id="14" name="Text 12"/>
          <p:cNvSpPr txBox="1"/>
          <p:nvPr/>
        </p:nvSpPr>
        <p:spPr>
          <a:xfrm>
            <a:off x="640080" y="5797296"/>
            <a:ext cx="3200400" cy="365760"/>
          </a:xfrm>
          <a:prstGeom prst="rect">
            <a:avLst/>
          </a:prstGeom>
          <a:noFill/>
          <a:ln/>
        </p:spPr>
        <p:txBody>
          <a:bodyPr wrap="square" lIns="0" tIns="0" rIns="0" bIns="0" rtlCol="0" anchor="ctr"/>
          <a:lstStyle/>
          <a:p>
            <a:pPr indent="0" marL="0">
              <a:lnSpc>
                <a:spcPct val="115000"/>
              </a:lnSpc>
              <a:buNone/>
            </a:pPr>
            <a:r>
              <a:rPr lang="en-US" sz="950" dirty="0">
                <a:solidFill>
                  <a:srgbClr val="33332F"/>
                </a:solidFill>
                <a:latin typeface="Helvetica Neue" pitchFamily="34" charset="0"/>
                <a:ea typeface="Helvetica Neue" pitchFamily="34" charset="-122"/>
                <a:cs typeface="Helvetica Neue" pitchFamily="34" charset="-120"/>
              </a:rPr>
              <a:t>Closed chamber — categorically not open burning under 40 CFR 260.10¹⁴</a:t>
            </a:r>
            <a:endParaRPr lang="en-US" sz="950" dirty="0"/>
          </a:p>
        </p:txBody>
      </p:sp>
      <p:sp>
        <p:nvSpPr>
          <p:cNvPr id="15" name="Shape 13"/>
          <p:cNvSpPr/>
          <p:nvPr/>
        </p:nvSpPr>
        <p:spPr>
          <a:xfrm>
            <a:off x="3977640" y="1874520"/>
            <a:ext cx="7571232" cy="4160520"/>
          </a:xfrm>
          <a:prstGeom prst="rect">
            <a:avLst/>
          </a:prstGeom>
          <a:solidFill>
            <a:srgbClr val="F1F3F0"/>
          </a:solidFill>
          <a:ln w="9525">
            <a:solidFill>
              <a:srgbClr val="D3D9D0"/>
            </a:solidFill>
            <a:prstDash val="solid"/>
          </a:ln>
        </p:spPr>
      </p:sp>
      <p:sp>
        <p:nvSpPr>
          <p:cNvPr id="16" name="Shape 14"/>
          <p:cNvSpPr/>
          <p:nvPr/>
        </p:nvSpPr>
        <p:spPr>
          <a:xfrm>
            <a:off x="3958438" y="1855318"/>
            <a:ext cx="59436" cy="12802"/>
          </a:xfrm>
          <a:prstGeom prst="rect">
            <a:avLst/>
          </a:prstGeom>
          <a:solidFill>
            <a:srgbClr val="66705F"/>
          </a:solidFill>
          <a:ln/>
        </p:spPr>
      </p:sp>
      <p:sp>
        <p:nvSpPr>
          <p:cNvPr id="17" name="Shape 15"/>
          <p:cNvSpPr/>
          <p:nvPr/>
        </p:nvSpPr>
        <p:spPr>
          <a:xfrm>
            <a:off x="3958438" y="1855318"/>
            <a:ext cx="12802" cy="59436"/>
          </a:xfrm>
          <a:prstGeom prst="rect">
            <a:avLst/>
          </a:prstGeom>
          <a:solidFill>
            <a:srgbClr val="66705F"/>
          </a:solidFill>
          <a:ln/>
        </p:spPr>
      </p:sp>
      <p:sp>
        <p:nvSpPr>
          <p:cNvPr id="18" name="Shape 16"/>
          <p:cNvSpPr/>
          <p:nvPr/>
        </p:nvSpPr>
        <p:spPr>
          <a:xfrm>
            <a:off x="11508638" y="1855318"/>
            <a:ext cx="59436" cy="12802"/>
          </a:xfrm>
          <a:prstGeom prst="rect">
            <a:avLst/>
          </a:prstGeom>
          <a:solidFill>
            <a:srgbClr val="66705F"/>
          </a:solidFill>
          <a:ln/>
        </p:spPr>
      </p:sp>
      <p:sp>
        <p:nvSpPr>
          <p:cNvPr id="19" name="Shape 17"/>
          <p:cNvSpPr/>
          <p:nvPr/>
        </p:nvSpPr>
        <p:spPr>
          <a:xfrm>
            <a:off x="11555273" y="1855318"/>
            <a:ext cx="12802" cy="59436"/>
          </a:xfrm>
          <a:prstGeom prst="rect">
            <a:avLst/>
          </a:prstGeom>
          <a:solidFill>
            <a:srgbClr val="66705F"/>
          </a:solidFill>
          <a:ln/>
        </p:spPr>
      </p:sp>
      <p:sp>
        <p:nvSpPr>
          <p:cNvPr id="20" name="Shape 18"/>
          <p:cNvSpPr/>
          <p:nvPr/>
        </p:nvSpPr>
        <p:spPr>
          <a:xfrm>
            <a:off x="3958438" y="6041441"/>
            <a:ext cx="59436" cy="12802"/>
          </a:xfrm>
          <a:prstGeom prst="rect">
            <a:avLst/>
          </a:prstGeom>
          <a:solidFill>
            <a:srgbClr val="66705F"/>
          </a:solidFill>
          <a:ln/>
        </p:spPr>
      </p:sp>
      <p:sp>
        <p:nvSpPr>
          <p:cNvPr id="21" name="Shape 19"/>
          <p:cNvSpPr/>
          <p:nvPr/>
        </p:nvSpPr>
        <p:spPr>
          <a:xfrm>
            <a:off x="3958438" y="5994806"/>
            <a:ext cx="12802" cy="59436"/>
          </a:xfrm>
          <a:prstGeom prst="rect">
            <a:avLst/>
          </a:prstGeom>
          <a:solidFill>
            <a:srgbClr val="66705F"/>
          </a:solidFill>
          <a:ln/>
        </p:spPr>
      </p:sp>
      <p:sp>
        <p:nvSpPr>
          <p:cNvPr id="22" name="Shape 20"/>
          <p:cNvSpPr/>
          <p:nvPr/>
        </p:nvSpPr>
        <p:spPr>
          <a:xfrm>
            <a:off x="11508638" y="6041441"/>
            <a:ext cx="59436" cy="12802"/>
          </a:xfrm>
          <a:prstGeom prst="rect">
            <a:avLst/>
          </a:prstGeom>
          <a:solidFill>
            <a:srgbClr val="66705F"/>
          </a:solidFill>
          <a:ln/>
        </p:spPr>
      </p:sp>
      <p:sp>
        <p:nvSpPr>
          <p:cNvPr id="23" name="Shape 21"/>
          <p:cNvSpPr/>
          <p:nvPr/>
        </p:nvSpPr>
        <p:spPr>
          <a:xfrm>
            <a:off x="11555273" y="5994806"/>
            <a:ext cx="12802" cy="59436"/>
          </a:xfrm>
          <a:prstGeom prst="rect">
            <a:avLst/>
          </a:prstGeom>
          <a:solidFill>
            <a:srgbClr val="66705F"/>
          </a:solidFill>
          <a:ln/>
        </p:spPr>
      </p:sp>
      <p:sp>
        <p:nvSpPr>
          <p:cNvPr id="24" name="Text 22"/>
          <p:cNvSpPr txBox="1"/>
          <p:nvPr/>
        </p:nvSpPr>
        <p:spPr>
          <a:xfrm>
            <a:off x="4251960" y="2121408"/>
            <a:ext cx="7040880" cy="274320"/>
          </a:xfrm>
          <a:prstGeom prst="rect">
            <a:avLst/>
          </a:prstGeom>
          <a:noFill/>
          <a:ln/>
        </p:spPr>
        <p:txBody>
          <a:bodyPr wrap="square" lIns="0" tIns="0" rIns="0" bIns="0" rtlCol="0" anchor="ctr"/>
          <a:lstStyle/>
          <a:p>
            <a:pPr indent="0" marL="0">
              <a:buNone/>
            </a:pPr>
            <a:r>
              <a:rPr lang="en-US" sz="1000" b="1" spc="200" kern="0" dirty="0">
                <a:solidFill>
                  <a:srgbClr val="66705F"/>
                </a:solidFill>
                <a:latin typeface="IBM Plex Mono" pitchFamily="34" charset="0"/>
                <a:ea typeface="IBM Plex Mono" pitchFamily="34" charset="-122"/>
                <a:cs typeface="IBM Plex Mono" pitchFamily="34" charset="-120"/>
              </a:rPr>
              <a:t>WHAT THE FOOTHOLD GIVES THE PLATFORM</a:t>
            </a:r>
            <a:endParaRPr lang="en-US" sz="1000" dirty="0"/>
          </a:p>
        </p:txBody>
      </p:sp>
      <p:sp>
        <p:nvSpPr>
          <p:cNvPr id="25" name="Text 23"/>
          <p:cNvSpPr txBox="1"/>
          <p:nvPr/>
        </p:nvSpPr>
        <p:spPr>
          <a:xfrm>
            <a:off x="4251960" y="2487168"/>
            <a:ext cx="7040880" cy="1371600"/>
          </a:xfrm>
          <a:prstGeom prst="rect">
            <a:avLst/>
          </a:prstGeom>
          <a:noFill/>
          <a:ln/>
        </p:spPr>
        <p:txBody>
          <a:bodyPr wrap="square" lIns="0" tIns="0" rIns="0" bIns="0" rtlCol="0" anchor="ctr"/>
          <a:lstStyle/>
          <a:p>
            <a:pPr indent="0" marL="0">
              <a:lnSpc>
                <a:spcPct val="135000"/>
              </a:lnSpc>
              <a:buNone/>
            </a:pPr>
            <a:r>
              <a:rPr lang="en-US" sz="1500" dirty="0">
                <a:solidFill>
                  <a:srgbClr val="33332F"/>
                </a:solidFill>
                <a:latin typeface="Helvetica Neue" pitchFamily="34" charset="0"/>
                <a:ea typeface="Helvetica Neue" pitchFamily="34" charset="-122"/>
                <a:cs typeface="Helvetica Neue" pitchFamily="34" charset="-120"/>
              </a:rPr>
              <a:t>The operating doctrine every acquired and developed capability will run on: </a:t>
            </a:r>
            <a:pPr indent="0" marL="0">
              <a:lnSpc>
                <a:spcPct val="135000"/>
              </a:lnSpc>
              <a:buNone/>
            </a:pPr>
            <a:r>
              <a:rPr lang="en-US" sz="1500" b="1" dirty="0">
                <a:solidFill>
                  <a:srgbClr val="000000"/>
                </a:solidFill>
                <a:latin typeface="Helvetica Neue" pitchFamily="34" charset="0"/>
                <a:ea typeface="Helvetica Neue" pitchFamily="34" charset="-122"/>
                <a:cs typeface="Helvetica Neue" pitchFamily="34" charset="-120"/>
              </a:rPr>
              <a:t>same day, on site, the owner’s own people. Zero transfers. Recovered, not released. Nobody standing over live ordnance.</a:t>
            </a:r>
            <a:endParaRPr lang="en-US" sz="1500" dirty="0"/>
          </a:p>
        </p:txBody>
      </p:sp>
      <p:sp>
        <p:nvSpPr>
          <p:cNvPr id="26" name="Text 24"/>
          <p:cNvSpPr txBox="1"/>
          <p:nvPr/>
        </p:nvSpPr>
        <p:spPr>
          <a:xfrm>
            <a:off x="4251960" y="3977640"/>
            <a:ext cx="7040880" cy="822960"/>
          </a:xfrm>
          <a:prstGeom prst="rect">
            <a:avLst/>
          </a:prstGeom>
          <a:noFill/>
          <a:ln/>
        </p:spPr>
        <p:txBody>
          <a:bodyPr wrap="square" lIns="0" tIns="0" rIns="0" bIns="0" rtlCol="0" anchor="ctr"/>
          <a:lstStyle/>
          <a:p>
            <a:pPr indent="0" marL="0">
              <a:lnSpc>
                <a:spcPct val="130000"/>
              </a:lnSpc>
              <a:buNone/>
            </a:pPr>
            <a:r>
              <a:rPr lang="en-US" sz="1400" dirty="0">
                <a:solidFill>
                  <a:srgbClr val="33332F"/>
                </a:solidFill>
                <a:latin typeface="Helvetica Neue" pitchFamily="34" charset="0"/>
                <a:ea typeface="Helvetica Neue" pitchFamily="34" charset="-122"/>
                <a:cs typeface="Helvetica Neue" pitchFamily="34" charset="-120"/>
              </a:rPr>
              <a:t>Custody is the standard the whole catalogue inherits — and its data becomes the platform’s certification layer.</a:t>
            </a:r>
            <a:endParaRPr lang="en-US" sz="1400" dirty="0"/>
          </a:p>
        </p:txBody>
      </p:sp>
      <p:sp>
        <p:nvSpPr>
          <p:cNvPr id="27" name="Text 25"/>
          <p:cNvSpPr txBox="1"/>
          <p:nvPr/>
        </p:nvSpPr>
        <p:spPr>
          <a:xfrm>
            <a:off x="4251960" y="5029200"/>
            <a:ext cx="7040880" cy="777240"/>
          </a:xfrm>
          <a:prstGeom prst="rect">
            <a:avLst/>
          </a:prstGeom>
          <a:noFill/>
          <a:ln/>
        </p:spPr>
        <p:txBody>
          <a:bodyPr wrap="square" lIns="0" tIns="0" rIns="0" bIns="0" rtlCol="0" anchor="ctr"/>
          <a:lstStyle/>
          <a:p>
            <a:pPr indent="0" marL="0">
              <a:lnSpc>
                <a:spcPct val="130000"/>
              </a:lnSpc>
              <a:buNone/>
            </a:pPr>
            <a:r>
              <a:rPr lang="en-US" sz="1400" b="1" dirty="0">
                <a:solidFill>
                  <a:srgbClr val="000000"/>
                </a:solidFill>
                <a:latin typeface="Helvetica Neue" pitchFamily="34" charset="0"/>
                <a:ea typeface="Helvetica Neue" pitchFamily="34" charset="-122"/>
                <a:cs typeface="Helvetica Neue" pitchFamily="34" charset="-120"/>
              </a:rPr>
              <a:t>Everyone else moves the material. We move the machine </a:t>
            </a:r>
            <a:pPr indent="0" marL="0">
              <a:lnSpc>
                <a:spcPct val="130000"/>
              </a:lnSpc>
              <a:buNone/>
            </a:pPr>
            <a:r>
              <a:rPr lang="en-US" sz="1400" dirty="0">
                <a:solidFill>
                  <a:srgbClr val="33332F"/>
                </a:solidFill>
                <a:latin typeface="Helvetica Neue" pitchFamily="34" charset="0"/>
                <a:ea typeface="Helvetica Neue" pitchFamily="34" charset="-122"/>
                <a:cs typeface="Helvetica Neue" pitchFamily="34" charset="-120"/>
              </a:rPr>
              <a:t>— and soon, the whole capability set.</a:t>
            </a:r>
            <a:endParaRPr lang="en-US" sz="1400" dirty="0"/>
          </a:p>
        </p:txBody>
      </p:sp>
      <p:sp>
        <p:nvSpPr>
          <p:cNvPr id="28" name="Text 26"/>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10  ·  TWB DESIGNS — CONFIDENTIAL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 + VI — THE ASSEMBLED OFFER</a:t>
            </a:r>
            <a:endParaRPr lang="en-US" sz="1000" dirty="0"/>
          </a:p>
        </p:txBody>
      </p:sp>
      <p:sp>
        <p:nvSpPr>
          <p:cNvPr id="3" name="Text 1"/>
          <p:cNvSpPr txBox="1"/>
          <p:nvPr/>
        </p:nvSpPr>
        <p:spPr>
          <a:xfrm>
            <a:off x="640080" y="868680"/>
            <a:ext cx="768096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One counterparty. Six service lines.</a:t>
            </a:r>
            <a:endParaRPr lang="en-US" sz="2700" dirty="0"/>
          </a:p>
        </p:txBody>
      </p:sp>
      <p:sp>
        <p:nvSpPr>
          <p:cNvPr id="4" name="Text 2"/>
          <p:cNvSpPr txBox="1"/>
          <p:nvPr/>
        </p:nvSpPr>
        <p:spPr>
          <a:xfrm>
            <a:off x="8869680" y="640080"/>
            <a:ext cx="1371600" cy="914400"/>
          </a:xfrm>
          <a:prstGeom prst="rect">
            <a:avLst/>
          </a:prstGeom>
          <a:noFill/>
          <a:ln/>
        </p:spPr>
        <p:txBody>
          <a:bodyPr wrap="square" lIns="0" tIns="0" rIns="0" bIns="0" rtlCol="0" anchor="t"/>
          <a:lstStyle/>
          <a:p>
            <a:pPr algn="r" indent="0" marL="0">
              <a:buNone/>
            </a:pPr>
            <a:r>
              <a:rPr lang="en-US" sz="5600" spc="-100" kern="0" dirty="0">
                <a:solidFill>
                  <a:srgbClr val="66705F"/>
                </a:solidFill>
                <a:latin typeface="Helvetica Neue" pitchFamily="34" charset="0"/>
                <a:ea typeface="Helvetica Neue" pitchFamily="34" charset="-122"/>
                <a:cs typeface="Helvetica Neue" pitchFamily="34" charset="-120"/>
              </a:rPr>
              <a:t>1</a:t>
            </a:r>
            <a:endParaRPr lang="en-US" sz="5600" dirty="0"/>
          </a:p>
        </p:txBody>
      </p:sp>
      <p:sp>
        <p:nvSpPr>
          <p:cNvPr id="5" name="Text 3"/>
          <p:cNvSpPr txBox="1"/>
          <p:nvPr/>
        </p:nvSpPr>
        <p:spPr>
          <a:xfrm>
            <a:off x="10195560" y="640080"/>
            <a:ext cx="1463040" cy="914400"/>
          </a:xfrm>
          <a:prstGeom prst="rect">
            <a:avLst/>
          </a:prstGeom>
          <a:noFill/>
          <a:ln/>
        </p:spPr>
        <p:txBody>
          <a:bodyPr wrap="square" lIns="0" tIns="0" rIns="0" bIns="0" rtlCol="0" anchor="t"/>
          <a:lstStyle/>
          <a:p>
            <a:pPr algn="r" indent="0" marL="0">
              <a:buNone/>
            </a:pPr>
            <a:r>
              <a:rPr lang="en-US" sz="5600" spc="-100" kern="0" dirty="0">
                <a:solidFill>
                  <a:srgbClr val="000000"/>
                </a:solidFill>
                <a:latin typeface="Helvetica Neue" pitchFamily="34" charset="0"/>
                <a:ea typeface="Helvetica Neue" pitchFamily="34" charset="-122"/>
                <a:cs typeface="Helvetica Neue" pitchFamily="34" charset="-120"/>
              </a:rPr>
              <a:t>→6</a:t>
            </a:r>
            <a:endParaRPr lang="en-US" sz="5600" dirty="0"/>
          </a:p>
        </p:txBody>
      </p:sp>
      <p:sp>
        <p:nvSpPr>
          <p:cNvPr id="6" name="Shape 4"/>
          <p:cNvSpPr/>
          <p:nvPr/>
        </p:nvSpPr>
        <p:spPr>
          <a:xfrm>
            <a:off x="640080" y="1965960"/>
            <a:ext cx="5317236" cy="1115568"/>
          </a:xfrm>
          <a:prstGeom prst="rect">
            <a:avLst/>
          </a:prstGeom>
          <a:solidFill>
            <a:srgbClr val="F1F3F0"/>
          </a:solidFill>
          <a:ln w="9525">
            <a:solidFill>
              <a:srgbClr val="D3D9D0"/>
            </a:solidFill>
            <a:prstDash val="solid"/>
          </a:ln>
        </p:spPr>
      </p:sp>
      <p:sp>
        <p:nvSpPr>
          <p:cNvPr id="7" name="Shape 5"/>
          <p:cNvSpPr/>
          <p:nvPr/>
        </p:nvSpPr>
        <p:spPr>
          <a:xfrm>
            <a:off x="620878" y="1946758"/>
            <a:ext cx="59436" cy="12802"/>
          </a:xfrm>
          <a:prstGeom prst="rect">
            <a:avLst/>
          </a:prstGeom>
          <a:solidFill>
            <a:srgbClr val="66705F"/>
          </a:solidFill>
          <a:ln/>
        </p:spPr>
      </p:sp>
      <p:sp>
        <p:nvSpPr>
          <p:cNvPr id="8" name="Shape 6"/>
          <p:cNvSpPr/>
          <p:nvPr/>
        </p:nvSpPr>
        <p:spPr>
          <a:xfrm>
            <a:off x="620878" y="1946758"/>
            <a:ext cx="12802" cy="59436"/>
          </a:xfrm>
          <a:prstGeom prst="rect">
            <a:avLst/>
          </a:prstGeom>
          <a:solidFill>
            <a:srgbClr val="66705F"/>
          </a:solidFill>
          <a:ln/>
        </p:spPr>
      </p:sp>
      <p:sp>
        <p:nvSpPr>
          <p:cNvPr id="9" name="Shape 7"/>
          <p:cNvSpPr/>
          <p:nvPr/>
        </p:nvSpPr>
        <p:spPr>
          <a:xfrm>
            <a:off x="5917082" y="1946758"/>
            <a:ext cx="59436" cy="12802"/>
          </a:xfrm>
          <a:prstGeom prst="rect">
            <a:avLst/>
          </a:prstGeom>
          <a:solidFill>
            <a:srgbClr val="66705F"/>
          </a:solidFill>
          <a:ln/>
        </p:spPr>
      </p:sp>
      <p:sp>
        <p:nvSpPr>
          <p:cNvPr id="10" name="Shape 8"/>
          <p:cNvSpPr/>
          <p:nvPr/>
        </p:nvSpPr>
        <p:spPr>
          <a:xfrm>
            <a:off x="5963717" y="1946758"/>
            <a:ext cx="12802" cy="59436"/>
          </a:xfrm>
          <a:prstGeom prst="rect">
            <a:avLst/>
          </a:prstGeom>
          <a:solidFill>
            <a:srgbClr val="66705F"/>
          </a:solidFill>
          <a:ln/>
        </p:spPr>
      </p:sp>
      <p:sp>
        <p:nvSpPr>
          <p:cNvPr id="11" name="Shape 9"/>
          <p:cNvSpPr/>
          <p:nvPr/>
        </p:nvSpPr>
        <p:spPr>
          <a:xfrm>
            <a:off x="620878" y="3087929"/>
            <a:ext cx="59436" cy="12802"/>
          </a:xfrm>
          <a:prstGeom prst="rect">
            <a:avLst/>
          </a:prstGeom>
          <a:solidFill>
            <a:srgbClr val="66705F"/>
          </a:solidFill>
          <a:ln/>
        </p:spPr>
      </p:sp>
      <p:sp>
        <p:nvSpPr>
          <p:cNvPr id="12" name="Shape 10"/>
          <p:cNvSpPr/>
          <p:nvPr/>
        </p:nvSpPr>
        <p:spPr>
          <a:xfrm>
            <a:off x="620878" y="3041294"/>
            <a:ext cx="12802" cy="59436"/>
          </a:xfrm>
          <a:prstGeom prst="rect">
            <a:avLst/>
          </a:prstGeom>
          <a:solidFill>
            <a:srgbClr val="66705F"/>
          </a:solidFill>
          <a:ln/>
        </p:spPr>
      </p:sp>
      <p:sp>
        <p:nvSpPr>
          <p:cNvPr id="13" name="Shape 11"/>
          <p:cNvSpPr/>
          <p:nvPr/>
        </p:nvSpPr>
        <p:spPr>
          <a:xfrm>
            <a:off x="5917082" y="3087929"/>
            <a:ext cx="59436" cy="12802"/>
          </a:xfrm>
          <a:prstGeom prst="rect">
            <a:avLst/>
          </a:prstGeom>
          <a:solidFill>
            <a:srgbClr val="66705F"/>
          </a:solidFill>
          <a:ln/>
        </p:spPr>
      </p:sp>
      <p:sp>
        <p:nvSpPr>
          <p:cNvPr id="14" name="Shape 12"/>
          <p:cNvSpPr/>
          <p:nvPr/>
        </p:nvSpPr>
        <p:spPr>
          <a:xfrm>
            <a:off x="5963717" y="3041294"/>
            <a:ext cx="12802" cy="59436"/>
          </a:xfrm>
          <a:prstGeom prst="rect">
            <a:avLst/>
          </a:prstGeom>
          <a:solidFill>
            <a:srgbClr val="66705F"/>
          </a:solidFill>
          <a:ln/>
        </p:spPr>
      </p:sp>
      <p:sp>
        <p:nvSpPr>
          <p:cNvPr id="15" name="Text 13"/>
          <p:cNvSpPr txBox="1"/>
          <p:nvPr/>
        </p:nvSpPr>
        <p:spPr>
          <a:xfrm>
            <a:off x="877824" y="2112264"/>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Deployable destruction</a:t>
            </a:r>
            <a:endParaRPr lang="en-US" sz="1400" dirty="0"/>
          </a:p>
        </p:txBody>
      </p:sp>
      <p:sp>
        <p:nvSpPr>
          <p:cNvPr id="16" name="Text 14"/>
          <p:cNvSpPr txBox="1"/>
          <p:nvPr/>
        </p:nvSpPr>
        <p:spPr>
          <a:xfrm>
            <a:off x="877824" y="2496312"/>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Mobile, on-site, same-day — inside the owner’s custody</a:t>
            </a:r>
            <a:endParaRPr lang="en-US" sz="1050" dirty="0"/>
          </a:p>
        </p:txBody>
      </p:sp>
      <p:sp>
        <p:nvSpPr>
          <p:cNvPr id="17" name="Text 15"/>
          <p:cNvSpPr txBox="1"/>
          <p:nvPr/>
        </p:nvSpPr>
        <p:spPr>
          <a:xfrm>
            <a:off x="4311396" y="2148840"/>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OPERATING TODAY</a:t>
            </a:r>
            <a:endParaRPr lang="en-US" sz="800" dirty="0"/>
          </a:p>
        </p:txBody>
      </p:sp>
      <p:sp>
        <p:nvSpPr>
          <p:cNvPr id="18" name="Shape 16"/>
          <p:cNvSpPr/>
          <p:nvPr/>
        </p:nvSpPr>
        <p:spPr>
          <a:xfrm>
            <a:off x="6231636" y="1965960"/>
            <a:ext cx="5317236" cy="1115568"/>
          </a:xfrm>
          <a:prstGeom prst="rect">
            <a:avLst/>
          </a:prstGeom>
          <a:solidFill>
            <a:srgbClr val="FAFAF8"/>
          </a:solidFill>
          <a:ln w="9525">
            <a:solidFill>
              <a:srgbClr val="E2E1DA"/>
            </a:solidFill>
            <a:prstDash val="solid"/>
          </a:ln>
        </p:spPr>
      </p:sp>
      <p:sp>
        <p:nvSpPr>
          <p:cNvPr id="19" name="Text 17"/>
          <p:cNvSpPr txBox="1"/>
          <p:nvPr/>
        </p:nvSpPr>
        <p:spPr>
          <a:xfrm>
            <a:off x="6469380" y="2112264"/>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Large-calibre &amp; artillery demil</a:t>
            </a:r>
            <a:endParaRPr lang="en-US" sz="1400" dirty="0"/>
          </a:p>
        </p:txBody>
      </p:sp>
      <p:sp>
        <p:nvSpPr>
          <p:cNvPr id="20" name="Text 18"/>
          <p:cNvSpPr txBox="1"/>
          <p:nvPr/>
        </p:nvSpPr>
        <p:spPr>
          <a:xfrm>
            <a:off x="6469380" y="2496312"/>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The tonnage end of the market — up the calibre ladder</a:t>
            </a:r>
            <a:endParaRPr lang="en-US" sz="1050" dirty="0"/>
          </a:p>
        </p:txBody>
      </p:sp>
      <p:sp>
        <p:nvSpPr>
          <p:cNvPr id="21" name="Text 19"/>
          <p:cNvSpPr txBox="1"/>
          <p:nvPr/>
        </p:nvSpPr>
        <p:spPr>
          <a:xfrm>
            <a:off x="9902952" y="2148840"/>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22" name="Shape 20"/>
          <p:cNvSpPr/>
          <p:nvPr/>
        </p:nvSpPr>
        <p:spPr>
          <a:xfrm>
            <a:off x="640080" y="3264408"/>
            <a:ext cx="5317236" cy="1115568"/>
          </a:xfrm>
          <a:prstGeom prst="rect">
            <a:avLst/>
          </a:prstGeom>
          <a:solidFill>
            <a:srgbClr val="FAFAF8"/>
          </a:solidFill>
          <a:ln w="9525">
            <a:solidFill>
              <a:srgbClr val="E2E1DA"/>
            </a:solidFill>
            <a:prstDash val="solid"/>
          </a:ln>
        </p:spPr>
      </p:sp>
      <p:sp>
        <p:nvSpPr>
          <p:cNvPr id="23" name="Text 21"/>
          <p:cNvSpPr txBox="1"/>
          <p:nvPr/>
        </p:nvSpPr>
        <p:spPr>
          <a:xfrm>
            <a:off x="877824" y="3410712"/>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Materials recovery &amp; reclamation</a:t>
            </a:r>
            <a:endParaRPr lang="en-US" sz="1400" dirty="0"/>
          </a:p>
        </p:txBody>
      </p:sp>
      <p:sp>
        <p:nvSpPr>
          <p:cNvPr id="24" name="Text 22"/>
          <p:cNvSpPr txBox="1"/>
          <p:nvPr/>
        </p:nvSpPr>
        <p:spPr>
          <a:xfrm>
            <a:off x="877824" y="3794760"/>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Critical minerals returned to allied supply</a:t>
            </a:r>
            <a:endParaRPr lang="en-US" sz="1050" dirty="0"/>
          </a:p>
        </p:txBody>
      </p:sp>
      <p:sp>
        <p:nvSpPr>
          <p:cNvPr id="25" name="Text 23"/>
          <p:cNvSpPr txBox="1"/>
          <p:nvPr/>
        </p:nvSpPr>
        <p:spPr>
          <a:xfrm>
            <a:off x="4311396" y="3447288"/>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26" name="Shape 24"/>
          <p:cNvSpPr/>
          <p:nvPr/>
        </p:nvSpPr>
        <p:spPr>
          <a:xfrm>
            <a:off x="6231636" y="3264408"/>
            <a:ext cx="5317236" cy="1115568"/>
          </a:xfrm>
          <a:prstGeom prst="rect">
            <a:avLst/>
          </a:prstGeom>
          <a:solidFill>
            <a:srgbClr val="FAFAF8"/>
          </a:solidFill>
          <a:ln w="9525">
            <a:solidFill>
              <a:srgbClr val="E2E1DA"/>
            </a:solidFill>
            <a:prstDash val="solid"/>
          </a:ln>
        </p:spPr>
      </p:sp>
      <p:sp>
        <p:nvSpPr>
          <p:cNvPr id="27" name="Text 25"/>
          <p:cNvSpPr txBox="1"/>
          <p:nvPr/>
        </p:nvSpPr>
        <p:spPr>
          <a:xfrm>
            <a:off x="6469380" y="3410712"/>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Plant &amp; equipment engineering</a:t>
            </a:r>
            <a:endParaRPr lang="en-US" sz="1400" dirty="0"/>
          </a:p>
        </p:txBody>
      </p:sp>
      <p:sp>
        <p:nvSpPr>
          <p:cNvPr id="28" name="Text 26"/>
          <p:cNvSpPr txBox="1"/>
          <p:nvPr/>
        </p:nvSpPr>
        <p:spPr>
          <a:xfrm>
            <a:off x="6469380" y="3794760"/>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Design-build of sovereign end-of-life facilities</a:t>
            </a:r>
            <a:endParaRPr lang="en-US" sz="1050" dirty="0"/>
          </a:p>
        </p:txBody>
      </p:sp>
      <p:sp>
        <p:nvSpPr>
          <p:cNvPr id="29" name="Text 27"/>
          <p:cNvSpPr txBox="1"/>
          <p:nvPr/>
        </p:nvSpPr>
        <p:spPr>
          <a:xfrm>
            <a:off x="9902952" y="3447288"/>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ACQUIRE</a:t>
            </a:r>
            <a:endParaRPr lang="en-US" sz="800" dirty="0"/>
          </a:p>
        </p:txBody>
      </p:sp>
      <p:sp>
        <p:nvSpPr>
          <p:cNvPr id="30" name="Shape 28"/>
          <p:cNvSpPr/>
          <p:nvPr/>
        </p:nvSpPr>
        <p:spPr>
          <a:xfrm>
            <a:off x="640080" y="4562856"/>
            <a:ext cx="5317236" cy="1115568"/>
          </a:xfrm>
          <a:prstGeom prst="rect">
            <a:avLst/>
          </a:prstGeom>
          <a:solidFill>
            <a:srgbClr val="FAFAF8"/>
          </a:solidFill>
          <a:ln w="9525">
            <a:solidFill>
              <a:srgbClr val="E2E1DA"/>
            </a:solidFill>
            <a:prstDash val="solid"/>
          </a:ln>
        </p:spPr>
      </p:sp>
      <p:sp>
        <p:nvSpPr>
          <p:cNvPr id="31" name="Text 29"/>
          <p:cNvSpPr txBox="1"/>
          <p:nvPr/>
        </p:nvSpPr>
        <p:spPr>
          <a:xfrm>
            <a:off x="877824" y="4709160"/>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Automated &amp; unmanned processing</a:t>
            </a:r>
            <a:endParaRPr lang="en-US" sz="1400" dirty="0"/>
          </a:p>
        </p:txBody>
      </p:sp>
      <p:sp>
        <p:nvSpPr>
          <p:cNvPr id="32" name="Text 30"/>
          <p:cNvSpPr txBox="1"/>
          <p:nvPr/>
        </p:nvSpPr>
        <p:spPr>
          <a:xfrm>
            <a:off x="877824" y="5093208"/>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Robotics and sensing over the dangerous work</a:t>
            </a:r>
            <a:endParaRPr lang="en-US" sz="1050" dirty="0"/>
          </a:p>
        </p:txBody>
      </p:sp>
      <p:sp>
        <p:nvSpPr>
          <p:cNvPr id="33" name="Text 31"/>
          <p:cNvSpPr txBox="1"/>
          <p:nvPr/>
        </p:nvSpPr>
        <p:spPr>
          <a:xfrm>
            <a:off x="4311396" y="4745736"/>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PARTNER</a:t>
            </a:r>
            <a:endParaRPr lang="en-US" sz="800" dirty="0"/>
          </a:p>
        </p:txBody>
      </p:sp>
      <p:sp>
        <p:nvSpPr>
          <p:cNvPr id="34" name="Shape 32"/>
          <p:cNvSpPr/>
          <p:nvPr/>
        </p:nvSpPr>
        <p:spPr>
          <a:xfrm>
            <a:off x="6231636" y="4562856"/>
            <a:ext cx="5317236" cy="1115568"/>
          </a:xfrm>
          <a:prstGeom prst="rect">
            <a:avLst/>
          </a:prstGeom>
          <a:solidFill>
            <a:srgbClr val="FAFAF8"/>
          </a:solidFill>
          <a:ln w="9525">
            <a:solidFill>
              <a:srgbClr val="E2E1DA"/>
            </a:solidFill>
            <a:prstDash val="solid"/>
          </a:ln>
        </p:spPr>
      </p:sp>
      <p:sp>
        <p:nvSpPr>
          <p:cNvPr id="35" name="Text 33"/>
          <p:cNvSpPr txBox="1"/>
          <p:nvPr/>
        </p:nvSpPr>
        <p:spPr>
          <a:xfrm>
            <a:off x="6469380" y="4709160"/>
            <a:ext cx="3488436" cy="365760"/>
          </a:xfrm>
          <a:prstGeom prst="rect">
            <a:avLst/>
          </a:prstGeom>
          <a:noFill/>
          <a:ln/>
        </p:spPr>
        <p:txBody>
          <a:bodyPr wrap="square" lIns="0" tIns="0" rIns="0" bIns="0" rtlCol="0" anchor="ctr"/>
          <a:lstStyle/>
          <a:p>
            <a:pPr indent="0" marL="0">
              <a:buNone/>
            </a:pPr>
            <a:r>
              <a:rPr lang="en-US" sz="1400" b="1" spc="-20" kern="0" dirty="0">
                <a:solidFill>
                  <a:srgbClr val="000000"/>
                </a:solidFill>
                <a:latin typeface="Helvetica Neue" pitchFamily="34" charset="0"/>
                <a:ea typeface="Helvetica Neue" pitchFamily="34" charset="-122"/>
                <a:cs typeface="Helvetica Neue" pitchFamily="34" charset="-120"/>
              </a:rPr>
              <a:t>Certification &amp; custody data</a:t>
            </a:r>
            <a:endParaRPr lang="en-US" sz="1400" dirty="0"/>
          </a:p>
        </p:txBody>
      </p:sp>
      <p:sp>
        <p:nvSpPr>
          <p:cNvPr id="36" name="Text 34"/>
          <p:cNvSpPr txBox="1"/>
          <p:nvPr/>
        </p:nvSpPr>
        <p:spPr>
          <a:xfrm>
            <a:off x="6469380" y="5093208"/>
            <a:ext cx="3488436" cy="502920"/>
          </a:xfrm>
          <a:prstGeom prst="rect">
            <a:avLst/>
          </a:prstGeom>
          <a:noFill/>
          <a:ln/>
        </p:spPr>
        <p:txBody>
          <a:bodyPr wrap="square" lIns="0" tIns="0" rIns="0" bIns="0" rtlCol="0" anchor="ctr"/>
          <a:lstStyle/>
          <a:p>
            <a:pPr indent="0" marL="0">
              <a:lnSpc>
                <a:spcPct val="115000"/>
              </a:lnSpc>
              <a:buNone/>
            </a:pPr>
            <a:r>
              <a:rPr lang="en-US" sz="1050" dirty="0">
                <a:solidFill>
                  <a:srgbClr val="6E6C66"/>
                </a:solidFill>
                <a:latin typeface="Helvetica Neue" pitchFamily="34" charset="0"/>
                <a:ea typeface="Helvetica Neue" pitchFamily="34" charset="-122"/>
                <a:cs typeface="Helvetica Neue" pitchFamily="34" charset="-120"/>
              </a:rPr>
              <a:t>The audit standard for the category</a:t>
            </a:r>
            <a:endParaRPr lang="en-US" sz="1050" dirty="0"/>
          </a:p>
        </p:txBody>
      </p:sp>
      <p:sp>
        <p:nvSpPr>
          <p:cNvPr id="37" name="Text 35"/>
          <p:cNvSpPr txBox="1"/>
          <p:nvPr/>
        </p:nvSpPr>
        <p:spPr>
          <a:xfrm>
            <a:off x="9902952" y="4745736"/>
            <a:ext cx="1417320" cy="502920"/>
          </a:xfrm>
          <a:prstGeom prst="rect">
            <a:avLst/>
          </a:prstGeom>
          <a:noFill/>
          <a:ln/>
        </p:spPr>
        <p:txBody>
          <a:bodyPr wrap="square" lIns="0" tIns="0" rIns="0" bIns="0" rtlCol="0" anchor="ctr"/>
          <a:lstStyle/>
          <a:p>
            <a:pPr algn="r" indent="0" marL="0">
              <a:lnSpc>
                <a:spcPct val="130000"/>
              </a:lnSpc>
              <a:buNone/>
            </a:pPr>
            <a:r>
              <a:rPr lang="en-US" sz="800" b="1" spc="120" kern="0" dirty="0">
                <a:solidFill>
                  <a:srgbClr val="66705F"/>
                </a:solidFill>
                <a:latin typeface="IBM Plex Mono" pitchFamily="34" charset="0"/>
                <a:ea typeface="IBM Plex Mono" pitchFamily="34" charset="-122"/>
                <a:cs typeface="IBM Plex Mono" pitchFamily="34" charset="-120"/>
              </a:rPr>
              <a:t>DEVELOP</a:t>
            </a:r>
            <a:endParaRPr lang="en-US" sz="800" dirty="0"/>
          </a:p>
        </p:txBody>
      </p:sp>
      <p:sp>
        <p:nvSpPr>
          <p:cNvPr id="38" name="Text 36"/>
          <p:cNvSpPr txBox="1"/>
          <p:nvPr/>
        </p:nvSpPr>
        <p:spPr>
          <a:xfrm>
            <a:off x="640080" y="6016752"/>
            <a:ext cx="10881360" cy="365760"/>
          </a:xfrm>
          <a:prstGeom prst="rect">
            <a:avLst/>
          </a:prstGeom>
          <a:noFill/>
          <a:ln/>
        </p:spPr>
        <p:txBody>
          <a:bodyPr wrap="square" lIns="0" tIns="0" rIns="0" bIns="0" rtlCol="0" anchor="ctr"/>
          <a:lstStyle/>
          <a:p>
            <a:pPr indent="0" marL="0">
              <a:lnSpc>
                <a:spcPct val="120000"/>
              </a:lnSpc>
              <a:buNone/>
            </a:pPr>
            <a:r>
              <a:rPr lang="en-US" sz="1200" dirty="0">
                <a:solidFill>
                  <a:srgbClr val="33332F"/>
                </a:solidFill>
                <a:latin typeface="Helvetica Neue" pitchFamily="34" charset="0"/>
                <a:ea typeface="Helvetica Neue" pitchFamily="34" charset="-122"/>
                <a:cs typeface="Helvetica Neue" pitchFamily="34" charset="-120"/>
              </a:rPr>
              <a:t>Governments already buy every line — separately, from single-capability vendors. The platform sells the lifecycle.</a:t>
            </a:r>
            <a:endParaRPr lang="en-US" sz="1200" dirty="0"/>
          </a:p>
        </p:txBody>
      </p:sp>
      <p:sp>
        <p:nvSpPr>
          <p:cNvPr id="39" name="Text 3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11  ·  TWB DESIGNS — CONFIDENTIAL</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ACT VI — ALLIED BY DESIGN</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Sovereignty is the product.</a:t>
            </a:r>
            <a:endParaRPr lang="en-US" sz="2700" dirty="0"/>
          </a:p>
        </p:txBody>
      </p:sp>
      <p:sp>
        <p:nvSpPr>
          <p:cNvPr id="4" name="Text 2"/>
          <p:cNvSpPr txBox="1"/>
          <p:nvPr/>
        </p:nvSpPr>
        <p:spPr>
          <a:xfrm>
            <a:off x="640080" y="1783080"/>
            <a:ext cx="2926080" cy="1371600"/>
          </a:xfrm>
          <a:prstGeom prst="rect">
            <a:avLst/>
          </a:prstGeom>
          <a:noFill/>
          <a:ln/>
        </p:spPr>
        <p:txBody>
          <a:bodyPr wrap="square" lIns="0" tIns="0" rIns="0" bIns="0" rtlCol="0" anchor="t"/>
          <a:lstStyle/>
          <a:p>
            <a:pPr algn="l" indent="0" marL="0">
              <a:buNone/>
            </a:pPr>
            <a:r>
              <a:rPr lang="en-US" sz="7600" spc="-250" kern="0" dirty="0">
                <a:solidFill>
                  <a:srgbClr val="000000"/>
                </a:solidFill>
                <a:latin typeface="Helvetica Neue" pitchFamily="34" charset="0"/>
                <a:ea typeface="Helvetica Neue" pitchFamily="34" charset="-122"/>
                <a:cs typeface="Helvetica Neue" pitchFamily="34" charset="-120"/>
              </a:rPr>
              <a:t>65</a:t>
            </a:r>
            <a:endParaRPr lang="en-US" sz="7600" dirty="0"/>
          </a:p>
        </p:txBody>
      </p:sp>
      <p:sp>
        <p:nvSpPr>
          <p:cNvPr id="5" name="Text 3"/>
          <p:cNvSpPr txBox="1"/>
          <p:nvPr/>
        </p:nvSpPr>
        <p:spPr>
          <a:xfrm>
            <a:off x="640080" y="3127248"/>
            <a:ext cx="3108960" cy="10058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ARMED CONFLICTS, 2025. NO GOVERNMENT WANTS ITS MUNITIONS — OR THE CRITICAL METALS INSIDE THEM — CROSSING BORDERS TO DIE²</a:t>
            </a:r>
            <a:endParaRPr lang="en-US" sz="1050" dirty="0"/>
          </a:p>
        </p:txBody>
      </p:sp>
      <p:sp>
        <p:nvSpPr>
          <p:cNvPr id="6" name="Shape 4"/>
          <p:cNvSpPr/>
          <p:nvPr/>
        </p:nvSpPr>
        <p:spPr>
          <a:xfrm>
            <a:off x="640080" y="4434840"/>
            <a:ext cx="3108960" cy="0"/>
          </a:xfrm>
          <a:prstGeom prst="line">
            <a:avLst/>
          </a:prstGeom>
          <a:noFill/>
          <a:ln w="9525">
            <a:solidFill>
              <a:srgbClr val="E2E1DA"/>
            </a:solidFill>
            <a:prstDash val="solid"/>
          </a:ln>
        </p:spPr>
      </p:sp>
      <p:sp>
        <p:nvSpPr>
          <p:cNvPr id="7" name="Text 5"/>
          <p:cNvSpPr txBox="1"/>
          <p:nvPr/>
        </p:nvSpPr>
        <p:spPr>
          <a:xfrm>
            <a:off x="640080" y="4617720"/>
            <a:ext cx="3108960" cy="1143000"/>
          </a:xfrm>
          <a:prstGeom prst="rect">
            <a:avLst/>
          </a:prstGeom>
          <a:noFill/>
          <a:ln/>
        </p:spPr>
        <p:txBody>
          <a:bodyPr wrap="square" lIns="0" tIns="0" rIns="0" bIns="0" rtlCol="0" anchor="ctr"/>
          <a:lstStyle/>
          <a:p>
            <a:pPr indent="0" marL="0">
              <a:lnSpc>
                <a:spcPct val="130000"/>
              </a:lnSpc>
              <a:buNone/>
            </a:pPr>
            <a:r>
              <a:rPr lang="en-US" sz="1150" b="1" dirty="0">
                <a:solidFill>
                  <a:srgbClr val="000000"/>
                </a:solidFill>
                <a:latin typeface="Helvetica Neue" pitchFamily="34" charset="0"/>
                <a:ea typeface="Helvetica Neue" pitchFamily="34" charset="-122"/>
                <a:cs typeface="Helvetica Neue" pitchFamily="34" charset="-120"/>
              </a:rPr>
              <a:t>A domestic answer is the only politically survivable one. </a:t>
            </a:r>
            <a:pPr indent="0" marL="0">
              <a:lnSpc>
                <a:spcPct val="130000"/>
              </a:lnSpc>
              <a:buNone/>
            </a:pPr>
            <a:r>
              <a:rPr lang="en-US" sz="1150" dirty="0">
                <a:solidFill>
                  <a:srgbClr val="33332F"/>
                </a:solidFill>
                <a:latin typeface="Helvetica Neue" pitchFamily="34" charset="0"/>
                <a:ea typeface="Helvetica Neue" pitchFamily="34" charset="-122"/>
                <a:cs typeface="Helvetica Neue" pitchFamily="34" charset="-120"/>
              </a:rPr>
              <a:t>Sovereign custody, sovereign disposal, sovereign standing.</a:t>
            </a:r>
            <a:endParaRPr lang="en-US" sz="1150" dirty="0"/>
          </a:p>
        </p:txBody>
      </p:sp>
      <p:sp>
        <p:nvSpPr>
          <p:cNvPr id="8" name="Shape 6"/>
          <p:cNvSpPr/>
          <p:nvPr/>
        </p:nvSpPr>
        <p:spPr>
          <a:xfrm>
            <a:off x="3977640" y="1783080"/>
            <a:ext cx="7571232" cy="1207008"/>
          </a:xfrm>
          <a:prstGeom prst="rect">
            <a:avLst/>
          </a:prstGeom>
          <a:solidFill>
            <a:srgbClr val="FAFAF8"/>
          </a:solidFill>
          <a:ln w="9525">
            <a:solidFill>
              <a:srgbClr val="E2E1DA"/>
            </a:solidFill>
            <a:prstDash val="solid"/>
          </a:ln>
        </p:spPr>
      </p:sp>
      <p:sp>
        <p:nvSpPr>
          <p:cNvPr id="9" name="Text 7"/>
          <p:cNvSpPr txBox="1"/>
          <p:nvPr/>
        </p:nvSpPr>
        <p:spPr>
          <a:xfrm>
            <a:off x="4197096" y="19110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MARKET</a:t>
            </a:r>
            <a:endParaRPr lang="en-US" sz="950" dirty="0"/>
          </a:p>
        </p:txBody>
      </p:sp>
      <p:sp>
        <p:nvSpPr>
          <p:cNvPr id="10" name="Text 8"/>
          <p:cNvSpPr txBox="1"/>
          <p:nvPr/>
        </p:nvSpPr>
        <p:spPr>
          <a:xfrm>
            <a:off x="6263640" y="19019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NATO, the United States, Canada, Israel and partners — governments that buy sovereign capability, allied standing, and auditable custody.</a:t>
            </a:r>
            <a:endParaRPr lang="en-US" sz="1050" dirty="0"/>
          </a:p>
        </p:txBody>
      </p:sp>
      <p:sp>
        <p:nvSpPr>
          <p:cNvPr id="11" name="Shape 9"/>
          <p:cNvSpPr/>
          <p:nvPr/>
        </p:nvSpPr>
        <p:spPr>
          <a:xfrm>
            <a:off x="3977640" y="3154680"/>
            <a:ext cx="7571232" cy="1207008"/>
          </a:xfrm>
          <a:prstGeom prst="rect">
            <a:avLst/>
          </a:prstGeom>
          <a:solidFill>
            <a:srgbClr val="FAFAF8"/>
          </a:solidFill>
          <a:ln w="9525">
            <a:solidFill>
              <a:srgbClr val="E2E1DA"/>
            </a:solidFill>
            <a:prstDash val="solid"/>
          </a:ln>
        </p:spPr>
      </p:sp>
      <p:sp>
        <p:nvSpPr>
          <p:cNvPr id="12" name="Text 10"/>
          <p:cNvSpPr txBox="1"/>
          <p:nvPr/>
        </p:nvSpPr>
        <p:spPr>
          <a:xfrm>
            <a:off x="4197096" y="32826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STANDING</a:t>
            </a:r>
            <a:endParaRPr lang="en-US" sz="950" dirty="0"/>
          </a:p>
        </p:txBody>
      </p:sp>
      <p:sp>
        <p:nvSpPr>
          <p:cNvPr id="13" name="Text 11"/>
          <p:cNvSpPr txBox="1"/>
          <p:nvPr/>
        </p:nvSpPr>
        <p:spPr>
          <a:xfrm>
            <a:off x="6263640" y="32735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Canada is a DFARS 225.872 qualifying country — Canadian end products exempt from Buy American in US defence acquisition.¹³ Checkable, and underused. US entity planned; US-ready, allied-forward.</a:t>
            </a:r>
            <a:endParaRPr lang="en-US" sz="1050" dirty="0"/>
          </a:p>
        </p:txBody>
      </p:sp>
      <p:sp>
        <p:nvSpPr>
          <p:cNvPr id="14" name="Shape 12"/>
          <p:cNvSpPr/>
          <p:nvPr/>
        </p:nvSpPr>
        <p:spPr>
          <a:xfrm>
            <a:off x="3977640" y="4526280"/>
            <a:ext cx="7571232" cy="1207008"/>
          </a:xfrm>
          <a:prstGeom prst="rect">
            <a:avLst/>
          </a:prstGeom>
          <a:solidFill>
            <a:srgbClr val="F1F3F0"/>
          </a:solidFill>
          <a:ln w="9525">
            <a:solidFill>
              <a:srgbClr val="D3D9D0"/>
            </a:solidFill>
            <a:prstDash val="solid"/>
          </a:ln>
        </p:spPr>
      </p:sp>
      <p:sp>
        <p:nvSpPr>
          <p:cNvPr id="15" name="Text 13"/>
          <p:cNvSpPr txBox="1"/>
          <p:nvPr/>
        </p:nvSpPr>
        <p:spPr>
          <a:xfrm>
            <a:off x="4197096" y="4654296"/>
            <a:ext cx="2011680" cy="256032"/>
          </a:xfrm>
          <a:prstGeom prst="rect">
            <a:avLst/>
          </a:prstGeom>
          <a:noFill/>
          <a:ln/>
        </p:spPr>
        <p:txBody>
          <a:bodyPr wrap="square" lIns="0" tIns="0" rIns="0" bIns="0" rtlCol="0" anchor="ctr"/>
          <a:lstStyle/>
          <a:p>
            <a:pPr indent="0" marL="0">
              <a:buNone/>
            </a:pPr>
            <a:r>
              <a:rPr lang="en-US" sz="950" b="1" spc="180" kern="0" dirty="0">
                <a:solidFill>
                  <a:srgbClr val="66705F"/>
                </a:solidFill>
                <a:latin typeface="IBM Plex Mono" pitchFamily="34" charset="0"/>
                <a:ea typeface="IBM Plex Mono" pitchFamily="34" charset="-122"/>
                <a:cs typeface="IBM Plex Mono" pitchFamily="34" charset="-120"/>
              </a:rPr>
              <a:t>THE GIFT</a:t>
            </a:r>
            <a:endParaRPr lang="en-US" sz="950" dirty="0"/>
          </a:p>
        </p:txBody>
      </p:sp>
      <p:sp>
        <p:nvSpPr>
          <p:cNvPr id="16" name="Text 14"/>
          <p:cNvSpPr txBox="1"/>
          <p:nvPr/>
        </p:nvSpPr>
        <p:spPr>
          <a:xfrm>
            <a:off x="6263640" y="4645152"/>
            <a:ext cx="5047488" cy="1005840"/>
          </a:xfrm>
          <a:prstGeom prst="rect">
            <a:avLst/>
          </a:prstGeom>
          <a:noFill/>
          <a:ln/>
        </p:spPr>
        <p:txBody>
          <a:bodyPr wrap="square" lIns="0" tIns="0" rIns="0" bIns="0" rtlCol="0" anchor="ctr"/>
          <a:lstStyle/>
          <a:p>
            <a:pPr indent="0" marL="0">
              <a:lnSpc>
                <a:spcPct val="125000"/>
              </a:lnSpc>
              <a:buNone/>
            </a:pPr>
            <a:r>
              <a:rPr lang="en-US" sz="1050" dirty="0">
                <a:solidFill>
                  <a:srgbClr val="33332F"/>
                </a:solidFill>
                <a:latin typeface="Helvetica Neue" pitchFamily="34" charset="0"/>
                <a:ea typeface="Helvetica Neue" pitchFamily="34" charset="-122"/>
                <a:cs typeface="Helvetica Neue" pitchFamily="34" charset="-120"/>
              </a:rPr>
              <a:t>Every allied ammunition plant opening today compounds future demand for the back of the lifecycle. Our market is being built for us, at record pace, by the largest industrial mobilisation since 1945.</a:t>
            </a:r>
            <a:endParaRPr lang="en-US" sz="1050" dirty="0"/>
          </a:p>
        </p:txBody>
      </p:sp>
      <p:sp>
        <p:nvSpPr>
          <p:cNvPr id="17" name="Text 15"/>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12  ·  TWB DESIGNS — CONFIDENTIAL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THE MODEL</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Paid to destroy. Paid for what returns.</a:t>
            </a:r>
            <a:endParaRPr lang="en-US" sz="2700" dirty="0"/>
          </a:p>
        </p:txBody>
      </p:sp>
      <p:sp>
        <p:nvSpPr>
          <p:cNvPr id="4" name="Text 2"/>
          <p:cNvSpPr txBox="1"/>
          <p:nvPr/>
        </p:nvSpPr>
        <p:spPr>
          <a:xfrm>
            <a:off x="640080" y="1920240"/>
            <a:ext cx="8686800" cy="1280160"/>
          </a:xfrm>
          <a:prstGeom prst="rect">
            <a:avLst/>
          </a:prstGeom>
          <a:noFill/>
          <a:ln/>
        </p:spPr>
        <p:txBody>
          <a:bodyPr wrap="square" lIns="0" tIns="0" rIns="0" bIns="0" rtlCol="0" anchor="t"/>
          <a:lstStyle/>
          <a:p>
            <a:pPr algn="l" indent="0" marL="0">
              <a:buNone/>
            </a:pPr>
            <a:r>
              <a:rPr lang="en-US" sz="6800" spc="-150" kern="0" dirty="0">
                <a:solidFill>
                  <a:srgbClr val="000000"/>
                </a:solidFill>
                <a:latin typeface="Helvetica Neue" pitchFamily="34" charset="0"/>
                <a:ea typeface="Helvetica Neue" pitchFamily="34" charset="-122"/>
                <a:cs typeface="Helvetica Neue" pitchFamily="34" charset="-120"/>
              </a:rPr>
              <a:t>$2,000–2,890</a:t>
            </a:r>
            <a:endParaRPr lang="en-US" sz="6800" dirty="0"/>
          </a:p>
        </p:txBody>
      </p:sp>
      <p:sp>
        <p:nvSpPr>
          <p:cNvPr id="5" name="Text 3"/>
          <p:cNvSpPr txBox="1"/>
          <p:nvPr/>
        </p:nvSpPr>
        <p:spPr>
          <a:xfrm>
            <a:off x="640080" y="3063240"/>
            <a:ext cx="82296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66705F"/>
                </a:solidFill>
                <a:latin typeface="IBM Plex Mono" pitchFamily="34" charset="0"/>
                <a:ea typeface="IBM Plex Mono" pitchFamily="34" charset="-122"/>
                <a:cs typeface="IBM Plex Mono" pitchFamily="34" charset="-120"/>
              </a:rPr>
              <a:t>PER TON — THE PUBLISHED MARKET RATE FOR CONVENTIONAL DEMIL, TODAY (GAO FY15 / NAS)⁶</a:t>
            </a:r>
            <a:endParaRPr lang="en-US" sz="1050" dirty="0"/>
          </a:p>
        </p:txBody>
      </p:sp>
      <p:sp>
        <p:nvSpPr>
          <p:cNvPr id="6" name="Shape 4"/>
          <p:cNvSpPr/>
          <p:nvPr/>
        </p:nvSpPr>
        <p:spPr>
          <a:xfrm>
            <a:off x="640080" y="3657600"/>
            <a:ext cx="10908792" cy="0"/>
          </a:xfrm>
          <a:prstGeom prst="line">
            <a:avLst/>
          </a:prstGeom>
          <a:noFill/>
          <a:ln w="9525">
            <a:solidFill>
              <a:srgbClr val="E2E1DA"/>
            </a:solidFill>
            <a:prstDash val="solid"/>
          </a:ln>
        </p:spPr>
      </p:sp>
      <p:sp>
        <p:nvSpPr>
          <p:cNvPr id="7" name="Shape 5"/>
          <p:cNvSpPr/>
          <p:nvPr/>
        </p:nvSpPr>
        <p:spPr>
          <a:xfrm>
            <a:off x="640080" y="3840480"/>
            <a:ext cx="3465576" cy="1783080"/>
          </a:xfrm>
          <a:prstGeom prst="rect">
            <a:avLst/>
          </a:prstGeom>
          <a:solidFill>
            <a:srgbClr val="FAFAF8"/>
          </a:solidFill>
          <a:ln w="9525">
            <a:solidFill>
              <a:srgbClr val="E2E1DA"/>
            </a:solidFill>
            <a:prstDash val="solid"/>
          </a:ln>
        </p:spPr>
      </p:sp>
      <p:sp>
        <p:nvSpPr>
          <p:cNvPr id="8" name="Text 6"/>
          <p:cNvSpPr txBox="1"/>
          <p:nvPr/>
        </p:nvSpPr>
        <p:spPr>
          <a:xfrm>
            <a:off x="859536" y="4023360"/>
            <a:ext cx="3026664" cy="320040"/>
          </a:xfrm>
          <a:prstGeom prst="rect">
            <a:avLst/>
          </a:prstGeom>
          <a:noFill/>
          <a:ln/>
        </p:spPr>
        <p:txBody>
          <a:bodyPr wrap="square" lIns="0" tIns="0" rIns="0" bIns="0" rtlCol="0" anchor="ctr"/>
          <a:lstStyle/>
          <a:p>
            <a:pPr indent="0" marL="0">
              <a:buNone/>
            </a:pPr>
            <a:r>
              <a:rPr lang="en-US" sz="1000" b="1" spc="150" kern="0" dirty="0">
                <a:solidFill>
                  <a:srgbClr val="000000"/>
                </a:solidFill>
                <a:latin typeface="IBM Plex Mono" pitchFamily="34" charset="0"/>
                <a:ea typeface="IBM Plex Mono" pitchFamily="34" charset="-122"/>
                <a:cs typeface="IBM Plex Mono" pitchFamily="34" charset="-120"/>
              </a:rPr>
              <a:t>1 · THE FEE</a:t>
            </a:r>
            <a:endParaRPr lang="en-US" sz="1000" dirty="0"/>
          </a:p>
        </p:txBody>
      </p:sp>
      <p:sp>
        <p:nvSpPr>
          <p:cNvPr id="9" name="Text 7"/>
          <p:cNvSpPr txBox="1"/>
          <p:nvPr/>
        </p:nvSpPr>
        <p:spPr>
          <a:xfrm>
            <a:off x="859536"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We don't need to beat this rate to win. Same-day, on-site, zero-transfer custody is a different product — not a discount on the incumbent's price.</a:t>
            </a:r>
            <a:endParaRPr lang="en-US" sz="1100" dirty="0"/>
          </a:p>
        </p:txBody>
      </p:sp>
      <p:sp>
        <p:nvSpPr>
          <p:cNvPr id="10" name="Shape 8"/>
          <p:cNvSpPr/>
          <p:nvPr/>
        </p:nvSpPr>
        <p:spPr>
          <a:xfrm>
            <a:off x="4361688" y="3840480"/>
            <a:ext cx="3465576" cy="1783080"/>
          </a:xfrm>
          <a:prstGeom prst="rect">
            <a:avLst/>
          </a:prstGeom>
          <a:solidFill>
            <a:srgbClr val="F1F3F0"/>
          </a:solidFill>
          <a:ln w="9525">
            <a:solidFill>
              <a:srgbClr val="D3D9D0"/>
            </a:solidFill>
            <a:prstDash val="solid"/>
          </a:ln>
        </p:spPr>
      </p:sp>
      <p:sp>
        <p:nvSpPr>
          <p:cNvPr id="11" name="Shape 9"/>
          <p:cNvSpPr/>
          <p:nvPr/>
        </p:nvSpPr>
        <p:spPr>
          <a:xfrm>
            <a:off x="4342486" y="3821278"/>
            <a:ext cx="59436" cy="12802"/>
          </a:xfrm>
          <a:prstGeom prst="rect">
            <a:avLst/>
          </a:prstGeom>
          <a:solidFill>
            <a:srgbClr val="66705F"/>
          </a:solidFill>
          <a:ln/>
        </p:spPr>
      </p:sp>
      <p:sp>
        <p:nvSpPr>
          <p:cNvPr id="12" name="Shape 10"/>
          <p:cNvSpPr/>
          <p:nvPr/>
        </p:nvSpPr>
        <p:spPr>
          <a:xfrm>
            <a:off x="4342486" y="3821278"/>
            <a:ext cx="12802" cy="59436"/>
          </a:xfrm>
          <a:prstGeom prst="rect">
            <a:avLst/>
          </a:prstGeom>
          <a:solidFill>
            <a:srgbClr val="66705F"/>
          </a:solidFill>
          <a:ln/>
        </p:spPr>
      </p:sp>
      <p:sp>
        <p:nvSpPr>
          <p:cNvPr id="13" name="Shape 11"/>
          <p:cNvSpPr/>
          <p:nvPr/>
        </p:nvSpPr>
        <p:spPr>
          <a:xfrm>
            <a:off x="7787030" y="3821278"/>
            <a:ext cx="59436" cy="12802"/>
          </a:xfrm>
          <a:prstGeom prst="rect">
            <a:avLst/>
          </a:prstGeom>
          <a:solidFill>
            <a:srgbClr val="66705F"/>
          </a:solidFill>
          <a:ln/>
        </p:spPr>
      </p:sp>
      <p:sp>
        <p:nvSpPr>
          <p:cNvPr id="14" name="Shape 12"/>
          <p:cNvSpPr/>
          <p:nvPr/>
        </p:nvSpPr>
        <p:spPr>
          <a:xfrm>
            <a:off x="7833665" y="3821278"/>
            <a:ext cx="12802" cy="59436"/>
          </a:xfrm>
          <a:prstGeom prst="rect">
            <a:avLst/>
          </a:prstGeom>
          <a:solidFill>
            <a:srgbClr val="66705F"/>
          </a:solidFill>
          <a:ln/>
        </p:spPr>
      </p:sp>
      <p:sp>
        <p:nvSpPr>
          <p:cNvPr id="15" name="Shape 13"/>
          <p:cNvSpPr/>
          <p:nvPr/>
        </p:nvSpPr>
        <p:spPr>
          <a:xfrm>
            <a:off x="4342486" y="5629961"/>
            <a:ext cx="59436" cy="12802"/>
          </a:xfrm>
          <a:prstGeom prst="rect">
            <a:avLst/>
          </a:prstGeom>
          <a:solidFill>
            <a:srgbClr val="66705F"/>
          </a:solidFill>
          <a:ln/>
        </p:spPr>
      </p:sp>
      <p:sp>
        <p:nvSpPr>
          <p:cNvPr id="16" name="Shape 14"/>
          <p:cNvSpPr/>
          <p:nvPr/>
        </p:nvSpPr>
        <p:spPr>
          <a:xfrm>
            <a:off x="4342486" y="5583326"/>
            <a:ext cx="12802" cy="59436"/>
          </a:xfrm>
          <a:prstGeom prst="rect">
            <a:avLst/>
          </a:prstGeom>
          <a:solidFill>
            <a:srgbClr val="66705F"/>
          </a:solidFill>
          <a:ln/>
        </p:spPr>
      </p:sp>
      <p:sp>
        <p:nvSpPr>
          <p:cNvPr id="17" name="Shape 15"/>
          <p:cNvSpPr/>
          <p:nvPr/>
        </p:nvSpPr>
        <p:spPr>
          <a:xfrm>
            <a:off x="7787030" y="5629961"/>
            <a:ext cx="59436" cy="12802"/>
          </a:xfrm>
          <a:prstGeom prst="rect">
            <a:avLst/>
          </a:prstGeom>
          <a:solidFill>
            <a:srgbClr val="66705F"/>
          </a:solidFill>
          <a:ln/>
        </p:spPr>
      </p:sp>
      <p:sp>
        <p:nvSpPr>
          <p:cNvPr id="18" name="Shape 16"/>
          <p:cNvSpPr/>
          <p:nvPr/>
        </p:nvSpPr>
        <p:spPr>
          <a:xfrm>
            <a:off x="7833665" y="5583326"/>
            <a:ext cx="12802" cy="59436"/>
          </a:xfrm>
          <a:prstGeom prst="rect">
            <a:avLst/>
          </a:prstGeom>
          <a:solidFill>
            <a:srgbClr val="66705F"/>
          </a:solidFill>
          <a:ln/>
        </p:spPr>
      </p:sp>
      <p:sp>
        <p:nvSpPr>
          <p:cNvPr id="19" name="Text 17"/>
          <p:cNvSpPr txBox="1"/>
          <p:nvPr/>
        </p:nvSpPr>
        <p:spPr>
          <a:xfrm>
            <a:off x="4581144" y="4023360"/>
            <a:ext cx="3026664" cy="320040"/>
          </a:xfrm>
          <a:prstGeom prst="rect">
            <a:avLst/>
          </a:prstGeom>
          <a:noFill/>
          <a:ln/>
        </p:spPr>
        <p:txBody>
          <a:bodyPr wrap="square" lIns="0" tIns="0" rIns="0" bIns="0" rtlCol="0" anchor="ctr"/>
          <a:lstStyle/>
          <a:p>
            <a:pPr indent="0" marL="0">
              <a:buNone/>
            </a:pPr>
            <a:r>
              <a:rPr lang="en-US" sz="1000" b="1" spc="150" kern="0" dirty="0">
                <a:solidFill>
                  <a:srgbClr val="66705F"/>
                </a:solidFill>
                <a:latin typeface="IBM Plex Mono" pitchFamily="34" charset="0"/>
                <a:ea typeface="IBM Plex Mono" pitchFamily="34" charset="-122"/>
                <a:cs typeface="IBM Plex Mono" pitchFamily="34" charset="-120"/>
              </a:rPr>
              <a:t>2 · THE MATERIALS MARGIN</a:t>
            </a:r>
            <a:endParaRPr lang="en-US" sz="1000" dirty="0"/>
          </a:p>
        </p:txBody>
      </p:sp>
      <p:sp>
        <p:nvSpPr>
          <p:cNvPr id="20" name="Text 18"/>
          <p:cNvSpPr txBox="1"/>
          <p:nvPr/>
        </p:nvSpPr>
        <p:spPr>
          <a:xfrm>
            <a:off x="4581144"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Graded brass, copper and lead–antimony, sold into existing secondary markets at critical-minerals pricing — a revenue line the incumbents structurally can't capture.</a:t>
            </a:r>
            <a:endParaRPr lang="en-US" sz="1100" dirty="0"/>
          </a:p>
        </p:txBody>
      </p:sp>
      <p:sp>
        <p:nvSpPr>
          <p:cNvPr id="21" name="Shape 19"/>
          <p:cNvSpPr/>
          <p:nvPr/>
        </p:nvSpPr>
        <p:spPr>
          <a:xfrm>
            <a:off x="8083296" y="3840480"/>
            <a:ext cx="3465576" cy="1783080"/>
          </a:xfrm>
          <a:prstGeom prst="rect">
            <a:avLst/>
          </a:prstGeom>
          <a:solidFill>
            <a:srgbClr val="F2F1EC"/>
          </a:solidFill>
          <a:ln w="9525">
            <a:solidFill>
              <a:srgbClr val="CFCDC4"/>
            </a:solidFill>
            <a:prstDash val="solid"/>
          </a:ln>
        </p:spPr>
      </p:sp>
      <p:sp>
        <p:nvSpPr>
          <p:cNvPr id="22" name="Text 20"/>
          <p:cNvSpPr txBox="1"/>
          <p:nvPr/>
        </p:nvSpPr>
        <p:spPr>
          <a:xfrm>
            <a:off x="8302752" y="4023360"/>
            <a:ext cx="3026664" cy="320040"/>
          </a:xfrm>
          <a:prstGeom prst="rect">
            <a:avLst/>
          </a:prstGeom>
          <a:noFill/>
          <a:ln/>
        </p:spPr>
        <p:txBody>
          <a:bodyPr wrap="square" lIns="0" tIns="0" rIns="0" bIns="0" rtlCol="0" anchor="ctr"/>
          <a:lstStyle/>
          <a:p>
            <a:pPr indent="0" marL="0">
              <a:buNone/>
            </a:pPr>
            <a:r>
              <a:rPr lang="en-US" sz="1000" b="1" spc="150" kern="0" dirty="0">
                <a:solidFill>
                  <a:srgbClr val="000000"/>
                </a:solidFill>
                <a:latin typeface="IBM Plex Mono" pitchFamily="34" charset="0"/>
                <a:ea typeface="IBM Plex Mono" pitchFamily="34" charset="-122"/>
                <a:cs typeface="IBM Plex Mono" pitchFamily="34" charset="-120"/>
              </a:rPr>
              <a:t>3 · THE NET COST</a:t>
            </a:r>
            <a:endParaRPr lang="en-US" sz="1000" dirty="0"/>
          </a:p>
        </p:txBody>
      </p:sp>
      <p:sp>
        <p:nvSpPr>
          <p:cNvPr id="23" name="Text 21"/>
          <p:cNvSpPr txBox="1"/>
          <p:nvPr/>
        </p:nvSpPr>
        <p:spPr>
          <a:xfrm>
            <a:off x="8302752" y="4407408"/>
            <a:ext cx="3026664" cy="1143000"/>
          </a:xfrm>
          <a:prstGeom prst="rect">
            <a:avLst/>
          </a:prstGeom>
          <a:noFill/>
          <a:ln/>
        </p:spPr>
        <p:txBody>
          <a:bodyPr wrap="square" lIns="0" tIns="0" rIns="0" bIns="0" rtlCol="0" anchor="ctr"/>
          <a:lstStyle/>
          <a:p>
            <a:pPr indent="0" marL="0">
              <a:lnSpc>
                <a:spcPct val="128000"/>
              </a:lnSpc>
              <a:buNone/>
            </a:pPr>
            <a:r>
              <a:rPr lang="en-US" sz="1100" dirty="0">
                <a:solidFill>
                  <a:srgbClr val="33332F"/>
                </a:solidFill>
                <a:latin typeface="Helvetica Neue" pitchFamily="34" charset="0"/>
                <a:ea typeface="Helvetica Neue" pitchFamily="34" charset="-122"/>
                <a:cs typeface="Helvetica Neue" pitchFamily="34" charset="-120"/>
              </a:rPr>
              <a:t>Fee minus verified recovered value. The pricing argument no open pit and no fixed site can match — published once third-party verification lands.</a:t>
            </a:r>
            <a:endParaRPr lang="en-US" sz="1100" dirty="0"/>
          </a:p>
        </p:txBody>
      </p:sp>
      <p:sp>
        <p:nvSpPr>
          <p:cNvPr id="24" name="Text 22"/>
          <p:cNvSpPr txBox="1"/>
          <p:nvPr/>
        </p:nvSpPr>
        <p:spPr>
          <a:xfrm>
            <a:off x="640080" y="5852160"/>
            <a:ext cx="10881360" cy="640080"/>
          </a:xfrm>
          <a:prstGeom prst="rect">
            <a:avLst/>
          </a:prstGeom>
          <a:noFill/>
          <a:ln/>
        </p:spPr>
        <p:txBody>
          <a:bodyPr wrap="square" lIns="0" tIns="0" rIns="0" bIns="0" rtlCol="0" anchor="ctr"/>
          <a:lstStyle/>
          <a:p>
            <a:pPr indent="0" marL="0">
              <a:lnSpc>
                <a:spcPct val="130000"/>
              </a:lnSpc>
              <a:buNone/>
            </a:pPr>
            <a:r>
              <a:rPr lang="en-US" sz="1250" b="1" dirty="0">
                <a:solidFill>
                  <a:srgbClr val="000000"/>
                </a:solidFill>
                <a:latin typeface="Helvetica Neue" pitchFamily="34" charset="0"/>
                <a:ea typeface="Helvetica Neue" pitchFamily="34" charset="-122"/>
                <a:cs typeface="Helvetica Neue" pitchFamily="34" charset="-120"/>
              </a:rPr>
              <a:t>Then it compounds up the plan: </a:t>
            </a:r>
            <a:pPr indent="0" marL="0">
              <a:lnSpc>
                <a:spcPct val="130000"/>
              </a:lnSpc>
              <a:buNone/>
            </a:pPr>
            <a:r>
              <a:rPr lang="en-US" sz="1250" dirty="0">
                <a:solidFill>
                  <a:srgbClr val="33332F"/>
                </a:solidFill>
                <a:latin typeface="Helvetica Neue" pitchFamily="34" charset="0"/>
                <a:ea typeface="Helvetica Neue" pitchFamily="34" charset="-122"/>
                <a:cs typeface="Helvetica Neue" pitchFamily="34" charset="-120"/>
              </a:rPr>
              <a:t>destruction fee → destruction + recovery contracts → sovereign build-operate-certify programs. Each phase adds a revenue layer without abandoning the last.</a:t>
            </a:r>
            <a:endParaRPr lang="en-US" sz="1250" dirty="0"/>
          </a:p>
        </p:txBody>
      </p:sp>
      <p:sp>
        <p:nvSpPr>
          <p:cNvPr id="25" name="Text 23"/>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13  ·  TWB DESIGNS — CONFIDENTIAL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WHY NOW</a:t>
            </a:r>
            <a:endParaRPr lang="en-US" sz="1000" dirty="0"/>
          </a:p>
        </p:txBody>
      </p:sp>
      <p:sp>
        <p:nvSpPr>
          <p:cNvPr id="3" name="Text 1"/>
          <p:cNvSpPr txBox="1"/>
          <p:nvPr/>
        </p:nvSpPr>
        <p:spPr>
          <a:xfrm>
            <a:off x="640080" y="868680"/>
            <a:ext cx="10789920" cy="777240"/>
          </a:xfrm>
          <a:prstGeom prst="rect">
            <a:avLst/>
          </a:prstGeom>
          <a:noFill/>
          <a:ln/>
        </p:spPr>
        <p:txBody>
          <a:bodyPr wrap="square" lIns="0" tIns="0" rIns="0" bIns="0" rtlCol="0" anchor="ctr"/>
          <a:lstStyle/>
          <a:p>
            <a:pPr indent="0" marL="0">
              <a:buNone/>
            </a:pPr>
            <a:r>
              <a:rPr lang="en-US" sz="2700" spc="-30" kern="0" dirty="0">
                <a:solidFill>
                  <a:srgbClr val="000000"/>
                </a:solidFill>
                <a:latin typeface="Helvetica Neue" pitchFamily="34" charset="0"/>
                <a:ea typeface="Helvetica Neue" pitchFamily="34" charset="-122"/>
                <a:cs typeface="Helvetica Neue" pitchFamily="34" charset="-120"/>
              </a:rPr>
              <a:t>Four clocks, all running. None of them re-opens.</a:t>
            </a:r>
            <a:endParaRPr lang="en-US" sz="2700" dirty="0"/>
          </a:p>
        </p:txBody>
      </p:sp>
      <p:sp>
        <p:nvSpPr>
          <p:cNvPr id="4" name="Text 2"/>
          <p:cNvSpPr txBox="1"/>
          <p:nvPr/>
        </p:nvSpPr>
        <p:spPr>
          <a:xfrm>
            <a:off x="640080" y="1828800"/>
            <a:ext cx="2103120" cy="2834640"/>
          </a:xfrm>
          <a:prstGeom prst="rect">
            <a:avLst/>
          </a:prstGeom>
          <a:noFill/>
          <a:ln/>
        </p:spPr>
        <p:txBody>
          <a:bodyPr wrap="square" lIns="0" tIns="0" rIns="0" bIns="0" rtlCol="0" anchor="t"/>
          <a:lstStyle/>
          <a:p>
            <a:pPr algn="l" indent="0" marL="0">
              <a:buNone/>
            </a:pPr>
            <a:r>
              <a:rPr lang="en-US" sz="17000" spc="-200" kern="0" dirty="0">
                <a:solidFill>
                  <a:srgbClr val="66705F"/>
                </a:solidFill>
                <a:latin typeface="Helvetica Neue" pitchFamily="34" charset="0"/>
                <a:ea typeface="Helvetica Neue" pitchFamily="34" charset="-122"/>
                <a:cs typeface="Helvetica Neue" pitchFamily="34" charset="-120"/>
              </a:rPr>
              <a:t>4</a:t>
            </a:r>
            <a:endParaRPr lang="en-US" sz="17000" dirty="0"/>
          </a:p>
        </p:txBody>
      </p:sp>
      <p:sp>
        <p:nvSpPr>
          <p:cNvPr id="5" name="Text 3"/>
          <p:cNvSpPr txBox="1"/>
          <p:nvPr/>
        </p:nvSpPr>
        <p:spPr>
          <a:xfrm>
            <a:off x="640080" y="4617720"/>
            <a:ext cx="2377440" cy="548640"/>
          </a:xfrm>
          <a:prstGeom prst="rect">
            <a:avLst/>
          </a:prstGeom>
          <a:noFill/>
          <a:ln/>
        </p:spPr>
        <p:txBody>
          <a:bodyPr wrap="square" lIns="0" tIns="0" rIns="0" bIns="0" rtlCol="0" anchor="ctr"/>
          <a:lstStyle/>
          <a:p>
            <a:pPr indent="0" marL="0">
              <a:lnSpc>
                <a:spcPct val="130000"/>
              </a:lnSpc>
              <a:buNone/>
            </a:pPr>
            <a:r>
              <a:rPr lang="en-US" sz="1000" b="1" spc="180" kern="0" dirty="0">
                <a:solidFill>
                  <a:srgbClr val="66705F"/>
                </a:solidFill>
                <a:latin typeface="IBM Plex Mono" pitchFamily="34" charset="0"/>
                <a:ea typeface="IBM Plex Mono" pitchFamily="34" charset="-122"/>
                <a:cs typeface="IBM Plex Mono" pitchFamily="34" charset="-120"/>
              </a:rPr>
              <a:t>CLOCKS CONVERGING</a:t>
            </a:r>
            <a:endParaRPr lang="en-US" sz="1000" dirty="0"/>
          </a:p>
        </p:txBody>
      </p:sp>
      <p:sp>
        <p:nvSpPr>
          <p:cNvPr id="6" name="Shape 4"/>
          <p:cNvSpPr/>
          <p:nvPr/>
        </p:nvSpPr>
        <p:spPr>
          <a:xfrm>
            <a:off x="3017520" y="1828800"/>
            <a:ext cx="4137660" cy="1554480"/>
          </a:xfrm>
          <a:prstGeom prst="rect">
            <a:avLst/>
          </a:prstGeom>
          <a:solidFill>
            <a:srgbClr val="FAFAF8"/>
          </a:solidFill>
          <a:ln w="9525">
            <a:solidFill>
              <a:srgbClr val="E2E1DA"/>
            </a:solidFill>
            <a:prstDash val="solid"/>
          </a:ln>
        </p:spPr>
      </p:sp>
      <p:sp>
        <p:nvSpPr>
          <p:cNvPr id="7" name="Text 5"/>
          <p:cNvSpPr txBox="1"/>
          <p:nvPr/>
        </p:nvSpPr>
        <p:spPr>
          <a:xfrm>
            <a:off x="3218688" y="199339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01 · REARMAMENT</a:t>
            </a:r>
            <a:endParaRPr lang="en-US" sz="950" dirty="0"/>
          </a:p>
        </p:txBody>
      </p:sp>
      <p:sp>
        <p:nvSpPr>
          <p:cNvPr id="8" name="Text 6"/>
          <p:cNvSpPr txBox="1"/>
          <p:nvPr/>
        </p:nvSpPr>
        <p:spPr>
          <a:xfrm>
            <a:off x="3218688" y="233172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Surge production is compounding allied stockpiles — today's shells are tomorrow's destruction queue.</a:t>
            </a:r>
            <a:endParaRPr lang="en-US" sz="1100" dirty="0"/>
          </a:p>
        </p:txBody>
      </p:sp>
      <p:sp>
        <p:nvSpPr>
          <p:cNvPr id="9" name="Shape 7"/>
          <p:cNvSpPr/>
          <p:nvPr/>
        </p:nvSpPr>
        <p:spPr>
          <a:xfrm>
            <a:off x="7411212" y="1828800"/>
            <a:ext cx="4137660" cy="1554480"/>
          </a:xfrm>
          <a:prstGeom prst="rect">
            <a:avLst/>
          </a:prstGeom>
          <a:solidFill>
            <a:srgbClr val="FAFAF8"/>
          </a:solidFill>
          <a:ln w="9525">
            <a:solidFill>
              <a:srgbClr val="E2E1DA"/>
            </a:solidFill>
            <a:prstDash val="solid"/>
          </a:ln>
        </p:spPr>
      </p:sp>
      <p:sp>
        <p:nvSpPr>
          <p:cNvPr id="10" name="Text 8"/>
          <p:cNvSpPr txBox="1"/>
          <p:nvPr/>
        </p:nvSpPr>
        <p:spPr>
          <a:xfrm>
            <a:off x="7612380" y="199339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02 · REGULATION</a:t>
            </a:r>
            <a:endParaRPr lang="en-US" sz="950" dirty="0"/>
          </a:p>
        </p:txBody>
      </p:sp>
      <p:sp>
        <p:nvSpPr>
          <p:cNvPr id="11" name="Text 9"/>
          <p:cNvSpPr txBox="1"/>
          <p:nvPr/>
        </p:nvSpPr>
        <p:spPr>
          <a:xfrm>
            <a:off x="7612380" y="233172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The EPA is closing open burn / open detonation — 67 facilities targeted. The incumbent method is being outlawed in real time.⁸</a:t>
            </a:r>
            <a:endParaRPr lang="en-US" sz="1100" dirty="0"/>
          </a:p>
        </p:txBody>
      </p:sp>
      <p:sp>
        <p:nvSpPr>
          <p:cNvPr id="12" name="Shape 10"/>
          <p:cNvSpPr/>
          <p:nvPr/>
        </p:nvSpPr>
        <p:spPr>
          <a:xfrm>
            <a:off x="3017520" y="3566160"/>
            <a:ext cx="4137660" cy="1554480"/>
          </a:xfrm>
          <a:prstGeom prst="rect">
            <a:avLst/>
          </a:prstGeom>
          <a:solidFill>
            <a:srgbClr val="FAFAF8"/>
          </a:solidFill>
          <a:ln w="9525">
            <a:solidFill>
              <a:srgbClr val="E2E1DA"/>
            </a:solidFill>
            <a:prstDash val="solid"/>
          </a:ln>
        </p:spPr>
      </p:sp>
      <p:sp>
        <p:nvSpPr>
          <p:cNvPr id="13" name="Text 11"/>
          <p:cNvSpPr txBox="1"/>
          <p:nvPr/>
        </p:nvSpPr>
        <p:spPr>
          <a:xfrm>
            <a:off x="3218688" y="373075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03 · CRITICAL MINERALS</a:t>
            </a:r>
            <a:endParaRPr lang="en-US" sz="950" dirty="0"/>
          </a:p>
        </p:txBody>
      </p:sp>
      <p:sp>
        <p:nvSpPr>
          <p:cNvPr id="14" name="Text 12"/>
          <p:cNvSpPr txBox="1"/>
          <p:nvPr/>
        </p:nvSpPr>
        <p:spPr>
          <a:xfrm>
            <a:off x="3218688" y="406908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Copper, lead and antimony repriced by policy — the output of destruction became strategic feedstock.¹¹</a:t>
            </a:r>
            <a:endParaRPr lang="en-US" sz="1100" dirty="0"/>
          </a:p>
        </p:txBody>
      </p:sp>
      <p:sp>
        <p:nvSpPr>
          <p:cNvPr id="15" name="Shape 13"/>
          <p:cNvSpPr/>
          <p:nvPr/>
        </p:nvSpPr>
        <p:spPr>
          <a:xfrm>
            <a:off x="7411212" y="3566160"/>
            <a:ext cx="4137660" cy="1554480"/>
          </a:xfrm>
          <a:prstGeom prst="rect">
            <a:avLst/>
          </a:prstGeom>
          <a:solidFill>
            <a:srgbClr val="FAFAF8"/>
          </a:solidFill>
          <a:ln w="9525">
            <a:solidFill>
              <a:srgbClr val="E2E1DA"/>
            </a:solidFill>
            <a:prstDash val="solid"/>
          </a:ln>
        </p:spPr>
      </p:sp>
      <p:sp>
        <p:nvSpPr>
          <p:cNvPr id="16" name="Text 14"/>
          <p:cNvSpPr txBox="1"/>
          <p:nvPr/>
        </p:nvSpPr>
        <p:spPr>
          <a:xfrm>
            <a:off x="7612380" y="3730752"/>
            <a:ext cx="3735324" cy="274320"/>
          </a:xfrm>
          <a:prstGeom prst="rect">
            <a:avLst/>
          </a:prstGeom>
          <a:noFill/>
          <a:ln/>
        </p:spPr>
        <p:txBody>
          <a:bodyPr wrap="square" lIns="0" tIns="0" rIns="0" bIns="0" rtlCol="0" anchor="ctr"/>
          <a:lstStyle/>
          <a:p>
            <a:pPr indent="0" marL="0">
              <a:buNone/>
            </a:pPr>
            <a:r>
              <a:rPr lang="en-US" sz="950" b="1" spc="150" kern="0" dirty="0">
                <a:solidFill>
                  <a:srgbClr val="66705F"/>
                </a:solidFill>
                <a:latin typeface="IBM Plex Mono" pitchFamily="34" charset="0"/>
                <a:ea typeface="IBM Plex Mono" pitchFamily="34" charset="-122"/>
                <a:cs typeface="IBM Plex Mono" pitchFamily="34" charset="-120"/>
              </a:rPr>
              <a:t>04 · SUCCESSION</a:t>
            </a:r>
            <a:endParaRPr lang="en-US" sz="950" dirty="0"/>
          </a:p>
        </p:txBody>
      </p:sp>
      <p:sp>
        <p:nvSpPr>
          <p:cNvPr id="17" name="Text 15"/>
          <p:cNvSpPr txBox="1"/>
          <p:nvPr/>
        </p:nvSpPr>
        <p:spPr>
          <a:xfrm>
            <a:off x="7612380" y="4069080"/>
            <a:ext cx="3735324" cy="960120"/>
          </a:xfrm>
          <a:prstGeom prst="rect">
            <a:avLst/>
          </a:prstGeom>
          <a:noFill/>
          <a:ln/>
        </p:spPr>
        <p:txBody>
          <a:bodyPr wrap="square" lIns="0" tIns="0" rIns="0" bIns="0" rtlCol="0" anchor="ctr"/>
          <a:lstStyle/>
          <a:p>
            <a:pPr indent="0" marL="0">
              <a:lnSpc>
                <a:spcPct val="125000"/>
              </a:lnSpc>
              <a:buNone/>
            </a:pPr>
            <a:r>
              <a:rPr lang="en-US" sz="1100" dirty="0">
                <a:solidFill>
                  <a:srgbClr val="33332F"/>
                </a:solidFill>
                <a:latin typeface="Helvetica Neue" pitchFamily="34" charset="0"/>
                <a:ea typeface="Helvetica Neue" pitchFamily="34" charset="-122"/>
                <a:cs typeface="Helvetica Neue" pitchFamily="34" charset="-120"/>
              </a:rPr>
              <a:t>The founder generation that holds the capability is retiring — pricing the M&amp;A at 4–7× EBITDA, for now.¹⁷</a:t>
            </a:r>
            <a:endParaRPr lang="en-US" sz="1100" dirty="0"/>
          </a:p>
        </p:txBody>
      </p:sp>
      <p:sp>
        <p:nvSpPr>
          <p:cNvPr id="18" name="Text 16"/>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600" b="1" dirty="0">
                <a:solidFill>
                  <a:srgbClr val="000000"/>
                </a:solidFill>
                <a:latin typeface="Helvetica Neue" pitchFamily="34" charset="0"/>
                <a:ea typeface="Helvetica Neue" pitchFamily="34" charset="-122"/>
                <a:cs typeface="Helvetica Neue" pitchFamily="34" charset="-120"/>
              </a:rPr>
              <a:t>Any one clock is a tailwind. All four at once is a category being born.</a:t>
            </a:r>
            <a:endParaRPr lang="en-US" sz="1600" dirty="0"/>
          </a:p>
        </p:txBody>
      </p:sp>
      <p:sp>
        <p:nvSpPr>
          <p:cNvPr id="19" name="Text 1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14  ·  TWB DESIGNS — CONFIDENTIAL</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788274"/>
        </a:solidFill>
      </p:bgPr>
    </p:bg>
    <p:spTree>
      <p:nvGrpSpPr>
        <p:cNvPr id="1" name=""/>
        <p:cNvGrpSpPr/>
        <p:nvPr/>
      </p:nvGrpSpPr>
      <p:grpSpPr>
        <a:xfrm>
          <a:off x="0" y="0"/>
          <a:ext cx="0" cy="0"/>
          <a:chOff x="0" y="0"/>
          <a:chExt cx="0" cy="0"/>
        </a:xfrm>
      </p:grpSpPr>
      <p:pic>
        <p:nvPicPr>
          <p:cNvPr id="2" name="Image 0" descr="/mnt/user-data/uploads/TWB Designs/brand/twb-logo-white.png">    </p:cNvPr>
          <p:cNvPicPr>
            <a:picLocks noChangeAspect="1"/>
          </p:cNvPicPr>
          <p:nvPr/>
        </p:nvPicPr>
        <p:blipFill>
          <a:blip r:embed="rId1"/>
          <a:stretch>
            <a:fillRect/>
          </a:stretch>
        </p:blipFill>
        <p:spPr>
          <a:xfrm>
            <a:off x="640080" y="559613"/>
            <a:ext cx="919343" cy="141732"/>
          </a:xfrm>
          <a:prstGeom prst="rect">
            <a:avLst/>
          </a:prstGeom>
        </p:spPr>
      </p:pic>
      <p:sp>
        <p:nvSpPr>
          <p:cNvPr id="3" name="Text 0"/>
          <p:cNvSpPr txBox="1"/>
          <p:nvPr/>
        </p:nvSpPr>
        <p:spPr>
          <a:xfrm>
            <a:off x="1623431" y="489204"/>
            <a:ext cx="1097280" cy="347472"/>
          </a:xfrm>
          <a:prstGeom prst="rect">
            <a:avLst/>
          </a:prstGeom>
          <a:noFill/>
          <a:ln/>
        </p:spPr>
        <p:txBody>
          <a:bodyPr wrap="square" lIns="0" tIns="0" rIns="0" bIns="0" rtlCol="0" anchor="ctr"/>
          <a:lstStyle/>
          <a:p>
            <a:pPr indent="0" marL="0">
              <a:buNone/>
            </a:pPr>
            <a:r>
              <a:rPr lang="en-US" sz="1500" b="1" dirty="0">
                <a:solidFill>
                  <a:srgbClr val="FFFFFF"/>
                </a:solidFill>
                <a:latin typeface="Helvetica Neue" pitchFamily="34" charset="0"/>
                <a:ea typeface="Helvetica Neue" pitchFamily="34" charset="-122"/>
                <a:cs typeface="Helvetica Neue" pitchFamily="34" charset="-120"/>
              </a:rPr>
              <a:t>Designs</a:t>
            </a:r>
            <a:endParaRPr lang="en-US" sz="1500" dirty="0"/>
          </a:p>
        </p:txBody>
      </p:sp>
      <p:sp>
        <p:nvSpPr>
          <p:cNvPr id="4" name="Text 1"/>
          <p:cNvSpPr txBox="1"/>
          <p:nvPr/>
        </p:nvSpPr>
        <p:spPr>
          <a:xfrm>
            <a:off x="640080" y="1371600"/>
            <a:ext cx="10698480" cy="1737360"/>
          </a:xfrm>
          <a:prstGeom prst="rect">
            <a:avLst/>
          </a:prstGeom>
          <a:noFill/>
          <a:ln/>
        </p:spPr>
        <p:txBody>
          <a:bodyPr wrap="square" lIns="0" tIns="0" rIns="0" bIns="0" rtlCol="0" anchor="ctr"/>
          <a:lstStyle/>
          <a:p>
            <a:pPr indent="0" marL="0">
              <a:lnSpc>
                <a:spcPct val="118000"/>
              </a:lnSpc>
              <a:buNone/>
            </a:pPr>
            <a:r>
              <a:rPr lang="en-US" sz="2700" spc="-30" kern="0" dirty="0">
                <a:solidFill>
                  <a:srgbClr val="FFFFFF"/>
                </a:solidFill>
                <a:latin typeface="Helvetica Neue" pitchFamily="34" charset="0"/>
                <a:ea typeface="Helvetica Neue" pitchFamily="34" charset="-122"/>
                <a:cs typeface="Helvetica Neue" pitchFamily="34" charset="-120"/>
              </a:rPr>
              <a:t>Every war ends. Every stockpile ages. Every round, one day, must be unmade — </a:t>
            </a:r>
            <a:pPr indent="0" marL="0">
              <a:lnSpc>
                <a:spcPct val="118000"/>
              </a:lnSpc>
              <a:buNone/>
            </a:pPr>
            <a:r>
              <a:rPr lang="en-US" sz="2700" i="1" spc="-30" kern="0" dirty="0">
                <a:solidFill>
                  <a:srgbClr val="E9EDE7"/>
                </a:solidFill>
                <a:latin typeface="Helvetica Neue" pitchFamily="34" charset="0"/>
                <a:ea typeface="Helvetica Neue" pitchFamily="34" charset="-122"/>
                <a:cs typeface="Helvetica Neue" pitchFamily="34" charset="-120"/>
              </a:rPr>
              <a:t>inside its owner's custody, by the company that built the back of the lifecycle.</a:t>
            </a:r>
            <a:endParaRPr lang="en-US" sz="2700" dirty="0"/>
          </a:p>
        </p:txBody>
      </p:sp>
      <p:sp>
        <p:nvSpPr>
          <p:cNvPr id="5" name="Text 2"/>
          <p:cNvSpPr txBox="1"/>
          <p:nvPr/>
        </p:nvSpPr>
        <p:spPr>
          <a:xfrm>
            <a:off x="640080" y="3246120"/>
            <a:ext cx="4206240" cy="960120"/>
          </a:xfrm>
          <a:prstGeom prst="rect">
            <a:avLst/>
          </a:prstGeom>
          <a:noFill/>
          <a:ln/>
        </p:spPr>
        <p:txBody>
          <a:bodyPr wrap="square" lIns="0" tIns="0" rIns="0" bIns="0" rtlCol="0" anchor="t"/>
          <a:lstStyle/>
          <a:p>
            <a:pPr algn="l" indent="0" marL="0">
              <a:buNone/>
            </a:pPr>
            <a:r>
              <a:rPr lang="en-US" sz="6200" spc="-150" kern="0" dirty="0">
                <a:solidFill>
                  <a:srgbClr val="FFFFFF"/>
                </a:solidFill>
                <a:latin typeface="Helvetica Neue" pitchFamily="34" charset="0"/>
                <a:ea typeface="Helvetica Neue" pitchFamily="34" charset="-122"/>
                <a:cs typeface="Helvetica Neue" pitchFamily="34" charset="-120"/>
              </a:rPr>
              <a:t>$2.88T</a:t>
            </a:r>
            <a:endParaRPr lang="en-US" sz="6200" dirty="0"/>
          </a:p>
        </p:txBody>
      </p:sp>
      <p:sp>
        <p:nvSpPr>
          <p:cNvPr id="6" name="Text 3"/>
          <p:cNvSpPr txBox="1"/>
          <p:nvPr/>
        </p:nvSpPr>
        <p:spPr>
          <a:xfrm>
            <a:off x="640080" y="4114800"/>
            <a:ext cx="384048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D8DED2"/>
                </a:solidFill>
                <a:latin typeface="IBM Plex Mono" pitchFamily="34" charset="0"/>
                <a:ea typeface="IBM Plex Mono" pitchFamily="34" charset="-122"/>
                <a:cs typeface="IBM Plex Mono" pitchFamily="34" charset="-120"/>
              </a:rPr>
              <a:t>SPENT MAKING IT, 2025</a:t>
            </a:r>
            <a:endParaRPr lang="en-US" sz="1050" dirty="0"/>
          </a:p>
        </p:txBody>
      </p:sp>
      <p:sp>
        <p:nvSpPr>
          <p:cNvPr id="7" name="Text 4"/>
          <p:cNvSpPr txBox="1"/>
          <p:nvPr/>
        </p:nvSpPr>
        <p:spPr>
          <a:xfrm>
            <a:off x="4709160" y="3337560"/>
            <a:ext cx="502920" cy="731520"/>
          </a:xfrm>
          <a:prstGeom prst="rect">
            <a:avLst/>
          </a:prstGeom>
          <a:noFill/>
          <a:ln/>
        </p:spPr>
        <p:txBody>
          <a:bodyPr wrap="square" lIns="0" tIns="0" rIns="0" bIns="0" rtlCol="0" anchor="ctr"/>
          <a:lstStyle/>
          <a:p>
            <a:pPr algn="ctr" indent="0" marL="0">
              <a:buNone/>
            </a:pPr>
            <a:r>
              <a:rPr lang="en-US" sz="2800" dirty="0">
                <a:solidFill>
                  <a:srgbClr val="C9CEC6"/>
                </a:solidFill>
                <a:latin typeface="Helvetica Neue" pitchFamily="34" charset="0"/>
                <a:ea typeface="Helvetica Neue" pitchFamily="34" charset="-122"/>
                <a:cs typeface="Helvetica Neue" pitchFamily="34" charset="-120"/>
              </a:rPr>
              <a:t>→</a:t>
            </a:r>
            <a:endParaRPr lang="en-US" sz="2800" dirty="0"/>
          </a:p>
        </p:txBody>
      </p:sp>
      <p:sp>
        <p:nvSpPr>
          <p:cNvPr id="8" name="Text 5"/>
          <p:cNvSpPr txBox="1"/>
          <p:nvPr/>
        </p:nvSpPr>
        <p:spPr>
          <a:xfrm>
            <a:off x="5257800" y="3246120"/>
            <a:ext cx="2011680" cy="960120"/>
          </a:xfrm>
          <a:prstGeom prst="rect">
            <a:avLst/>
          </a:prstGeom>
          <a:noFill/>
          <a:ln/>
        </p:spPr>
        <p:txBody>
          <a:bodyPr wrap="square" lIns="0" tIns="0" rIns="0" bIns="0" rtlCol="0" anchor="t"/>
          <a:lstStyle/>
          <a:p>
            <a:pPr algn="l" indent="0" marL="0">
              <a:buNone/>
            </a:pPr>
            <a:r>
              <a:rPr lang="en-US" sz="6200" spc="-150" kern="0" dirty="0">
                <a:solidFill>
                  <a:srgbClr val="FFFFFF"/>
                </a:solidFill>
                <a:latin typeface="Helvetica Neue" pitchFamily="34" charset="0"/>
                <a:ea typeface="Helvetica Neue" pitchFamily="34" charset="-122"/>
                <a:cs typeface="Helvetica Neue" pitchFamily="34" charset="-120"/>
              </a:rPr>
              <a:t>$0</a:t>
            </a:r>
            <a:endParaRPr lang="en-US" sz="6200" dirty="0"/>
          </a:p>
        </p:txBody>
      </p:sp>
      <p:sp>
        <p:nvSpPr>
          <p:cNvPr id="9" name="Text 6"/>
          <p:cNvSpPr txBox="1"/>
          <p:nvPr/>
        </p:nvSpPr>
        <p:spPr>
          <a:xfrm>
            <a:off x="5257800" y="4114800"/>
            <a:ext cx="2743200" cy="548640"/>
          </a:xfrm>
          <a:prstGeom prst="rect">
            <a:avLst/>
          </a:prstGeom>
          <a:noFill/>
          <a:ln/>
        </p:spPr>
        <p:txBody>
          <a:bodyPr wrap="square" lIns="0" tIns="0" rIns="0" bIns="0" rtlCol="0" anchor="ctr"/>
          <a:lstStyle/>
          <a:p>
            <a:pPr algn="l" indent="0" marL="0">
              <a:lnSpc>
                <a:spcPct val="140000"/>
              </a:lnSpc>
              <a:buNone/>
            </a:pPr>
            <a:r>
              <a:rPr lang="en-US" sz="1050" b="1" spc="180" kern="0" dirty="0">
                <a:solidFill>
                  <a:srgbClr val="D8DED2"/>
                </a:solidFill>
                <a:latin typeface="IBM Plex Mono" pitchFamily="34" charset="0"/>
                <a:ea typeface="IBM Plex Mono" pitchFamily="34" charset="-122"/>
                <a:cs typeface="IBM Plex Mono" pitchFamily="34" charset="-120"/>
              </a:rPr>
              <a:t>PLATFORMS TO UNMAKE IT</a:t>
            </a:r>
            <a:endParaRPr lang="en-US" sz="1050" dirty="0"/>
          </a:p>
        </p:txBody>
      </p:sp>
      <p:sp>
        <p:nvSpPr>
          <p:cNvPr id="10" name="Shape 7"/>
          <p:cNvSpPr/>
          <p:nvPr/>
        </p:nvSpPr>
        <p:spPr>
          <a:xfrm>
            <a:off x="640080" y="4709160"/>
            <a:ext cx="10908792" cy="1417320"/>
          </a:xfrm>
          <a:prstGeom prst="rect">
            <a:avLst/>
          </a:prstGeom>
          <a:solidFill>
            <a:srgbClr val="6B7568"/>
          </a:solidFill>
          <a:ln w="9525">
            <a:solidFill>
              <a:srgbClr val="96A093"/>
            </a:solidFill>
            <a:prstDash val="solid"/>
          </a:ln>
        </p:spPr>
      </p:sp>
      <p:sp>
        <p:nvSpPr>
          <p:cNvPr id="11" name="Shape 8"/>
          <p:cNvSpPr/>
          <p:nvPr/>
        </p:nvSpPr>
        <p:spPr>
          <a:xfrm>
            <a:off x="620878" y="4689958"/>
            <a:ext cx="59436" cy="12802"/>
          </a:xfrm>
          <a:prstGeom prst="rect">
            <a:avLst/>
          </a:prstGeom>
          <a:solidFill>
            <a:srgbClr val="FFFFFF"/>
          </a:solidFill>
          <a:ln/>
        </p:spPr>
      </p:sp>
      <p:sp>
        <p:nvSpPr>
          <p:cNvPr id="12" name="Shape 9"/>
          <p:cNvSpPr/>
          <p:nvPr/>
        </p:nvSpPr>
        <p:spPr>
          <a:xfrm>
            <a:off x="620878" y="4689958"/>
            <a:ext cx="12802" cy="59436"/>
          </a:xfrm>
          <a:prstGeom prst="rect">
            <a:avLst/>
          </a:prstGeom>
          <a:solidFill>
            <a:srgbClr val="FFFFFF"/>
          </a:solidFill>
          <a:ln/>
        </p:spPr>
      </p:sp>
      <p:sp>
        <p:nvSpPr>
          <p:cNvPr id="13" name="Shape 10"/>
          <p:cNvSpPr/>
          <p:nvPr/>
        </p:nvSpPr>
        <p:spPr>
          <a:xfrm>
            <a:off x="11508638" y="4689958"/>
            <a:ext cx="59436" cy="12802"/>
          </a:xfrm>
          <a:prstGeom prst="rect">
            <a:avLst/>
          </a:prstGeom>
          <a:solidFill>
            <a:srgbClr val="FFFFFF"/>
          </a:solidFill>
          <a:ln/>
        </p:spPr>
      </p:sp>
      <p:sp>
        <p:nvSpPr>
          <p:cNvPr id="14" name="Shape 11"/>
          <p:cNvSpPr/>
          <p:nvPr/>
        </p:nvSpPr>
        <p:spPr>
          <a:xfrm>
            <a:off x="11555273" y="4689958"/>
            <a:ext cx="12802" cy="59436"/>
          </a:xfrm>
          <a:prstGeom prst="rect">
            <a:avLst/>
          </a:prstGeom>
          <a:solidFill>
            <a:srgbClr val="FFFFFF"/>
          </a:solidFill>
          <a:ln/>
        </p:spPr>
      </p:sp>
      <p:sp>
        <p:nvSpPr>
          <p:cNvPr id="15" name="Shape 12"/>
          <p:cNvSpPr/>
          <p:nvPr/>
        </p:nvSpPr>
        <p:spPr>
          <a:xfrm>
            <a:off x="620878" y="6132881"/>
            <a:ext cx="59436" cy="12802"/>
          </a:xfrm>
          <a:prstGeom prst="rect">
            <a:avLst/>
          </a:prstGeom>
          <a:solidFill>
            <a:srgbClr val="FFFFFF"/>
          </a:solidFill>
          <a:ln/>
        </p:spPr>
      </p:sp>
      <p:sp>
        <p:nvSpPr>
          <p:cNvPr id="16" name="Shape 13"/>
          <p:cNvSpPr/>
          <p:nvPr/>
        </p:nvSpPr>
        <p:spPr>
          <a:xfrm>
            <a:off x="620878" y="6086246"/>
            <a:ext cx="12802" cy="59436"/>
          </a:xfrm>
          <a:prstGeom prst="rect">
            <a:avLst/>
          </a:prstGeom>
          <a:solidFill>
            <a:srgbClr val="FFFFFF"/>
          </a:solidFill>
          <a:ln/>
        </p:spPr>
      </p:sp>
      <p:sp>
        <p:nvSpPr>
          <p:cNvPr id="17" name="Shape 14"/>
          <p:cNvSpPr/>
          <p:nvPr/>
        </p:nvSpPr>
        <p:spPr>
          <a:xfrm>
            <a:off x="11508638" y="6132881"/>
            <a:ext cx="59436" cy="12802"/>
          </a:xfrm>
          <a:prstGeom prst="rect">
            <a:avLst/>
          </a:prstGeom>
          <a:solidFill>
            <a:srgbClr val="FFFFFF"/>
          </a:solidFill>
          <a:ln/>
        </p:spPr>
      </p:sp>
      <p:sp>
        <p:nvSpPr>
          <p:cNvPr id="18" name="Shape 15"/>
          <p:cNvSpPr/>
          <p:nvPr/>
        </p:nvSpPr>
        <p:spPr>
          <a:xfrm>
            <a:off x="11555273" y="6086246"/>
            <a:ext cx="12802" cy="59436"/>
          </a:xfrm>
          <a:prstGeom prst="rect">
            <a:avLst/>
          </a:prstGeom>
          <a:solidFill>
            <a:srgbClr val="FFFFFF"/>
          </a:solidFill>
          <a:ln/>
        </p:spPr>
      </p:sp>
      <p:sp>
        <p:nvSpPr>
          <p:cNvPr id="19" name="Text 16"/>
          <p:cNvSpPr txBox="1"/>
          <p:nvPr/>
        </p:nvSpPr>
        <p:spPr>
          <a:xfrm>
            <a:off x="896112" y="4892040"/>
            <a:ext cx="7315200" cy="256032"/>
          </a:xfrm>
          <a:prstGeom prst="rect">
            <a:avLst/>
          </a:prstGeom>
          <a:noFill/>
          <a:ln/>
        </p:spPr>
        <p:txBody>
          <a:bodyPr wrap="square" lIns="0" tIns="0" rIns="0" bIns="0" rtlCol="0" anchor="ctr"/>
          <a:lstStyle/>
          <a:p>
            <a:pPr indent="0" marL="0">
              <a:buNone/>
            </a:pPr>
            <a:r>
              <a:rPr lang="en-US" sz="1000" b="1" spc="180" kern="0" dirty="0">
                <a:solidFill>
                  <a:srgbClr val="FFFFFF"/>
                </a:solidFill>
                <a:latin typeface="IBM Plex Mono" pitchFamily="34" charset="0"/>
                <a:ea typeface="IBM Plex Mono" pitchFamily="34" charset="-122"/>
                <a:cs typeface="IBM Plex Mono" pitchFamily="34" charset="-120"/>
              </a:rPr>
              <a:t>THE ASK — PLACEHOLDER, SIZED FROM THE PLAN</a:t>
            </a:r>
            <a:endParaRPr lang="en-US" sz="1000" dirty="0"/>
          </a:p>
        </p:txBody>
      </p:sp>
      <p:sp>
        <p:nvSpPr>
          <p:cNvPr id="20" name="Text 17"/>
          <p:cNvSpPr txBox="1"/>
          <p:nvPr/>
        </p:nvSpPr>
        <p:spPr>
          <a:xfrm>
            <a:off x="896112" y="5193792"/>
            <a:ext cx="10396728" cy="868680"/>
          </a:xfrm>
          <a:prstGeom prst="rect">
            <a:avLst/>
          </a:prstGeom>
          <a:noFill/>
          <a:ln/>
        </p:spPr>
        <p:txBody>
          <a:bodyPr wrap="square" lIns="0" tIns="0" rIns="0" bIns="0" rtlCol="0" anchor="ctr"/>
          <a:lstStyle/>
          <a:p>
            <a:pPr indent="0" marL="0">
              <a:lnSpc>
                <a:spcPct val="130000"/>
              </a:lnSpc>
              <a:buNone/>
            </a:pPr>
            <a:r>
              <a:rPr lang="en-US" sz="1150" dirty="0">
                <a:solidFill>
                  <a:srgbClr val="EDF0EB"/>
                </a:solidFill>
                <a:latin typeface="Helvetica Neue" pitchFamily="34" charset="0"/>
                <a:ea typeface="Helvetica Neue" pitchFamily="34" charset="-122"/>
                <a:cs typeface="Helvetica Neue" pitchFamily="34" charset="-120"/>
              </a:rPr>
              <a:t>Raise, instrument and use of proceeds follow the phase ladder: acquisition capital at real multiples · partnership and development programs · working capital for first allied contracts. Reserved slides behind: milestones · team · references &amp; past performance · financial model.</a:t>
            </a:r>
            <a:endParaRPr lang="en-US" sz="1150" dirty="0"/>
          </a:p>
        </p:txBody>
      </p:sp>
      <p:sp>
        <p:nvSpPr>
          <p:cNvPr id="21" name="Text 18"/>
          <p:cNvSpPr txBox="1"/>
          <p:nvPr/>
        </p:nvSpPr>
        <p:spPr>
          <a:xfrm>
            <a:off x="6336792" y="6382512"/>
            <a:ext cx="5212080" cy="256032"/>
          </a:xfrm>
          <a:prstGeom prst="rect">
            <a:avLst/>
          </a:prstGeom>
          <a:noFill/>
          <a:ln/>
        </p:spPr>
        <p:txBody>
          <a:bodyPr wrap="square" lIns="0" tIns="0" rIns="0" bIns="0" rtlCol="0" anchor="ctr"/>
          <a:lstStyle/>
          <a:p>
            <a:pPr algn="r" indent="0" marL="0">
              <a:buNone/>
            </a:pPr>
            <a:r>
              <a:rPr lang="en-US" sz="850" spc="200" kern="0" dirty="0">
                <a:solidFill>
                  <a:srgbClr val="C9CEC6"/>
                </a:solidFill>
                <a:latin typeface="IBM Plex Mono" pitchFamily="34" charset="0"/>
                <a:ea typeface="IBM Plex Mono" pitchFamily="34" charset="-122"/>
                <a:cs typeface="IBM Plex Mono" pitchFamily="34" charset="-120"/>
              </a:rPr>
              <a:t>TWB DESIGNS INC. · HAMILTON, ONTARIO · A CLN COMPANY</a:t>
            </a:r>
            <a:endParaRPr lang="en-US" sz="850" dirty="0"/>
          </a:p>
        </p:txBody>
      </p:sp>
      <p:sp>
        <p:nvSpPr>
          <p:cNvPr id="22" name="Text 19"/>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C9CEC6"/>
                </a:solidFill>
                <a:latin typeface="IBM Plex Mono" pitchFamily="34" charset="0"/>
                <a:ea typeface="IBM Plex Mono" pitchFamily="34" charset="-122"/>
                <a:cs typeface="IBM Plex Mono" pitchFamily="34" charset="-120"/>
              </a:rPr>
              <a:t>15  ·  TWB DESIGNS — CONFIDENTIAL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SOURCES &amp; CITATIONS — 1 OF 2</a:t>
            </a:r>
            <a:endParaRPr lang="en-US" sz="1000" dirty="0"/>
          </a:p>
        </p:txBody>
      </p:sp>
      <p:sp>
        <p:nvSpPr>
          <p:cNvPr id="3" name="Text 1"/>
          <p:cNvSpPr txBox="1"/>
          <p:nvPr/>
        </p:nvSpPr>
        <p:spPr>
          <a:xfrm>
            <a:off x="640080" y="822960"/>
            <a:ext cx="7863840" cy="548640"/>
          </a:xfrm>
          <a:prstGeom prst="rect">
            <a:avLst/>
          </a:prstGeom>
          <a:noFill/>
          <a:ln/>
        </p:spPr>
        <p:txBody>
          <a:bodyPr wrap="square" lIns="0" tIns="0" rIns="0" bIns="0" rtlCol="0" anchor="ctr"/>
          <a:lstStyle/>
          <a:p>
            <a:pPr indent="0" marL="0">
              <a:buNone/>
            </a:pPr>
            <a:r>
              <a:rPr lang="en-US" sz="2500" spc="-30" kern="0" dirty="0">
                <a:solidFill>
                  <a:srgbClr val="000000"/>
                </a:solidFill>
                <a:latin typeface="Helvetica Neue" pitchFamily="34" charset="0"/>
                <a:ea typeface="Helvetica Neue" pitchFamily="34" charset="-122"/>
                <a:cs typeface="Helvetica Neue" pitchFamily="34" charset="-120"/>
              </a:rPr>
              <a:t>Every number on the page, traceable.</a:t>
            </a:r>
            <a:endParaRPr lang="en-US" sz="2500" dirty="0"/>
          </a:p>
        </p:txBody>
      </p:sp>
      <p:sp>
        <p:nvSpPr>
          <p:cNvPr id="4" name="Text 2"/>
          <p:cNvSpPr txBox="1"/>
          <p:nvPr/>
        </p:nvSpPr>
        <p:spPr>
          <a:xfrm>
            <a:off x="640080" y="1389888"/>
            <a:ext cx="10881360" cy="365760"/>
          </a:xfrm>
          <a:prstGeom prst="rect">
            <a:avLst/>
          </a:prstGeom>
          <a:noFill/>
          <a:ln/>
        </p:spPr>
        <p:txBody>
          <a:bodyPr wrap="square" lIns="0" tIns="0" rIns="0" bIns="0" rtlCol="0" anchor="ctr"/>
          <a:lstStyle/>
          <a:p>
            <a:pPr indent="0" marL="0">
              <a:buNone/>
            </a:pPr>
            <a:r>
              <a:rPr lang="en-US" sz="1150" b="1" dirty="0">
                <a:solidFill>
                  <a:srgbClr val="000000"/>
                </a:solidFill>
                <a:latin typeface="Helvetica Neue" pitchFamily="34" charset="0"/>
                <a:ea typeface="Helvetica Neue" pitchFamily="34" charset="-122"/>
                <a:cs typeface="Helvetica Neue" pitchFamily="34" charset="-120"/>
              </a:rPr>
              <a:t>Superscripts throughout the deck map to this list. </a:t>
            </a:r>
            <a:pPr indent="0" marL="0">
              <a:buNone/>
            </a:pPr>
            <a:r>
              <a:rPr lang="en-US" sz="1150" dirty="0">
                <a:solidFill>
                  <a:srgbClr val="33332F"/>
                </a:solidFill>
                <a:latin typeface="Helvetica Neue" pitchFamily="34" charset="0"/>
                <a:ea typeface="Helvetica Neue" pitchFamily="34" charset="-122"/>
                <a:cs typeface="Helvetica Neue" pitchFamily="34" charset="-120"/>
              </a:rPr>
              <a:t>Where a figure is our construction rather than a published one, it is labelled as such on the slide it appears.</a:t>
            </a:r>
            <a:endParaRPr lang="en-US" sz="1150" dirty="0"/>
          </a:p>
        </p:txBody>
      </p:sp>
      <p:sp>
        <p:nvSpPr>
          <p:cNvPr id="5" name="Shape 3"/>
          <p:cNvSpPr/>
          <p:nvPr/>
        </p:nvSpPr>
        <p:spPr>
          <a:xfrm>
            <a:off x="640080" y="1874520"/>
            <a:ext cx="10908792" cy="0"/>
          </a:xfrm>
          <a:prstGeom prst="line">
            <a:avLst/>
          </a:prstGeom>
          <a:noFill/>
          <a:ln w="9525">
            <a:solidFill>
              <a:srgbClr val="E2E1DA"/>
            </a:solidFill>
            <a:prstDash val="solid"/>
          </a:ln>
        </p:spPr>
      </p:sp>
      <p:sp>
        <p:nvSpPr>
          <p:cNvPr id="6" name="Text 4"/>
          <p:cNvSpPr txBox="1"/>
          <p:nvPr/>
        </p:nvSpPr>
        <p:spPr>
          <a:xfrm>
            <a:off x="640080" y="2084832"/>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a:t>
            </a:r>
            <a:endParaRPr lang="en-US" sz="1100" dirty="0"/>
          </a:p>
        </p:txBody>
      </p:sp>
      <p:sp>
        <p:nvSpPr>
          <p:cNvPr id="7" name="Text 5"/>
          <p:cNvSpPr txBox="1"/>
          <p:nvPr/>
        </p:nvSpPr>
        <p:spPr>
          <a:xfrm>
            <a:off x="1060704" y="2098548"/>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SIPRI</a:t>
            </a:r>
            <a:endParaRPr lang="en-US" sz="850" dirty="0"/>
          </a:p>
        </p:txBody>
      </p:sp>
      <p:sp>
        <p:nvSpPr>
          <p:cNvPr id="8" name="Text 6"/>
          <p:cNvSpPr txBox="1"/>
          <p:nvPr/>
        </p:nvSpPr>
        <p:spPr>
          <a:xfrm>
            <a:off x="1060704" y="2322576"/>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Trends in World Military Expenditure, 2025. SIPRI Fact Sheet, April 2026. World total US$2,887bn, constant 2024 prices; 11th consecutive annual rise.</a:t>
            </a:r>
            <a:endParaRPr lang="en-US" sz="850" dirty="0"/>
          </a:p>
        </p:txBody>
      </p:sp>
      <p:sp>
        <p:nvSpPr>
          <p:cNvPr id="9" name="Text 7"/>
          <p:cNvSpPr txBox="1"/>
          <p:nvPr/>
        </p:nvSpPr>
        <p:spPr>
          <a:xfrm>
            <a:off x="640080" y="2926080"/>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2</a:t>
            </a:r>
            <a:endParaRPr lang="en-US" sz="1100" dirty="0"/>
          </a:p>
        </p:txBody>
      </p:sp>
      <p:sp>
        <p:nvSpPr>
          <p:cNvPr id="10" name="Text 8"/>
          <p:cNvSpPr txBox="1"/>
          <p:nvPr/>
        </p:nvSpPr>
        <p:spPr>
          <a:xfrm>
            <a:off x="1060704" y="2939796"/>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UCDP / PRIO</a:t>
            </a:r>
            <a:endParaRPr lang="en-US" sz="850" dirty="0"/>
          </a:p>
        </p:txBody>
      </p:sp>
      <p:sp>
        <p:nvSpPr>
          <p:cNvPr id="11" name="Text 9"/>
          <p:cNvSpPr txBox="1"/>
          <p:nvPr/>
        </p:nvSpPr>
        <p:spPr>
          <a:xfrm>
            <a:off x="1060704" y="3163824"/>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UCDP–PRIO Armed Conflict Dataset v26.1 (Uppsala Conflict Data Program, 2026); Davies, Pettersson &amp; Öberg, “Organized violence 1989–2025”, Journal of Peace Research, 2026. 65 state-based armed conflicts in 2025, the highest since records began in 1946. Regional series via Our World in Data.</a:t>
            </a:r>
            <a:endParaRPr lang="en-US" sz="850" dirty="0"/>
          </a:p>
        </p:txBody>
      </p:sp>
      <p:sp>
        <p:nvSpPr>
          <p:cNvPr id="12" name="Text 10"/>
          <p:cNvSpPr txBox="1"/>
          <p:nvPr/>
        </p:nvSpPr>
        <p:spPr>
          <a:xfrm>
            <a:off x="640080" y="3767328"/>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3</a:t>
            </a:r>
            <a:endParaRPr lang="en-US" sz="1100" dirty="0"/>
          </a:p>
        </p:txBody>
      </p:sp>
      <p:sp>
        <p:nvSpPr>
          <p:cNvPr id="13" name="Text 11"/>
          <p:cNvSpPr txBox="1"/>
          <p:nvPr/>
        </p:nvSpPr>
        <p:spPr>
          <a:xfrm>
            <a:off x="1060704" y="3781044"/>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SIPRI</a:t>
            </a:r>
            <a:endParaRPr lang="en-US" sz="850" dirty="0"/>
          </a:p>
        </p:txBody>
      </p:sp>
      <p:sp>
        <p:nvSpPr>
          <p:cNvPr id="14" name="Text 12"/>
          <p:cNvSpPr txBox="1"/>
          <p:nvPr/>
        </p:nvSpPr>
        <p:spPr>
          <a:xfrm>
            <a:off x="1060704" y="4005072"/>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SIPRI Arms Industry Database — Top 100 arms-producing and military services companies, 2002–24 workbook, retrieved December 2025. Constant 2024 US$. Regional totals aggregated by headquarters country — TWB calculation, not a SIPRI-published breakdown; reconciles to SIPRI totals within rounding.</a:t>
            </a:r>
            <a:endParaRPr lang="en-US" sz="850" dirty="0"/>
          </a:p>
        </p:txBody>
      </p:sp>
      <p:sp>
        <p:nvSpPr>
          <p:cNvPr id="15" name="Text 13"/>
          <p:cNvSpPr txBox="1"/>
          <p:nvPr/>
        </p:nvSpPr>
        <p:spPr>
          <a:xfrm>
            <a:off x="640080" y="4608576"/>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4</a:t>
            </a:r>
            <a:endParaRPr lang="en-US" sz="1100" dirty="0"/>
          </a:p>
        </p:txBody>
      </p:sp>
      <p:sp>
        <p:nvSpPr>
          <p:cNvPr id="16" name="Text 14"/>
          <p:cNvSpPr txBox="1"/>
          <p:nvPr/>
        </p:nvSpPr>
        <p:spPr>
          <a:xfrm>
            <a:off x="1060704" y="4622292"/>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RHEINMETALL AG</a:t>
            </a:r>
            <a:endParaRPr lang="en-US" sz="850" dirty="0"/>
          </a:p>
        </p:txBody>
      </p:sp>
      <p:sp>
        <p:nvSpPr>
          <p:cNvPr id="17" name="Text 15"/>
          <p:cNvSpPr txBox="1"/>
          <p:nvPr/>
        </p:nvSpPr>
        <p:spPr>
          <a:xfrm>
            <a:off x="1060704" y="4846320"/>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Publicly stated 155mm artillery ammunition capacity target of 1.5 million rounds per year by 2027.</a:t>
            </a:r>
            <a:endParaRPr lang="en-US" sz="850" dirty="0"/>
          </a:p>
        </p:txBody>
      </p:sp>
      <p:sp>
        <p:nvSpPr>
          <p:cNvPr id="18" name="Text 16"/>
          <p:cNvSpPr txBox="1"/>
          <p:nvPr/>
        </p:nvSpPr>
        <p:spPr>
          <a:xfrm>
            <a:off x="640080" y="5449824"/>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5</a:t>
            </a:r>
            <a:endParaRPr lang="en-US" sz="1100" dirty="0"/>
          </a:p>
        </p:txBody>
      </p:sp>
      <p:sp>
        <p:nvSpPr>
          <p:cNvPr id="19" name="Text 17"/>
          <p:cNvSpPr txBox="1"/>
          <p:nvPr/>
        </p:nvSpPr>
        <p:spPr>
          <a:xfrm>
            <a:off x="1060704" y="5463540"/>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ARMY</a:t>
            </a:r>
            <a:endParaRPr lang="en-US" sz="850" dirty="0"/>
          </a:p>
        </p:txBody>
      </p:sp>
      <p:sp>
        <p:nvSpPr>
          <p:cNvPr id="20" name="Text 18"/>
          <p:cNvSpPr txBox="1"/>
          <p:nvPr/>
        </p:nvSpPr>
        <p:spPr>
          <a:xfrm>
            <a:off x="1060704" y="5687568"/>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FY2026 President’s Budget, Procurement of Ammunition justification book (June 2025), line 4099EP1700: as of 30 January 2025 the SMCA Resource, Recovery and Disposition Account (B5A) held 309,065 tons — 260,032 tons conventional ammunition and 49,033 tons missile components. “Over 7,000 items” per Army AL&amp;T, Fall 2024, and National Academies (2019).</a:t>
            </a:r>
            <a:endParaRPr lang="en-US" sz="850" dirty="0"/>
          </a:p>
        </p:txBody>
      </p:sp>
      <p:sp>
        <p:nvSpPr>
          <p:cNvPr id="21" name="Text 19"/>
          <p:cNvSpPr txBox="1"/>
          <p:nvPr/>
        </p:nvSpPr>
        <p:spPr>
          <a:xfrm>
            <a:off x="6345936" y="2084832"/>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6</a:t>
            </a:r>
            <a:endParaRPr lang="en-US" sz="1100" dirty="0"/>
          </a:p>
        </p:txBody>
      </p:sp>
      <p:sp>
        <p:nvSpPr>
          <p:cNvPr id="22" name="Text 20"/>
          <p:cNvSpPr txBox="1"/>
          <p:nvPr/>
        </p:nvSpPr>
        <p:spPr>
          <a:xfrm>
            <a:off x="6766560" y="2098548"/>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GAO / NAS</a:t>
            </a:r>
            <a:endParaRPr lang="en-US" sz="850" dirty="0"/>
          </a:p>
        </p:txBody>
      </p:sp>
      <p:sp>
        <p:nvSpPr>
          <p:cNvPr id="23" name="Text 21"/>
          <p:cNvSpPr txBox="1"/>
          <p:nvPr/>
        </p:nvSpPr>
        <p:spPr>
          <a:xfrm>
            <a:off x="6766560" y="2322576"/>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US Government Accountability Office (FY2015) and National Academies of Sciences, Engineering and Medicine — published conventional demilitarization cost of approximately US$2,000–2,890 per ton.</a:t>
            </a:r>
            <a:endParaRPr lang="en-US" sz="850" dirty="0"/>
          </a:p>
        </p:txBody>
      </p:sp>
      <p:sp>
        <p:nvSpPr>
          <p:cNvPr id="24" name="Text 22"/>
          <p:cNvSpPr txBox="1"/>
          <p:nvPr/>
        </p:nvSpPr>
        <p:spPr>
          <a:xfrm>
            <a:off x="6345936" y="2926080"/>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7</a:t>
            </a:r>
            <a:endParaRPr lang="en-US" sz="1100" dirty="0"/>
          </a:p>
        </p:txBody>
      </p:sp>
      <p:sp>
        <p:nvSpPr>
          <p:cNvPr id="25" name="Text 23"/>
          <p:cNvSpPr txBox="1"/>
          <p:nvPr/>
        </p:nvSpPr>
        <p:spPr>
          <a:xfrm>
            <a:off x="6766560" y="2939796"/>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LASD</a:t>
            </a:r>
            <a:endParaRPr lang="en-US" sz="850" dirty="0"/>
          </a:p>
        </p:txBody>
      </p:sp>
      <p:sp>
        <p:nvSpPr>
          <p:cNvPr id="26" name="Text 24"/>
          <p:cNvSpPr txBox="1"/>
          <p:nvPr/>
        </p:nvSpPr>
        <p:spPr>
          <a:xfrm>
            <a:off x="6766560" y="3163824"/>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Los Angeles County Sheriff’s Department — incident of 18 July 2025; three detectives killed while processing seized ordnance.</a:t>
            </a:r>
            <a:endParaRPr lang="en-US" sz="850" dirty="0"/>
          </a:p>
        </p:txBody>
      </p:sp>
      <p:sp>
        <p:nvSpPr>
          <p:cNvPr id="27" name="Text 25"/>
          <p:cNvSpPr txBox="1"/>
          <p:nvPr/>
        </p:nvSpPr>
        <p:spPr>
          <a:xfrm>
            <a:off x="6345936" y="3767328"/>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8</a:t>
            </a:r>
            <a:endParaRPr lang="en-US" sz="1100" dirty="0"/>
          </a:p>
        </p:txBody>
      </p:sp>
      <p:sp>
        <p:nvSpPr>
          <p:cNvPr id="28" name="Text 26"/>
          <p:cNvSpPr txBox="1"/>
          <p:nvPr/>
        </p:nvSpPr>
        <p:spPr>
          <a:xfrm>
            <a:off x="6766560" y="3781044"/>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EPA</a:t>
            </a:r>
            <a:endParaRPr lang="en-US" sz="850" dirty="0"/>
          </a:p>
        </p:txBody>
      </p:sp>
      <p:sp>
        <p:nvSpPr>
          <p:cNvPr id="29" name="Text 27"/>
          <p:cNvSpPr txBox="1"/>
          <p:nvPr/>
        </p:nvSpPr>
        <p:spPr>
          <a:xfrm>
            <a:off x="6766560" y="4005072"/>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Proposed rule, 89 FR 19952 — open burning / open detonation of waste explosives; 67 US facilities identified.</a:t>
            </a:r>
            <a:endParaRPr lang="en-US" sz="850" dirty="0"/>
          </a:p>
        </p:txBody>
      </p:sp>
      <p:sp>
        <p:nvSpPr>
          <p:cNvPr id="30" name="Text 28"/>
          <p:cNvSpPr txBox="1"/>
          <p:nvPr/>
        </p:nvSpPr>
        <p:spPr>
          <a:xfrm>
            <a:off x="6345936" y="4608576"/>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9</a:t>
            </a:r>
            <a:endParaRPr lang="en-US" sz="1100" dirty="0"/>
          </a:p>
        </p:txBody>
      </p:sp>
      <p:sp>
        <p:nvSpPr>
          <p:cNvPr id="31" name="Text 29"/>
          <p:cNvSpPr txBox="1"/>
          <p:nvPr/>
        </p:nvSpPr>
        <p:spPr>
          <a:xfrm>
            <a:off x="6766560" y="4622292"/>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INDUSTRY / AGENCY REPORTING</a:t>
            </a:r>
            <a:endParaRPr lang="en-US" sz="850" dirty="0"/>
          </a:p>
        </p:txBody>
      </p:sp>
      <p:sp>
        <p:nvSpPr>
          <p:cNvPr id="32" name="Text 30"/>
          <p:cNvSpPr txBox="1"/>
          <p:nvPr/>
        </p:nvSpPr>
        <p:spPr>
          <a:xfrm>
            <a:off x="6766560" y="4846320"/>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Open burning / open detonation unit cost of approximately US$750 per ton.</a:t>
            </a:r>
            <a:endParaRPr lang="en-US" sz="850" dirty="0"/>
          </a:p>
        </p:txBody>
      </p:sp>
      <p:sp>
        <p:nvSpPr>
          <p:cNvPr id="33" name="Text 31"/>
          <p:cNvSpPr txBox="1"/>
          <p:nvPr/>
        </p:nvSpPr>
        <p:spPr>
          <a:xfrm>
            <a:off x="6345936" y="5449824"/>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10</a:t>
            </a:r>
            <a:endParaRPr lang="en-US" sz="1100" dirty="0"/>
          </a:p>
        </p:txBody>
      </p:sp>
      <p:sp>
        <p:nvSpPr>
          <p:cNvPr id="34" name="Text 32"/>
          <p:cNvSpPr txBox="1"/>
          <p:nvPr/>
        </p:nvSpPr>
        <p:spPr>
          <a:xfrm>
            <a:off x="6766560" y="5463540"/>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MARKET &amp; AGENCY REPORTING</a:t>
            </a:r>
            <a:endParaRPr lang="en-US" sz="850" dirty="0"/>
          </a:p>
        </p:txBody>
      </p:sp>
      <p:sp>
        <p:nvSpPr>
          <p:cNvPr id="35" name="Text 33"/>
          <p:cNvSpPr txBox="1"/>
          <p:nvPr/>
        </p:nvSpPr>
        <p:spPr>
          <a:xfrm>
            <a:off x="6766560" y="5687568"/>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Antimony: price move of approximately 2,600% since China’s export restrictions, past US$50,000/ton; US Department of Defense commitment to secure supply reported at approximately US$1bn.</a:t>
            </a:r>
            <a:endParaRPr lang="en-US" sz="850" dirty="0"/>
          </a:p>
        </p:txBody>
      </p:sp>
      <p:sp>
        <p:nvSpPr>
          <p:cNvPr id="36" name="Text 34"/>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16  ·  TWB DESIGNS — CONFIDENTIAL</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75488"/>
            <a:ext cx="10908792" cy="274320"/>
          </a:xfrm>
          <a:prstGeom prst="rect">
            <a:avLst/>
          </a:prstGeom>
          <a:noFill/>
          <a:ln/>
        </p:spPr>
        <p:txBody>
          <a:bodyPr wrap="square" lIns="0" tIns="0" rIns="0" bIns="0" rtlCol="0" anchor="ctr"/>
          <a:lstStyle/>
          <a:p>
            <a:pPr algn="l" indent="0" marL="0">
              <a:buNone/>
            </a:pPr>
            <a:r>
              <a:rPr lang="en-US" sz="1000" spc="200" kern="0" dirty="0">
                <a:solidFill>
                  <a:srgbClr val="6E6C66"/>
                </a:solidFill>
                <a:latin typeface="IBM Plex Mono" pitchFamily="34" charset="0"/>
                <a:ea typeface="IBM Plex Mono" pitchFamily="34" charset="-122"/>
                <a:cs typeface="IBM Plex Mono" pitchFamily="34" charset="-120"/>
              </a:rPr>
              <a:t>SOURCES &amp; CITATIONS — 2 OF 2</a:t>
            </a:r>
            <a:endParaRPr lang="en-US" sz="1000" dirty="0"/>
          </a:p>
        </p:txBody>
      </p:sp>
      <p:sp>
        <p:nvSpPr>
          <p:cNvPr id="3" name="Text 1"/>
          <p:cNvSpPr txBox="1"/>
          <p:nvPr/>
        </p:nvSpPr>
        <p:spPr>
          <a:xfrm>
            <a:off x="640080" y="822960"/>
            <a:ext cx="7863840" cy="548640"/>
          </a:xfrm>
          <a:prstGeom prst="rect">
            <a:avLst/>
          </a:prstGeom>
          <a:noFill/>
          <a:ln/>
        </p:spPr>
        <p:txBody>
          <a:bodyPr wrap="square" lIns="0" tIns="0" rIns="0" bIns="0" rtlCol="0" anchor="ctr"/>
          <a:lstStyle/>
          <a:p>
            <a:pPr indent="0" marL="0">
              <a:buNone/>
            </a:pPr>
            <a:r>
              <a:rPr lang="en-US" sz="2500" spc="-30" kern="0" dirty="0">
                <a:solidFill>
                  <a:srgbClr val="000000"/>
                </a:solidFill>
                <a:latin typeface="Helvetica Neue" pitchFamily="34" charset="0"/>
                <a:ea typeface="Helvetica Neue" pitchFamily="34" charset="-122"/>
                <a:cs typeface="Helvetica Neue" pitchFamily="34" charset="-120"/>
              </a:rPr>
              <a:t>Sources, continued.</a:t>
            </a:r>
            <a:endParaRPr lang="en-US" sz="2500" dirty="0"/>
          </a:p>
        </p:txBody>
      </p:sp>
      <p:sp>
        <p:nvSpPr>
          <p:cNvPr id="4" name="Shape 2"/>
          <p:cNvSpPr/>
          <p:nvPr/>
        </p:nvSpPr>
        <p:spPr>
          <a:xfrm>
            <a:off x="640080" y="1481328"/>
            <a:ext cx="10908792" cy="0"/>
          </a:xfrm>
          <a:prstGeom prst="line">
            <a:avLst/>
          </a:prstGeom>
          <a:noFill/>
          <a:ln w="9525">
            <a:solidFill>
              <a:srgbClr val="E2E1DA"/>
            </a:solidFill>
            <a:prstDash val="solid"/>
          </a:ln>
        </p:spPr>
      </p:sp>
      <p:sp>
        <p:nvSpPr>
          <p:cNvPr id="5" name="Text 3"/>
          <p:cNvSpPr txBox="1"/>
          <p:nvPr/>
        </p:nvSpPr>
        <p:spPr>
          <a:xfrm>
            <a:off x="640080" y="1691640"/>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11</a:t>
            </a:r>
            <a:endParaRPr lang="en-US" sz="1100" dirty="0"/>
          </a:p>
        </p:txBody>
      </p:sp>
      <p:sp>
        <p:nvSpPr>
          <p:cNvPr id="6" name="Text 4"/>
          <p:cNvSpPr txBox="1"/>
          <p:nvPr/>
        </p:nvSpPr>
        <p:spPr>
          <a:xfrm>
            <a:off x="1060704" y="1705356"/>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FEDERAL REGISTER</a:t>
            </a:r>
            <a:endParaRPr lang="en-US" sz="850" dirty="0"/>
          </a:p>
        </p:txBody>
      </p:sp>
      <p:sp>
        <p:nvSpPr>
          <p:cNvPr id="7" name="Text 5"/>
          <p:cNvSpPr txBox="1"/>
          <p:nvPr/>
        </p:nvSpPr>
        <p:spPr>
          <a:xfrm>
            <a:off x="1060704" y="1929384"/>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2025 US Critical Minerals List, 90 FR 50494 — copper, lead and antimony added.</a:t>
            </a:r>
            <a:endParaRPr lang="en-US" sz="850" dirty="0"/>
          </a:p>
        </p:txBody>
      </p:sp>
      <p:sp>
        <p:nvSpPr>
          <p:cNvPr id="8" name="Text 6"/>
          <p:cNvSpPr txBox="1"/>
          <p:nvPr/>
        </p:nvSpPr>
        <p:spPr>
          <a:xfrm>
            <a:off x="640080" y="2532888"/>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12</a:t>
            </a:r>
            <a:endParaRPr lang="en-US" sz="1100" dirty="0"/>
          </a:p>
        </p:txBody>
      </p:sp>
      <p:sp>
        <p:nvSpPr>
          <p:cNvPr id="9" name="Text 7"/>
          <p:cNvSpPr txBox="1"/>
          <p:nvPr/>
        </p:nvSpPr>
        <p:spPr>
          <a:xfrm>
            <a:off x="1060704" y="2546604"/>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WORLD BANK ET AL.</a:t>
            </a:r>
            <a:endParaRPr lang="en-US" sz="850" dirty="0"/>
          </a:p>
        </p:txBody>
      </p:sp>
      <p:sp>
        <p:nvSpPr>
          <p:cNvPr id="10" name="Text 8"/>
          <p:cNvSpPr txBox="1"/>
          <p:nvPr/>
        </p:nvSpPr>
        <p:spPr>
          <a:xfrm>
            <a:off x="1060704" y="2770632"/>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Ukraine Rapid Damage and Needs Assessment (RDNA4), February 2025 — demining and explosive-ordnance clearance requirement in excess of US$30bn.</a:t>
            </a:r>
            <a:endParaRPr lang="en-US" sz="850" dirty="0"/>
          </a:p>
        </p:txBody>
      </p:sp>
      <p:sp>
        <p:nvSpPr>
          <p:cNvPr id="11" name="Text 9"/>
          <p:cNvSpPr txBox="1"/>
          <p:nvPr/>
        </p:nvSpPr>
        <p:spPr>
          <a:xfrm>
            <a:off x="640080" y="3374136"/>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13</a:t>
            </a:r>
            <a:endParaRPr lang="en-US" sz="1100" dirty="0"/>
          </a:p>
        </p:txBody>
      </p:sp>
      <p:sp>
        <p:nvSpPr>
          <p:cNvPr id="12" name="Text 10"/>
          <p:cNvSpPr txBox="1"/>
          <p:nvPr/>
        </p:nvSpPr>
        <p:spPr>
          <a:xfrm>
            <a:off x="1060704" y="3387852"/>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DFARS</a:t>
            </a:r>
            <a:endParaRPr lang="en-US" sz="850" dirty="0"/>
          </a:p>
        </p:txBody>
      </p:sp>
      <p:sp>
        <p:nvSpPr>
          <p:cNvPr id="13" name="Text 11"/>
          <p:cNvSpPr txBox="1"/>
          <p:nvPr/>
        </p:nvSpPr>
        <p:spPr>
          <a:xfrm>
            <a:off x="1060704" y="3611880"/>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DFARS 225.872 — Canada as a qualifying country; Canadian end products exempt from Buy American restrictions in US defence acquisition.</a:t>
            </a:r>
            <a:endParaRPr lang="en-US" sz="850" dirty="0"/>
          </a:p>
        </p:txBody>
      </p:sp>
      <p:sp>
        <p:nvSpPr>
          <p:cNvPr id="14" name="Text 12"/>
          <p:cNvSpPr txBox="1"/>
          <p:nvPr/>
        </p:nvSpPr>
        <p:spPr>
          <a:xfrm>
            <a:off x="640080" y="4215384"/>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14</a:t>
            </a:r>
            <a:endParaRPr lang="en-US" sz="1100" dirty="0"/>
          </a:p>
        </p:txBody>
      </p:sp>
      <p:sp>
        <p:nvSpPr>
          <p:cNvPr id="15" name="Text 13"/>
          <p:cNvSpPr txBox="1"/>
          <p:nvPr/>
        </p:nvSpPr>
        <p:spPr>
          <a:xfrm>
            <a:off x="1060704" y="4229100"/>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CFR</a:t>
            </a:r>
            <a:endParaRPr lang="en-US" sz="850" dirty="0"/>
          </a:p>
        </p:txBody>
      </p:sp>
      <p:sp>
        <p:nvSpPr>
          <p:cNvPr id="16" name="Text 14"/>
          <p:cNvSpPr txBox="1"/>
          <p:nvPr/>
        </p:nvSpPr>
        <p:spPr>
          <a:xfrm>
            <a:off x="1060704" y="4453128"/>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40 CFR 260.10 — definitions; closed-chamber destruction is categorically not open burning.</a:t>
            </a:r>
            <a:endParaRPr lang="en-US" sz="850" dirty="0"/>
          </a:p>
        </p:txBody>
      </p:sp>
      <p:sp>
        <p:nvSpPr>
          <p:cNvPr id="17" name="Text 15"/>
          <p:cNvSpPr txBox="1"/>
          <p:nvPr/>
        </p:nvSpPr>
        <p:spPr>
          <a:xfrm>
            <a:off x="6345936" y="1691640"/>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15</a:t>
            </a:r>
            <a:endParaRPr lang="en-US" sz="1100" dirty="0"/>
          </a:p>
        </p:txBody>
      </p:sp>
      <p:sp>
        <p:nvSpPr>
          <p:cNvPr id="18" name="Text 16"/>
          <p:cNvSpPr txBox="1"/>
          <p:nvPr/>
        </p:nvSpPr>
        <p:spPr>
          <a:xfrm>
            <a:off x="6766560" y="1705356"/>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DEPT. OF STATE</a:t>
            </a:r>
            <a:endParaRPr lang="en-US" sz="850" dirty="0"/>
          </a:p>
        </p:txBody>
      </p:sp>
      <p:sp>
        <p:nvSpPr>
          <p:cNvPr id="19" name="Text 17"/>
          <p:cNvSpPr txBox="1"/>
          <p:nvPr/>
        </p:nvSpPr>
        <p:spPr>
          <a:xfrm>
            <a:off x="6766560" y="1929384"/>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Conventional weapons destruction assistance — in excess of US$4bn provided to partner nations since 1993.</a:t>
            </a:r>
            <a:endParaRPr lang="en-US" sz="850" dirty="0"/>
          </a:p>
        </p:txBody>
      </p:sp>
      <p:sp>
        <p:nvSpPr>
          <p:cNvPr id="20" name="Text 18"/>
          <p:cNvSpPr txBox="1"/>
          <p:nvPr/>
        </p:nvSpPr>
        <p:spPr>
          <a:xfrm>
            <a:off x="6345936" y="2532888"/>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16</a:t>
            </a:r>
            <a:endParaRPr lang="en-US" sz="1100" dirty="0"/>
          </a:p>
        </p:txBody>
      </p:sp>
      <p:sp>
        <p:nvSpPr>
          <p:cNvPr id="21" name="Text 19"/>
          <p:cNvSpPr txBox="1"/>
          <p:nvPr/>
        </p:nvSpPr>
        <p:spPr>
          <a:xfrm>
            <a:off x="6766560" y="2546604"/>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TWB DESIGNS</a:t>
            </a:r>
            <a:endParaRPr lang="en-US" sz="850" dirty="0"/>
          </a:p>
        </p:txBody>
      </p:sp>
      <p:sp>
        <p:nvSpPr>
          <p:cNvPr id="22" name="Text 20"/>
          <p:cNvSpPr txBox="1"/>
          <p:nvPr/>
        </p:nvSpPr>
        <p:spPr>
          <a:xfrm>
            <a:off x="6766560" y="2770632"/>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Company record: eMACS in service since 2001, co-developed with the Royal Canadian Mounted Police. Deployment footprint and scope as stated.</a:t>
            </a:r>
            <a:endParaRPr lang="en-US" sz="850" dirty="0"/>
          </a:p>
        </p:txBody>
      </p:sp>
      <p:sp>
        <p:nvSpPr>
          <p:cNvPr id="23" name="Text 21"/>
          <p:cNvSpPr txBox="1"/>
          <p:nvPr/>
        </p:nvSpPr>
        <p:spPr>
          <a:xfrm>
            <a:off x="6345936" y="3374136"/>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17</a:t>
            </a:r>
            <a:endParaRPr lang="en-US" sz="1100" dirty="0"/>
          </a:p>
        </p:txBody>
      </p:sp>
      <p:sp>
        <p:nvSpPr>
          <p:cNvPr id="24" name="Text 22"/>
          <p:cNvSpPr txBox="1"/>
          <p:nvPr/>
        </p:nvSpPr>
        <p:spPr>
          <a:xfrm>
            <a:off x="6766560" y="3387852"/>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TWB DESIGNS</a:t>
            </a:r>
            <a:endParaRPr lang="en-US" sz="850" dirty="0"/>
          </a:p>
        </p:txBody>
      </p:sp>
      <p:sp>
        <p:nvSpPr>
          <p:cNvPr id="25" name="Text 23"/>
          <p:cNvSpPr txBox="1"/>
          <p:nvPr/>
        </p:nvSpPr>
        <p:spPr>
          <a:xfrm>
            <a:off x="6766560" y="3611880"/>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TWB analysis: TAM / SAM / SOM construction, sector M&amp;A multiples (4–7× EBITDA; disclosed sector transactions 1.5–3.1× revenue), and the phase plan. Presented as our construction, not third-party research.</a:t>
            </a:r>
            <a:endParaRPr lang="en-US" sz="850" dirty="0"/>
          </a:p>
        </p:txBody>
      </p:sp>
      <p:sp>
        <p:nvSpPr>
          <p:cNvPr id="26" name="Text 24"/>
          <p:cNvSpPr txBox="1"/>
          <p:nvPr/>
        </p:nvSpPr>
        <p:spPr>
          <a:xfrm>
            <a:off x="6345936" y="4215384"/>
            <a:ext cx="384048" cy="274320"/>
          </a:xfrm>
          <a:prstGeom prst="rect">
            <a:avLst/>
          </a:prstGeom>
          <a:noFill/>
          <a:ln/>
        </p:spPr>
        <p:txBody>
          <a:bodyPr wrap="square" lIns="0" tIns="0" rIns="0" bIns="0" rtlCol="0" anchor="ctr"/>
          <a:lstStyle/>
          <a:p>
            <a:pPr indent="0" marL="0">
              <a:buNone/>
            </a:pPr>
            <a:r>
              <a:rPr lang="en-US" sz="1100" b="1" dirty="0">
                <a:solidFill>
                  <a:srgbClr val="66705F"/>
                </a:solidFill>
                <a:latin typeface="IBM Plex Mono" pitchFamily="34" charset="0"/>
                <a:ea typeface="IBM Plex Mono" pitchFamily="34" charset="-122"/>
                <a:cs typeface="IBM Plex Mono" pitchFamily="34" charset="-120"/>
              </a:rPr>
              <a:t>18</a:t>
            </a:r>
            <a:endParaRPr lang="en-US" sz="1100" dirty="0"/>
          </a:p>
        </p:txBody>
      </p:sp>
      <p:sp>
        <p:nvSpPr>
          <p:cNvPr id="27" name="Text 25"/>
          <p:cNvSpPr txBox="1"/>
          <p:nvPr/>
        </p:nvSpPr>
        <p:spPr>
          <a:xfrm>
            <a:off x="6766560" y="4229100"/>
            <a:ext cx="4782312" cy="219456"/>
          </a:xfrm>
          <a:prstGeom prst="rect">
            <a:avLst/>
          </a:prstGeom>
          <a:noFill/>
          <a:ln/>
        </p:spPr>
        <p:txBody>
          <a:bodyPr wrap="square" lIns="0" tIns="0" rIns="0" bIns="0" rtlCol="0" anchor="ctr"/>
          <a:lstStyle/>
          <a:p>
            <a:pPr indent="0" marL="0">
              <a:buNone/>
            </a:pPr>
            <a:r>
              <a:rPr lang="en-US" sz="850" b="1" spc="150" kern="0" dirty="0">
                <a:solidFill>
                  <a:srgbClr val="000000"/>
                </a:solidFill>
                <a:latin typeface="IBM Plex Mono" pitchFamily="34" charset="0"/>
                <a:ea typeface="IBM Plex Mono" pitchFamily="34" charset="-122"/>
                <a:cs typeface="IBM Plex Mono" pitchFamily="34" charset="-120"/>
              </a:rPr>
              <a:t>US ARMY / PEO AMMUNITION</a:t>
            </a:r>
            <a:endParaRPr lang="en-US" sz="850" dirty="0"/>
          </a:p>
        </p:txBody>
      </p:sp>
      <p:sp>
        <p:nvSpPr>
          <p:cNvPr id="28" name="Text 26"/>
          <p:cNvSpPr txBox="1"/>
          <p:nvPr/>
        </p:nvSpPr>
        <p:spPr>
          <a:xfrm>
            <a:off x="6766560" y="4453128"/>
            <a:ext cx="4782312" cy="566928"/>
          </a:xfrm>
          <a:prstGeom prst="rect">
            <a:avLst/>
          </a:prstGeom>
          <a:noFill/>
          <a:ln/>
        </p:spPr>
        <p:txBody>
          <a:bodyPr wrap="square" lIns="0" tIns="0" rIns="0" bIns="0" rtlCol="0" anchor="ctr"/>
          <a:lstStyle/>
          <a:p>
            <a:pPr indent="0" marL="0">
              <a:lnSpc>
                <a:spcPct val="120000"/>
              </a:lnSpc>
              <a:buNone/>
            </a:pPr>
            <a:r>
              <a:rPr lang="en-US" sz="850" dirty="0">
                <a:solidFill>
                  <a:srgbClr val="33332F"/>
                </a:solidFill>
                <a:latin typeface="Helvetica Neue" pitchFamily="34" charset="0"/>
                <a:ea typeface="Helvetica Neue" pitchFamily="34" charset="-122"/>
                <a:cs typeface="Helvetica Neue" pitchFamily="34" charset="-120"/>
              </a:rPr>
              <a:t>Demilitarization throughput: approximately 82,000 tons destroyed in FY2015 (PEO Ammunition, NDIA Global Demilitarization Symposium, December 2015); FY2026 funded plan of 29,313 tons at $155.05M (Army FY2026 President’s Budget). Stockpile drawdown has slowed as funded capacity has fallen.</a:t>
            </a:r>
            <a:endParaRPr lang="en-US" sz="850" dirty="0"/>
          </a:p>
        </p:txBody>
      </p:sp>
      <p:sp>
        <p:nvSpPr>
          <p:cNvPr id="29" name="Shape 27"/>
          <p:cNvSpPr/>
          <p:nvPr/>
        </p:nvSpPr>
        <p:spPr>
          <a:xfrm>
            <a:off x="640080" y="5650992"/>
            <a:ext cx="10908792" cy="676656"/>
          </a:xfrm>
          <a:prstGeom prst="rect">
            <a:avLst/>
          </a:prstGeom>
          <a:solidFill>
            <a:srgbClr val="F1F3F0"/>
          </a:solidFill>
          <a:ln w="9525">
            <a:solidFill>
              <a:srgbClr val="D3D9D0"/>
            </a:solidFill>
            <a:prstDash val="solid"/>
          </a:ln>
        </p:spPr>
      </p:sp>
      <p:sp>
        <p:nvSpPr>
          <p:cNvPr id="30" name="Shape 28"/>
          <p:cNvSpPr/>
          <p:nvPr/>
        </p:nvSpPr>
        <p:spPr>
          <a:xfrm>
            <a:off x="620878" y="5631790"/>
            <a:ext cx="59436" cy="12802"/>
          </a:xfrm>
          <a:prstGeom prst="rect">
            <a:avLst/>
          </a:prstGeom>
          <a:solidFill>
            <a:srgbClr val="66705F"/>
          </a:solidFill>
          <a:ln/>
        </p:spPr>
      </p:sp>
      <p:sp>
        <p:nvSpPr>
          <p:cNvPr id="31" name="Shape 29"/>
          <p:cNvSpPr/>
          <p:nvPr/>
        </p:nvSpPr>
        <p:spPr>
          <a:xfrm>
            <a:off x="620878" y="5631790"/>
            <a:ext cx="12802" cy="59436"/>
          </a:xfrm>
          <a:prstGeom prst="rect">
            <a:avLst/>
          </a:prstGeom>
          <a:solidFill>
            <a:srgbClr val="66705F"/>
          </a:solidFill>
          <a:ln/>
        </p:spPr>
      </p:sp>
      <p:sp>
        <p:nvSpPr>
          <p:cNvPr id="32" name="Shape 30"/>
          <p:cNvSpPr/>
          <p:nvPr/>
        </p:nvSpPr>
        <p:spPr>
          <a:xfrm>
            <a:off x="11508638" y="5631790"/>
            <a:ext cx="59436" cy="12802"/>
          </a:xfrm>
          <a:prstGeom prst="rect">
            <a:avLst/>
          </a:prstGeom>
          <a:solidFill>
            <a:srgbClr val="66705F"/>
          </a:solidFill>
          <a:ln/>
        </p:spPr>
      </p:sp>
      <p:sp>
        <p:nvSpPr>
          <p:cNvPr id="33" name="Shape 31"/>
          <p:cNvSpPr/>
          <p:nvPr/>
        </p:nvSpPr>
        <p:spPr>
          <a:xfrm>
            <a:off x="11555273" y="5631790"/>
            <a:ext cx="12802" cy="59436"/>
          </a:xfrm>
          <a:prstGeom prst="rect">
            <a:avLst/>
          </a:prstGeom>
          <a:solidFill>
            <a:srgbClr val="66705F"/>
          </a:solidFill>
          <a:ln/>
        </p:spPr>
      </p:sp>
      <p:sp>
        <p:nvSpPr>
          <p:cNvPr id="34" name="Shape 32"/>
          <p:cNvSpPr/>
          <p:nvPr/>
        </p:nvSpPr>
        <p:spPr>
          <a:xfrm>
            <a:off x="620878" y="6334049"/>
            <a:ext cx="59436" cy="12802"/>
          </a:xfrm>
          <a:prstGeom prst="rect">
            <a:avLst/>
          </a:prstGeom>
          <a:solidFill>
            <a:srgbClr val="66705F"/>
          </a:solidFill>
          <a:ln/>
        </p:spPr>
      </p:sp>
      <p:sp>
        <p:nvSpPr>
          <p:cNvPr id="35" name="Shape 33"/>
          <p:cNvSpPr/>
          <p:nvPr/>
        </p:nvSpPr>
        <p:spPr>
          <a:xfrm>
            <a:off x="620878" y="6287414"/>
            <a:ext cx="12802" cy="59436"/>
          </a:xfrm>
          <a:prstGeom prst="rect">
            <a:avLst/>
          </a:prstGeom>
          <a:solidFill>
            <a:srgbClr val="66705F"/>
          </a:solidFill>
          <a:ln/>
        </p:spPr>
      </p:sp>
      <p:sp>
        <p:nvSpPr>
          <p:cNvPr id="36" name="Shape 34"/>
          <p:cNvSpPr/>
          <p:nvPr/>
        </p:nvSpPr>
        <p:spPr>
          <a:xfrm>
            <a:off x="11508638" y="6334049"/>
            <a:ext cx="59436" cy="12802"/>
          </a:xfrm>
          <a:prstGeom prst="rect">
            <a:avLst/>
          </a:prstGeom>
          <a:solidFill>
            <a:srgbClr val="66705F"/>
          </a:solidFill>
          <a:ln/>
        </p:spPr>
      </p:sp>
      <p:sp>
        <p:nvSpPr>
          <p:cNvPr id="37" name="Shape 35"/>
          <p:cNvSpPr/>
          <p:nvPr/>
        </p:nvSpPr>
        <p:spPr>
          <a:xfrm>
            <a:off x="11555273" y="6287414"/>
            <a:ext cx="12802" cy="59436"/>
          </a:xfrm>
          <a:prstGeom prst="rect">
            <a:avLst/>
          </a:prstGeom>
          <a:solidFill>
            <a:srgbClr val="66705F"/>
          </a:solidFill>
          <a:ln/>
        </p:spPr>
      </p:sp>
      <p:sp>
        <p:nvSpPr>
          <p:cNvPr id="38" name="Text 36"/>
          <p:cNvSpPr txBox="1"/>
          <p:nvPr/>
        </p:nvSpPr>
        <p:spPr>
          <a:xfrm>
            <a:off x="877824" y="5760720"/>
            <a:ext cx="10433304" cy="475488"/>
          </a:xfrm>
          <a:prstGeom prst="rect">
            <a:avLst/>
          </a:prstGeom>
          <a:noFill/>
          <a:ln/>
        </p:spPr>
        <p:txBody>
          <a:bodyPr wrap="square" lIns="0" tIns="0" rIns="0" bIns="0" rtlCol="0" anchor="ctr"/>
          <a:lstStyle/>
          <a:p>
            <a:pPr indent="0" marL="0">
              <a:lnSpc>
                <a:spcPct val="120000"/>
              </a:lnSpc>
              <a:buNone/>
            </a:pPr>
            <a:r>
              <a:rPr lang="en-US" sz="1000" b="1" dirty="0">
                <a:solidFill>
                  <a:srgbClr val="000000"/>
                </a:solidFill>
                <a:latin typeface="Helvetica Neue" pitchFamily="34" charset="0"/>
                <a:ea typeface="Helvetica Neue" pitchFamily="34" charset="-122"/>
                <a:cs typeface="Helvetica Neue" pitchFamily="34" charset="-120"/>
              </a:rPr>
              <a:t>Discipline: </a:t>
            </a:r>
            <a:pPr indent="0" marL="0">
              <a:lnSpc>
                <a:spcPct val="120000"/>
              </a:lnSpc>
              <a:buNone/>
            </a:pPr>
            <a:r>
              <a:rPr lang="en-US" sz="1000" dirty="0">
                <a:solidFill>
                  <a:srgbClr val="33332F"/>
                </a:solidFill>
                <a:latin typeface="Helvetica Neue" pitchFamily="34" charset="0"/>
                <a:ea typeface="Helvetica Neue" pitchFamily="34" charset="-122"/>
                <a:cs typeface="Helvetica Neue" pitchFamily="34" charset="-120"/>
              </a:rPr>
              <a:t>no figure appears in this deck without a named source and a year. Derived figures are shown as ranges and labelled illustrative. Recovery-rate and net-cost economics are withheld until third-party verification publishes.</a:t>
            </a:r>
            <a:endParaRPr lang="en-US" sz="1000" dirty="0"/>
          </a:p>
        </p:txBody>
      </p:sp>
      <p:sp>
        <p:nvSpPr>
          <p:cNvPr id="39" name="Text 37"/>
          <p:cNvSpPr txBox="1"/>
          <p:nvPr/>
        </p:nvSpPr>
        <p:spPr>
          <a:xfrm>
            <a:off x="640080" y="6382512"/>
            <a:ext cx="5486400" cy="256032"/>
          </a:xfrm>
          <a:prstGeom prst="rect">
            <a:avLst/>
          </a:prstGeom>
          <a:noFill/>
          <a:ln/>
        </p:spPr>
        <p:txBody>
          <a:bodyPr wrap="square" lIns="0" tIns="0" rIns="0" bIns="0" rtlCol="0" anchor="ctr"/>
          <a:lstStyle/>
          <a:p>
            <a:pPr indent="0" marL="0">
              <a:buNone/>
            </a:pPr>
            <a:r>
              <a:rPr lang="en-US" sz="800" spc="200" kern="0" dirty="0">
                <a:solidFill>
                  <a:srgbClr val="6E6C66"/>
                </a:solidFill>
                <a:latin typeface="IBM Plex Mono" pitchFamily="34" charset="0"/>
                <a:ea typeface="IBM Plex Mono" pitchFamily="34" charset="-122"/>
                <a:cs typeface="IBM Plex Mono" pitchFamily="34" charset="-120"/>
              </a:rPr>
              <a:t>17  ·  TWB DESIGNS — CONFIDENTIAL</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2026-08-27T16:42:05Z</dcterms:created>
  <dcterms:modified xsi:type="dcterms:W3CDTF">2026-08-27T16:42:05Z</dcterms:modified>
</cp:coreProperties>
</file>